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Cover (0:00-0:13)  Joshua
"Hi, we're Group 11, Track 2. This is StitchFlow: say an order, and it finds the right workshop.
Our primary objective is minimising lateness, and our secondary is minimising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Objective and focus (0:13-0:45)  Joshua
"Our user is SweaterCo's dispatcher, out on the factory floor. Requests arrive in a group chat.
A wrong pick means a late order or a bad batch, so the dispatcher needs a safe answer in
seconds, with a record of why. That one job is our scope.
Since Sprint 1, we beat earliest finish, which tied us, our defects and fairness settings beat
their baselines, and the dispatcher can now talk to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The user journey (0:45-1:08)  Joshua
"We designed the journey for the floor. The dispatcher holds the mic and says the order. The
desk answers on screen and out loud: the best workshop, when it arrives, and why. 'Book it' opens
a sheet, and a slide confirms. It offers to remember the constraint, and uses it on the next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Architecture (1:08-1:35)  Saadhvika
"This is what we built. Speech becomes text in the browser, and Python answers commands like
'book it' itself. Everything else is one structured-output call, and every field must quote the
message. Deterministic tools then look up the order, apply remembered rules, check eligibility
and rank, so the model never does arithmetic. A slide confirms, and SQLite keeps the booking and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Key choices (1:35-1:53)  Saadhvika
"We chose a fixed workflow over a ReAct agent, because every request needs the same checks;
exact lookups over embeddings, so we never fetch the wrong order; exact rules in SQLite over a
vector store; and a slide, never a spoken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Progress (1:53-2:11)  Niyanthri
"Every feature has an owner. Seven of eleven are done, including the voice assistant, memory,
the four-objective scorer and 205 generated evaluation requests. In progress: clarification
fixes and independent inbox labels. Planned: Lynn's re-run of the test set, and Joshua's
usability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Validation plan (2:11-2:55)  Niyanthri
"We measure late batches and late days, our primary objective, in the course simulator, with and
without a closure, against random, biggest capacity, cheapest and earliest finish. The minimum
is to beat all three baselines and handle all 30 inbox requests. Today: 1.4 percent late against
1.7, and 68 percent fewer late days. For language: the inbox plus 205 generated requests, 65 held
out with new wording; 96.9 percent passed on the first live run. Hard cases: an
impossible date, a workshop that can't take it, and a misheard order. We give options, refuse
with a reason, and read the order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Demo (2:55-4:50)  Charles
The slides recording ends on this slide for two seconds:
  Niyanthri: "Now, the demo."
Charles's recording starts straight in the app. Times are from the start of the app part. Speak only when the app is quiet.
[0:00] Charles: "Hi everyone, I'm Zepeng, or Charles, as the app calls me. In this demo I'll
       play the dispatcher, using our app, StitchFlow. The rings show how busy each workshop
       is, and OldMill is grey because it's suspended."
[0:08] Hold the mic and say: "Hi, I've got order 109 for Harbor Knits, 500 vests, due April
       13th. And keep it away from BudgetWorks, their last batch came back rough."
       Let the answer play: "GiantWeave can deliver order 109 by Thursday 9 April, 3.71 days
       early. Cost 550, defect risk 6.0%. Say book it, or tap book, to confirm."
[0:30] Tap "Compare 4 workshops", then "Can't take it", then close them. (optional)
       Charles: "Here are the other options, and why the rest can't take it. BudgetWorks is out
       because I asked."
[0:40] Hold the mic and say: "Okay, book it." The sheet opens.
       Charles: "Nothing is saved until I slide." Slide to confirm.
[0:52] On the receipt, tap "Remember".
       Charles: "And it offers to remember that rule."
[0:58] Hold the mic and say: "Next one: order 81 for Harbor Knits, due April 20th."
       (Say "due", not "go out by": "go out by" is a ship date, and the desk would ask which.)
       Let the answer play, then point at the memory note on the card.
       Charles: "Same customer, so the rule is applied, and the card says it came from memory."
[1:22] Charles: "Now a hard case, straight from the inbox."
       Hold the mic and say: "QuickStitch for the scarves on order 103?"
       Let the answer play: QuickStitch cannot make scarves, no workshop meets 4 April, and the
       best alternative is 13.44 days late.
[1:45] Charles: "It refuses, gives the earliest option and a two-shop split, and books nothing."
[1:52] Point at the "Behind the answer" panel on the right. (optional)
       Charles: "This panel shows what the model read, with quotes, and what Python computed."
[1:59] Stop 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Thank you (not recorded)
The video ends on the demo, so this slide stays in the deck for the Q&amp;A only.
AFTER RECORDING
- Upload the .mp4 to YouTube as unlisted, then open the link in a private window.
- The recorded deck has no demo link line. The submitted deck must have it, so add it to slides 1 and 9:
    DEMO_LINK=https://youtu.be/... node scripts/build_sprint2_deck.mjs
  then export the PDF again, and open the GitHub link in a private window too.
- One member uploads the .mp4 and the .pptx (or .pdf) to Canvas by 15:00.
Q&amp;A PREPARATION (not read aloud)
- Ruby (Duong Thanh Nhan) cannot attend: Ruby emails Salman and Jack with the reason before the
  session, and slide 1 shows "Absent" with that reason. Any member may be asked about Ruby's desk
  redesign: one answer at a time, objective panel, saved plan, Show working.
- Who is the user? SweaterCo's dispatcher, the person who handles the dispatch chat. Five
  people post requests there (Ravi, Priya, Mei, Chen and the boss). In the demo Charles plays
  the dispatcher and says requests from the chat out loud: Mei's R25 and the boss's R14.
- Why "StitchFlow"? Stitch for garments, flow for orders moving to the right workshop.
  QuickStitch is one of the eight workshops, not us.
- How was the evaluation set built? 205 requests generated from templates with fixed seeds,
  across the seven request kinds: 140 train, 65 test, and the test wording never appears in
  train. Labels come from construction (the generator knows the order, date and constraint it
  wrote) plus the deterministic dispatch preview, so no model labels them. Results are
  behaviour-rubric pass rates from one gpt-5.6 run on intake-v2: train 134/140 (95.7%), test
  63/65 (96.9%). They are not model accuracy. The three original train failures (TR053,
  TR056, TR059) were an unneeded quantity question blocking a refusal, fixed in intake-v3.
- Is the demo real time? Yes. It is one take with no cuts; only the start and end are trimmed.
- Why voice? The track's bonus asks how a dispatcher would really use it: on the floor, on a
  phone. Typing still works everywhere, and the course inbox is still evaluated as text.
- Can a misheard "yes" book something? No. "Book it" only opens the sheet. Saving needs a
  name and the slide, and the preview is recomputed and checked for changes first.
- Does the model see costs or queues? No. It sees the message, the conversation, and the
  workshop, customer and product names. Python computes every number.
- What does memory store? Constraints from confirmed bookings, with who said them and their
  words; a log of answers and bookings; the dispatcher's name and priorities. Nothing is
  learned from the model alone, and a rule can be paused.
- Did you tune on the course seeds? Presets were chosen on development seeds 6000-6029. The
  course seeds were run twice: after the first run a desk case (R12) showed reservation could
  prefer a slightly late shop, so we added an on-time-first charge and re-ran everything. It is
  disclosed in docs/OBJECTIVE_STUDY.md; the default's numbers did not change.
- Where do baselines still win? Under the closure our default is 0.17 points worse on late
  batches than earliest finish. The Sprint 1 lateness preset moves fewer late days under the
  closure than our robustness preset. We do not claim a universal robustness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48640" y="4800600"/>
            <a:ext cx="6400800" cy="201168"/>
          </a:xfrm>
          <a:prstGeom prst="rect">
            <a:avLst/>
          </a:prstGeom>
          <a:noFill/>
          <a:ln/>
        </p:spPr>
        <p:txBody>
          <a:bodyPr wrap="square" lIns="0" tIns="0" rIns="0" bIns="0" rtlCol="0" anchor="ctr"/>
          <a:lstStyle/>
          <a:p>
            <a:pPr indent="0" marL="0">
              <a:buNone/>
            </a:pPr>
            <a:r>
              <a:rPr lang="en-US" sz="700" spc="150" kern="0" dirty="0">
                <a:solidFill>
                  <a:srgbClr val="6B665D"/>
                </a:solidFill>
                <a:latin typeface="Arial" pitchFamily="34" charset="0"/>
                <a:ea typeface="Arial" pitchFamily="34" charset="-122"/>
                <a:cs typeface="Arial" pitchFamily="34" charset="-120"/>
              </a:rPr>
              <a:t>STITCHFLOW  /  QUICK-RESPONSE SUBCONTRACTING DESK  /  GROUP 11  /  SPRINT 2</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3E342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84048"/>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914400"/>
            <a:ext cx="54864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GROUP 11  /  TRACK 2  /  SPRINT 2 REVIEW</a:t>
            </a:r>
            <a:endParaRPr lang="en-US" sz="850" dirty="0"/>
          </a:p>
        </p:txBody>
      </p:sp>
      <p:sp>
        <p:nvSpPr>
          <p:cNvPr id="4" name="Text 2"/>
          <p:cNvSpPr txBox="1"/>
          <p:nvPr/>
        </p:nvSpPr>
        <p:spPr>
          <a:xfrm>
            <a:off x="548640" y="1143000"/>
            <a:ext cx="5669280" cy="731520"/>
          </a:xfrm>
          <a:prstGeom prst="rect">
            <a:avLst/>
          </a:prstGeom>
          <a:noFill/>
          <a:ln/>
        </p:spPr>
        <p:txBody>
          <a:bodyPr wrap="square" lIns="0" tIns="0" rIns="0" bIns="0" rtlCol="0" anchor="ctr"/>
          <a:lstStyle/>
          <a:p>
            <a:pPr indent="0" marL="0">
              <a:buNone/>
            </a:pPr>
            <a:r>
              <a:rPr lang="en-US" sz="4400" dirty="0">
                <a:solidFill>
                  <a:srgbClr val="F4EFE6"/>
                </a:solidFill>
                <a:latin typeface="Georgia" pitchFamily="34" charset="0"/>
                <a:ea typeface="Georgia" pitchFamily="34" charset="-122"/>
                <a:cs typeface="Georgia" pitchFamily="34" charset="-120"/>
              </a:rPr>
              <a:t>StitchFlow</a:t>
            </a:r>
            <a:endParaRPr lang="en-US" sz="4400" dirty="0"/>
          </a:p>
        </p:txBody>
      </p:sp>
      <p:sp>
        <p:nvSpPr>
          <p:cNvPr id="5" name="Text 3"/>
          <p:cNvSpPr txBox="1"/>
          <p:nvPr/>
        </p:nvSpPr>
        <p:spPr>
          <a:xfrm>
            <a:off x="548640" y="1874520"/>
            <a:ext cx="5669280" cy="329184"/>
          </a:xfrm>
          <a:prstGeom prst="rect">
            <a:avLst/>
          </a:prstGeom>
          <a:noFill/>
          <a:ln/>
        </p:spPr>
        <p:txBody>
          <a:bodyPr wrap="square" lIns="0" tIns="0" rIns="0" bIns="0" rtlCol="0" anchor="ctr"/>
          <a:lstStyle/>
          <a:p>
            <a:pPr indent="0" marL="0">
              <a:buNone/>
            </a:pPr>
            <a:r>
              <a:rPr lang="en-US" sz="1700" dirty="0">
                <a:solidFill>
                  <a:srgbClr val="F4EFE6"/>
                </a:solidFill>
                <a:latin typeface="Georgia" pitchFamily="34" charset="0"/>
                <a:ea typeface="Georgia" pitchFamily="34" charset="-122"/>
                <a:cs typeface="Georgia" pitchFamily="34" charset="-120"/>
              </a:rPr>
              <a:t>The Quick-Response Subcontracting Desk</a:t>
            </a:r>
            <a:endParaRPr lang="en-US" sz="1700" dirty="0"/>
          </a:p>
        </p:txBody>
      </p:sp>
      <p:sp>
        <p:nvSpPr>
          <p:cNvPr id="6" name="Text 4"/>
          <p:cNvSpPr txBox="1"/>
          <p:nvPr/>
        </p:nvSpPr>
        <p:spPr>
          <a:xfrm>
            <a:off x="548640" y="2231136"/>
            <a:ext cx="5669280" cy="329184"/>
          </a:xfrm>
          <a:prstGeom prst="rect">
            <a:avLst/>
          </a:prstGeom>
          <a:noFill/>
          <a:ln/>
        </p:spPr>
        <p:txBody>
          <a:bodyPr wrap="square" lIns="0" tIns="0" rIns="0" bIns="0" rtlCol="0" anchor="ctr"/>
          <a:lstStyle/>
          <a:p>
            <a:pPr indent="0" marL="0">
              <a:buNone/>
            </a:pPr>
            <a:r>
              <a:rPr lang="en-US" sz="1300" i="1" dirty="0">
                <a:solidFill>
                  <a:srgbClr val="C9BEAD"/>
                </a:solidFill>
                <a:latin typeface="Georgia" pitchFamily="34" charset="0"/>
                <a:ea typeface="Georgia" pitchFamily="34" charset="-122"/>
                <a:cs typeface="Georgia" pitchFamily="34" charset="-120"/>
              </a:rPr>
              <a:t>Say the order. StitchFlow finds the right workshop.</a:t>
            </a:r>
            <a:endParaRPr lang="en-US" sz="1300" dirty="0"/>
          </a:p>
        </p:txBody>
      </p:sp>
      <p:sp>
        <p:nvSpPr>
          <p:cNvPr id="7" name="Shape 5"/>
          <p:cNvSpPr/>
          <p:nvPr/>
        </p:nvSpPr>
        <p:spPr>
          <a:xfrm>
            <a:off x="548640" y="2779776"/>
            <a:ext cx="2377440" cy="329184"/>
          </a:xfrm>
          <a:prstGeom prst="roundRect">
            <a:avLst>
              <a:gd name="adj" fmla="val 50000"/>
            </a:avLst>
          </a:prstGeom>
          <a:solidFill>
            <a:srgbClr val="3E342B"/>
          </a:solidFill>
          <a:ln w="12700">
            <a:solidFill>
              <a:srgbClr val="A3804C"/>
            </a:solidFill>
            <a:prstDash val="solid"/>
          </a:ln>
        </p:spPr>
      </p:sp>
      <p:sp>
        <p:nvSpPr>
          <p:cNvPr id="8" name="Text 6"/>
          <p:cNvSpPr txBox="1"/>
          <p:nvPr/>
        </p:nvSpPr>
        <p:spPr>
          <a:xfrm>
            <a:off x="5486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PRIMARY  </a:t>
            </a:r>
            <a:r>
              <a:rPr lang="en-US" sz="850" b="1" spc="120" kern="0" dirty="0">
                <a:solidFill>
                  <a:srgbClr val="F4EFE6"/>
                </a:solidFill>
                <a:latin typeface="Arial" pitchFamily="34" charset="0"/>
                <a:ea typeface="Arial" pitchFamily="34" charset="-122"/>
                <a:cs typeface="Arial" pitchFamily="34" charset="-120"/>
              </a:rPr>
              <a:t>MINIMISE LATENESS</a:t>
            </a:r>
            <a:endParaRPr lang="en-US" sz="850" dirty="0"/>
          </a:p>
        </p:txBody>
      </p:sp>
      <p:sp>
        <p:nvSpPr>
          <p:cNvPr id="9" name="Shape 7"/>
          <p:cNvSpPr/>
          <p:nvPr/>
        </p:nvSpPr>
        <p:spPr>
          <a:xfrm>
            <a:off x="3063240" y="2779776"/>
            <a:ext cx="2377440" cy="329184"/>
          </a:xfrm>
          <a:prstGeom prst="roundRect">
            <a:avLst>
              <a:gd name="adj" fmla="val 50000"/>
            </a:avLst>
          </a:prstGeom>
          <a:solidFill>
            <a:srgbClr val="3E342B"/>
          </a:solidFill>
          <a:ln w="12700">
            <a:solidFill>
              <a:srgbClr val="A3804C"/>
            </a:solidFill>
            <a:prstDash val="solid"/>
          </a:ln>
        </p:spPr>
      </p:sp>
      <p:sp>
        <p:nvSpPr>
          <p:cNvPr id="10" name="Text 8"/>
          <p:cNvSpPr txBox="1"/>
          <p:nvPr/>
        </p:nvSpPr>
        <p:spPr>
          <a:xfrm>
            <a:off x="30632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SECONDARY  </a:t>
            </a:r>
            <a:r>
              <a:rPr lang="en-US" sz="850" b="1" spc="120" kern="0" dirty="0">
                <a:solidFill>
                  <a:srgbClr val="F4EFE6"/>
                </a:solidFill>
                <a:latin typeface="Arial" pitchFamily="34" charset="0"/>
                <a:ea typeface="Arial" pitchFamily="34" charset="-122"/>
                <a:cs typeface="Arial" pitchFamily="34" charset="-120"/>
              </a:rPr>
              <a:t>MINIMISE DEFECTS</a:t>
            </a:r>
            <a:endParaRPr lang="en-US" sz="850" dirty="0"/>
          </a:p>
        </p:txBody>
      </p:sp>
      <p:sp>
        <p:nvSpPr>
          <p:cNvPr id="11" name="Text 9"/>
          <p:cNvSpPr txBox="1"/>
          <p:nvPr/>
        </p:nvSpPr>
        <p:spPr>
          <a:xfrm>
            <a:off x="54864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Chen Zepeng (A0156784N)</a:t>
            </a:r>
            <a:endParaRPr lang="en-US" sz="800" dirty="0"/>
          </a:p>
        </p:txBody>
      </p:sp>
      <p:sp>
        <p:nvSpPr>
          <p:cNvPr id="12" name="Text 10"/>
          <p:cNvSpPr txBox="1"/>
          <p:nvPr/>
        </p:nvSpPr>
        <p:spPr>
          <a:xfrm>
            <a:off x="548640" y="3392424"/>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3" name="Text 11"/>
          <p:cNvSpPr txBox="1"/>
          <p:nvPr/>
        </p:nvSpPr>
        <p:spPr>
          <a:xfrm>
            <a:off x="54864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Duong Thanh Nhan (A0296326W)</a:t>
            </a:r>
            <a:endParaRPr lang="en-US" sz="800" dirty="0"/>
          </a:p>
        </p:txBody>
      </p:sp>
      <p:sp>
        <p:nvSpPr>
          <p:cNvPr id="14" name="Text 12"/>
          <p:cNvSpPr txBox="1"/>
          <p:nvPr/>
        </p:nvSpPr>
        <p:spPr>
          <a:xfrm>
            <a:off x="548640" y="3703320"/>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Absent: business trip to China</a:t>
            </a:r>
            <a:endParaRPr lang="en-US" sz="700" dirty="0"/>
          </a:p>
        </p:txBody>
      </p:sp>
      <p:sp>
        <p:nvSpPr>
          <p:cNvPr id="15" name="Text 13"/>
          <p:cNvSpPr txBox="1"/>
          <p:nvPr/>
        </p:nvSpPr>
        <p:spPr>
          <a:xfrm>
            <a:off x="54864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Joshua Wesley Gloor (A0296944J)</a:t>
            </a:r>
            <a:endParaRPr lang="en-US" sz="800" dirty="0"/>
          </a:p>
        </p:txBody>
      </p:sp>
      <p:sp>
        <p:nvSpPr>
          <p:cNvPr id="16" name="Text 14"/>
          <p:cNvSpPr txBox="1"/>
          <p:nvPr/>
        </p:nvSpPr>
        <p:spPr>
          <a:xfrm>
            <a:off x="548640" y="4014216"/>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7" name="Text 15"/>
          <p:cNvSpPr txBox="1"/>
          <p:nvPr/>
        </p:nvSpPr>
        <p:spPr>
          <a:xfrm>
            <a:off x="324612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Sridhar Niyanthri Rajeswari (A0351151U)</a:t>
            </a:r>
            <a:endParaRPr lang="en-US" sz="800" dirty="0"/>
          </a:p>
        </p:txBody>
      </p:sp>
      <p:sp>
        <p:nvSpPr>
          <p:cNvPr id="18" name="Text 16"/>
          <p:cNvSpPr txBox="1"/>
          <p:nvPr/>
        </p:nvSpPr>
        <p:spPr>
          <a:xfrm>
            <a:off x="3246120" y="3392424"/>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9" name="Text 17"/>
          <p:cNvSpPr txBox="1"/>
          <p:nvPr/>
        </p:nvSpPr>
        <p:spPr>
          <a:xfrm>
            <a:off x="324612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Sundara Rajan Saadhvika (A0352594W)</a:t>
            </a:r>
            <a:endParaRPr lang="en-US" sz="800" dirty="0"/>
          </a:p>
        </p:txBody>
      </p:sp>
      <p:sp>
        <p:nvSpPr>
          <p:cNvPr id="20" name="Text 18"/>
          <p:cNvSpPr txBox="1"/>
          <p:nvPr/>
        </p:nvSpPr>
        <p:spPr>
          <a:xfrm>
            <a:off x="3246120" y="3703320"/>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21" name="Text 19"/>
          <p:cNvSpPr txBox="1"/>
          <p:nvPr/>
        </p:nvSpPr>
        <p:spPr>
          <a:xfrm>
            <a:off x="324612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Tang Zheling (A0352177B)</a:t>
            </a:r>
            <a:endParaRPr lang="en-US" sz="800" dirty="0"/>
          </a:p>
        </p:txBody>
      </p:sp>
      <p:sp>
        <p:nvSpPr>
          <p:cNvPr id="22" name="Text 20"/>
          <p:cNvSpPr txBox="1"/>
          <p:nvPr/>
        </p:nvSpPr>
        <p:spPr>
          <a:xfrm>
            <a:off x="3246120" y="4014216"/>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23" name="Text 21"/>
          <p:cNvSpPr txBox="1"/>
          <p:nvPr/>
        </p:nvSpPr>
        <p:spPr>
          <a:xfrm>
            <a:off x="548640" y="4206240"/>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GITHUB  </a:t>
            </a:r>
            <a:r>
              <a:rPr lang="en-US" sz="850" spc="50" kern="0" dirty="0">
                <a:solidFill>
                  <a:srgbClr val="F4EFE6"/>
                </a:solidFill>
                <a:latin typeface="Arial" pitchFamily="34" charset="0"/>
                <a:ea typeface="Arial" pitchFamily="34" charset="-122"/>
                <a:cs typeface="Arial" pitchFamily="34" charset="-120"/>
              </a:rPr>
              <a:t>github.com/JoshuaGloor/dss5105-capstone-project</a:t>
            </a:r>
            <a:endParaRPr lang="en-US" sz="850" dirty="0"/>
          </a:p>
        </p:txBody>
      </p:sp>
      <p:sp>
        <p:nvSpPr>
          <p:cNvPr id="24" name="Text 22"/>
          <p:cNvSpPr txBox="1"/>
          <p:nvPr/>
        </p:nvSpPr>
        <p:spPr>
          <a:xfrm>
            <a:off x="548640" y="4754880"/>
            <a:ext cx="5486400" cy="182880"/>
          </a:xfrm>
          <a:prstGeom prst="rect">
            <a:avLst/>
          </a:prstGeom>
          <a:noFill/>
          <a:ln/>
        </p:spPr>
        <p:txBody>
          <a:bodyPr wrap="square" lIns="0" tIns="0" rIns="0" bIns="0" rtlCol="0" anchor="t"/>
          <a:lstStyle/>
          <a:p>
            <a:pPr indent="0" marL="0">
              <a:buNone/>
            </a:pPr>
            <a:r>
              <a:rPr lang="en-US" sz="700" spc="200" kern="0" dirty="0">
                <a:solidFill>
                  <a:srgbClr val="C9BEAD"/>
                </a:solidFill>
                <a:latin typeface="Arial" pitchFamily="34" charset="0"/>
                <a:ea typeface="Arial" pitchFamily="34" charset="-122"/>
                <a:cs typeface="Arial" pitchFamily="34" charset="-120"/>
              </a:rPr>
              <a:t>DSS5105 CAPSTONE  /  30 OCTOBER 2026</a:t>
            </a:r>
            <a:endParaRPr lang="en-US" sz="700" dirty="0"/>
          </a:p>
        </p:txBody>
      </p:sp>
      <p:pic>
        <p:nvPicPr>
          <p:cNvPr id="25" name="Image 0" descr="The dispatch assistant on a phone: a greeting, the eight workshops with their queue rings, and example requests">    </p:cNvPr>
          <p:cNvPicPr>
            <a:picLocks noChangeAspect="1"/>
          </p:cNvPicPr>
          <p:nvPr/>
        </p:nvPicPr>
        <p:blipFill>
          <a:blip r:embed="rId1"/>
          <a:stretch>
            <a:fillRect/>
          </a:stretch>
        </p:blipFill>
        <p:spPr>
          <a:xfrm>
            <a:off x="6368838" y="411480"/>
            <a:ext cx="2272242" cy="434340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02   </a:t>
            </a:r>
            <a:r>
              <a:rPr lang="en-US" sz="850" b="1" spc="300" kern="0" dirty="0">
                <a:solidFill>
                  <a:srgbClr val="7D5E30"/>
                </a:solidFill>
                <a:latin typeface="Arial" pitchFamily="34" charset="0"/>
                <a:ea typeface="Arial" pitchFamily="34" charset="-122"/>
                <a:cs typeface="Arial" pitchFamily="34" charset="-120"/>
              </a:rPr>
              <a:t>OBJECTIVE AND FOCUS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dispatcher decides on the factory floor, in seconds</a:t>
            </a:r>
            <a:endParaRPr lang="en-US" sz="2300" dirty="0"/>
          </a:p>
        </p:txBody>
      </p:sp>
      <p:sp>
        <p:nvSpPr>
          <p:cNvPr id="4" name="Shape 2"/>
          <p:cNvSpPr/>
          <p:nvPr/>
        </p:nvSpPr>
        <p:spPr>
          <a:xfrm>
            <a:off x="548640" y="1188720"/>
            <a:ext cx="3611880" cy="1417320"/>
          </a:xfrm>
          <a:prstGeom prst="roundRect">
            <a:avLst>
              <a:gd name="adj" fmla="val 5161"/>
            </a:avLst>
          </a:prstGeom>
          <a:solidFill>
            <a:srgbClr val="F1E7D6"/>
          </a:solidFill>
          <a:ln w="9525">
            <a:solidFill>
              <a:srgbClr val="E2D3B9"/>
            </a:solidFill>
            <a:prstDash val="solid"/>
          </a:ln>
        </p:spPr>
      </p:sp>
      <p:sp>
        <p:nvSpPr>
          <p:cNvPr id="5" name="Shape 3"/>
          <p:cNvSpPr/>
          <p:nvPr/>
        </p:nvSpPr>
        <p:spPr>
          <a:xfrm>
            <a:off x="548640" y="1188720"/>
            <a:ext cx="54864" cy="1417320"/>
          </a:xfrm>
          <a:prstGeom prst="rect">
            <a:avLst/>
          </a:prstGeom>
          <a:solidFill>
            <a:srgbClr val="A3804C"/>
          </a:solidFill>
          <a:ln w="12700">
            <a:solidFill>
              <a:srgbClr val="A3804C"/>
            </a:solidFill>
            <a:prstDash val="solid"/>
          </a:ln>
        </p:spPr>
      </p:sp>
      <p:sp>
        <p:nvSpPr>
          <p:cNvPr id="6" name="Text 4"/>
          <p:cNvSpPr txBox="1"/>
          <p:nvPr/>
        </p:nvSpPr>
        <p:spPr>
          <a:xfrm>
            <a:off x="777240" y="1325880"/>
            <a:ext cx="320040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A REAL REQUEST FROM THE INBOX</a:t>
            </a:r>
            <a:endParaRPr lang="en-US" sz="750" dirty="0"/>
          </a:p>
        </p:txBody>
      </p:sp>
      <p:sp>
        <p:nvSpPr>
          <p:cNvPr id="7" name="Text 5"/>
          <p:cNvSpPr txBox="1"/>
          <p:nvPr/>
        </p:nvSpPr>
        <p:spPr>
          <a:xfrm>
            <a:off x="777240" y="1536192"/>
            <a:ext cx="3200400" cy="777240"/>
          </a:xfrm>
          <a:prstGeom prst="rect">
            <a:avLst/>
          </a:prstGeom>
          <a:noFill/>
          <a:ln/>
        </p:spPr>
        <p:txBody>
          <a:bodyPr wrap="square" lIns="0" tIns="0" rIns="0" bIns="0" rtlCol="0" anchor="t"/>
          <a:lstStyle/>
          <a:p>
            <a:pPr indent="0" marL="0">
              <a:buNone/>
            </a:pPr>
            <a:r>
              <a:rPr lang="en-US" sz="1350" i="1" dirty="0">
                <a:solidFill>
                  <a:srgbClr val="1D1B18"/>
                </a:solidFill>
                <a:latin typeface="Georgia" pitchFamily="34" charset="0"/>
                <a:ea typeface="Georgia" pitchFamily="34" charset="-122"/>
                <a:cs typeface="Georgia" pitchFamily="34" charset="-120"/>
              </a:rPr>
              <a:t>"ORD-109, 500 vests for Harbor Knits, due Apr 13. ...and keep it away from BudgetWorks, the last batch came back rough."</a:t>
            </a:r>
            <a:endParaRPr lang="en-US" sz="1350" dirty="0"/>
          </a:p>
        </p:txBody>
      </p:sp>
      <p:sp>
        <p:nvSpPr>
          <p:cNvPr id="8" name="Text 6"/>
          <p:cNvSpPr txBox="1"/>
          <p:nvPr/>
        </p:nvSpPr>
        <p:spPr>
          <a:xfrm>
            <a:off x="777240" y="2331720"/>
            <a:ext cx="3200400" cy="164592"/>
          </a:xfrm>
          <a:prstGeom prst="rect">
            <a:avLst/>
          </a:prstGeom>
          <a:noFill/>
          <a:ln/>
        </p:spPr>
        <p:txBody>
          <a:bodyPr wrap="square" lIns="0" tIns="0" rIns="0" bIns="0" rtlCol="0" anchor="t"/>
          <a:lstStyle/>
          <a:p>
            <a:pPr indent="0" marL="0">
              <a:buNone/>
            </a:pPr>
            <a:r>
              <a:rPr lang="en-US" sz="800" dirty="0">
                <a:solidFill>
                  <a:srgbClr val="6B665D"/>
                </a:solidFill>
                <a:latin typeface="Arial" pitchFamily="34" charset="0"/>
                <a:ea typeface="Arial" pitchFamily="34" charset="-122"/>
                <a:cs typeface="Arial" pitchFamily="34" charset="-120"/>
              </a:rPr>
              <a:t>Mei, 09:53, request R25</a:t>
            </a:r>
            <a:endParaRPr lang="en-US" sz="800" dirty="0"/>
          </a:p>
        </p:txBody>
      </p:sp>
      <p:sp>
        <p:nvSpPr>
          <p:cNvPr id="9" name="Text 7"/>
          <p:cNvSpPr txBox="1"/>
          <p:nvPr/>
        </p:nvSpPr>
        <p:spPr>
          <a:xfrm>
            <a:off x="548640" y="2743200"/>
            <a:ext cx="36118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THE USER</a:t>
            </a:r>
            <a:endParaRPr lang="en-US" sz="750" dirty="0"/>
          </a:p>
        </p:txBody>
      </p:sp>
      <p:sp>
        <p:nvSpPr>
          <p:cNvPr id="10" name="Text 8"/>
          <p:cNvSpPr txBox="1"/>
          <p:nvPr/>
        </p:nvSpPr>
        <p:spPr>
          <a:xfrm>
            <a:off x="548640" y="2907792"/>
            <a:ext cx="3611880" cy="256032"/>
          </a:xfrm>
          <a:prstGeom prst="rect">
            <a:avLst/>
          </a:prstGeom>
          <a:noFill/>
          <a:ln/>
        </p:spPr>
        <p:txBody>
          <a:bodyPr wrap="square" lIns="0" tIns="0" rIns="0" bIns="0" rtlCol="0" anchor="t"/>
          <a:lstStyle/>
          <a:p>
            <a:pPr indent="0" marL="0">
              <a:buNone/>
            </a:pPr>
            <a:r>
              <a:rPr lang="en-US" sz="1400" dirty="0">
                <a:solidFill>
                  <a:srgbClr val="1D1B18"/>
                </a:solidFill>
                <a:latin typeface="Georgia" pitchFamily="34" charset="0"/>
                <a:ea typeface="Georgia" pitchFamily="34" charset="-122"/>
                <a:cs typeface="Georgia" pitchFamily="34" charset="-120"/>
              </a:rPr>
              <a:t>The production dispatcher at SweaterCo</a:t>
            </a:r>
            <a:endParaRPr lang="en-US" sz="1400" dirty="0"/>
          </a:p>
        </p:txBody>
      </p:sp>
      <p:sp>
        <p:nvSpPr>
          <p:cNvPr id="11" name="Text 9"/>
          <p:cNvSpPr txBox="1"/>
          <p:nvPr/>
        </p:nvSpPr>
        <p:spPr>
          <a:xfrm>
            <a:off x="548640" y="3172968"/>
            <a:ext cx="3611880" cy="310896"/>
          </a:xfrm>
          <a:prstGeom prst="rect">
            <a:avLst/>
          </a:prstGeom>
          <a:noFill/>
          <a:ln/>
        </p:spPr>
        <p:txBody>
          <a:bodyPr wrap="square" lIns="0" tIns="0" rIns="0" bIns="0" rtlCol="0" anchor="t"/>
          <a:lstStyle/>
          <a:p>
            <a:pPr indent="0" marL="0">
              <a:buNone/>
            </a:pPr>
            <a:r>
              <a:rPr lang="en-US" sz="900" dirty="0">
                <a:solidFill>
                  <a:srgbClr val="4A463F"/>
                </a:solidFill>
                <a:latin typeface="Arial" pitchFamily="34" charset="0"/>
                <a:ea typeface="Arial" pitchFamily="34" charset="-122"/>
                <a:cs typeface="Arial" pitchFamily="34" charset="-120"/>
              </a:rPr>
              <a:t>On the floor with a phone. Most requests are messy: missing dates, vague orders, banned workshops.</a:t>
            </a:r>
            <a:endParaRPr lang="en-US" sz="900" dirty="0"/>
          </a:p>
        </p:txBody>
      </p:sp>
      <p:sp>
        <p:nvSpPr>
          <p:cNvPr id="12" name="Shape 10"/>
          <p:cNvSpPr/>
          <p:nvPr/>
        </p:nvSpPr>
        <p:spPr>
          <a:xfrm>
            <a:off x="548640" y="3566160"/>
            <a:ext cx="3611880" cy="265176"/>
          </a:xfrm>
          <a:prstGeom prst="roundRect">
            <a:avLst>
              <a:gd name="adj" fmla="val 27586"/>
            </a:avLst>
          </a:prstGeom>
          <a:solidFill>
            <a:srgbClr val="FFFFFF"/>
          </a:solidFill>
          <a:ln w="9525">
            <a:solidFill>
              <a:srgbClr val="E4DDD0"/>
            </a:solidFill>
            <a:prstDash val="solid"/>
          </a:ln>
        </p:spPr>
      </p:sp>
      <p:sp>
        <p:nvSpPr>
          <p:cNvPr id="13" name="Text 11"/>
          <p:cNvSpPr txBox="1"/>
          <p:nvPr/>
        </p:nvSpPr>
        <p:spPr>
          <a:xfrm>
            <a:off x="658368" y="356616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1</a:t>
            </a:r>
            <a:endParaRPr lang="en-US" sz="1200" dirty="0"/>
          </a:p>
        </p:txBody>
      </p:sp>
      <p:sp>
        <p:nvSpPr>
          <p:cNvPr id="14" name="Text 12"/>
          <p:cNvSpPr txBox="1"/>
          <p:nvPr/>
        </p:nvSpPr>
        <p:spPr>
          <a:xfrm>
            <a:off x="868680" y="356616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A safe workshop, its date and why, in seconds</a:t>
            </a:r>
            <a:endParaRPr lang="en-US" sz="900" dirty="0"/>
          </a:p>
        </p:txBody>
      </p:sp>
      <p:sp>
        <p:nvSpPr>
          <p:cNvPr id="15" name="Shape 13"/>
          <p:cNvSpPr/>
          <p:nvPr/>
        </p:nvSpPr>
        <p:spPr>
          <a:xfrm>
            <a:off x="548640" y="3886200"/>
            <a:ext cx="3611880" cy="265176"/>
          </a:xfrm>
          <a:prstGeom prst="roundRect">
            <a:avLst>
              <a:gd name="adj" fmla="val 27586"/>
            </a:avLst>
          </a:prstGeom>
          <a:solidFill>
            <a:srgbClr val="FFFFFF"/>
          </a:solidFill>
          <a:ln w="9525">
            <a:solidFill>
              <a:srgbClr val="E4DDD0"/>
            </a:solidFill>
            <a:prstDash val="solid"/>
          </a:ln>
        </p:spPr>
      </p:sp>
      <p:sp>
        <p:nvSpPr>
          <p:cNvPr id="16" name="Text 14"/>
          <p:cNvSpPr txBox="1"/>
          <p:nvPr/>
        </p:nvSpPr>
        <p:spPr>
          <a:xfrm>
            <a:off x="658368" y="388620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2</a:t>
            </a:r>
            <a:endParaRPr lang="en-US" sz="1200" dirty="0"/>
          </a:p>
        </p:txBody>
      </p:sp>
      <p:sp>
        <p:nvSpPr>
          <p:cNvPr id="17" name="Text 15"/>
          <p:cNvSpPr txBox="1"/>
          <p:nvPr/>
        </p:nvSpPr>
        <p:spPr>
          <a:xfrm>
            <a:off x="868680" y="388620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The constraint kept, and who asked recorded</a:t>
            </a:r>
            <a:endParaRPr lang="en-US" sz="900" dirty="0"/>
          </a:p>
        </p:txBody>
      </p:sp>
      <p:sp>
        <p:nvSpPr>
          <p:cNvPr id="18" name="Shape 16"/>
          <p:cNvSpPr/>
          <p:nvPr/>
        </p:nvSpPr>
        <p:spPr>
          <a:xfrm>
            <a:off x="548640" y="4206240"/>
            <a:ext cx="3611880" cy="265176"/>
          </a:xfrm>
          <a:prstGeom prst="roundRect">
            <a:avLst>
              <a:gd name="adj" fmla="val 27586"/>
            </a:avLst>
          </a:prstGeom>
          <a:solidFill>
            <a:srgbClr val="FFFFFF"/>
          </a:solidFill>
          <a:ln w="9525">
            <a:solidFill>
              <a:srgbClr val="E4DDD0"/>
            </a:solidFill>
            <a:prstDash val="solid"/>
          </a:ln>
        </p:spPr>
      </p:sp>
      <p:sp>
        <p:nvSpPr>
          <p:cNvPr id="19" name="Text 17"/>
          <p:cNvSpPr txBox="1"/>
          <p:nvPr/>
        </p:nvSpPr>
        <p:spPr>
          <a:xfrm>
            <a:off x="658368" y="420624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3</a:t>
            </a:r>
            <a:endParaRPr lang="en-US" sz="1200" dirty="0"/>
          </a:p>
        </p:txBody>
      </p:sp>
      <p:sp>
        <p:nvSpPr>
          <p:cNvPr id="20" name="Text 18"/>
          <p:cNvSpPr txBox="1"/>
          <p:nvPr/>
        </p:nvSpPr>
        <p:spPr>
          <a:xfrm>
            <a:off x="868680" y="420624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One deliberate step to commit; a record after</a:t>
            </a:r>
            <a:endParaRPr lang="en-US" sz="900" dirty="0"/>
          </a:p>
        </p:txBody>
      </p:sp>
      <p:sp>
        <p:nvSpPr>
          <p:cNvPr id="21" name="Text 19"/>
          <p:cNvSpPr txBox="1"/>
          <p:nvPr/>
        </p:nvSpPr>
        <p:spPr>
          <a:xfrm>
            <a:off x="4434840" y="1188720"/>
            <a:ext cx="41605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CHANGED SINCE SPRINT 1</a:t>
            </a:r>
            <a:endParaRPr lang="en-US" sz="750" dirty="0"/>
          </a:p>
        </p:txBody>
      </p:sp>
      <p:sp>
        <p:nvSpPr>
          <p:cNvPr id="22" name="Shape 20"/>
          <p:cNvSpPr/>
          <p:nvPr/>
        </p:nvSpPr>
        <p:spPr>
          <a:xfrm>
            <a:off x="4434840" y="1389888"/>
            <a:ext cx="1325880" cy="1463040"/>
          </a:xfrm>
          <a:prstGeom prst="roundRect">
            <a:avLst>
              <a:gd name="adj" fmla="val 5517"/>
            </a:avLst>
          </a:prstGeom>
          <a:solidFill>
            <a:srgbClr val="FFFFFF"/>
          </a:solidFill>
          <a:ln w="9525">
            <a:solidFill>
              <a:srgbClr val="E4DDD0"/>
            </a:solidFill>
            <a:prstDash val="solid"/>
          </a:ln>
        </p:spPr>
      </p:sp>
      <p:sp>
        <p:nvSpPr>
          <p:cNvPr id="23" name="Text 21"/>
          <p:cNvSpPr txBox="1"/>
          <p:nvPr/>
        </p:nvSpPr>
        <p:spPr>
          <a:xfrm>
            <a:off x="456285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68%</a:t>
            </a:r>
            <a:endParaRPr lang="en-US" sz="2600" dirty="0"/>
          </a:p>
        </p:txBody>
      </p:sp>
      <p:sp>
        <p:nvSpPr>
          <p:cNvPr id="24" name="Text 22"/>
          <p:cNvSpPr txBox="1"/>
          <p:nvPr/>
        </p:nvSpPr>
        <p:spPr>
          <a:xfrm>
            <a:off x="456285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fewer late days than earliest finish, which tied us in Sprint 1 (1.42% late vs 1.67%)</a:t>
            </a:r>
            <a:endParaRPr lang="en-US" sz="850" dirty="0"/>
          </a:p>
        </p:txBody>
      </p:sp>
      <p:sp>
        <p:nvSpPr>
          <p:cNvPr id="25" name="Shape 23"/>
          <p:cNvSpPr/>
          <p:nvPr/>
        </p:nvSpPr>
        <p:spPr>
          <a:xfrm>
            <a:off x="5852160" y="1389888"/>
            <a:ext cx="1325880" cy="1463040"/>
          </a:xfrm>
          <a:prstGeom prst="roundRect">
            <a:avLst>
              <a:gd name="adj" fmla="val 5517"/>
            </a:avLst>
          </a:prstGeom>
          <a:solidFill>
            <a:srgbClr val="FFFFFF"/>
          </a:solidFill>
          <a:ln w="9525">
            <a:solidFill>
              <a:srgbClr val="E4DDD0"/>
            </a:solidFill>
            <a:prstDash val="solid"/>
          </a:ln>
        </p:spPr>
      </p:sp>
      <p:sp>
        <p:nvSpPr>
          <p:cNvPr id="26" name="Text 24"/>
          <p:cNvSpPr txBox="1"/>
          <p:nvPr/>
        </p:nvSpPr>
        <p:spPr>
          <a:xfrm>
            <a:off x="598017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4.90%</a:t>
            </a:r>
            <a:endParaRPr lang="en-US" sz="2600" dirty="0"/>
          </a:p>
        </p:txBody>
      </p:sp>
      <p:sp>
        <p:nvSpPr>
          <p:cNvPr id="27" name="Text 25"/>
          <p:cNvSpPr txBox="1"/>
          <p:nvPr/>
        </p:nvSpPr>
        <p:spPr>
          <a:xfrm>
            <a:off x="598017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defective pieces with the defects setting, vs 5.28% for biggest capacity, which won in Sprint 1</a:t>
            </a:r>
            <a:endParaRPr lang="en-US" sz="850" dirty="0"/>
          </a:p>
        </p:txBody>
      </p:sp>
      <p:sp>
        <p:nvSpPr>
          <p:cNvPr id="28" name="Shape 26"/>
          <p:cNvSpPr/>
          <p:nvPr/>
        </p:nvSpPr>
        <p:spPr>
          <a:xfrm>
            <a:off x="7269480" y="1389888"/>
            <a:ext cx="1325880" cy="1463040"/>
          </a:xfrm>
          <a:prstGeom prst="roundRect">
            <a:avLst>
              <a:gd name="adj" fmla="val 5517"/>
            </a:avLst>
          </a:prstGeom>
          <a:solidFill>
            <a:srgbClr val="FFFFFF"/>
          </a:solidFill>
          <a:ln w="9525">
            <a:solidFill>
              <a:srgbClr val="E4DDD0"/>
            </a:solidFill>
            <a:prstDash val="solid"/>
          </a:ln>
        </p:spPr>
      </p:sp>
      <p:sp>
        <p:nvSpPr>
          <p:cNvPr id="29" name="Text 27"/>
          <p:cNvSpPr txBox="1"/>
          <p:nvPr/>
        </p:nvSpPr>
        <p:spPr>
          <a:xfrm>
            <a:off x="739749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19.2%</a:t>
            </a:r>
            <a:endParaRPr lang="en-US" sz="2600" dirty="0"/>
          </a:p>
        </p:txBody>
      </p:sp>
      <p:sp>
        <p:nvSpPr>
          <p:cNvPr id="30" name="Text 28"/>
          <p:cNvSpPr txBox="1"/>
          <p:nvPr/>
        </p:nvSpPr>
        <p:spPr>
          <a:xfrm>
            <a:off x="739749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largest workshop share with the fairness setting, vs 22.6% for random; not tuned in Sprint 1</a:t>
            </a:r>
            <a:endParaRPr lang="en-US" sz="850" dirty="0"/>
          </a:p>
        </p:txBody>
      </p:sp>
      <p:sp>
        <p:nvSpPr>
          <p:cNvPr id="31" name="Shape 29"/>
          <p:cNvSpPr/>
          <p:nvPr/>
        </p:nvSpPr>
        <p:spPr>
          <a:xfrm>
            <a:off x="4434840" y="2990088"/>
            <a:ext cx="4160520" cy="512064"/>
          </a:xfrm>
          <a:prstGeom prst="roundRect">
            <a:avLst>
              <a:gd name="adj" fmla="val 14286"/>
            </a:avLst>
          </a:prstGeom>
          <a:solidFill>
            <a:srgbClr val="FFFFFF"/>
          </a:solidFill>
          <a:ln w="9525">
            <a:solidFill>
              <a:srgbClr val="E4DDD0"/>
            </a:solidFill>
            <a:prstDash val="solid"/>
          </a:ln>
        </p:spPr>
      </p:sp>
      <p:sp>
        <p:nvSpPr>
          <p:cNvPr id="32" name="Shape 30"/>
          <p:cNvSpPr/>
          <p:nvPr/>
        </p:nvSpPr>
        <p:spPr>
          <a:xfrm>
            <a:off x="4434840" y="2990088"/>
            <a:ext cx="54864" cy="512064"/>
          </a:xfrm>
          <a:prstGeom prst="rect">
            <a:avLst/>
          </a:prstGeom>
          <a:solidFill>
            <a:srgbClr val="2F5D46"/>
          </a:solidFill>
          <a:ln w="12700">
            <a:solidFill>
              <a:srgbClr val="2F5D46"/>
            </a:solidFill>
            <a:prstDash val="solid"/>
          </a:ln>
        </p:spPr>
      </p:sp>
      <p:sp>
        <p:nvSpPr>
          <p:cNvPr id="33" name="Text 31"/>
          <p:cNvSpPr txBox="1"/>
          <p:nvPr/>
        </p:nvSpPr>
        <p:spPr>
          <a:xfrm>
            <a:off x="4617720" y="2990088"/>
            <a:ext cx="457200" cy="512064"/>
          </a:xfrm>
          <a:prstGeom prst="rect">
            <a:avLst/>
          </a:prstGeom>
          <a:noFill/>
          <a:ln/>
        </p:spPr>
        <p:txBody>
          <a:bodyPr wrap="square" lIns="0" tIns="0" rIns="0" bIns="0" rtlCol="0" anchor="ctr"/>
          <a:lstStyle/>
          <a:p>
            <a:pPr indent="0" marL="0">
              <a:buNone/>
            </a:pPr>
            <a:r>
              <a:rPr lang="en-US" sz="750" b="1" spc="150" kern="0" dirty="0">
                <a:solidFill>
                  <a:srgbClr val="2F5D46"/>
                </a:solidFill>
                <a:latin typeface="Arial" pitchFamily="34" charset="0"/>
                <a:ea typeface="Arial" pitchFamily="34" charset="-122"/>
                <a:cs typeface="Arial" pitchFamily="34" charset="-120"/>
              </a:rPr>
              <a:t>NEW</a:t>
            </a:r>
            <a:endParaRPr lang="en-US" sz="750" dirty="0"/>
          </a:p>
        </p:txBody>
      </p:sp>
      <p:sp>
        <p:nvSpPr>
          <p:cNvPr id="34" name="Text 32"/>
          <p:cNvSpPr txBox="1"/>
          <p:nvPr/>
        </p:nvSpPr>
        <p:spPr>
          <a:xfrm>
            <a:off x="5074920" y="2990088"/>
            <a:ext cx="3429000" cy="512064"/>
          </a:xfrm>
          <a:prstGeom prst="rect">
            <a:avLst/>
          </a:prstGeom>
          <a:noFill/>
          <a:ln/>
        </p:spPr>
        <p:txBody>
          <a:bodyPr wrap="square" lIns="0" tIns="0" rIns="0" bIns="0" rtlCol="0" anchor="ctr"/>
          <a:lstStyle/>
          <a:p>
            <a:pPr indent="0" marL="0">
              <a:buNone/>
            </a:pPr>
            <a:r>
              <a:rPr lang="en-US" sz="950" b="1" dirty="0">
                <a:solidFill>
                  <a:srgbClr val="1D1B18"/>
                </a:solidFill>
                <a:latin typeface="Arial" pitchFamily="34" charset="0"/>
                <a:ea typeface="Arial" pitchFamily="34" charset="-122"/>
                <a:cs typeface="Arial" pitchFamily="34" charset="-120"/>
              </a:rPr>
              <a:t>Voice on the phone: answers read aloud, and one slide to book</a:t>
            </a:r>
            <a:endParaRPr lang="en-US" sz="950" dirty="0"/>
          </a:p>
        </p:txBody>
      </p:sp>
      <p:sp>
        <p:nvSpPr>
          <p:cNvPr id="35" name="Shape 33"/>
          <p:cNvSpPr/>
          <p:nvPr/>
        </p:nvSpPr>
        <p:spPr>
          <a:xfrm>
            <a:off x="4434840" y="3593592"/>
            <a:ext cx="4160520" cy="512064"/>
          </a:xfrm>
          <a:prstGeom prst="roundRect">
            <a:avLst>
              <a:gd name="adj" fmla="val 14286"/>
            </a:avLst>
          </a:prstGeom>
          <a:solidFill>
            <a:srgbClr val="FFFFFF"/>
          </a:solidFill>
          <a:ln w="9525">
            <a:solidFill>
              <a:srgbClr val="E4DDD0"/>
            </a:solidFill>
            <a:prstDash val="solid"/>
          </a:ln>
        </p:spPr>
      </p:sp>
      <p:sp>
        <p:nvSpPr>
          <p:cNvPr id="36" name="Shape 34"/>
          <p:cNvSpPr/>
          <p:nvPr/>
        </p:nvSpPr>
        <p:spPr>
          <a:xfrm>
            <a:off x="4434840" y="3593592"/>
            <a:ext cx="54864" cy="512064"/>
          </a:xfrm>
          <a:prstGeom prst="rect">
            <a:avLst/>
          </a:prstGeom>
          <a:solidFill>
            <a:srgbClr val="2F5D46"/>
          </a:solidFill>
          <a:ln w="12700">
            <a:solidFill>
              <a:srgbClr val="2F5D46"/>
            </a:solidFill>
            <a:prstDash val="solid"/>
          </a:ln>
        </p:spPr>
      </p:sp>
      <p:sp>
        <p:nvSpPr>
          <p:cNvPr id="37" name="Text 35"/>
          <p:cNvSpPr txBox="1"/>
          <p:nvPr/>
        </p:nvSpPr>
        <p:spPr>
          <a:xfrm>
            <a:off x="4617720" y="3593592"/>
            <a:ext cx="457200" cy="512064"/>
          </a:xfrm>
          <a:prstGeom prst="rect">
            <a:avLst/>
          </a:prstGeom>
          <a:noFill/>
          <a:ln/>
        </p:spPr>
        <p:txBody>
          <a:bodyPr wrap="square" lIns="0" tIns="0" rIns="0" bIns="0" rtlCol="0" anchor="ctr"/>
          <a:lstStyle/>
          <a:p>
            <a:pPr indent="0" marL="0">
              <a:buNone/>
            </a:pPr>
            <a:r>
              <a:rPr lang="en-US" sz="750" b="1" spc="150" kern="0" dirty="0">
                <a:solidFill>
                  <a:srgbClr val="2F5D46"/>
                </a:solidFill>
                <a:latin typeface="Arial" pitchFamily="34" charset="0"/>
                <a:ea typeface="Arial" pitchFamily="34" charset="-122"/>
                <a:cs typeface="Arial" pitchFamily="34" charset="-120"/>
              </a:rPr>
              <a:t>NEW</a:t>
            </a:r>
            <a:endParaRPr lang="en-US" sz="750" dirty="0"/>
          </a:p>
        </p:txBody>
      </p:sp>
      <p:sp>
        <p:nvSpPr>
          <p:cNvPr id="38" name="Text 36"/>
          <p:cNvSpPr txBox="1"/>
          <p:nvPr/>
        </p:nvSpPr>
        <p:spPr>
          <a:xfrm>
            <a:off x="5074920" y="3593592"/>
            <a:ext cx="3429000" cy="512064"/>
          </a:xfrm>
          <a:prstGeom prst="rect">
            <a:avLst/>
          </a:prstGeom>
          <a:noFill/>
          <a:ln/>
        </p:spPr>
        <p:txBody>
          <a:bodyPr wrap="square" lIns="0" tIns="0" rIns="0" bIns="0" rtlCol="0" anchor="ctr"/>
          <a:lstStyle/>
          <a:p>
            <a:pPr indent="0" marL="0">
              <a:buNone/>
            </a:pPr>
            <a:r>
              <a:rPr lang="en-US" sz="950" b="1" dirty="0">
                <a:solidFill>
                  <a:srgbClr val="1D1B18"/>
                </a:solidFill>
                <a:latin typeface="Arial" pitchFamily="34" charset="0"/>
                <a:ea typeface="Arial" pitchFamily="34" charset="-122"/>
                <a:cs typeface="Arial" pitchFamily="34" charset="-120"/>
              </a:rPr>
              <a:t>Memory: confirmed constraints come back, with who said them</a:t>
            </a:r>
            <a:endParaRPr lang="en-US" sz="950" dirty="0"/>
          </a:p>
        </p:txBody>
      </p:sp>
      <p:sp>
        <p:nvSpPr>
          <p:cNvPr id="39" name="Text 3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Course simulator, mean of 10 normal runs (seeds 5105-5114); presets chosen on development seeds first.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03   </a:t>
            </a:r>
            <a:r>
              <a:rPr lang="en-US" sz="850" b="1" spc="300" kern="0" dirty="0">
                <a:solidFill>
                  <a:srgbClr val="7D5E30"/>
                </a:solidFill>
                <a:latin typeface="Arial" pitchFamily="34" charset="0"/>
                <a:ea typeface="Arial" pitchFamily="34" charset="-122"/>
                <a:cs typeface="Arial" pitchFamily="34" charset="-120"/>
              </a:rPr>
              <a:t>THE USER JOURNEY  /  THINK LIKE THE USER</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Say it, check it, slide to book, and it remembers</a:t>
            </a:r>
            <a:endParaRPr lang="en-US" sz="2300" dirty="0"/>
          </a:p>
        </p:txBody>
      </p:sp>
      <p:pic>
        <p:nvPicPr>
          <p:cNvPr id="4" name="Image 0" descr="Ask: Hold the mic: order, date and any constraint, in plain words.">    </p:cNvPr>
          <p:cNvPicPr>
            <a:picLocks noChangeAspect="1"/>
          </p:cNvPicPr>
          <p:nvPr/>
        </p:nvPicPr>
        <p:blipFill>
          <a:blip r:embed="rId1"/>
          <a:stretch>
            <a:fillRect/>
          </a:stretch>
        </p:blipFill>
        <p:spPr>
          <a:xfrm>
            <a:off x="54864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5" name="Text 2"/>
          <p:cNvSpPr txBox="1"/>
          <p:nvPr/>
        </p:nvSpPr>
        <p:spPr>
          <a:xfrm>
            <a:off x="53035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1</a:t>
            </a:r>
            <a:endParaRPr lang="en-US" sz="1800" dirty="0"/>
          </a:p>
        </p:txBody>
      </p:sp>
      <p:sp>
        <p:nvSpPr>
          <p:cNvPr id="6" name="Text 3"/>
          <p:cNvSpPr txBox="1"/>
          <p:nvPr/>
        </p:nvSpPr>
        <p:spPr>
          <a:xfrm>
            <a:off x="79552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Ask</a:t>
            </a:r>
            <a:endParaRPr lang="en-US" sz="1200" dirty="0"/>
          </a:p>
        </p:txBody>
      </p:sp>
      <p:sp>
        <p:nvSpPr>
          <p:cNvPr id="7" name="Text 4"/>
          <p:cNvSpPr txBox="1"/>
          <p:nvPr/>
        </p:nvSpPr>
        <p:spPr>
          <a:xfrm>
            <a:off x="53035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Hold the mic: order, date and any constraint, in plain words.</a:t>
            </a:r>
            <a:endParaRPr lang="en-US" sz="750" dirty="0"/>
          </a:p>
        </p:txBody>
      </p:sp>
      <p:pic>
        <p:nvPicPr>
          <p:cNvPr id="8" name="Image 1" descr="Answer: Best workshop, arrival and spare days, and why. Read aloud.">    </p:cNvPr>
          <p:cNvPicPr>
            <a:picLocks noChangeAspect="1"/>
          </p:cNvPicPr>
          <p:nvPr/>
        </p:nvPicPr>
        <p:blipFill>
          <a:blip r:embed="rId2"/>
          <a:stretch>
            <a:fillRect/>
          </a:stretch>
        </p:blipFill>
        <p:spPr>
          <a:xfrm>
            <a:off x="220154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9" name="Text 5"/>
          <p:cNvSpPr txBox="1"/>
          <p:nvPr/>
        </p:nvSpPr>
        <p:spPr>
          <a:xfrm>
            <a:off x="218325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2</a:t>
            </a:r>
            <a:endParaRPr lang="en-US" sz="1800" dirty="0"/>
          </a:p>
        </p:txBody>
      </p:sp>
      <p:sp>
        <p:nvSpPr>
          <p:cNvPr id="10" name="Text 6"/>
          <p:cNvSpPr txBox="1"/>
          <p:nvPr/>
        </p:nvSpPr>
        <p:spPr>
          <a:xfrm>
            <a:off x="244843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Answer</a:t>
            </a:r>
            <a:endParaRPr lang="en-US" sz="1200" dirty="0"/>
          </a:p>
        </p:txBody>
      </p:sp>
      <p:sp>
        <p:nvSpPr>
          <p:cNvPr id="11" name="Text 7"/>
          <p:cNvSpPr txBox="1"/>
          <p:nvPr/>
        </p:nvSpPr>
        <p:spPr>
          <a:xfrm>
            <a:off x="218325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Best workshop, arrival and spare days, and why. Read aloud.</a:t>
            </a:r>
            <a:endParaRPr lang="en-US" sz="750" dirty="0"/>
          </a:p>
        </p:txBody>
      </p:sp>
      <p:pic>
        <p:nvPicPr>
          <p:cNvPr id="12" name="Image 2" descr="Confirm: &quot;Book it&quot; opens one sheet. One slide books it, with a name on it.">    </p:cNvPr>
          <p:cNvPicPr>
            <a:picLocks noChangeAspect="1"/>
          </p:cNvPicPr>
          <p:nvPr/>
        </p:nvPicPr>
        <p:blipFill>
          <a:blip r:embed="rId3"/>
          <a:stretch>
            <a:fillRect/>
          </a:stretch>
        </p:blipFill>
        <p:spPr>
          <a:xfrm>
            <a:off x="385445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3" name="Text 8"/>
          <p:cNvSpPr txBox="1"/>
          <p:nvPr/>
        </p:nvSpPr>
        <p:spPr>
          <a:xfrm>
            <a:off x="383616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3</a:t>
            </a:r>
            <a:endParaRPr lang="en-US" sz="1800" dirty="0"/>
          </a:p>
        </p:txBody>
      </p:sp>
      <p:sp>
        <p:nvSpPr>
          <p:cNvPr id="14" name="Text 9"/>
          <p:cNvSpPr txBox="1"/>
          <p:nvPr/>
        </p:nvSpPr>
        <p:spPr>
          <a:xfrm>
            <a:off x="410133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Confirm</a:t>
            </a:r>
            <a:endParaRPr lang="en-US" sz="1200" dirty="0"/>
          </a:p>
        </p:txBody>
      </p:sp>
      <p:sp>
        <p:nvSpPr>
          <p:cNvPr id="15" name="Text 10"/>
          <p:cNvSpPr txBox="1"/>
          <p:nvPr/>
        </p:nvSpPr>
        <p:spPr>
          <a:xfrm>
            <a:off x="383616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opens one sheet. One slide books it, with a name on it.</a:t>
            </a:r>
            <a:endParaRPr lang="en-US" sz="750" dirty="0"/>
          </a:p>
        </p:txBody>
      </p:sp>
      <p:pic>
        <p:nvPicPr>
          <p:cNvPr id="16" name="Image 3" descr="Remember: It offers to keep the constraint for this customer.">    </p:cNvPr>
          <p:cNvPicPr>
            <a:picLocks noChangeAspect="1"/>
          </p:cNvPicPr>
          <p:nvPr/>
        </p:nvPicPr>
        <p:blipFill>
          <a:blip r:embed="rId4"/>
          <a:stretch>
            <a:fillRect/>
          </a:stretch>
        </p:blipFill>
        <p:spPr>
          <a:xfrm>
            <a:off x="550735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7" name="Text 11"/>
          <p:cNvSpPr txBox="1"/>
          <p:nvPr/>
        </p:nvSpPr>
        <p:spPr>
          <a:xfrm>
            <a:off x="548906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4</a:t>
            </a:r>
            <a:endParaRPr lang="en-US" sz="1800" dirty="0"/>
          </a:p>
        </p:txBody>
      </p:sp>
      <p:sp>
        <p:nvSpPr>
          <p:cNvPr id="18" name="Text 12"/>
          <p:cNvSpPr txBox="1"/>
          <p:nvPr/>
        </p:nvSpPr>
        <p:spPr>
          <a:xfrm>
            <a:off x="575424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Remember</a:t>
            </a:r>
            <a:endParaRPr lang="en-US" sz="1200" dirty="0"/>
          </a:p>
        </p:txBody>
      </p:sp>
      <p:sp>
        <p:nvSpPr>
          <p:cNvPr id="19" name="Text 13"/>
          <p:cNvSpPr txBox="1"/>
          <p:nvPr/>
        </p:nvSpPr>
        <p:spPr>
          <a:xfrm>
            <a:off x="548906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It offers to keep the constraint for this customer.</a:t>
            </a:r>
            <a:endParaRPr lang="en-US" sz="750" dirty="0"/>
          </a:p>
        </p:txBody>
      </p:sp>
      <p:pic>
        <p:nvPicPr>
          <p:cNvPr id="20" name="Image 4" descr="Reuse: Next order: the rule is applied, and the card says so.">    </p:cNvPr>
          <p:cNvPicPr>
            <a:picLocks noChangeAspect="1"/>
          </p:cNvPicPr>
          <p:nvPr/>
        </p:nvPicPr>
        <p:blipFill>
          <a:blip r:embed="rId5"/>
          <a:stretch>
            <a:fillRect/>
          </a:stretch>
        </p:blipFill>
        <p:spPr>
          <a:xfrm>
            <a:off x="716026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21" name="Text 14"/>
          <p:cNvSpPr txBox="1"/>
          <p:nvPr/>
        </p:nvSpPr>
        <p:spPr>
          <a:xfrm>
            <a:off x="714197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5</a:t>
            </a:r>
            <a:endParaRPr lang="en-US" sz="1800" dirty="0"/>
          </a:p>
        </p:txBody>
      </p:sp>
      <p:sp>
        <p:nvSpPr>
          <p:cNvPr id="22" name="Text 15"/>
          <p:cNvSpPr txBox="1"/>
          <p:nvPr/>
        </p:nvSpPr>
        <p:spPr>
          <a:xfrm>
            <a:off x="740714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Reuse</a:t>
            </a:r>
            <a:endParaRPr lang="en-US" sz="1200" dirty="0"/>
          </a:p>
        </p:txBody>
      </p:sp>
      <p:sp>
        <p:nvSpPr>
          <p:cNvPr id="23" name="Text 16"/>
          <p:cNvSpPr txBox="1"/>
          <p:nvPr/>
        </p:nvSpPr>
        <p:spPr>
          <a:xfrm>
            <a:off x="714197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Next order: the rule is applied, and the card says so.</a:t>
            </a:r>
            <a:endParaRPr lang="en-US" sz="750" dirty="0"/>
          </a:p>
        </p:txBody>
      </p:sp>
      <p:sp>
        <p:nvSpPr>
          <p:cNvPr id="24" name="Text 1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Live screenshots of the running app (local plan, model: the one set in .env). Voice proposes; only the slide commits.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04   </a:t>
            </a:r>
            <a:r>
              <a:rPr lang="en-US" sz="850" b="1" spc="300" kern="0" dirty="0">
                <a:solidFill>
                  <a:srgbClr val="7D5E30"/>
                </a:solidFill>
                <a:latin typeface="Arial" pitchFamily="34" charset="0"/>
                <a:ea typeface="Arial" pitchFamily="34" charset="-122"/>
                <a:cs typeface="Arial" pitchFamily="34" charset="-120"/>
              </a:rPr>
              <a:t>ARCHITECTURE AS BUILT</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model reads, Python computes, a person commits</a:t>
            </a:r>
            <a:endParaRPr lang="en-US" sz="2300" dirty="0"/>
          </a:p>
        </p:txBody>
      </p:sp>
      <p:pic>
        <p:nvPicPr>
          <p:cNvPr id="4" name="Image 0" descr="Architecture: phone app and router, LLM intake and quote check, deterministic tools, reply card, slide to confirm, plan ledger, memory store and course data, with the simulator and inbox evaluation">    </p:cNvPr>
          <p:cNvPicPr>
            <a:picLocks noChangeAspect="1"/>
          </p:cNvPicPr>
          <p:nvPr/>
        </p:nvPicPr>
        <p:blipFill>
          <a:blip r:embed="rId1"/>
          <a:stretch>
            <a:fillRect/>
          </a:stretch>
        </p:blipFill>
        <p:spPr>
          <a:xfrm>
            <a:off x="592658" y="1097280"/>
            <a:ext cx="7958683" cy="3611880"/>
          </a:xfrm>
          <a:prstGeom prst="rect">
            <a:avLst/>
          </a:prstGeom>
        </p:spPr>
      </p:pic>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05   </a:t>
            </a:r>
            <a:r>
              <a:rPr lang="en-US" sz="850" b="1" spc="300" kern="0" dirty="0">
                <a:solidFill>
                  <a:srgbClr val="7D5E30"/>
                </a:solidFill>
                <a:latin typeface="Arial" pitchFamily="34" charset="0"/>
                <a:ea typeface="Arial" pitchFamily="34" charset="-122"/>
                <a:cs typeface="Arial" pitchFamily="34" charset="-120"/>
              </a:rPr>
              <a:t>KEY CHOICES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Each choice, against the alternative we considered</a:t>
            </a:r>
            <a:endParaRPr lang="en-US" sz="2300" dirty="0"/>
          </a:p>
        </p:txBody>
      </p:sp>
      <p:sp>
        <p:nvSpPr>
          <p:cNvPr id="4" name="Shape 2"/>
          <p:cNvSpPr/>
          <p:nvPr/>
        </p:nvSpPr>
        <p:spPr>
          <a:xfrm>
            <a:off x="548640" y="1188720"/>
            <a:ext cx="1929384" cy="1536192"/>
          </a:xfrm>
          <a:prstGeom prst="roundRect">
            <a:avLst>
              <a:gd name="adj" fmla="val 4762"/>
            </a:avLst>
          </a:prstGeom>
          <a:solidFill>
            <a:srgbClr val="F1E7D6"/>
          </a:solidFill>
          <a:ln w="9525">
            <a:solidFill>
              <a:srgbClr val="E2D3B9"/>
            </a:solidFill>
            <a:prstDash val="solid"/>
          </a:ln>
        </p:spPr>
      </p:sp>
      <p:sp>
        <p:nvSpPr>
          <p:cNvPr id="5" name="Shape 3"/>
          <p:cNvSpPr/>
          <p:nvPr/>
        </p:nvSpPr>
        <p:spPr>
          <a:xfrm>
            <a:off x="548640" y="1188720"/>
            <a:ext cx="54864" cy="1536192"/>
          </a:xfrm>
          <a:prstGeom prst="rect">
            <a:avLst/>
          </a:prstGeom>
          <a:solidFill>
            <a:srgbClr val="A3804C"/>
          </a:solidFill>
          <a:ln w="12700">
            <a:solidFill>
              <a:srgbClr val="A3804C"/>
            </a:solidFill>
            <a:prstDash val="solid"/>
          </a:ln>
        </p:spPr>
      </p:sp>
      <p:sp>
        <p:nvSpPr>
          <p:cNvPr id="6" name="Text 4"/>
          <p:cNvSpPr txBox="1"/>
          <p:nvPr/>
        </p:nvSpPr>
        <p:spPr>
          <a:xfrm>
            <a:off x="685800"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MODEL</a:t>
            </a:r>
            <a:endParaRPr lang="en-US" sz="750" dirty="0"/>
          </a:p>
        </p:txBody>
      </p:sp>
      <p:sp>
        <p:nvSpPr>
          <p:cNvPr id="7" name="Text 5"/>
          <p:cNvSpPr txBox="1"/>
          <p:nvPr/>
        </p:nvSpPr>
        <p:spPr>
          <a:xfrm>
            <a:off x="685800"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One hosted model, named in .env</a:t>
            </a:r>
            <a:endParaRPr lang="en-US" sz="1250" dirty="0"/>
          </a:p>
        </p:txBody>
      </p:sp>
      <p:sp>
        <p:nvSpPr>
          <p:cNvPr id="8" name="Text 6"/>
          <p:cNvSpPr txBox="1"/>
          <p:nvPr/>
        </p:nvSpPr>
        <p:spPr>
          <a:xfrm>
            <a:off x="685800"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fine-tuned or local model</a:t>
            </a:r>
            <a:endParaRPr lang="en-US" sz="800" dirty="0"/>
          </a:p>
        </p:txBody>
      </p:sp>
      <p:sp>
        <p:nvSpPr>
          <p:cNvPr id="9" name="Text 7"/>
          <p:cNvSpPr txBox="1"/>
          <p:nvPr/>
        </p:nvSpPr>
        <p:spPr>
          <a:xfrm>
            <a:off x="685800"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It only extracts quoted fields, so no training is needed; swapping it is one line.</a:t>
            </a:r>
            <a:endParaRPr lang="en-US" sz="800" dirty="0"/>
          </a:p>
        </p:txBody>
      </p:sp>
      <p:sp>
        <p:nvSpPr>
          <p:cNvPr id="10" name="Shape 8"/>
          <p:cNvSpPr/>
          <p:nvPr/>
        </p:nvSpPr>
        <p:spPr>
          <a:xfrm>
            <a:off x="2587752" y="1188720"/>
            <a:ext cx="1929384" cy="1536192"/>
          </a:xfrm>
          <a:prstGeom prst="roundRect">
            <a:avLst>
              <a:gd name="adj" fmla="val 4762"/>
            </a:avLst>
          </a:prstGeom>
          <a:solidFill>
            <a:srgbClr val="F1E7D6"/>
          </a:solidFill>
          <a:ln w="9525">
            <a:solidFill>
              <a:srgbClr val="E2D3B9"/>
            </a:solidFill>
            <a:prstDash val="solid"/>
          </a:ln>
        </p:spPr>
      </p:sp>
      <p:sp>
        <p:nvSpPr>
          <p:cNvPr id="11" name="Shape 9"/>
          <p:cNvSpPr/>
          <p:nvPr/>
        </p:nvSpPr>
        <p:spPr>
          <a:xfrm>
            <a:off x="2587752" y="1188720"/>
            <a:ext cx="54864" cy="1536192"/>
          </a:xfrm>
          <a:prstGeom prst="rect">
            <a:avLst/>
          </a:prstGeom>
          <a:solidFill>
            <a:srgbClr val="A3804C"/>
          </a:solidFill>
          <a:ln w="12700">
            <a:solidFill>
              <a:srgbClr val="A3804C"/>
            </a:solidFill>
            <a:prstDash val="solid"/>
          </a:ln>
        </p:spPr>
      </p:sp>
      <p:sp>
        <p:nvSpPr>
          <p:cNvPr id="12" name="Text 10"/>
          <p:cNvSpPr txBox="1"/>
          <p:nvPr/>
        </p:nvSpPr>
        <p:spPr>
          <a:xfrm>
            <a:off x="2724912"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RETRIEVAL</a:t>
            </a:r>
            <a:endParaRPr lang="en-US" sz="750" dirty="0"/>
          </a:p>
        </p:txBody>
      </p:sp>
      <p:sp>
        <p:nvSpPr>
          <p:cNvPr id="13" name="Text 11"/>
          <p:cNvSpPr txBox="1"/>
          <p:nvPr/>
        </p:nvSpPr>
        <p:spPr>
          <a:xfrm>
            <a:off x="2724912"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Exact lookup by order ID</a:t>
            </a:r>
            <a:endParaRPr lang="en-US" sz="1250" dirty="0"/>
          </a:p>
        </p:txBody>
      </p:sp>
      <p:sp>
        <p:nvSpPr>
          <p:cNvPr id="14" name="Text 12"/>
          <p:cNvSpPr txBox="1"/>
          <p:nvPr/>
        </p:nvSpPr>
        <p:spPr>
          <a:xfrm>
            <a:off x="2724912"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embedding retrieval (RAG)</a:t>
            </a:r>
            <a:endParaRPr lang="en-US" sz="800" dirty="0"/>
          </a:p>
        </p:txBody>
      </p:sp>
      <p:sp>
        <p:nvSpPr>
          <p:cNvPr id="15" name="Text 13"/>
          <p:cNvSpPr txBox="1"/>
          <p:nvPr/>
        </p:nvSpPr>
        <p:spPr>
          <a:xfrm>
            <a:off x="2724912"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Orders have keys; an exact match cannot fetch the wrong order.</a:t>
            </a:r>
            <a:endParaRPr lang="en-US" sz="800" dirty="0"/>
          </a:p>
        </p:txBody>
      </p:sp>
      <p:sp>
        <p:nvSpPr>
          <p:cNvPr id="16" name="Shape 14"/>
          <p:cNvSpPr/>
          <p:nvPr/>
        </p:nvSpPr>
        <p:spPr>
          <a:xfrm>
            <a:off x="4626864" y="1188720"/>
            <a:ext cx="1929384" cy="1536192"/>
          </a:xfrm>
          <a:prstGeom prst="roundRect">
            <a:avLst>
              <a:gd name="adj" fmla="val 4762"/>
            </a:avLst>
          </a:prstGeom>
          <a:solidFill>
            <a:srgbClr val="F1E7D6"/>
          </a:solidFill>
          <a:ln w="9525">
            <a:solidFill>
              <a:srgbClr val="E2D3B9"/>
            </a:solidFill>
            <a:prstDash val="solid"/>
          </a:ln>
        </p:spPr>
      </p:sp>
      <p:sp>
        <p:nvSpPr>
          <p:cNvPr id="17" name="Shape 15"/>
          <p:cNvSpPr/>
          <p:nvPr/>
        </p:nvSpPr>
        <p:spPr>
          <a:xfrm>
            <a:off x="4626864" y="1188720"/>
            <a:ext cx="54864" cy="1536192"/>
          </a:xfrm>
          <a:prstGeom prst="rect">
            <a:avLst/>
          </a:prstGeom>
          <a:solidFill>
            <a:srgbClr val="A3804C"/>
          </a:solidFill>
          <a:ln w="12700">
            <a:solidFill>
              <a:srgbClr val="A3804C"/>
            </a:solidFill>
            <a:prstDash val="solid"/>
          </a:ln>
        </p:spPr>
      </p:sp>
      <p:sp>
        <p:nvSpPr>
          <p:cNvPr id="18" name="Text 16"/>
          <p:cNvSpPr txBox="1"/>
          <p:nvPr/>
        </p:nvSpPr>
        <p:spPr>
          <a:xfrm>
            <a:off x="4764024"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DATA STORE</a:t>
            </a:r>
            <a:endParaRPr lang="en-US" sz="750" dirty="0"/>
          </a:p>
        </p:txBody>
      </p:sp>
      <p:sp>
        <p:nvSpPr>
          <p:cNvPr id="19" name="Text 17"/>
          <p:cNvSpPr txBox="1"/>
          <p:nvPr/>
        </p:nvSpPr>
        <p:spPr>
          <a:xfrm>
            <a:off x="4764024"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SQLite for records and memory</a:t>
            </a:r>
            <a:endParaRPr lang="en-US" sz="1250" dirty="0"/>
          </a:p>
        </p:txBody>
      </p:sp>
      <p:sp>
        <p:nvSpPr>
          <p:cNvPr id="20" name="Text 18"/>
          <p:cNvSpPr txBox="1"/>
          <p:nvPr/>
        </p:nvSpPr>
        <p:spPr>
          <a:xfrm>
            <a:off x="4764024"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vector store</a:t>
            </a:r>
            <a:endParaRPr lang="en-US" sz="800" dirty="0"/>
          </a:p>
        </p:txBody>
      </p:sp>
      <p:sp>
        <p:nvSpPr>
          <p:cNvPr id="21" name="Text 19"/>
          <p:cNvSpPr txBox="1"/>
          <p:nvPr/>
        </p:nvSpPr>
        <p:spPr>
          <a:xfrm>
            <a:off x="4764024"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A rule must apply exactly, with who said it, auditable in one local file.</a:t>
            </a:r>
            <a:endParaRPr lang="en-US" sz="800" dirty="0"/>
          </a:p>
        </p:txBody>
      </p:sp>
      <p:sp>
        <p:nvSpPr>
          <p:cNvPr id="22" name="Shape 20"/>
          <p:cNvSpPr/>
          <p:nvPr/>
        </p:nvSpPr>
        <p:spPr>
          <a:xfrm>
            <a:off x="6665976" y="1188720"/>
            <a:ext cx="1929384" cy="1536192"/>
          </a:xfrm>
          <a:prstGeom prst="roundRect">
            <a:avLst>
              <a:gd name="adj" fmla="val 4762"/>
            </a:avLst>
          </a:prstGeom>
          <a:solidFill>
            <a:srgbClr val="F1E7D6"/>
          </a:solidFill>
          <a:ln w="9525">
            <a:solidFill>
              <a:srgbClr val="E2D3B9"/>
            </a:solidFill>
            <a:prstDash val="solid"/>
          </a:ln>
        </p:spPr>
      </p:sp>
      <p:sp>
        <p:nvSpPr>
          <p:cNvPr id="23" name="Shape 21"/>
          <p:cNvSpPr/>
          <p:nvPr/>
        </p:nvSpPr>
        <p:spPr>
          <a:xfrm>
            <a:off x="6665976" y="1188720"/>
            <a:ext cx="54864" cy="1536192"/>
          </a:xfrm>
          <a:prstGeom prst="rect">
            <a:avLst/>
          </a:prstGeom>
          <a:solidFill>
            <a:srgbClr val="A3804C"/>
          </a:solidFill>
          <a:ln w="12700">
            <a:solidFill>
              <a:srgbClr val="A3804C"/>
            </a:solidFill>
            <a:prstDash val="solid"/>
          </a:ln>
        </p:spPr>
      </p:sp>
      <p:sp>
        <p:nvSpPr>
          <p:cNvPr id="24" name="Text 22"/>
          <p:cNvSpPr txBox="1"/>
          <p:nvPr/>
        </p:nvSpPr>
        <p:spPr>
          <a:xfrm>
            <a:off x="6803136"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TOOLS</a:t>
            </a:r>
            <a:endParaRPr lang="en-US" sz="750" dirty="0"/>
          </a:p>
        </p:txBody>
      </p:sp>
      <p:sp>
        <p:nvSpPr>
          <p:cNvPr id="25" name="Text 23"/>
          <p:cNvSpPr txBox="1"/>
          <p:nvPr/>
        </p:nvSpPr>
        <p:spPr>
          <a:xfrm>
            <a:off x="6803136"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The course's eligible_workshops()</a:t>
            </a:r>
            <a:endParaRPr lang="en-US" sz="1250" dirty="0"/>
          </a:p>
        </p:txBody>
      </p:sp>
      <p:sp>
        <p:nvSpPr>
          <p:cNvPr id="26" name="Text 24"/>
          <p:cNvSpPr txBox="1"/>
          <p:nvPr/>
        </p:nvSpPr>
        <p:spPr>
          <a:xfrm>
            <a:off x="6803136"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our own eligibility rule</a:t>
            </a:r>
            <a:endParaRPr lang="en-US" sz="800" dirty="0"/>
          </a:p>
        </p:txBody>
      </p:sp>
      <p:sp>
        <p:nvSpPr>
          <p:cNvPr id="27" name="Text 25"/>
          <p:cNvSpPr txBox="1"/>
          <p:nvPr/>
        </p:nvSpPr>
        <p:spPr>
          <a:xfrm>
            <a:off x="6803136"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Our checks and the course simulator can never disagree.</a:t>
            </a:r>
            <a:endParaRPr lang="en-US" sz="800" dirty="0"/>
          </a:p>
        </p:txBody>
      </p:sp>
      <p:sp>
        <p:nvSpPr>
          <p:cNvPr id="28" name="Shape 26"/>
          <p:cNvSpPr/>
          <p:nvPr/>
        </p:nvSpPr>
        <p:spPr>
          <a:xfrm>
            <a:off x="548640" y="2834640"/>
            <a:ext cx="1929384" cy="1536192"/>
          </a:xfrm>
          <a:prstGeom prst="roundRect">
            <a:avLst>
              <a:gd name="adj" fmla="val 4762"/>
            </a:avLst>
          </a:prstGeom>
          <a:solidFill>
            <a:srgbClr val="FFFFFF"/>
          </a:solidFill>
          <a:ln w="9525">
            <a:solidFill>
              <a:srgbClr val="E4DDD0"/>
            </a:solidFill>
            <a:prstDash val="solid"/>
          </a:ln>
        </p:spPr>
      </p:sp>
      <p:sp>
        <p:nvSpPr>
          <p:cNvPr id="29" name="Text 27"/>
          <p:cNvSpPr txBox="1"/>
          <p:nvPr/>
        </p:nvSpPr>
        <p:spPr>
          <a:xfrm>
            <a:off x="685800"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ORCHESTRATION</a:t>
            </a:r>
            <a:endParaRPr lang="en-US" sz="750" dirty="0"/>
          </a:p>
        </p:txBody>
      </p:sp>
      <p:sp>
        <p:nvSpPr>
          <p:cNvPr id="30" name="Text 28"/>
          <p:cNvSpPr txBox="1"/>
          <p:nvPr/>
        </p:nvSpPr>
        <p:spPr>
          <a:xfrm>
            <a:off x="685800"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One fixed workflow</a:t>
            </a:r>
            <a:endParaRPr lang="en-US" sz="1250" dirty="0"/>
          </a:p>
        </p:txBody>
      </p:sp>
      <p:sp>
        <p:nvSpPr>
          <p:cNvPr id="31" name="Text 29"/>
          <p:cNvSpPr txBox="1"/>
          <p:nvPr/>
        </p:nvSpPr>
        <p:spPr>
          <a:xfrm>
            <a:off x="685800"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ReAct agent loop</a:t>
            </a:r>
            <a:endParaRPr lang="en-US" sz="800" dirty="0"/>
          </a:p>
        </p:txBody>
      </p:sp>
      <p:sp>
        <p:nvSpPr>
          <p:cNvPr id="32" name="Text 30"/>
          <p:cNvSpPr txBox="1"/>
          <p:nvPr/>
        </p:nvSpPr>
        <p:spPr>
          <a:xfrm>
            <a:off x="685800"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Every request needs the same checks in order: testable, cheaper, no tool-choice errors.</a:t>
            </a:r>
            <a:endParaRPr lang="en-US" sz="800" dirty="0"/>
          </a:p>
        </p:txBody>
      </p:sp>
      <p:sp>
        <p:nvSpPr>
          <p:cNvPr id="33" name="Shape 31"/>
          <p:cNvSpPr/>
          <p:nvPr/>
        </p:nvSpPr>
        <p:spPr>
          <a:xfrm>
            <a:off x="2587752" y="2834640"/>
            <a:ext cx="1929384" cy="1536192"/>
          </a:xfrm>
          <a:prstGeom prst="roundRect">
            <a:avLst>
              <a:gd name="adj" fmla="val 4762"/>
            </a:avLst>
          </a:prstGeom>
          <a:solidFill>
            <a:srgbClr val="FFFFFF"/>
          </a:solidFill>
          <a:ln w="9525">
            <a:solidFill>
              <a:srgbClr val="E4DDD0"/>
            </a:solidFill>
            <a:prstDash val="solid"/>
          </a:ln>
        </p:spPr>
      </p:sp>
      <p:sp>
        <p:nvSpPr>
          <p:cNvPr id="34" name="Text 32"/>
          <p:cNvSpPr txBox="1"/>
          <p:nvPr/>
        </p:nvSpPr>
        <p:spPr>
          <a:xfrm>
            <a:off x="2724912"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REPLIES</a:t>
            </a:r>
            <a:endParaRPr lang="en-US" sz="750" dirty="0"/>
          </a:p>
        </p:txBody>
      </p:sp>
      <p:sp>
        <p:nvSpPr>
          <p:cNvPr id="35" name="Text 33"/>
          <p:cNvSpPr txBox="1"/>
          <p:nvPr/>
        </p:nvSpPr>
        <p:spPr>
          <a:xfrm>
            <a:off x="2724912"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Python templates</a:t>
            </a:r>
            <a:endParaRPr lang="en-US" sz="1250" dirty="0"/>
          </a:p>
        </p:txBody>
      </p:sp>
      <p:sp>
        <p:nvSpPr>
          <p:cNvPr id="36" name="Text 34"/>
          <p:cNvSpPr txBox="1"/>
          <p:nvPr/>
        </p:nvSpPr>
        <p:spPr>
          <a:xfrm>
            <a:off x="2724912"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model-written replies</a:t>
            </a:r>
            <a:endParaRPr lang="en-US" sz="800" dirty="0"/>
          </a:p>
        </p:txBody>
      </p:sp>
      <p:sp>
        <p:nvSpPr>
          <p:cNvPr id="37" name="Text 35"/>
          <p:cNvSpPr txBox="1"/>
          <p:nvPr/>
        </p:nvSpPr>
        <p:spPr>
          <a:xfrm>
            <a:off x="2724912"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No model arithmetic: dates and costs are copied from tool outputs.</a:t>
            </a:r>
            <a:endParaRPr lang="en-US" sz="800" dirty="0"/>
          </a:p>
        </p:txBody>
      </p:sp>
      <p:sp>
        <p:nvSpPr>
          <p:cNvPr id="38" name="Shape 36"/>
          <p:cNvSpPr/>
          <p:nvPr/>
        </p:nvSpPr>
        <p:spPr>
          <a:xfrm>
            <a:off x="4626864" y="2834640"/>
            <a:ext cx="1929384" cy="1536192"/>
          </a:xfrm>
          <a:prstGeom prst="roundRect">
            <a:avLst>
              <a:gd name="adj" fmla="val 4762"/>
            </a:avLst>
          </a:prstGeom>
          <a:solidFill>
            <a:srgbClr val="FFFFFF"/>
          </a:solidFill>
          <a:ln w="9525">
            <a:solidFill>
              <a:srgbClr val="E4DDD0"/>
            </a:solidFill>
            <a:prstDash val="solid"/>
          </a:ln>
        </p:spPr>
      </p:sp>
      <p:sp>
        <p:nvSpPr>
          <p:cNvPr id="39" name="Text 37"/>
          <p:cNvSpPr txBox="1"/>
          <p:nvPr/>
        </p:nvSpPr>
        <p:spPr>
          <a:xfrm>
            <a:off x="4764024"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SPEECH</a:t>
            </a:r>
            <a:endParaRPr lang="en-US" sz="750" dirty="0"/>
          </a:p>
        </p:txBody>
      </p:sp>
      <p:sp>
        <p:nvSpPr>
          <p:cNvPr id="40" name="Text 38"/>
          <p:cNvSpPr txBox="1"/>
          <p:nvPr/>
        </p:nvSpPr>
        <p:spPr>
          <a:xfrm>
            <a:off x="4764024"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Browser speech recognition</a:t>
            </a:r>
            <a:endParaRPr lang="en-US" sz="1250" dirty="0"/>
          </a:p>
        </p:txBody>
      </p:sp>
      <p:sp>
        <p:nvSpPr>
          <p:cNvPr id="41" name="Text 39"/>
          <p:cNvSpPr txBox="1"/>
          <p:nvPr/>
        </p:nvSpPr>
        <p:spPr>
          <a:xfrm>
            <a:off x="4764024"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server speech-to-text</a:t>
            </a:r>
            <a:endParaRPr lang="en-US" sz="800" dirty="0"/>
          </a:p>
        </p:txBody>
      </p:sp>
      <p:sp>
        <p:nvSpPr>
          <p:cNvPr id="42" name="Text 40"/>
          <p:cNvSpPr txBox="1"/>
          <p:nvPr/>
        </p:nvSpPr>
        <p:spPr>
          <a:xfrm>
            <a:off x="4764024"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Free, live words while speaking, no extra key; typing always works.</a:t>
            </a:r>
            <a:endParaRPr lang="en-US" sz="800" dirty="0"/>
          </a:p>
        </p:txBody>
      </p:sp>
      <p:sp>
        <p:nvSpPr>
          <p:cNvPr id="43" name="Shape 41"/>
          <p:cNvSpPr/>
          <p:nvPr/>
        </p:nvSpPr>
        <p:spPr>
          <a:xfrm>
            <a:off x="6665976" y="2834640"/>
            <a:ext cx="1929384" cy="1536192"/>
          </a:xfrm>
          <a:prstGeom prst="roundRect">
            <a:avLst>
              <a:gd name="adj" fmla="val 4762"/>
            </a:avLst>
          </a:prstGeom>
          <a:solidFill>
            <a:srgbClr val="FFFFFF"/>
          </a:solidFill>
          <a:ln w="9525">
            <a:solidFill>
              <a:srgbClr val="E4DDD0"/>
            </a:solidFill>
            <a:prstDash val="solid"/>
          </a:ln>
        </p:spPr>
      </p:sp>
      <p:sp>
        <p:nvSpPr>
          <p:cNvPr id="44" name="Text 42"/>
          <p:cNvSpPr txBox="1"/>
          <p:nvPr/>
        </p:nvSpPr>
        <p:spPr>
          <a:xfrm>
            <a:off x="6803136"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COMMIT</a:t>
            </a:r>
            <a:endParaRPr lang="en-US" sz="750" dirty="0"/>
          </a:p>
        </p:txBody>
      </p:sp>
      <p:sp>
        <p:nvSpPr>
          <p:cNvPr id="45" name="Text 43"/>
          <p:cNvSpPr txBox="1"/>
          <p:nvPr/>
        </p:nvSpPr>
        <p:spPr>
          <a:xfrm>
            <a:off x="6803136"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Slide to confirm</a:t>
            </a:r>
            <a:endParaRPr lang="en-US" sz="1250" dirty="0"/>
          </a:p>
        </p:txBody>
      </p:sp>
      <p:sp>
        <p:nvSpPr>
          <p:cNvPr id="46" name="Text 44"/>
          <p:cNvSpPr txBox="1"/>
          <p:nvPr/>
        </p:nvSpPr>
        <p:spPr>
          <a:xfrm>
            <a:off x="6803136"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booking on a spoken "yes"</a:t>
            </a:r>
            <a:endParaRPr lang="en-US" sz="800" dirty="0"/>
          </a:p>
        </p:txBody>
      </p:sp>
      <p:sp>
        <p:nvSpPr>
          <p:cNvPr id="47" name="Text 45"/>
          <p:cNvSpPr txBox="1"/>
          <p:nvPr/>
        </p:nvSpPr>
        <p:spPr>
          <a:xfrm>
            <a:off x="6803136"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A misheard "yes" on a noisy floor cannot send work out.</a:t>
            </a:r>
            <a:endParaRPr lang="en-US" sz="800" dirty="0"/>
          </a:p>
        </p:txBody>
      </p:sp>
      <p:sp>
        <p:nvSpPr>
          <p:cNvPr id="48" name="Text 46"/>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Highlighted: the four choices the brief asks us to justify. The model call is the only thing that leaves the machine; it never sees costs, queues or defect rates.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06   </a:t>
            </a:r>
            <a:r>
              <a:rPr lang="en-US" sz="850" b="1" spc="300" kern="0" dirty="0">
                <a:solidFill>
                  <a:srgbClr val="7D5E30"/>
                </a:solidFill>
                <a:latin typeface="Arial" pitchFamily="34" charset="0"/>
                <a:ea typeface="Arial" pitchFamily="34" charset="-122"/>
                <a:cs typeface="Arial" pitchFamily="34" charset="-120"/>
              </a:rPr>
              <a:t>PROGRESS SINCE THE SPRINT 1 ROADMAP</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Every feature, its owner and its status</a:t>
            </a:r>
            <a:endParaRPr lang="en-US" sz="2300" dirty="0"/>
          </a:p>
        </p:txBody>
      </p:sp>
      <p:sp>
        <p:nvSpPr>
          <p:cNvPr id="4" name="Text 2"/>
          <p:cNvSpPr txBox="1"/>
          <p:nvPr/>
        </p:nvSpPr>
        <p:spPr>
          <a:xfrm>
            <a:off x="548640" y="1234440"/>
            <a:ext cx="1737360" cy="914400"/>
          </a:xfrm>
          <a:prstGeom prst="rect">
            <a:avLst/>
          </a:prstGeom>
          <a:noFill/>
          <a:ln/>
        </p:spPr>
        <p:txBody>
          <a:bodyPr wrap="square" lIns="0" tIns="0" rIns="0" bIns="0" rtlCol="0" anchor="ctr"/>
          <a:lstStyle/>
          <a:p>
            <a:pPr indent="0" marL="0">
              <a:buNone/>
            </a:pPr>
            <a:r>
              <a:rPr lang="en-US" sz="5600" dirty="0">
                <a:solidFill>
                  <a:srgbClr val="2F5D46"/>
                </a:solidFill>
                <a:latin typeface="Georgia" pitchFamily="34" charset="0"/>
                <a:ea typeface="Georgia" pitchFamily="34" charset="-122"/>
                <a:cs typeface="Georgia" pitchFamily="34" charset="-120"/>
              </a:rPr>
              <a:t>7</a:t>
            </a:r>
            <a:r>
              <a:rPr lang="en-US" sz="5600" dirty="0">
                <a:solidFill>
                  <a:srgbClr val="1D1B18"/>
                </a:solidFill>
                <a:latin typeface="Georgia" pitchFamily="34" charset="0"/>
                <a:ea typeface="Georgia" pitchFamily="34" charset="-122"/>
                <a:cs typeface="Georgia" pitchFamily="34" charset="-120"/>
              </a:rPr>
              <a:t>/11</a:t>
            </a:r>
            <a:endParaRPr lang="en-US" sz="5600" dirty="0"/>
          </a:p>
        </p:txBody>
      </p:sp>
      <p:sp>
        <p:nvSpPr>
          <p:cNvPr id="5" name="Text 3"/>
          <p:cNvSpPr txBox="1"/>
          <p:nvPr/>
        </p:nvSpPr>
        <p:spPr>
          <a:xfrm>
            <a:off x="548640" y="2194560"/>
            <a:ext cx="1737360" cy="256032"/>
          </a:xfrm>
          <a:prstGeom prst="rect">
            <a:avLst/>
          </a:prstGeom>
          <a:noFill/>
          <a:ln/>
        </p:spPr>
        <p:txBody>
          <a:bodyPr wrap="square" lIns="0" tIns="0" rIns="0" bIns="0" rtlCol="0" anchor="t"/>
          <a:lstStyle/>
          <a:p>
            <a:pPr indent="0" marL="0">
              <a:buNone/>
            </a:pPr>
            <a:r>
              <a:rPr lang="en-US" sz="1050" b="1" dirty="0">
                <a:solidFill>
                  <a:srgbClr val="1D1B18"/>
                </a:solidFill>
                <a:latin typeface="Arial" pitchFamily="34" charset="0"/>
                <a:ea typeface="Arial" pitchFamily="34" charset="-122"/>
                <a:cs typeface="Arial" pitchFamily="34" charset="-120"/>
              </a:rPr>
              <a:t>features done this sprint</a:t>
            </a:r>
            <a:endParaRPr lang="en-US" sz="1050" dirty="0"/>
          </a:p>
        </p:txBody>
      </p:sp>
      <p:sp>
        <p:nvSpPr>
          <p:cNvPr id="6" name="Text 4"/>
          <p:cNvSpPr txBox="1"/>
          <p:nvPr/>
        </p:nvSpPr>
        <p:spPr>
          <a:xfrm>
            <a:off x="548640" y="2514600"/>
            <a:ext cx="160020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Each card names its owner. Code and pull requests are linked below.</a:t>
            </a:r>
            <a:endParaRPr lang="en-US" sz="850" dirty="0"/>
          </a:p>
        </p:txBody>
      </p:sp>
      <p:sp>
        <p:nvSpPr>
          <p:cNvPr id="7" name="Shape 5"/>
          <p:cNvSpPr/>
          <p:nvPr/>
        </p:nvSpPr>
        <p:spPr>
          <a:xfrm>
            <a:off x="2377440" y="1188720"/>
            <a:ext cx="3108960" cy="256032"/>
          </a:xfrm>
          <a:prstGeom prst="roundRect">
            <a:avLst>
              <a:gd name="adj" fmla="val 50000"/>
            </a:avLst>
          </a:prstGeom>
          <a:solidFill>
            <a:srgbClr val="2F5D46"/>
          </a:solidFill>
          <a:ln w="12700">
            <a:solidFill>
              <a:srgbClr val="2F5D46"/>
            </a:solidFill>
            <a:prstDash val="solid"/>
          </a:ln>
        </p:spPr>
      </p:sp>
      <p:sp>
        <p:nvSpPr>
          <p:cNvPr id="8" name="Text 6"/>
          <p:cNvSpPr txBox="1"/>
          <p:nvPr/>
        </p:nvSpPr>
        <p:spPr>
          <a:xfrm>
            <a:off x="2377440" y="1188720"/>
            <a:ext cx="310896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DONE  7</a:t>
            </a:r>
            <a:endParaRPr lang="en-US" sz="800" dirty="0"/>
          </a:p>
        </p:txBody>
      </p:sp>
      <p:sp>
        <p:nvSpPr>
          <p:cNvPr id="9" name="Shape 7"/>
          <p:cNvSpPr/>
          <p:nvPr/>
        </p:nvSpPr>
        <p:spPr>
          <a:xfrm>
            <a:off x="2377440" y="1517904"/>
            <a:ext cx="3108960" cy="384048"/>
          </a:xfrm>
          <a:prstGeom prst="roundRect">
            <a:avLst>
              <a:gd name="adj" fmla="val 19048"/>
            </a:avLst>
          </a:prstGeom>
          <a:solidFill>
            <a:srgbClr val="FFFFFF"/>
          </a:solidFill>
          <a:ln w="9525">
            <a:solidFill>
              <a:srgbClr val="E4DDD0"/>
            </a:solidFill>
            <a:prstDash val="solid"/>
          </a:ln>
        </p:spPr>
      </p:sp>
      <p:sp>
        <p:nvSpPr>
          <p:cNvPr id="10" name="Shape 8"/>
          <p:cNvSpPr/>
          <p:nvPr/>
        </p:nvSpPr>
        <p:spPr>
          <a:xfrm>
            <a:off x="2377440" y="1517904"/>
            <a:ext cx="54864" cy="384048"/>
          </a:xfrm>
          <a:prstGeom prst="rect">
            <a:avLst/>
          </a:prstGeom>
          <a:solidFill>
            <a:srgbClr val="2F5D46"/>
          </a:solidFill>
          <a:ln w="12700">
            <a:solidFill>
              <a:srgbClr val="2F5D46"/>
            </a:solidFill>
            <a:prstDash val="solid"/>
          </a:ln>
        </p:spPr>
      </p:sp>
      <p:sp>
        <p:nvSpPr>
          <p:cNvPr id="11" name="Text 9"/>
          <p:cNvSpPr txBox="1"/>
          <p:nvPr/>
        </p:nvSpPr>
        <p:spPr>
          <a:xfrm>
            <a:off x="2505456" y="1554480"/>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Voice assistant: speech in and out, slide to book</a:t>
            </a:r>
            <a:endParaRPr lang="en-US" sz="800" dirty="0"/>
          </a:p>
        </p:txBody>
      </p:sp>
      <p:sp>
        <p:nvSpPr>
          <p:cNvPr id="12" name="Text 10"/>
          <p:cNvSpPr txBox="1"/>
          <p:nvPr/>
        </p:nvSpPr>
        <p:spPr>
          <a:xfrm>
            <a:off x="2505456" y="1746504"/>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13" name="Shape 11"/>
          <p:cNvSpPr/>
          <p:nvPr/>
        </p:nvSpPr>
        <p:spPr>
          <a:xfrm>
            <a:off x="2377440" y="1938528"/>
            <a:ext cx="3108960" cy="384048"/>
          </a:xfrm>
          <a:prstGeom prst="roundRect">
            <a:avLst>
              <a:gd name="adj" fmla="val 19048"/>
            </a:avLst>
          </a:prstGeom>
          <a:solidFill>
            <a:srgbClr val="FFFFFF"/>
          </a:solidFill>
          <a:ln w="9525">
            <a:solidFill>
              <a:srgbClr val="E4DDD0"/>
            </a:solidFill>
            <a:prstDash val="solid"/>
          </a:ln>
        </p:spPr>
      </p:sp>
      <p:sp>
        <p:nvSpPr>
          <p:cNvPr id="14" name="Shape 12"/>
          <p:cNvSpPr/>
          <p:nvPr/>
        </p:nvSpPr>
        <p:spPr>
          <a:xfrm>
            <a:off x="2377440" y="1938528"/>
            <a:ext cx="54864" cy="384048"/>
          </a:xfrm>
          <a:prstGeom prst="rect">
            <a:avLst/>
          </a:prstGeom>
          <a:solidFill>
            <a:srgbClr val="2F5D46"/>
          </a:solidFill>
          <a:ln w="12700">
            <a:solidFill>
              <a:srgbClr val="2F5D46"/>
            </a:solidFill>
            <a:prstDash val="solid"/>
          </a:ln>
        </p:spPr>
      </p:sp>
      <p:sp>
        <p:nvSpPr>
          <p:cNvPr id="15" name="Text 13"/>
          <p:cNvSpPr txBox="1"/>
          <p:nvPr/>
        </p:nvSpPr>
        <p:spPr>
          <a:xfrm>
            <a:off x="2505456" y="1975104"/>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Long-term memory of confirmed rules, log, profile</a:t>
            </a:r>
            <a:endParaRPr lang="en-US" sz="800" dirty="0"/>
          </a:p>
        </p:txBody>
      </p:sp>
      <p:sp>
        <p:nvSpPr>
          <p:cNvPr id="16" name="Text 14"/>
          <p:cNvSpPr txBox="1"/>
          <p:nvPr/>
        </p:nvSpPr>
        <p:spPr>
          <a:xfrm>
            <a:off x="2505456" y="2167128"/>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17" name="Shape 15"/>
          <p:cNvSpPr/>
          <p:nvPr/>
        </p:nvSpPr>
        <p:spPr>
          <a:xfrm>
            <a:off x="2377440" y="2359152"/>
            <a:ext cx="3108960" cy="384048"/>
          </a:xfrm>
          <a:prstGeom prst="roundRect">
            <a:avLst>
              <a:gd name="adj" fmla="val 19048"/>
            </a:avLst>
          </a:prstGeom>
          <a:solidFill>
            <a:srgbClr val="FFFFFF"/>
          </a:solidFill>
          <a:ln w="9525">
            <a:solidFill>
              <a:srgbClr val="E4DDD0"/>
            </a:solidFill>
            <a:prstDash val="solid"/>
          </a:ln>
        </p:spPr>
      </p:sp>
      <p:sp>
        <p:nvSpPr>
          <p:cNvPr id="18" name="Shape 16"/>
          <p:cNvSpPr/>
          <p:nvPr/>
        </p:nvSpPr>
        <p:spPr>
          <a:xfrm>
            <a:off x="2377440" y="2359152"/>
            <a:ext cx="54864" cy="384048"/>
          </a:xfrm>
          <a:prstGeom prst="rect">
            <a:avLst/>
          </a:prstGeom>
          <a:solidFill>
            <a:srgbClr val="2F5D46"/>
          </a:solidFill>
          <a:ln w="12700">
            <a:solidFill>
              <a:srgbClr val="2F5D46"/>
            </a:solidFill>
            <a:prstDash val="solid"/>
          </a:ln>
        </p:spPr>
      </p:sp>
      <p:sp>
        <p:nvSpPr>
          <p:cNvPr id="19" name="Text 17"/>
          <p:cNvSpPr txBox="1"/>
          <p:nvPr/>
        </p:nvSpPr>
        <p:spPr>
          <a:xfrm>
            <a:off x="2505456" y="2395728"/>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Four-objective scorer, presets, objective lab</a:t>
            </a:r>
            <a:endParaRPr lang="en-US" sz="800" dirty="0"/>
          </a:p>
        </p:txBody>
      </p:sp>
      <p:sp>
        <p:nvSpPr>
          <p:cNvPr id="20" name="Text 18"/>
          <p:cNvSpPr txBox="1"/>
          <p:nvPr/>
        </p:nvSpPr>
        <p:spPr>
          <a:xfrm>
            <a:off x="2505456" y="2587752"/>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21" name="Shape 19"/>
          <p:cNvSpPr/>
          <p:nvPr/>
        </p:nvSpPr>
        <p:spPr>
          <a:xfrm>
            <a:off x="2377440" y="2779776"/>
            <a:ext cx="3108960" cy="384048"/>
          </a:xfrm>
          <a:prstGeom prst="roundRect">
            <a:avLst>
              <a:gd name="adj" fmla="val 19048"/>
            </a:avLst>
          </a:prstGeom>
          <a:solidFill>
            <a:srgbClr val="FFFFFF"/>
          </a:solidFill>
          <a:ln w="9525">
            <a:solidFill>
              <a:srgbClr val="E4DDD0"/>
            </a:solidFill>
            <a:prstDash val="solid"/>
          </a:ln>
        </p:spPr>
      </p:sp>
      <p:sp>
        <p:nvSpPr>
          <p:cNvPr id="22" name="Shape 20"/>
          <p:cNvSpPr/>
          <p:nvPr/>
        </p:nvSpPr>
        <p:spPr>
          <a:xfrm>
            <a:off x="2377440" y="2779776"/>
            <a:ext cx="54864" cy="384048"/>
          </a:xfrm>
          <a:prstGeom prst="rect">
            <a:avLst/>
          </a:prstGeom>
          <a:solidFill>
            <a:srgbClr val="2F5D46"/>
          </a:solidFill>
          <a:ln w="12700">
            <a:solidFill>
              <a:srgbClr val="2F5D46"/>
            </a:solidFill>
            <a:prstDash val="solid"/>
          </a:ln>
        </p:spPr>
      </p:sp>
      <p:sp>
        <p:nvSpPr>
          <p:cNvPr id="23" name="Text 21"/>
          <p:cNvSpPr txBox="1"/>
          <p:nvPr/>
        </p:nvSpPr>
        <p:spPr>
          <a:xfrm>
            <a:off x="2505456" y="2816352"/>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Capacity questions and workshop checks from chat</a:t>
            </a:r>
            <a:endParaRPr lang="en-US" sz="800" dirty="0"/>
          </a:p>
        </p:txBody>
      </p:sp>
      <p:sp>
        <p:nvSpPr>
          <p:cNvPr id="24" name="Text 22"/>
          <p:cNvSpPr txBox="1"/>
          <p:nvPr/>
        </p:nvSpPr>
        <p:spPr>
          <a:xfrm>
            <a:off x="2505456" y="3008376"/>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25" name="Shape 23"/>
          <p:cNvSpPr/>
          <p:nvPr/>
        </p:nvSpPr>
        <p:spPr>
          <a:xfrm>
            <a:off x="2377440" y="3200400"/>
            <a:ext cx="3108960" cy="384048"/>
          </a:xfrm>
          <a:prstGeom prst="roundRect">
            <a:avLst>
              <a:gd name="adj" fmla="val 19048"/>
            </a:avLst>
          </a:prstGeom>
          <a:solidFill>
            <a:srgbClr val="FFFFFF"/>
          </a:solidFill>
          <a:ln w="9525">
            <a:solidFill>
              <a:srgbClr val="E4DDD0"/>
            </a:solidFill>
            <a:prstDash val="solid"/>
          </a:ln>
        </p:spPr>
      </p:sp>
      <p:sp>
        <p:nvSpPr>
          <p:cNvPr id="26" name="Shape 24"/>
          <p:cNvSpPr/>
          <p:nvPr/>
        </p:nvSpPr>
        <p:spPr>
          <a:xfrm>
            <a:off x="2377440" y="3200400"/>
            <a:ext cx="54864" cy="384048"/>
          </a:xfrm>
          <a:prstGeom prst="rect">
            <a:avLst/>
          </a:prstGeom>
          <a:solidFill>
            <a:srgbClr val="2F5D46"/>
          </a:solidFill>
          <a:ln w="12700">
            <a:solidFill>
              <a:srgbClr val="2F5D46"/>
            </a:solidFill>
            <a:prstDash val="solid"/>
          </a:ln>
        </p:spPr>
      </p:sp>
      <p:sp>
        <p:nvSpPr>
          <p:cNvPr id="27" name="Text 25"/>
          <p:cNvSpPr txBox="1"/>
          <p:nvPr/>
        </p:nvSpPr>
        <p:spPr>
          <a:xfrm>
            <a:off x="2505456" y="3236976"/>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Chat-first desk redesign</a:t>
            </a:r>
            <a:endParaRPr lang="en-US" sz="800" dirty="0"/>
          </a:p>
        </p:txBody>
      </p:sp>
      <p:sp>
        <p:nvSpPr>
          <p:cNvPr id="28" name="Text 26"/>
          <p:cNvSpPr txBox="1"/>
          <p:nvPr/>
        </p:nvSpPr>
        <p:spPr>
          <a:xfrm>
            <a:off x="2505456" y="3429000"/>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Duong Thanh Nhan</a:t>
            </a:r>
            <a:endParaRPr lang="en-US" sz="700" dirty="0"/>
          </a:p>
        </p:txBody>
      </p:sp>
      <p:sp>
        <p:nvSpPr>
          <p:cNvPr id="29" name="Shape 27"/>
          <p:cNvSpPr/>
          <p:nvPr/>
        </p:nvSpPr>
        <p:spPr>
          <a:xfrm>
            <a:off x="2377440" y="3621024"/>
            <a:ext cx="3108960" cy="384048"/>
          </a:xfrm>
          <a:prstGeom prst="roundRect">
            <a:avLst>
              <a:gd name="adj" fmla="val 19048"/>
            </a:avLst>
          </a:prstGeom>
          <a:solidFill>
            <a:srgbClr val="FFFFFF"/>
          </a:solidFill>
          <a:ln w="9525">
            <a:solidFill>
              <a:srgbClr val="E4DDD0"/>
            </a:solidFill>
            <a:prstDash val="solid"/>
          </a:ln>
        </p:spPr>
      </p:sp>
      <p:sp>
        <p:nvSpPr>
          <p:cNvPr id="30" name="Shape 28"/>
          <p:cNvSpPr/>
          <p:nvPr/>
        </p:nvSpPr>
        <p:spPr>
          <a:xfrm>
            <a:off x="2377440" y="3621024"/>
            <a:ext cx="54864" cy="384048"/>
          </a:xfrm>
          <a:prstGeom prst="rect">
            <a:avLst/>
          </a:prstGeom>
          <a:solidFill>
            <a:srgbClr val="2F5D46"/>
          </a:solidFill>
          <a:ln w="12700">
            <a:solidFill>
              <a:srgbClr val="2F5D46"/>
            </a:solidFill>
            <a:prstDash val="solid"/>
          </a:ln>
        </p:spPr>
      </p:sp>
      <p:sp>
        <p:nvSpPr>
          <p:cNvPr id="31" name="Text 29"/>
          <p:cNvSpPr txBox="1"/>
          <p:nvPr/>
        </p:nvSpPr>
        <p:spPr>
          <a:xfrm>
            <a:off x="2505456" y="3657600"/>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AWS deployment behind HTTPS (demo site)</a:t>
            </a:r>
            <a:endParaRPr lang="en-US" sz="800" dirty="0"/>
          </a:p>
        </p:txBody>
      </p:sp>
      <p:sp>
        <p:nvSpPr>
          <p:cNvPr id="32" name="Text 30"/>
          <p:cNvSpPr txBox="1"/>
          <p:nvPr/>
        </p:nvSpPr>
        <p:spPr>
          <a:xfrm>
            <a:off x="2505456" y="3849624"/>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Joshua Wesley Gloor</a:t>
            </a:r>
            <a:endParaRPr lang="en-US" sz="700" dirty="0"/>
          </a:p>
        </p:txBody>
      </p:sp>
      <p:sp>
        <p:nvSpPr>
          <p:cNvPr id="33" name="Shape 31"/>
          <p:cNvSpPr/>
          <p:nvPr/>
        </p:nvSpPr>
        <p:spPr>
          <a:xfrm>
            <a:off x="2377440" y="4041648"/>
            <a:ext cx="3108960" cy="384048"/>
          </a:xfrm>
          <a:prstGeom prst="roundRect">
            <a:avLst>
              <a:gd name="adj" fmla="val 19048"/>
            </a:avLst>
          </a:prstGeom>
          <a:solidFill>
            <a:srgbClr val="FFFFFF"/>
          </a:solidFill>
          <a:ln w="9525">
            <a:solidFill>
              <a:srgbClr val="E4DDD0"/>
            </a:solidFill>
            <a:prstDash val="solid"/>
          </a:ln>
        </p:spPr>
      </p:sp>
      <p:sp>
        <p:nvSpPr>
          <p:cNvPr id="34" name="Shape 32"/>
          <p:cNvSpPr/>
          <p:nvPr/>
        </p:nvSpPr>
        <p:spPr>
          <a:xfrm>
            <a:off x="2377440" y="4041648"/>
            <a:ext cx="54864" cy="384048"/>
          </a:xfrm>
          <a:prstGeom prst="rect">
            <a:avLst/>
          </a:prstGeom>
          <a:solidFill>
            <a:srgbClr val="2F5D46"/>
          </a:solidFill>
          <a:ln w="12700">
            <a:solidFill>
              <a:srgbClr val="2F5D46"/>
            </a:solidFill>
            <a:prstDash val="solid"/>
          </a:ln>
        </p:spPr>
      </p:sp>
      <p:sp>
        <p:nvSpPr>
          <p:cNvPr id="35" name="Text 33"/>
          <p:cNvSpPr txBox="1"/>
          <p:nvPr/>
        </p:nvSpPr>
        <p:spPr>
          <a:xfrm>
            <a:off x="2505456" y="4078224"/>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Evaluation sets: 205 requests, 140 train / 65 test</a:t>
            </a:r>
            <a:endParaRPr lang="en-US" sz="800" dirty="0"/>
          </a:p>
        </p:txBody>
      </p:sp>
      <p:sp>
        <p:nvSpPr>
          <p:cNvPr id="36" name="Text 34"/>
          <p:cNvSpPr txBox="1"/>
          <p:nvPr/>
        </p:nvSpPr>
        <p:spPr>
          <a:xfrm>
            <a:off x="2505456" y="4270248"/>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Saadhvika and Niyanthri</a:t>
            </a:r>
            <a:endParaRPr lang="en-US" sz="700" dirty="0"/>
          </a:p>
        </p:txBody>
      </p:sp>
      <p:sp>
        <p:nvSpPr>
          <p:cNvPr id="37" name="Shape 35"/>
          <p:cNvSpPr/>
          <p:nvPr/>
        </p:nvSpPr>
        <p:spPr>
          <a:xfrm>
            <a:off x="5577840" y="1188720"/>
            <a:ext cx="1463040" cy="256032"/>
          </a:xfrm>
          <a:prstGeom prst="roundRect">
            <a:avLst>
              <a:gd name="adj" fmla="val 50000"/>
            </a:avLst>
          </a:prstGeom>
          <a:solidFill>
            <a:srgbClr val="9A6A12"/>
          </a:solidFill>
          <a:ln w="12700">
            <a:solidFill>
              <a:srgbClr val="9A6A12"/>
            </a:solidFill>
            <a:prstDash val="solid"/>
          </a:ln>
        </p:spPr>
      </p:sp>
      <p:sp>
        <p:nvSpPr>
          <p:cNvPr id="38" name="Text 36"/>
          <p:cNvSpPr txBox="1"/>
          <p:nvPr/>
        </p:nvSpPr>
        <p:spPr>
          <a:xfrm>
            <a:off x="5577840" y="1188720"/>
            <a:ext cx="146304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IN PROGRESS  2</a:t>
            </a:r>
            <a:endParaRPr lang="en-US" sz="800" dirty="0"/>
          </a:p>
        </p:txBody>
      </p:sp>
      <p:sp>
        <p:nvSpPr>
          <p:cNvPr id="39" name="Shape 37"/>
          <p:cNvSpPr/>
          <p:nvPr/>
        </p:nvSpPr>
        <p:spPr>
          <a:xfrm>
            <a:off x="5577840" y="1517904"/>
            <a:ext cx="1463040" cy="658368"/>
          </a:xfrm>
          <a:prstGeom prst="roundRect">
            <a:avLst>
              <a:gd name="adj" fmla="val 11111"/>
            </a:avLst>
          </a:prstGeom>
          <a:solidFill>
            <a:srgbClr val="FFFFFF"/>
          </a:solidFill>
          <a:ln w="9525">
            <a:solidFill>
              <a:srgbClr val="E4DDD0"/>
            </a:solidFill>
            <a:prstDash val="solid"/>
          </a:ln>
        </p:spPr>
      </p:sp>
      <p:sp>
        <p:nvSpPr>
          <p:cNvPr id="40" name="Shape 38"/>
          <p:cNvSpPr/>
          <p:nvPr/>
        </p:nvSpPr>
        <p:spPr>
          <a:xfrm>
            <a:off x="5577840" y="1517904"/>
            <a:ext cx="54864" cy="658368"/>
          </a:xfrm>
          <a:prstGeom prst="rect">
            <a:avLst/>
          </a:prstGeom>
          <a:solidFill>
            <a:srgbClr val="9A6A12"/>
          </a:solidFill>
          <a:ln w="12700">
            <a:solidFill>
              <a:srgbClr val="9A6A12"/>
            </a:solidFill>
            <a:prstDash val="solid"/>
          </a:ln>
        </p:spPr>
      </p:sp>
      <p:sp>
        <p:nvSpPr>
          <p:cNvPr id="41" name="Text 39"/>
          <p:cNvSpPr txBox="1"/>
          <p:nvPr/>
        </p:nvSpPr>
        <p:spPr>
          <a:xfrm>
            <a:off x="5705856" y="1554480"/>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Clarification reliability fixes and 247-assertion benchmark</a:t>
            </a:r>
            <a:endParaRPr lang="en-US" sz="800" dirty="0"/>
          </a:p>
        </p:txBody>
      </p:sp>
      <p:sp>
        <p:nvSpPr>
          <p:cNvPr id="42" name="Text 40"/>
          <p:cNvSpPr txBox="1"/>
          <p:nvPr/>
        </p:nvSpPr>
        <p:spPr>
          <a:xfrm>
            <a:off x="5705856" y="2020824"/>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Tang Zheling</a:t>
            </a:r>
            <a:endParaRPr lang="en-US" sz="700" dirty="0"/>
          </a:p>
        </p:txBody>
      </p:sp>
      <p:sp>
        <p:nvSpPr>
          <p:cNvPr id="43" name="Shape 41"/>
          <p:cNvSpPr/>
          <p:nvPr/>
        </p:nvSpPr>
        <p:spPr>
          <a:xfrm>
            <a:off x="5577840" y="2212848"/>
            <a:ext cx="1463040" cy="658368"/>
          </a:xfrm>
          <a:prstGeom prst="roundRect">
            <a:avLst>
              <a:gd name="adj" fmla="val 11111"/>
            </a:avLst>
          </a:prstGeom>
          <a:solidFill>
            <a:srgbClr val="FFFFFF"/>
          </a:solidFill>
          <a:ln w="9525">
            <a:solidFill>
              <a:srgbClr val="E4DDD0"/>
            </a:solidFill>
            <a:prstDash val="solid"/>
          </a:ln>
        </p:spPr>
      </p:sp>
      <p:sp>
        <p:nvSpPr>
          <p:cNvPr id="44" name="Shape 42"/>
          <p:cNvSpPr/>
          <p:nvPr/>
        </p:nvSpPr>
        <p:spPr>
          <a:xfrm>
            <a:off x="5577840" y="2212848"/>
            <a:ext cx="54864" cy="658368"/>
          </a:xfrm>
          <a:prstGeom prst="rect">
            <a:avLst/>
          </a:prstGeom>
          <a:solidFill>
            <a:srgbClr val="9A6A12"/>
          </a:solidFill>
          <a:ln w="12700">
            <a:solidFill>
              <a:srgbClr val="9A6A12"/>
            </a:solidFill>
            <a:prstDash val="solid"/>
          </a:ln>
        </p:spPr>
      </p:sp>
      <p:sp>
        <p:nvSpPr>
          <p:cNvPr id="45" name="Text 43"/>
          <p:cNvSpPr txBox="1"/>
          <p:nvPr/>
        </p:nvSpPr>
        <p:spPr>
          <a:xfrm>
            <a:off x="5705856" y="2249424"/>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Independent labels for the 30 inbox requests</a:t>
            </a:r>
            <a:endParaRPr lang="en-US" sz="800" dirty="0"/>
          </a:p>
        </p:txBody>
      </p:sp>
      <p:sp>
        <p:nvSpPr>
          <p:cNvPr id="46" name="Text 44"/>
          <p:cNvSpPr txBox="1"/>
          <p:nvPr/>
        </p:nvSpPr>
        <p:spPr>
          <a:xfrm>
            <a:off x="5705856" y="2715768"/>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Saadhvika and Niyanthri</a:t>
            </a:r>
            <a:endParaRPr lang="en-US" sz="700" dirty="0"/>
          </a:p>
        </p:txBody>
      </p:sp>
      <p:sp>
        <p:nvSpPr>
          <p:cNvPr id="47" name="Shape 45"/>
          <p:cNvSpPr/>
          <p:nvPr/>
        </p:nvSpPr>
        <p:spPr>
          <a:xfrm>
            <a:off x="7132320" y="1188720"/>
            <a:ext cx="1463040" cy="256032"/>
          </a:xfrm>
          <a:prstGeom prst="roundRect">
            <a:avLst>
              <a:gd name="adj" fmla="val 50000"/>
            </a:avLst>
          </a:prstGeom>
          <a:solidFill>
            <a:srgbClr val="6B665D"/>
          </a:solidFill>
          <a:ln w="12700">
            <a:solidFill>
              <a:srgbClr val="6B665D"/>
            </a:solidFill>
            <a:prstDash val="solid"/>
          </a:ln>
        </p:spPr>
      </p:sp>
      <p:sp>
        <p:nvSpPr>
          <p:cNvPr id="48" name="Text 46"/>
          <p:cNvSpPr txBox="1"/>
          <p:nvPr/>
        </p:nvSpPr>
        <p:spPr>
          <a:xfrm>
            <a:off x="7132320" y="1188720"/>
            <a:ext cx="146304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PLANNED  2</a:t>
            </a:r>
            <a:endParaRPr lang="en-US" sz="800" dirty="0"/>
          </a:p>
        </p:txBody>
      </p:sp>
      <p:sp>
        <p:nvSpPr>
          <p:cNvPr id="49" name="Shape 47"/>
          <p:cNvSpPr/>
          <p:nvPr/>
        </p:nvSpPr>
        <p:spPr>
          <a:xfrm>
            <a:off x="7132320" y="1517904"/>
            <a:ext cx="1463040" cy="658368"/>
          </a:xfrm>
          <a:prstGeom prst="roundRect">
            <a:avLst>
              <a:gd name="adj" fmla="val 11111"/>
            </a:avLst>
          </a:prstGeom>
          <a:solidFill>
            <a:srgbClr val="FFFFFF"/>
          </a:solidFill>
          <a:ln w="9525">
            <a:solidFill>
              <a:srgbClr val="E4DDD0"/>
            </a:solidFill>
            <a:prstDash val="solid"/>
          </a:ln>
        </p:spPr>
      </p:sp>
      <p:sp>
        <p:nvSpPr>
          <p:cNvPr id="50" name="Shape 48"/>
          <p:cNvSpPr/>
          <p:nvPr/>
        </p:nvSpPr>
        <p:spPr>
          <a:xfrm>
            <a:off x="7132320" y="1517904"/>
            <a:ext cx="54864" cy="658368"/>
          </a:xfrm>
          <a:prstGeom prst="rect">
            <a:avLst/>
          </a:prstGeom>
          <a:solidFill>
            <a:srgbClr val="6B665D"/>
          </a:solidFill>
          <a:ln w="12700">
            <a:solidFill>
              <a:srgbClr val="6B665D"/>
            </a:solidFill>
            <a:prstDash val="solid"/>
          </a:ln>
        </p:spPr>
      </p:sp>
      <p:sp>
        <p:nvSpPr>
          <p:cNvPr id="51" name="Text 49"/>
          <p:cNvSpPr txBox="1"/>
          <p:nvPr/>
        </p:nvSpPr>
        <p:spPr>
          <a:xfrm>
            <a:off x="7260336" y="1554480"/>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Re-run the 65 test requests on the current intake (v3)</a:t>
            </a:r>
            <a:endParaRPr lang="en-US" sz="800" dirty="0"/>
          </a:p>
        </p:txBody>
      </p:sp>
      <p:sp>
        <p:nvSpPr>
          <p:cNvPr id="52" name="Text 50"/>
          <p:cNvSpPr txBox="1"/>
          <p:nvPr/>
        </p:nvSpPr>
        <p:spPr>
          <a:xfrm>
            <a:off x="7260336" y="2020824"/>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Tang Zheling</a:t>
            </a:r>
            <a:endParaRPr lang="en-US" sz="700" dirty="0"/>
          </a:p>
        </p:txBody>
      </p:sp>
      <p:sp>
        <p:nvSpPr>
          <p:cNvPr id="53" name="Shape 51"/>
          <p:cNvSpPr/>
          <p:nvPr/>
        </p:nvSpPr>
        <p:spPr>
          <a:xfrm>
            <a:off x="7132320" y="2212848"/>
            <a:ext cx="1463040" cy="658368"/>
          </a:xfrm>
          <a:prstGeom prst="roundRect">
            <a:avLst>
              <a:gd name="adj" fmla="val 11111"/>
            </a:avLst>
          </a:prstGeom>
          <a:solidFill>
            <a:srgbClr val="FFFFFF"/>
          </a:solidFill>
          <a:ln w="9525">
            <a:solidFill>
              <a:srgbClr val="E4DDD0"/>
            </a:solidFill>
            <a:prstDash val="solid"/>
          </a:ln>
        </p:spPr>
      </p:sp>
      <p:sp>
        <p:nvSpPr>
          <p:cNvPr id="54" name="Shape 52"/>
          <p:cNvSpPr/>
          <p:nvPr/>
        </p:nvSpPr>
        <p:spPr>
          <a:xfrm>
            <a:off x="7132320" y="2212848"/>
            <a:ext cx="54864" cy="658368"/>
          </a:xfrm>
          <a:prstGeom prst="rect">
            <a:avLst/>
          </a:prstGeom>
          <a:solidFill>
            <a:srgbClr val="6B665D"/>
          </a:solidFill>
          <a:ln w="12700">
            <a:solidFill>
              <a:srgbClr val="6B665D"/>
            </a:solidFill>
            <a:prstDash val="solid"/>
          </a:ln>
        </p:spPr>
      </p:sp>
      <p:sp>
        <p:nvSpPr>
          <p:cNvPr id="55" name="Text 53"/>
          <p:cNvSpPr txBox="1"/>
          <p:nvPr/>
        </p:nvSpPr>
        <p:spPr>
          <a:xfrm>
            <a:off x="7260336" y="2249424"/>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Usability test: two people acting as dispatchers, four tasks</a:t>
            </a:r>
            <a:endParaRPr lang="en-US" sz="800" dirty="0"/>
          </a:p>
        </p:txBody>
      </p:sp>
      <p:sp>
        <p:nvSpPr>
          <p:cNvPr id="56" name="Text 54"/>
          <p:cNvSpPr txBox="1"/>
          <p:nvPr/>
        </p:nvSpPr>
        <p:spPr>
          <a:xfrm>
            <a:off x="7260336" y="2715768"/>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Joshua Wesley Gloor</a:t>
            </a:r>
            <a:endParaRPr lang="en-US" sz="700" dirty="0"/>
          </a:p>
        </p:txBody>
      </p:sp>
      <p:sp>
        <p:nvSpPr>
          <p:cNvPr id="57" name="Text 55"/>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Code: github.com/JoshuaGloor/dss5105-capstone-project. PRs: #15 and #18 this sprint, #16 and #17 evaluation sets, #14 clarification reliability.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07   </a:t>
            </a:r>
            <a:r>
              <a:rPr lang="en-US" sz="850" b="1" spc="300" kern="0" dirty="0">
                <a:solidFill>
                  <a:srgbClr val="7D5E30"/>
                </a:solidFill>
                <a:latin typeface="Arial" pitchFamily="34" charset="0"/>
                <a:ea typeface="Arial" pitchFamily="34" charset="-122"/>
                <a:cs typeface="Arial" pitchFamily="34" charset="-120"/>
              </a:rPr>
              <a:t>VALIDATION PLAN</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What we measure, against what, and the hard cases</a:t>
            </a:r>
            <a:endParaRPr lang="en-US" sz="2300" dirty="0"/>
          </a:p>
        </p:txBody>
      </p:sp>
      <p:sp>
        <p:nvSpPr>
          <p:cNvPr id="4" name="Shape 2"/>
          <p:cNvSpPr/>
          <p:nvPr/>
        </p:nvSpPr>
        <p:spPr>
          <a:xfrm>
            <a:off x="548640" y="1170432"/>
            <a:ext cx="1929384" cy="1024128"/>
          </a:xfrm>
          <a:prstGeom prst="roundRect">
            <a:avLst>
              <a:gd name="adj" fmla="val 7143"/>
            </a:avLst>
          </a:prstGeom>
          <a:solidFill>
            <a:srgbClr val="FFFFFF"/>
          </a:solidFill>
          <a:ln w="9525">
            <a:solidFill>
              <a:srgbClr val="E4DDD0"/>
            </a:solidFill>
            <a:prstDash val="solid"/>
          </a:ln>
        </p:spPr>
      </p:sp>
      <p:sp>
        <p:nvSpPr>
          <p:cNvPr id="5" name="Text 3"/>
          <p:cNvSpPr txBox="1"/>
          <p:nvPr/>
        </p:nvSpPr>
        <p:spPr>
          <a:xfrm>
            <a:off x="685800"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1.42%</a:t>
            </a:r>
            <a:endParaRPr lang="en-US" sz="2800" dirty="0"/>
          </a:p>
        </p:txBody>
      </p:sp>
      <p:sp>
        <p:nvSpPr>
          <p:cNvPr id="6" name="Text 4"/>
          <p:cNvSpPr txBox="1"/>
          <p:nvPr/>
        </p:nvSpPr>
        <p:spPr>
          <a:xfrm>
            <a:off x="685800"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late batches (our objective), vs 1.67% for earliest finish</a:t>
            </a:r>
            <a:endParaRPr lang="en-US" sz="850" dirty="0"/>
          </a:p>
        </p:txBody>
      </p:sp>
      <p:sp>
        <p:nvSpPr>
          <p:cNvPr id="7" name="Shape 5"/>
          <p:cNvSpPr/>
          <p:nvPr/>
        </p:nvSpPr>
        <p:spPr>
          <a:xfrm>
            <a:off x="2587752" y="1170432"/>
            <a:ext cx="1929384" cy="1024128"/>
          </a:xfrm>
          <a:prstGeom prst="roundRect">
            <a:avLst>
              <a:gd name="adj" fmla="val 7143"/>
            </a:avLst>
          </a:prstGeom>
          <a:solidFill>
            <a:srgbClr val="FFFFFF"/>
          </a:solidFill>
          <a:ln w="9525">
            <a:solidFill>
              <a:srgbClr val="E4DDD0"/>
            </a:solidFill>
            <a:prstDash val="solid"/>
          </a:ln>
        </p:spPr>
      </p:sp>
      <p:sp>
        <p:nvSpPr>
          <p:cNvPr id="8" name="Text 6"/>
          <p:cNvSpPr txBox="1"/>
          <p:nvPr/>
        </p:nvSpPr>
        <p:spPr>
          <a:xfrm>
            <a:off x="2724912"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0.057</a:t>
            </a:r>
            <a:endParaRPr lang="en-US" sz="2800" dirty="0"/>
          </a:p>
        </p:txBody>
      </p:sp>
      <p:sp>
        <p:nvSpPr>
          <p:cNvPr id="9" name="Text 7"/>
          <p:cNvSpPr txBox="1"/>
          <p:nvPr/>
        </p:nvSpPr>
        <p:spPr>
          <a:xfrm>
            <a:off x="2724912"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mean late days, vs 0.178 for earliest finish</a:t>
            </a:r>
            <a:endParaRPr lang="en-US" sz="850" dirty="0"/>
          </a:p>
        </p:txBody>
      </p:sp>
      <p:sp>
        <p:nvSpPr>
          <p:cNvPr id="10" name="Shape 8"/>
          <p:cNvSpPr/>
          <p:nvPr/>
        </p:nvSpPr>
        <p:spPr>
          <a:xfrm>
            <a:off x="4626864" y="1170432"/>
            <a:ext cx="1929384" cy="1024128"/>
          </a:xfrm>
          <a:prstGeom prst="roundRect">
            <a:avLst>
              <a:gd name="adj" fmla="val 7143"/>
            </a:avLst>
          </a:prstGeom>
          <a:solidFill>
            <a:srgbClr val="FFFFFF"/>
          </a:solidFill>
          <a:ln w="9525">
            <a:solidFill>
              <a:srgbClr val="E4DDD0"/>
            </a:solidFill>
            <a:prstDash val="solid"/>
          </a:ln>
        </p:spPr>
      </p:sp>
      <p:sp>
        <p:nvSpPr>
          <p:cNvPr id="11" name="Text 9"/>
          <p:cNvSpPr txBox="1"/>
          <p:nvPr/>
        </p:nvSpPr>
        <p:spPr>
          <a:xfrm>
            <a:off x="4764024"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4.90%</a:t>
            </a:r>
            <a:endParaRPr lang="en-US" sz="2800" dirty="0"/>
          </a:p>
        </p:txBody>
      </p:sp>
      <p:sp>
        <p:nvSpPr>
          <p:cNvPr id="12" name="Text 10"/>
          <p:cNvSpPr txBox="1"/>
          <p:nvPr/>
        </p:nvSpPr>
        <p:spPr>
          <a:xfrm>
            <a:off x="4764024"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defective pieces, vs 5.28% for biggest capacity</a:t>
            </a:r>
            <a:endParaRPr lang="en-US" sz="850" dirty="0"/>
          </a:p>
        </p:txBody>
      </p:sp>
      <p:sp>
        <p:nvSpPr>
          <p:cNvPr id="13" name="Shape 11"/>
          <p:cNvSpPr/>
          <p:nvPr/>
        </p:nvSpPr>
        <p:spPr>
          <a:xfrm>
            <a:off x="6665976" y="1170432"/>
            <a:ext cx="1929384" cy="1024128"/>
          </a:xfrm>
          <a:prstGeom prst="roundRect">
            <a:avLst>
              <a:gd name="adj" fmla="val 7143"/>
            </a:avLst>
          </a:prstGeom>
          <a:solidFill>
            <a:srgbClr val="F1E7D6"/>
          </a:solidFill>
          <a:ln w="9525">
            <a:solidFill>
              <a:srgbClr val="E2D3B9"/>
            </a:solidFill>
            <a:prstDash val="solid"/>
          </a:ln>
        </p:spPr>
      </p:sp>
      <p:sp>
        <p:nvSpPr>
          <p:cNvPr id="14" name="Shape 12"/>
          <p:cNvSpPr/>
          <p:nvPr/>
        </p:nvSpPr>
        <p:spPr>
          <a:xfrm>
            <a:off x="6665976" y="1170432"/>
            <a:ext cx="54864" cy="1024128"/>
          </a:xfrm>
          <a:prstGeom prst="rect">
            <a:avLst/>
          </a:prstGeom>
          <a:solidFill>
            <a:srgbClr val="A3804C"/>
          </a:solidFill>
          <a:ln w="12700">
            <a:solidFill>
              <a:srgbClr val="A3804C"/>
            </a:solidFill>
            <a:prstDash val="solid"/>
          </a:ln>
        </p:spPr>
      </p:sp>
      <p:sp>
        <p:nvSpPr>
          <p:cNvPr id="15" name="Text 13"/>
          <p:cNvSpPr txBox="1"/>
          <p:nvPr/>
        </p:nvSpPr>
        <p:spPr>
          <a:xfrm>
            <a:off x="6803136"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96.9%</a:t>
            </a:r>
            <a:endParaRPr lang="en-US" sz="2800" dirty="0"/>
          </a:p>
        </p:txBody>
      </p:sp>
      <p:sp>
        <p:nvSpPr>
          <p:cNvPr id="16" name="Text 14"/>
          <p:cNvSpPr txBox="1"/>
          <p:nvPr/>
        </p:nvSpPr>
        <p:spPr>
          <a:xfrm>
            <a:off x="6803136"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of 65 held-out requests passed (63/65); train 95.7%</a:t>
            </a:r>
            <a:endParaRPr lang="en-US" sz="850" dirty="0"/>
          </a:p>
        </p:txBody>
      </p:sp>
      <p:sp>
        <p:nvSpPr>
          <p:cNvPr id="17" name="Shape 15"/>
          <p:cNvSpPr/>
          <p:nvPr/>
        </p:nvSpPr>
        <p:spPr>
          <a:xfrm>
            <a:off x="548640" y="2304288"/>
            <a:ext cx="2609088" cy="1024128"/>
          </a:xfrm>
          <a:prstGeom prst="roundRect">
            <a:avLst>
              <a:gd name="adj" fmla="val 7143"/>
            </a:avLst>
          </a:prstGeom>
          <a:solidFill>
            <a:srgbClr val="F3EFE7"/>
          </a:solidFill>
          <a:ln w="9525">
            <a:solidFill>
              <a:srgbClr val="F3EFE7"/>
            </a:solidFill>
            <a:prstDash val="solid"/>
          </a:ln>
        </p:spPr>
      </p:sp>
      <p:sp>
        <p:nvSpPr>
          <p:cNvPr id="18" name="Text 16"/>
          <p:cNvSpPr txBox="1"/>
          <p:nvPr/>
        </p:nvSpPr>
        <p:spPr>
          <a:xfrm>
            <a:off x="685800"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WHAT WE MEASURE, AND WHY</a:t>
            </a:r>
            <a:endParaRPr lang="en-US" sz="750" dirty="0"/>
          </a:p>
        </p:txBody>
      </p:sp>
      <p:sp>
        <p:nvSpPr>
          <p:cNvPr id="19" name="Text 17"/>
          <p:cNvSpPr txBox="1"/>
          <p:nvPr/>
        </p:nvSpPr>
        <p:spPr>
          <a:xfrm>
            <a:off x="685800"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Late batches and late days (our objective), defective pieces, largest share and the change under a closure: the course simulator's own metrics. Language: the right behaviour per request, every number traced to a tool.</a:t>
            </a:r>
            <a:endParaRPr lang="en-US" sz="800" dirty="0"/>
          </a:p>
        </p:txBody>
      </p:sp>
      <p:sp>
        <p:nvSpPr>
          <p:cNvPr id="20" name="Shape 18"/>
          <p:cNvSpPr/>
          <p:nvPr/>
        </p:nvSpPr>
        <p:spPr>
          <a:xfrm>
            <a:off x="3267456" y="2304288"/>
            <a:ext cx="2609088" cy="1024128"/>
          </a:xfrm>
          <a:prstGeom prst="roundRect">
            <a:avLst>
              <a:gd name="adj" fmla="val 7143"/>
            </a:avLst>
          </a:prstGeom>
          <a:solidFill>
            <a:srgbClr val="F3EFE7"/>
          </a:solidFill>
          <a:ln w="9525">
            <a:solidFill>
              <a:srgbClr val="F3EFE7"/>
            </a:solidFill>
            <a:prstDash val="solid"/>
          </a:ln>
        </p:spPr>
      </p:sp>
      <p:sp>
        <p:nvSpPr>
          <p:cNvPr id="21" name="Text 19"/>
          <p:cNvSpPr txBox="1"/>
          <p:nvPr/>
        </p:nvSpPr>
        <p:spPr>
          <a:xfrm>
            <a:off x="3404616"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HOW THE EVALUATION SET IS BUILT</a:t>
            </a:r>
            <a:endParaRPr lang="en-US" sz="750" dirty="0"/>
          </a:p>
        </p:txBody>
      </p:sp>
      <p:sp>
        <p:nvSpPr>
          <p:cNvPr id="22" name="Text 20"/>
          <p:cNvSpPr txBox="1"/>
          <p:nvPr/>
        </p:nvSpPr>
        <p:spPr>
          <a:xfrm>
            <a:off x="3404616"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30 inbox requests by kind, plus 205 generated by Saadhvika and Niyanthri: 140 to tune on, 65 held out with new wording. Labels come from how each request was built, never from a model.</a:t>
            </a:r>
            <a:endParaRPr lang="en-US" sz="800" dirty="0"/>
          </a:p>
        </p:txBody>
      </p:sp>
      <p:sp>
        <p:nvSpPr>
          <p:cNvPr id="23" name="Shape 21"/>
          <p:cNvSpPr/>
          <p:nvPr/>
        </p:nvSpPr>
        <p:spPr>
          <a:xfrm>
            <a:off x="5986272" y="2304288"/>
            <a:ext cx="2609088" cy="1024128"/>
          </a:xfrm>
          <a:prstGeom prst="roundRect">
            <a:avLst>
              <a:gd name="adj" fmla="val 7143"/>
            </a:avLst>
          </a:prstGeom>
          <a:solidFill>
            <a:srgbClr val="F3EFE7"/>
          </a:solidFill>
          <a:ln w="9525">
            <a:solidFill>
              <a:srgbClr val="F3EFE7"/>
            </a:solidFill>
            <a:prstDash val="solid"/>
          </a:ln>
        </p:spPr>
      </p:sp>
      <p:sp>
        <p:nvSpPr>
          <p:cNvPr id="24" name="Text 22"/>
          <p:cNvSpPr txBox="1"/>
          <p:nvPr/>
        </p:nvSpPr>
        <p:spPr>
          <a:xfrm>
            <a:off x="6123432"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BASELINE AND TRACK MINIMUM</a:t>
            </a:r>
            <a:endParaRPr lang="en-US" sz="750" dirty="0"/>
          </a:p>
        </p:txBody>
      </p:sp>
      <p:sp>
        <p:nvSpPr>
          <p:cNvPr id="25" name="Text 23"/>
          <p:cNvSpPr txBox="1"/>
          <p:nvPr/>
        </p:nvSpPr>
        <p:spPr>
          <a:xfrm>
            <a:off x="6123432"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Random, biggest capacity and cheapest, plus earliest finish. Minimum: beat all three baselines on late batches and late days, and handle all 30 inbox requests by kind.</a:t>
            </a:r>
            <a:endParaRPr lang="en-US" sz="800" dirty="0"/>
          </a:p>
        </p:txBody>
      </p:sp>
      <p:sp>
        <p:nvSpPr>
          <p:cNvPr id="26" name="Text 24"/>
          <p:cNvSpPr txBox="1"/>
          <p:nvPr/>
        </p:nvSpPr>
        <p:spPr>
          <a:xfrm>
            <a:off x="548640" y="3438144"/>
            <a:ext cx="80467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HARD CASES AND HOW WE HANDLE THEM</a:t>
            </a:r>
            <a:endParaRPr lang="en-US" sz="750" dirty="0"/>
          </a:p>
        </p:txBody>
      </p:sp>
      <p:sp>
        <p:nvSpPr>
          <p:cNvPr id="27" name="Shape 25"/>
          <p:cNvSpPr/>
          <p:nvPr/>
        </p:nvSpPr>
        <p:spPr>
          <a:xfrm>
            <a:off x="548640" y="3621024"/>
            <a:ext cx="2609088" cy="841248"/>
          </a:xfrm>
          <a:prstGeom prst="roundRect">
            <a:avLst>
              <a:gd name="adj" fmla="val 8696"/>
            </a:avLst>
          </a:prstGeom>
          <a:solidFill>
            <a:srgbClr val="FFFFFF"/>
          </a:solidFill>
          <a:ln w="9525">
            <a:solidFill>
              <a:srgbClr val="E4DDD0"/>
            </a:solidFill>
            <a:prstDash val="solid"/>
          </a:ln>
        </p:spPr>
      </p:sp>
      <p:sp>
        <p:nvSpPr>
          <p:cNvPr id="28" name="Text 26"/>
          <p:cNvSpPr txBox="1"/>
          <p:nvPr/>
        </p:nvSpPr>
        <p:spPr>
          <a:xfrm>
            <a:off x="685800"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1</a:t>
            </a:r>
            <a:endParaRPr lang="en-US" sz="2600" dirty="0"/>
          </a:p>
        </p:txBody>
      </p:sp>
      <p:sp>
        <p:nvSpPr>
          <p:cNvPr id="29" name="Text 27"/>
          <p:cNvSpPr txBox="1"/>
          <p:nvPr/>
        </p:nvSpPr>
        <p:spPr>
          <a:xfrm>
            <a:off x="1051560"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Impossible date</a:t>
            </a:r>
            <a:endParaRPr lang="en-US" sz="950" dirty="0"/>
          </a:p>
        </p:txBody>
      </p:sp>
      <p:sp>
        <p:nvSpPr>
          <p:cNvPr id="30" name="Text 28"/>
          <p:cNvSpPr txBox="1"/>
          <p:nvPr/>
        </p:nvSpPr>
        <p:spPr>
          <a:xfrm>
            <a:off x="1051560"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Earliest date, days late and a two-shop split; nothing is booked</a:t>
            </a:r>
            <a:endParaRPr lang="en-US" sz="800" dirty="0"/>
          </a:p>
        </p:txBody>
      </p:sp>
      <p:sp>
        <p:nvSpPr>
          <p:cNvPr id="31" name="Shape 29"/>
          <p:cNvSpPr/>
          <p:nvPr/>
        </p:nvSpPr>
        <p:spPr>
          <a:xfrm>
            <a:off x="3267456" y="3621024"/>
            <a:ext cx="2609088" cy="841248"/>
          </a:xfrm>
          <a:prstGeom prst="roundRect">
            <a:avLst>
              <a:gd name="adj" fmla="val 8696"/>
            </a:avLst>
          </a:prstGeom>
          <a:solidFill>
            <a:srgbClr val="FFFFFF"/>
          </a:solidFill>
          <a:ln w="9525">
            <a:solidFill>
              <a:srgbClr val="E4DDD0"/>
            </a:solidFill>
            <a:prstDash val="solid"/>
          </a:ln>
        </p:spPr>
      </p:sp>
      <p:sp>
        <p:nvSpPr>
          <p:cNvPr id="32" name="Text 30"/>
          <p:cNvSpPr txBox="1"/>
          <p:nvPr/>
        </p:nvSpPr>
        <p:spPr>
          <a:xfrm>
            <a:off x="3404616"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2</a:t>
            </a:r>
            <a:endParaRPr lang="en-US" sz="2600" dirty="0"/>
          </a:p>
        </p:txBody>
      </p:sp>
      <p:sp>
        <p:nvSpPr>
          <p:cNvPr id="33" name="Text 31"/>
          <p:cNvSpPr txBox="1"/>
          <p:nvPr/>
        </p:nvSpPr>
        <p:spPr>
          <a:xfrm>
            <a:off x="3770376"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Workshop that cannot take it</a:t>
            </a:r>
            <a:endParaRPr lang="en-US" sz="950" dirty="0"/>
          </a:p>
        </p:txBody>
      </p:sp>
      <p:sp>
        <p:nvSpPr>
          <p:cNvPr id="34" name="Text 32"/>
          <p:cNvSpPr txBox="1"/>
          <p:nvPr/>
        </p:nvSpPr>
        <p:spPr>
          <a:xfrm>
            <a:off x="3770376"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Refused with the reason, plus the best permitted alternative</a:t>
            </a:r>
            <a:endParaRPr lang="en-US" sz="800" dirty="0"/>
          </a:p>
        </p:txBody>
      </p:sp>
      <p:sp>
        <p:nvSpPr>
          <p:cNvPr id="35" name="Shape 33"/>
          <p:cNvSpPr/>
          <p:nvPr/>
        </p:nvSpPr>
        <p:spPr>
          <a:xfrm>
            <a:off x="5986272" y="3621024"/>
            <a:ext cx="2609088" cy="841248"/>
          </a:xfrm>
          <a:prstGeom prst="roundRect">
            <a:avLst>
              <a:gd name="adj" fmla="val 8696"/>
            </a:avLst>
          </a:prstGeom>
          <a:solidFill>
            <a:srgbClr val="FFFFFF"/>
          </a:solidFill>
          <a:ln w="9525">
            <a:solidFill>
              <a:srgbClr val="E4DDD0"/>
            </a:solidFill>
            <a:prstDash val="solid"/>
          </a:ln>
        </p:spPr>
      </p:sp>
      <p:sp>
        <p:nvSpPr>
          <p:cNvPr id="36" name="Text 34"/>
          <p:cNvSpPr txBox="1"/>
          <p:nvPr/>
        </p:nvSpPr>
        <p:spPr>
          <a:xfrm>
            <a:off x="6123432"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3</a:t>
            </a:r>
            <a:endParaRPr lang="en-US" sz="2600" dirty="0"/>
          </a:p>
        </p:txBody>
      </p:sp>
      <p:sp>
        <p:nvSpPr>
          <p:cNvPr id="37" name="Text 35"/>
          <p:cNvSpPr txBox="1"/>
          <p:nvPr/>
        </p:nvSpPr>
        <p:spPr>
          <a:xfrm>
            <a:off x="6489192"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Misheard order on the floor</a:t>
            </a:r>
            <a:endParaRPr lang="en-US" sz="950" dirty="0"/>
          </a:p>
        </p:txBody>
      </p:sp>
      <p:sp>
        <p:nvSpPr>
          <p:cNvPr id="38" name="Text 36"/>
          <p:cNvSpPr txBox="1"/>
          <p:nvPr/>
        </p:nvSpPr>
        <p:spPr>
          <a:xfrm>
            <a:off x="6489192"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 customer and pieces read back from orders.csv; a slide commits</a:t>
            </a:r>
            <a:endParaRPr lang="en-US" sz="800" dirty="0"/>
          </a:p>
        </p:txBody>
      </p:sp>
      <p:sp>
        <p:nvSpPr>
          <p:cNvPr id="39" name="Text 3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Allocation: course seeds 5105-5114, presets chosen on seeds 6000-6029 (OBJECTIVE_STUDY.md). Language: one gpt-5.6 run; a rubric pass rate, not model accuracy.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502920"/>
            <a:ext cx="3657600" cy="201168"/>
          </a:xfrm>
          <a:prstGeom prst="rect">
            <a:avLst/>
          </a:prstGeom>
          <a:noFill/>
          <a:ln/>
        </p:spPr>
        <p:txBody>
          <a:bodyPr wrap="square" lIns="0" tIns="0" rIns="0" bIns="0" rtlCol="0" anchor="t"/>
          <a:lstStyle/>
          <a:p>
            <a:pPr indent="0" marL="0">
              <a:buNone/>
            </a:pPr>
            <a:r>
              <a:rPr lang="en-US" sz="850" b="1" spc="300" kern="0" dirty="0">
                <a:solidFill>
                  <a:srgbClr val="F4EFE6"/>
                </a:solidFill>
                <a:latin typeface="Arial" pitchFamily="34" charset="0"/>
                <a:ea typeface="Arial" pitchFamily="34" charset="-122"/>
                <a:cs typeface="Arial" pitchFamily="34" charset="-120"/>
              </a:rPr>
              <a:t>08   </a:t>
            </a:r>
            <a:r>
              <a:rPr lang="en-US" sz="850" b="1" spc="300" kern="0" dirty="0">
                <a:solidFill>
                  <a:srgbClr val="A3804C"/>
                </a:solidFill>
                <a:latin typeface="Arial" pitchFamily="34" charset="0"/>
                <a:ea typeface="Arial" pitchFamily="34" charset="-122"/>
                <a:cs typeface="Arial" pitchFamily="34" charset="-120"/>
              </a:rPr>
              <a:t>DEMO</a:t>
            </a:r>
            <a:endParaRPr lang="en-US" sz="850" dirty="0"/>
          </a:p>
        </p:txBody>
      </p:sp>
      <p:sp>
        <p:nvSpPr>
          <p:cNvPr id="3" name="Text 1"/>
          <p:cNvSpPr txBox="1"/>
          <p:nvPr/>
        </p:nvSpPr>
        <p:spPr>
          <a:xfrm>
            <a:off x="548640" y="731520"/>
            <a:ext cx="4572000" cy="548640"/>
          </a:xfrm>
          <a:prstGeom prst="rect">
            <a:avLst/>
          </a:prstGeom>
          <a:noFill/>
          <a:ln/>
        </p:spPr>
        <p:txBody>
          <a:bodyPr wrap="square" lIns="0" tIns="0" rIns="0" bIns="0" rtlCol="0" anchor="t"/>
          <a:lstStyle/>
          <a:p>
            <a:pPr indent="0" marL="0">
              <a:buNone/>
            </a:pPr>
            <a:r>
              <a:rPr lang="en-US" sz="2800" dirty="0">
                <a:solidFill>
                  <a:srgbClr val="F4EFE6"/>
                </a:solidFill>
                <a:latin typeface="Georgia" pitchFamily="34" charset="0"/>
                <a:ea typeface="Georgia" pitchFamily="34" charset="-122"/>
                <a:cs typeface="Georgia" pitchFamily="34" charset="-120"/>
              </a:rPr>
              <a:t>Charles, as the dispatcher</a:t>
            </a:r>
            <a:endParaRPr lang="en-US" sz="2800" dirty="0"/>
          </a:p>
        </p:txBody>
      </p:sp>
      <p:sp>
        <p:nvSpPr>
          <p:cNvPr id="4" name="Text 2"/>
          <p:cNvSpPr txBox="1"/>
          <p:nvPr/>
        </p:nvSpPr>
        <p:spPr>
          <a:xfrm>
            <a:off x="548640" y="1243584"/>
            <a:ext cx="4572000" cy="201168"/>
          </a:xfrm>
          <a:prstGeom prst="rect">
            <a:avLst/>
          </a:prstGeom>
          <a:noFill/>
          <a:ln/>
        </p:spPr>
        <p:txBody>
          <a:bodyPr wrap="square" lIns="0" tIns="0" rIns="0" bIns="0" rtlCol="0" anchor="t"/>
          <a:lstStyle/>
          <a:p>
            <a:pPr indent="0" marL="0">
              <a:buNone/>
            </a:pPr>
            <a:r>
              <a:rPr lang="en-US" sz="950" dirty="0">
                <a:solidFill>
                  <a:srgbClr val="C9BEAD"/>
                </a:solidFill>
                <a:latin typeface="Arial" pitchFamily="34" charset="0"/>
                <a:ea typeface="Arial" pitchFamily="34" charset="-122"/>
                <a:cs typeface="Arial" pitchFamily="34" charset="-120"/>
              </a:rPr>
              <a:t>Presented by Chen Zepeng (A0156784N), who goes by Charles</a:t>
            </a:r>
            <a:endParaRPr lang="en-US" sz="950" dirty="0"/>
          </a:p>
        </p:txBody>
      </p:sp>
      <p:sp>
        <p:nvSpPr>
          <p:cNvPr id="5" name="Text 3"/>
          <p:cNvSpPr txBox="1"/>
          <p:nvPr/>
        </p:nvSpPr>
        <p:spPr>
          <a:xfrm>
            <a:off x="548640" y="150876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6" name="Text 4"/>
          <p:cNvSpPr txBox="1"/>
          <p:nvPr/>
        </p:nvSpPr>
        <p:spPr>
          <a:xfrm>
            <a:off x="896112" y="154533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a real inbox request out loud</a:t>
            </a:r>
            <a:endParaRPr lang="en-US" sz="1050" dirty="0"/>
          </a:p>
        </p:txBody>
      </p:sp>
      <p:sp>
        <p:nvSpPr>
          <p:cNvPr id="7" name="Text 5"/>
          <p:cNvSpPr txBox="1"/>
          <p:nvPr/>
        </p:nvSpPr>
        <p:spPr>
          <a:xfrm>
            <a:off x="548640" y="191109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8" name="Text 6"/>
          <p:cNvSpPr txBox="1"/>
          <p:nvPr/>
        </p:nvSpPr>
        <p:spPr>
          <a:xfrm>
            <a:off x="896112" y="194767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Hears the best workshop and why</a:t>
            </a:r>
            <a:endParaRPr lang="en-US" sz="1050" dirty="0"/>
          </a:p>
        </p:txBody>
      </p:sp>
      <p:sp>
        <p:nvSpPr>
          <p:cNvPr id="9" name="Text 7"/>
          <p:cNvSpPr txBox="1"/>
          <p:nvPr/>
        </p:nvSpPr>
        <p:spPr>
          <a:xfrm>
            <a:off x="548640" y="2313432"/>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10" name="Text 8"/>
          <p:cNvSpPr txBox="1"/>
          <p:nvPr/>
        </p:nvSpPr>
        <p:spPr>
          <a:xfrm>
            <a:off x="896112" y="2350008"/>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"book it" and slides to confirm</a:t>
            </a:r>
            <a:endParaRPr lang="en-US" sz="1050" dirty="0"/>
          </a:p>
        </p:txBody>
      </p:sp>
      <p:sp>
        <p:nvSpPr>
          <p:cNvPr id="11" name="Text 9"/>
          <p:cNvSpPr txBox="1"/>
          <p:nvPr/>
        </p:nvSpPr>
        <p:spPr>
          <a:xfrm>
            <a:off x="548640" y="2715768"/>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4</a:t>
            </a:r>
            <a:endParaRPr lang="en-US" sz="1500" dirty="0"/>
          </a:p>
        </p:txBody>
      </p:sp>
      <p:sp>
        <p:nvSpPr>
          <p:cNvPr id="12" name="Text 10"/>
          <p:cNvSpPr txBox="1"/>
          <p:nvPr/>
        </p:nvSpPr>
        <p:spPr>
          <a:xfrm>
            <a:off x="896112" y="2752344"/>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Lets it remember the constraint</a:t>
            </a:r>
            <a:endParaRPr lang="en-US" sz="1050" dirty="0"/>
          </a:p>
        </p:txBody>
      </p:sp>
      <p:sp>
        <p:nvSpPr>
          <p:cNvPr id="13" name="Text 11"/>
          <p:cNvSpPr txBox="1"/>
          <p:nvPr/>
        </p:nvSpPr>
        <p:spPr>
          <a:xfrm>
            <a:off x="548640" y="3118104"/>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5</a:t>
            </a:r>
            <a:endParaRPr lang="en-US" sz="1500" dirty="0"/>
          </a:p>
        </p:txBody>
      </p:sp>
      <p:sp>
        <p:nvSpPr>
          <p:cNvPr id="14" name="Text 12"/>
          <p:cNvSpPr txBox="1"/>
          <p:nvPr/>
        </p:nvSpPr>
        <p:spPr>
          <a:xfrm>
            <a:off x="896112" y="3154680"/>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A new order: the rule is applied</a:t>
            </a:r>
            <a:endParaRPr lang="en-US" sz="1050" dirty="0"/>
          </a:p>
        </p:txBody>
      </p:sp>
      <p:sp>
        <p:nvSpPr>
          <p:cNvPr id="15" name="Text 13"/>
          <p:cNvSpPr txBox="1"/>
          <p:nvPr/>
        </p:nvSpPr>
        <p:spPr>
          <a:xfrm>
            <a:off x="548640" y="352044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6</a:t>
            </a:r>
            <a:endParaRPr lang="en-US" sz="1500" dirty="0"/>
          </a:p>
        </p:txBody>
      </p:sp>
      <p:sp>
        <p:nvSpPr>
          <p:cNvPr id="16" name="Text 14"/>
          <p:cNvSpPr txBox="1"/>
          <p:nvPr/>
        </p:nvSpPr>
        <p:spPr>
          <a:xfrm>
            <a:off x="896112" y="355701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Hard case: a workshop that cannot take it, and an impossible date</a:t>
            </a:r>
            <a:endParaRPr lang="en-US" sz="1050" dirty="0"/>
          </a:p>
        </p:txBody>
      </p:sp>
      <p:sp>
        <p:nvSpPr>
          <p:cNvPr id="17" name="Text 15"/>
          <p:cNvSpPr txBox="1"/>
          <p:nvPr/>
        </p:nvSpPr>
        <p:spPr>
          <a:xfrm>
            <a:off x="548640" y="392277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7</a:t>
            </a:r>
            <a:endParaRPr lang="en-US" sz="1500" dirty="0"/>
          </a:p>
        </p:txBody>
      </p:sp>
      <p:sp>
        <p:nvSpPr>
          <p:cNvPr id="18" name="Text 16"/>
          <p:cNvSpPr txBox="1"/>
          <p:nvPr/>
        </p:nvSpPr>
        <p:spPr>
          <a:xfrm>
            <a:off x="896112" y="395935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Behind the answer: what the model read, what Python computed</a:t>
            </a:r>
            <a:endParaRPr lang="en-US" sz="1050" dirty="0"/>
          </a:p>
        </p:txBody>
      </p:sp>
      <p:pic>
        <p:nvPicPr>
          <p:cNvPr id="19" name="Image 0" descr="The assistant beside its Behind the answer panel, showing a remembered rule applied to a new order">    </p:cNvPr>
          <p:cNvPicPr>
            <a:picLocks noChangeAspect="1"/>
          </p:cNvPicPr>
          <p:nvPr/>
        </p:nvPicPr>
        <p:blipFill>
          <a:blip r:embed="rId1"/>
          <a:stretch>
            <a:fillRect/>
          </a:stretch>
        </p:blipFill>
        <p:spPr>
          <a:xfrm>
            <a:off x="5029200" y="860663"/>
            <a:ext cx="3611880" cy="334445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STITCHFLOW</a:t>
            </a:r>
            <a:endParaRPr lang="en-US" sz="1300" dirty="0"/>
          </a:p>
        </p:txBody>
      </p:sp>
      <p:sp>
        <p:nvSpPr>
          <p:cNvPr id="3" name="Text 1"/>
          <p:cNvSpPr txBox="1"/>
          <p:nvPr/>
        </p:nvSpPr>
        <p:spPr>
          <a:xfrm>
            <a:off x="548640" y="1463040"/>
            <a:ext cx="8046720" cy="822960"/>
          </a:xfrm>
          <a:prstGeom prst="rect">
            <a:avLst/>
          </a:prstGeom>
          <a:noFill/>
          <a:ln/>
        </p:spPr>
        <p:txBody>
          <a:bodyPr wrap="square" lIns="0" tIns="0" rIns="0" bIns="0" rtlCol="0" anchor="t"/>
          <a:lstStyle/>
          <a:p>
            <a:pPr indent="0" marL="0">
              <a:buNone/>
            </a:pPr>
            <a:r>
              <a:rPr lang="en-US" sz="4000" dirty="0">
                <a:solidFill>
                  <a:srgbClr val="F4EFE6"/>
                </a:solidFill>
                <a:latin typeface="Georgia" pitchFamily="34" charset="0"/>
                <a:ea typeface="Georgia" pitchFamily="34" charset="-122"/>
                <a:cs typeface="Georgia" pitchFamily="34" charset="-120"/>
              </a:rPr>
              <a:t>Thank you.</a:t>
            </a:r>
            <a:endParaRPr lang="en-US" sz="4000" dirty="0"/>
          </a:p>
        </p:txBody>
      </p:sp>
      <p:sp>
        <p:nvSpPr>
          <p:cNvPr id="4" name="Text 2"/>
          <p:cNvSpPr txBox="1"/>
          <p:nvPr/>
        </p:nvSpPr>
        <p:spPr>
          <a:xfrm>
            <a:off x="548640" y="2286000"/>
            <a:ext cx="8046720" cy="457200"/>
          </a:xfrm>
          <a:prstGeom prst="rect">
            <a:avLst/>
          </a:prstGeom>
          <a:noFill/>
          <a:ln/>
        </p:spPr>
        <p:txBody>
          <a:bodyPr wrap="square" lIns="0" tIns="0" rIns="0" bIns="0" rtlCol="0" anchor="t"/>
          <a:lstStyle/>
          <a:p>
            <a:pPr indent="0" marL="0">
              <a:buNone/>
            </a:pPr>
            <a:r>
              <a:rPr lang="en-US" sz="1800" i="1" dirty="0">
                <a:solidFill>
                  <a:srgbClr val="C9BEAD"/>
                </a:solidFill>
                <a:latin typeface="Georgia" pitchFamily="34" charset="0"/>
                <a:ea typeface="Georgia" pitchFamily="34" charset="-122"/>
                <a:cs typeface="Georgia" pitchFamily="34" charset="-120"/>
              </a:rPr>
              <a:t>Questions are welcome.</a:t>
            </a:r>
            <a:endParaRPr lang="en-US" sz="1800" dirty="0"/>
          </a:p>
        </p:txBody>
      </p:sp>
      <p:sp>
        <p:nvSpPr>
          <p:cNvPr id="5" name="Text 3"/>
          <p:cNvSpPr txBox="1"/>
          <p:nvPr/>
        </p:nvSpPr>
        <p:spPr>
          <a:xfrm>
            <a:off x="548640" y="324612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GITHUB  </a:t>
            </a:r>
            <a:r>
              <a:rPr lang="en-US" sz="1000" dirty="0">
                <a:solidFill>
                  <a:srgbClr val="F4EFE6"/>
                </a:solidFill>
                <a:latin typeface="Arial" pitchFamily="34" charset="0"/>
                <a:ea typeface="Arial" pitchFamily="34" charset="-122"/>
                <a:cs typeface="Arial" pitchFamily="34" charset="-120"/>
              </a:rPr>
              <a:t>github.com/JoshuaGloor/dss5105-capstone-project</a:t>
            </a:r>
            <a:endParaRPr lang="en-US" sz="1000" dirty="0"/>
          </a:p>
        </p:txBody>
      </p:sp>
      <p:sp>
        <p:nvSpPr>
          <p:cNvPr id="6" name="Text 4"/>
          <p:cNvSpPr txBox="1"/>
          <p:nvPr/>
        </p:nvSpPr>
        <p:spPr>
          <a:xfrm>
            <a:off x="548640" y="4114800"/>
            <a:ext cx="804672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SAY THE ORDER  /  PYTHON CHECKS  /  A PERSON COMMITS</a:t>
            </a:r>
            <a:endParaRPr lang="en-US" sz="850" dirty="0"/>
          </a:p>
        </p:txBody>
      </p:sp>
      <p:sp>
        <p:nvSpPr>
          <p:cNvPr id="7" name="Text 5"/>
          <p:cNvSpPr txBox="1"/>
          <p:nvPr/>
        </p:nvSpPr>
        <p:spPr>
          <a:xfrm>
            <a:off x="548640" y="4709160"/>
            <a:ext cx="8046720" cy="182880"/>
          </a:xfrm>
          <a:prstGeom prst="rect">
            <a:avLst/>
          </a:prstGeom>
          <a:noFill/>
          <a:ln/>
        </p:spPr>
        <p:txBody>
          <a:bodyPr wrap="square" lIns="0" tIns="0" rIns="0" bIns="0" rtlCol="0" anchor="t"/>
          <a:lstStyle/>
          <a:p>
            <a:pPr indent="0" marL="0">
              <a:buNone/>
            </a:pPr>
            <a:r>
              <a:rPr lang="en-US" sz="750" spc="200" kern="0" dirty="0">
                <a:solidFill>
                  <a:srgbClr val="C9BEAD"/>
                </a:solidFill>
                <a:latin typeface="Arial" pitchFamily="34" charset="0"/>
                <a:ea typeface="Arial" pitchFamily="34" charset="-122"/>
                <a:cs typeface="Arial" pitchFamily="34" charset="-120"/>
              </a:rPr>
              <a:t>GROUP 11  /  DSS5105 CAPSTONE  /  30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StitchFlow: Quick-Response Subcontracting Desk - Sprint 2</dc:title>
  <dc:subject>PptxGenJS Presentation</dc:subject>
  <dc:creator>Group 11</dc:creator>
  <cp:lastModifiedBy>Group 11</cp:lastModifiedBy>
  <cp:revision>1</cp:revision>
  <dcterms:created xsi:type="dcterms:W3CDTF">2026-10-29T15:27:06Z</dcterms:created>
  <dcterms:modified xsi:type="dcterms:W3CDTF">2026-10-29T15:27:06Z</dcterms:modified>
</cp:coreProperties>
</file>