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(0:12)
Hi, we are Group 11, Track 2: the Quick-Response Subcontracting Desk for SweaterCo.
Our primary objective is to minimise lateness. Our secondary objective is to minimise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user, and what changed since Sprint 1 (0:24)
Our user is Ravi, the production dispatcher. He is on the factory floor, and requests arrive in
a group chat. He needs a safe answer in seconds, with a record of why.
Since Sprint 1, we beat the earliest-finish rule that tied us, our defects and fairness settings
beat their baselines, and Ravi can now talk to the desk, which remembers what he confirms.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(0:25)
Here is his journey. He holds the microphone and says the order, the date and any constraint.
The assistant answers on screen and out loud: the best workshop, when it arrives, and why.
He says "book it" and slides to confirm. It offers to remember his constraint, and applies it
to that customer's next order. Voice can propose. Only the slide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and key choices (0:36)
It is one workflow, not a ReAct loop, because every request needs the same checks in order.
Speech becomes text in the browser. Python handles commands like "book it" itself. Everything
else is one structured-output call, and every field must quote the message or Python rejects it.
Deterministic tools then find the order, apply remembered rules, check eligibility, estimate and
rank. Replies are Python templates, so the model never does arithmetic. A person confirms, and
SQLite keeps the record and the memory, as exact rules rather than a vector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Progress (0:18)
Here is every feature with its owner. The assistant, memory, the four-objective scorer, the desk
redesign and the AWS deployment are done. Clarification reliability and the live inbox
benchmark are in progress. Next: independent labels, a held-out set,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Validation plan (0:33)
For allocation we measure late batches and late days in the course simulator, normal and with a
closure, against the three baselines and earliest finish, choosing settings on separate seeds
first. Our default is 1.4 percent late against 1.7, with 68 percent fewer late days. For
language: all 30 inbox requests by kind, plus held-out rewordings, labelled by two teammates
separately. Hard cases: impossible dates, ineligible workshops, misheard orders. We give
options, refuse with a reason, and read the order back before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Demo (2:00)
[0:00] Show slide 7 for two seconds, then switch to the app.
Now the demo. This is Ravi's phone. The rings show how busy each workshop is, and OldMill is
greyed out because it is suspended.
[0:10] Hold the microphone and say: "ORD-109, 500 vests for Harbor Knits, due April 13.
Keep it away from BudgetWorks." Let the reply play.
He just says it. GiantWeave delivers on Thursday, 9 April, 3.71 days early. BudgetWorks is
excluded, and the card says Ravi asked.
[0:35] Open "Compare 4 workshops", then "Can't take it". Close them.
[0:45] Say "book it". On the sheet, slide to confirm. Tap "Remember" on the offer.
One slide, and the booking is saved with his name. The rule goes into memory.
[1:05] Say: "ORD-081 for Harbor Knits needs to go out, due April 20."
A new order for the same customer: the rule is applied, and the card says it came from memory.
[1:20] Hard case. Say: "QuickStitch for the scarves on ORD-103?"
QuickStitch cannot make scarves, and no workshop can meet the 4 April date. The desk says so,
gives the earliest option, 13.44 days late, and a two-shop split. Nothing is booked.
[1:40] Point at the "Behind the answer" panel.
Every answer shows what the model extracted, with its quotes, and what Python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Thank you (0:05)
Thank you. The code and the video link are on the first slide.
Q&amp;A PREPARATION (not read aloud)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SWEATERCO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1143000"/>
          </a:xfrm>
          <a:prstGeom prst="rect">
            <a:avLst/>
          </a:prstGeom>
          <a:noFill/>
          <a:ln/>
        </p:spPr>
        <p:txBody>
          <a:bodyPr wrap="square" lIns="0" tIns="0" rIns="0" bIns="0" rtlCol="0" anchor="ctr"/>
          <a:lstStyle/>
          <a:p>
            <a:pPr indent="0" marL="0">
              <a:buNone/>
            </a:pPr>
            <a:r>
              <a:rPr lang="en-US" sz="3400" dirty="0">
                <a:solidFill>
                  <a:srgbClr val="F4EFE6"/>
                </a:solidFill>
                <a:latin typeface="Georgia" pitchFamily="34" charset="0"/>
                <a:ea typeface="Georgia" pitchFamily="34" charset="-122"/>
                <a:cs typeface="Georgia" pitchFamily="34" charset="-120"/>
              </a:rPr>
              <a:t>The Quick-Response</a:t>
            </a:r>
            <a:endParaRPr lang="en-US" sz="3400" dirty="0"/>
          </a:p>
          <a:p>
            <a:pPr indent="0" marL="0">
              <a:buNone/>
            </a:pPr>
            <a:r>
              <a:rPr lang="en-US" sz="3400" dirty="0">
                <a:solidFill>
                  <a:srgbClr val="F4EFE6"/>
                </a:solidFill>
                <a:latin typeface="Georgia" pitchFamily="34" charset="0"/>
                <a:ea typeface="Georgia" pitchFamily="34" charset="-122"/>
                <a:cs typeface="Georgia" pitchFamily="34" charset="-120"/>
              </a:rPr>
              <a:t>Subcontracting Desk</a:t>
            </a:r>
            <a:endParaRPr lang="en-US" sz="3400" dirty="0"/>
          </a:p>
        </p:txBody>
      </p:sp>
      <p:sp>
        <p:nvSpPr>
          <p:cNvPr id="5" name="Text 3"/>
          <p:cNvSpPr txBox="1"/>
          <p:nvPr/>
        </p:nvSpPr>
        <p:spPr>
          <a:xfrm>
            <a:off x="548640" y="2304288"/>
            <a:ext cx="5486400" cy="365760"/>
          </a:xfrm>
          <a:prstGeom prst="rect">
            <a:avLst/>
          </a:prstGeom>
          <a:noFill/>
          <a:ln/>
        </p:spPr>
        <p:txBody>
          <a:bodyPr wrap="square" lIns="0" tIns="0" rIns="0" bIns="0" rtlCol="0" anchor="t"/>
          <a:lstStyle/>
          <a:p>
            <a:pPr indent="0" marL="0">
              <a:buNone/>
            </a:pPr>
            <a:r>
              <a:rPr lang="en-US" sz="1500" i="1" dirty="0">
                <a:solidFill>
                  <a:srgbClr val="B9AF9F"/>
                </a:solidFill>
                <a:latin typeface="Georgia" pitchFamily="34" charset="0"/>
                <a:ea typeface="Georgia" pitchFamily="34" charset="-122"/>
                <a:cs typeface="Georgia" pitchFamily="34" charset="-120"/>
              </a:rPr>
              <a:t>Ravi talks. Python checks. A person commits.</a:t>
            </a:r>
            <a:endParaRPr lang="en-US" sz="1500" dirty="0"/>
          </a:p>
        </p:txBody>
      </p:sp>
      <p:sp>
        <p:nvSpPr>
          <p:cNvPr id="6" name="Shape 4"/>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7" name="Text 5"/>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8" name="Shape 6"/>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9" name="Text 7"/>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0" name="Text 8"/>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1" name="Text 9"/>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2" name="Text 10"/>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3" name="Text 11"/>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4" name="Text 12"/>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5" name="Text 13"/>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6" name="Text 14"/>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7" name="Text 15"/>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8" name="Text 16"/>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19" name="Text 17"/>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0" name="Text 18"/>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1" name="Text 19"/>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2" name="Text 20"/>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3" name="Text 21"/>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Ravi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Ravi,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HE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his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his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He slides, with his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He slides, with his name on it.</a:t>
            </a:r>
            <a:endParaRPr lang="en-US" sz="750" dirty="0"/>
          </a:p>
        </p:txBody>
      </p:sp>
      <p:pic>
        <p:nvPicPr>
          <p:cNvPr id="16" name="Image 3" descr="Remember: It offers to keep his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his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ARCHITECTURE AS BUILT  /  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sp>
        <p:nvSpPr>
          <p:cNvPr id="4" name="Shape 2"/>
          <p:cNvSpPr/>
          <p:nvPr/>
        </p:nvSpPr>
        <p:spPr>
          <a:xfrm>
            <a:off x="548640" y="1298448"/>
            <a:ext cx="1216152" cy="1207008"/>
          </a:xfrm>
          <a:prstGeom prst="rect">
            <a:avLst/>
          </a:prstGeom>
          <a:solidFill>
            <a:srgbClr val="FFFFFF"/>
          </a:solidFill>
          <a:ln w="9525">
            <a:solidFill>
              <a:srgbClr val="E4DDD0"/>
            </a:solidFill>
            <a:prstDash val="solid"/>
          </a:ln>
        </p:spPr>
      </p:sp>
      <p:sp>
        <p:nvSpPr>
          <p:cNvPr id="5" name="Text 3"/>
          <p:cNvSpPr txBox="1"/>
          <p:nvPr/>
        </p:nvSpPr>
        <p:spPr>
          <a:xfrm>
            <a:off x="630936"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PHONE APP</a:t>
            </a:r>
            <a:endParaRPr lang="en-US" sz="700" dirty="0"/>
          </a:p>
        </p:txBody>
      </p:sp>
      <p:sp>
        <p:nvSpPr>
          <p:cNvPr id="6" name="Text 4"/>
          <p:cNvSpPr txBox="1"/>
          <p:nvPr/>
        </p:nvSpPr>
        <p:spPr>
          <a:xfrm>
            <a:off x="630936"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Browser</a:t>
            </a:r>
            <a:endParaRPr lang="en-US" sz="1050" dirty="0"/>
          </a:p>
        </p:txBody>
      </p:sp>
      <p:sp>
        <p:nvSpPr>
          <p:cNvPr id="7" name="Text 5"/>
          <p:cNvSpPr txBox="1"/>
          <p:nvPr/>
        </p:nvSpPr>
        <p:spPr>
          <a:xfrm>
            <a:off x="630936"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Speech to text, cards, voice, slide to book</a:t>
            </a:r>
            <a:endParaRPr lang="en-US" sz="750" dirty="0"/>
          </a:p>
        </p:txBody>
      </p:sp>
      <p:sp>
        <p:nvSpPr>
          <p:cNvPr id="8" name="Text 6"/>
          <p:cNvSpPr txBox="1"/>
          <p:nvPr/>
        </p:nvSpPr>
        <p:spPr>
          <a:xfrm>
            <a:off x="630936"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assets/assistant</a:t>
            </a:r>
            <a:endParaRPr lang="en-US" sz="650" dirty="0"/>
          </a:p>
        </p:txBody>
      </p:sp>
      <p:sp>
        <p:nvSpPr>
          <p:cNvPr id="9" name="Shape 7"/>
          <p:cNvSpPr/>
          <p:nvPr/>
        </p:nvSpPr>
        <p:spPr>
          <a:xfrm>
            <a:off x="1783080" y="1901952"/>
            <a:ext cx="113386" cy="0"/>
          </a:xfrm>
          <a:prstGeom prst="line">
            <a:avLst/>
          </a:prstGeom>
          <a:noFill/>
          <a:ln w="12700">
            <a:solidFill>
              <a:srgbClr val="1D1B18"/>
            </a:solidFill>
            <a:prstDash val="solid"/>
            <a:tailEnd type="triangle"/>
          </a:ln>
        </p:spPr>
      </p:sp>
      <p:sp>
        <p:nvSpPr>
          <p:cNvPr id="10" name="Shape 8"/>
          <p:cNvSpPr/>
          <p:nvPr/>
        </p:nvSpPr>
        <p:spPr>
          <a:xfrm>
            <a:off x="1914754" y="1298448"/>
            <a:ext cx="1216152" cy="1207008"/>
          </a:xfrm>
          <a:prstGeom prst="rect">
            <a:avLst/>
          </a:prstGeom>
          <a:solidFill>
            <a:srgbClr val="FFFFFF"/>
          </a:solidFill>
          <a:ln w="9525">
            <a:solidFill>
              <a:srgbClr val="E4DDD0"/>
            </a:solidFill>
            <a:prstDash val="solid"/>
          </a:ln>
        </p:spPr>
      </p:sp>
      <p:sp>
        <p:nvSpPr>
          <p:cNvPr id="11" name="Text 9"/>
          <p:cNvSpPr txBox="1"/>
          <p:nvPr/>
        </p:nvSpPr>
        <p:spPr>
          <a:xfrm>
            <a:off x="199705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ROUTER</a:t>
            </a:r>
            <a:endParaRPr lang="en-US" sz="700" dirty="0"/>
          </a:p>
        </p:txBody>
      </p:sp>
      <p:sp>
        <p:nvSpPr>
          <p:cNvPr id="12" name="Text 10"/>
          <p:cNvSpPr txBox="1"/>
          <p:nvPr/>
        </p:nvSpPr>
        <p:spPr>
          <a:xfrm>
            <a:off x="199705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a:t>
            </a:r>
            <a:endParaRPr lang="en-US" sz="1050" dirty="0"/>
          </a:p>
        </p:txBody>
      </p:sp>
      <p:sp>
        <p:nvSpPr>
          <p:cNvPr id="13" name="Text 11"/>
          <p:cNvSpPr txBox="1"/>
          <p:nvPr/>
        </p:nvSpPr>
        <p:spPr>
          <a:xfrm>
            <a:off x="199705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memory and workshop questions: no model</a:t>
            </a:r>
            <a:endParaRPr lang="en-US" sz="750" dirty="0"/>
          </a:p>
        </p:txBody>
      </p:sp>
      <p:sp>
        <p:nvSpPr>
          <p:cNvPr id="14" name="Text 12"/>
          <p:cNvSpPr txBox="1"/>
          <p:nvPr/>
        </p:nvSpPr>
        <p:spPr>
          <a:xfrm>
            <a:off x="199705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15" name="Shape 13"/>
          <p:cNvSpPr/>
          <p:nvPr/>
        </p:nvSpPr>
        <p:spPr>
          <a:xfrm>
            <a:off x="3149194" y="1901952"/>
            <a:ext cx="113386" cy="0"/>
          </a:xfrm>
          <a:prstGeom prst="line">
            <a:avLst/>
          </a:prstGeom>
          <a:noFill/>
          <a:ln w="12700">
            <a:solidFill>
              <a:srgbClr val="1D1B18"/>
            </a:solidFill>
            <a:prstDash val="solid"/>
            <a:tailEnd type="triangle"/>
          </a:ln>
        </p:spPr>
      </p:sp>
      <p:sp>
        <p:nvSpPr>
          <p:cNvPr id="16" name="Shape 14"/>
          <p:cNvSpPr/>
          <p:nvPr/>
        </p:nvSpPr>
        <p:spPr>
          <a:xfrm>
            <a:off x="3280867" y="1298448"/>
            <a:ext cx="1216152" cy="1207008"/>
          </a:xfrm>
          <a:prstGeom prst="rect">
            <a:avLst/>
          </a:prstGeom>
          <a:solidFill>
            <a:srgbClr val="F3EFE7"/>
          </a:solidFill>
          <a:ln w="9525">
            <a:solidFill>
              <a:srgbClr val="6B665D"/>
            </a:solidFill>
            <a:prstDash val="dash"/>
          </a:ln>
        </p:spPr>
      </p:sp>
      <p:sp>
        <p:nvSpPr>
          <p:cNvPr id="17" name="Text 15"/>
          <p:cNvSpPr txBox="1"/>
          <p:nvPr/>
        </p:nvSpPr>
        <p:spPr>
          <a:xfrm>
            <a:off x="3363163"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LLM</a:t>
            </a:r>
            <a:endParaRPr lang="en-US" sz="700" dirty="0"/>
          </a:p>
        </p:txBody>
      </p:sp>
      <p:sp>
        <p:nvSpPr>
          <p:cNvPr id="18" name="Text 16"/>
          <p:cNvSpPr txBox="1"/>
          <p:nvPr/>
        </p:nvSpPr>
        <p:spPr>
          <a:xfrm>
            <a:off x="3363163"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Structured output</a:t>
            </a:r>
            <a:endParaRPr lang="en-US" sz="1050" dirty="0"/>
          </a:p>
        </p:txBody>
      </p:sp>
      <p:sp>
        <p:nvSpPr>
          <p:cNvPr id="19" name="Text 17"/>
          <p:cNvSpPr txBox="1"/>
          <p:nvPr/>
        </p:nvSpPr>
        <p:spPr>
          <a:xfrm>
            <a:off x="3363163"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Typed patch; every field must quote the message</a:t>
            </a:r>
            <a:endParaRPr lang="en-US" sz="750" dirty="0"/>
          </a:p>
        </p:txBody>
      </p:sp>
      <p:sp>
        <p:nvSpPr>
          <p:cNvPr id="20" name="Text 18"/>
          <p:cNvSpPr txBox="1"/>
          <p:nvPr/>
        </p:nvSpPr>
        <p:spPr>
          <a:xfrm>
            <a:off x="3363163"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intake.py</a:t>
            </a:r>
            <a:endParaRPr lang="en-US" sz="650" dirty="0"/>
          </a:p>
        </p:txBody>
      </p:sp>
      <p:sp>
        <p:nvSpPr>
          <p:cNvPr id="21" name="Shape 19"/>
          <p:cNvSpPr/>
          <p:nvPr/>
        </p:nvSpPr>
        <p:spPr>
          <a:xfrm>
            <a:off x="4515307" y="1901952"/>
            <a:ext cx="113386" cy="0"/>
          </a:xfrm>
          <a:prstGeom prst="line">
            <a:avLst/>
          </a:prstGeom>
          <a:noFill/>
          <a:ln w="12700">
            <a:solidFill>
              <a:srgbClr val="1D1B18"/>
            </a:solidFill>
            <a:prstDash val="solid"/>
            <a:tailEnd type="triangle"/>
          </a:ln>
        </p:spPr>
      </p:sp>
      <p:sp>
        <p:nvSpPr>
          <p:cNvPr id="22" name="Shape 20"/>
          <p:cNvSpPr/>
          <p:nvPr/>
        </p:nvSpPr>
        <p:spPr>
          <a:xfrm>
            <a:off x="4646981" y="1298448"/>
            <a:ext cx="1216152" cy="1207008"/>
          </a:xfrm>
          <a:prstGeom prst="rect">
            <a:avLst/>
          </a:prstGeom>
          <a:solidFill>
            <a:srgbClr val="1D1B18"/>
          </a:solidFill>
          <a:ln w="9525">
            <a:solidFill>
              <a:srgbClr val="1D1B18"/>
            </a:solidFill>
            <a:prstDash val="solid"/>
          </a:ln>
        </p:spPr>
      </p:sp>
      <p:sp>
        <p:nvSpPr>
          <p:cNvPr id="23" name="Text 21"/>
          <p:cNvSpPr txBox="1"/>
          <p:nvPr/>
        </p:nvSpPr>
        <p:spPr>
          <a:xfrm>
            <a:off x="4729277" y="1371600"/>
            <a:ext cx="1051560" cy="146304"/>
          </a:xfrm>
          <a:prstGeom prst="rect">
            <a:avLst/>
          </a:prstGeom>
          <a:noFill/>
          <a:ln/>
        </p:spPr>
        <p:txBody>
          <a:bodyPr wrap="square" lIns="0" tIns="0" rIns="0" bIns="0" rtlCol="0" anchor="t"/>
          <a:lstStyle/>
          <a:p>
            <a:pPr indent="0" marL="0">
              <a:buNone/>
            </a:pPr>
            <a:r>
              <a:rPr lang="en-US" sz="700" b="1" spc="120" kern="0" dirty="0">
                <a:solidFill>
                  <a:srgbClr val="CDB78F"/>
                </a:solidFill>
                <a:latin typeface="Arial" pitchFamily="34" charset="0"/>
                <a:ea typeface="Arial" pitchFamily="34" charset="-122"/>
                <a:cs typeface="Arial" pitchFamily="34" charset="-120"/>
              </a:rPr>
              <a:t>TOOLS</a:t>
            </a:r>
            <a:endParaRPr lang="en-US" sz="700" dirty="0"/>
          </a:p>
        </p:txBody>
      </p:sp>
      <p:sp>
        <p:nvSpPr>
          <p:cNvPr id="24" name="Text 22"/>
          <p:cNvSpPr txBox="1"/>
          <p:nvPr/>
        </p:nvSpPr>
        <p:spPr>
          <a:xfrm>
            <a:off x="4729277" y="1527048"/>
            <a:ext cx="1051560" cy="182880"/>
          </a:xfrm>
          <a:prstGeom prst="rect">
            <a:avLst/>
          </a:prstGeom>
          <a:noFill/>
          <a:ln/>
        </p:spPr>
        <p:txBody>
          <a:bodyPr wrap="square" lIns="0" tIns="0" rIns="0" bIns="0" rtlCol="0" anchor="t"/>
          <a:lstStyle/>
          <a:p>
            <a:pPr indent="0" marL="0">
              <a:buNone/>
            </a:pPr>
            <a:r>
              <a:rPr lang="en-US" sz="1050" dirty="0">
                <a:solidFill>
                  <a:srgbClr val="F4EFE6"/>
                </a:solidFill>
                <a:latin typeface="Georgia" pitchFamily="34" charset="0"/>
                <a:ea typeface="Georgia" pitchFamily="34" charset="-122"/>
                <a:cs typeface="Georgia" pitchFamily="34" charset="-120"/>
              </a:rPr>
              <a:t>Deterministic</a:t>
            </a:r>
            <a:endParaRPr lang="en-US" sz="1050" dirty="0"/>
          </a:p>
        </p:txBody>
      </p:sp>
      <p:sp>
        <p:nvSpPr>
          <p:cNvPr id="25" name="Text 23"/>
          <p:cNvSpPr txBox="1"/>
          <p:nvPr/>
        </p:nvSpPr>
        <p:spPr>
          <a:xfrm>
            <a:off x="4729277" y="1737360"/>
            <a:ext cx="1051560" cy="548640"/>
          </a:xfrm>
          <a:prstGeom prst="rect">
            <a:avLst/>
          </a:prstGeom>
          <a:noFill/>
          <a:ln/>
        </p:spPr>
        <p:txBody>
          <a:bodyPr wrap="square" lIns="0" tIns="0" rIns="0" bIns="0" rtlCol="0" anchor="t"/>
          <a:lstStyle/>
          <a:p>
            <a:pPr indent="0" marL="0">
              <a:buNone/>
            </a:pPr>
            <a:r>
              <a:rPr lang="en-US" sz="750" dirty="0">
                <a:solidFill>
                  <a:srgbClr val="F4EFE6"/>
                </a:solidFill>
                <a:latin typeface="Arial" pitchFamily="34" charset="0"/>
                <a:ea typeface="Arial" pitchFamily="34" charset="-122"/>
                <a:cs typeface="Arial" pitchFamily="34" charset="-120"/>
              </a:rPr>
              <a:t>Order lookup, remembered rules, eligibility, estimates, ranking</a:t>
            </a:r>
            <a:endParaRPr lang="en-US" sz="750" dirty="0"/>
          </a:p>
        </p:txBody>
      </p:sp>
      <p:sp>
        <p:nvSpPr>
          <p:cNvPr id="26" name="Text 24"/>
          <p:cNvSpPr txBox="1"/>
          <p:nvPr/>
        </p:nvSpPr>
        <p:spPr>
          <a:xfrm>
            <a:off x="4729277" y="2231136"/>
            <a:ext cx="1051560" cy="237744"/>
          </a:xfrm>
          <a:prstGeom prst="rect">
            <a:avLst/>
          </a:prstGeom>
          <a:noFill/>
          <a:ln/>
        </p:spPr>
        <p:txBody>
          <a:bodyPr wrap="square" lIns="0" tIns="0" rIns="0" bIns="0" rtlCol="0" anchor="b"/>
          <a:lstStyle/>
          <a:p>
            <a:pPr indent="0" marL="0">
              <a:buNone/>
            </a:pPr>
            <a:r>
              <a:rPr lang="en-US" sz="650" dirty="0">
                <a:solidFill>
                  <a:srgbClr val="CDB78F"/>
                </a:solidFill>
                <a:latin typeface="Courier New" pitchFamily="34" charset="0"/>
                <a:ea typeface="Courier New" pitchFamily="34" charset="-122"/>
                <a:cs typeface="Courier New" pitchFamily="34" charset="-120"/>
              </a:rPr>
              <a:t>dispatch.py</a:t>
            </a:r>
            <a:endParaRPr lang="en-US" sz="650" dirty="0"/>
          </a:p>
          <a:p>
            <a:pPr indent="0" marL="0">
              <a:buNone/>
            </a:pPr>
            <a:r>
              <a:rPr lang="en-US" sz="650" dirty="0">
                <a:solidFill>
                  <a:srgbClr val="CDB78F"/>
                </a:solidFill>
                <a:latin typeface="Courier New" pitchFamily="34" charset="0"/>
                <a:ea typeface="Courier New" pitchFamily="34" charset="-122"/>
                <a:cs typeface="Courier New" pitchFamily="34" charset="-120"/>
              </a:rPr>
              <a:t>allocator.py</a:t>
            </a:r>
            <a:endParaRPr lang="en-US" sz="650" dirty="0"/>
          </a:p>
        </p:txBody>
      </p:sp>
      <p:sp>
        <p:nvSpPr>
          <p:cNvPr id="27" name="Shape 25"/>
          <p:cNvSpPr/>
          <p:nvPr/>
        </p:nvSpPr>
        <p:spPr>
          <a:xfrm>
            <a:off x="5881421" y="1901952"/>
            <a:ext cx="113386" cy="0"/>
          </a:xfrm>
          <a:prstGeom prst="line">
            <a:avLst/>
          </a:prstGeom>
          <a:noFill/>
          <a:ln w="12700">
            <a:solidFill>
              <a:srgbClr val="1D1B18"/>
            </a:solidFill>
            <a:prstDash val="solid"/>
            <a:tailEnd type="triangle"/>
          </a:ln>
        </p:spPr>
      </p:sp>
      <p:sp>
        <p:nvSpPr>
          <p:cNvPr id="28" name="Shape 26"/>
          <p:cNvSpPr/>
          <p:nvPr/>
        </p:nvSpPr>
        <p:spPr>
          <a:xfrm>
            <a:off x="6013094" y="1298448"/>
            <a:ext cx="1216152" cy="1207008"/>
          </a:xfrm>
          <a:prstGeom prst="rect">
            <a:avLst/>
          </a:prstGeom>
          <a:solidFill>
            <a:srgbClr val="FFFFFF"/>
          </a:solidFill>
          <a:ln w="9525">
            <a:solidFill>
              <a:srgbClr val="E4DDD0"/>
            </a:solidFill>
            <a:prstDash val="solid"/>
          </a:ln>
        </p:spPr>
      </p:sp>
      <p:sp>
        <p:nvSpPr>
          <p:cNvPr id="29" name="Text 27"/>
          <p:cNvSpPr txBox="1"/>
          <p:nvPr/>
        </p:nvSpPr>
        <p:spPr>
          <a:xfrm>
            <a:off x="609539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REPLY</a:t>
            </a:r>
            <a:endParaRPr lang="en-US" sz="700" dirty="0"/>
          </a:p>
        </p:txBody>
      </p:sp>
      <p:sp>
        <p:nvSpPr>
          <p:cNvPr id="30" name="Text 28"/>
          <p:cNvSpPr txBox="1"/>
          <p:nvPr/>
        </p:nvSpPr>
        <p:spPr>
          <a:xfrm>
            <a:off x="609539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 template</a:t>
            </a:r>
            <a:endParaRPr lang="en-US" sz="1050" dirty="0"/>
          </a:p>
        </p:txBody>
      </p:sp>
      <p:sp>
        <p:nvSpPr>
          <p:cNvPr id="31" name="Text 29"/>
          <p:cNvSpPr txBox="1"/>
          <p:nvPr/>
        </p:nvSpPr>
        <p:spPr>
          <a:xfrm>
            <a:off x="609539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Card and speech from tool strings only</a:t>
            </a:r>
            <a:endParaRPr lang="en-US" sz="750" dirty="0"/>
          </a:p>
        </p:txBody>
      </p:sp>
      <p:sp>
        <p:nvSpPr>
          <p:cNvPr id="32" name="Text 30"/>
          <p:cNvSpPr txBox="1"/>
          <p:nvPr/>
        </p:nvSpPr>
        <p:spPr>
          <a:xfrm>
            <a:off x="609539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33" name="Shape 31"/>
          <p:cNvSpPr/>
          <p:nvPr/>
        </p:nvSpPr>
        <p:spPr>
          <a:xfrm>
            <a:off x="7247534" y="1901952"/>
            <a:ext cx="113386" cy="0"/>
          </a:xfrm>
          <a:prstGeom prst="line">
            <a:avLst/>
          </a:prstGeom>
          <a:noFill/>
          <a:ln w="12700">
            <a:solidFill>
              <a:srgbClr val="1D1B18"/>
            </a:solidFill>
            <a:prstDash val="solid"/>
            <a:tailEnd type="triangle"/>
          </a:ln>
        </p:spPr>
      </p:sp>
      <p:sp>
        <p:nvSpPr>
          <p:cNvPr id="34" name="Shape 32"/>
          <p:cNvSpPr/>
          <p:nvPr/>
        </p:nvSpPr>
        <p:spPr>
          <a:xfrm>
            <a:off x="7379208" y="1298448"/>
            <a:ext cx="1216152" cy="1207008"/>
          </a:xfrm>
          <a:prstGeom prst="rect">
            <a:avLst/>
          </a:prstGeom>
          <a:solidFill>
            <a:srgbClr val="FFFFFF"/>
          </a:solidFill>
          <a:ln w="9525">
            <a:solidFill>
              <a:srgbClr val="E4DDD0"/>
            </a:solidFill>
            <a:prstDash val="solid"/>
          </a:ln>
        </p:spPr>
      </p:sp>
      <p:sp>
        <p:nvSpPr>
          <p:cNvPr id="35" name="Text 33"/>
          <p:cNvSpPr txBox="1"/>
          <p:nvPr/>
        </p:nvSpPr>
        <p:spPr>
          <a:xfrm>
            <a:off x="7461504"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CONFIRM + STORE</a:t>
            </a:r>
            <a:endParaRPr lang="en-US" sz="700" dirty="0"/>
          </a:p>
        </p:txBody>
      </p:sp>
      <p:sp>
        <p:nvSpPr>
          <p:cNvPr id="36" name="Text 34"/>
          <p:cNvSpPr txBox="1"/>
          <p:nvPr/>
        </p:nvSpPr>
        <p:spPr>
          <a:xfrm>
            <a:off x="7461504"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SQLite</a:t>
            </a:r>
            <a:endParaRPr lang="en-US" sz="1050" dirty="0"/>
          </a:p>
        </p:txBody>
      </p:sp>
      <p:sp>
        <p:nvSpPr>
          <p:cNvPr id="37" name="Text 35"/>
          <p:cNvSpPr txBox="1"/>
          <p:nvPr/>
        </p:nvSpPr>
        <p:spPr>
          <a:xfrm>
            <a:off x="7461504"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Recompute, save the record, learn the rule</a:t>
            </a:r>
            <a:endParaRPr lang="en-US" sz="750" dirty="0"/>
          </a:p>
        </p:txBody>
      </p:sp>
      <p:sp>
        <p:nvSpPr>
          <p:cNvPr id="38" name="Text 36"/>
          <p:cNvSpPr txBox="1"/>
          <p:nvPr/>
        </p:nvSpPr>
        <p:spPr>
          <a:xfrm>
            <a:off x="7461504"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records.py</a:t>
            </a:r>
            <a:endParaRPr lang="en-US" sz="650" dirty="0"/>
          </a:p>
          <a:p>
            <a:pPr indent="0" marL="0">
              <a:buNone/>
            </a:pPr>
            <a:r>
              <a:rPr lang="en-US" sz="650" dirty="0">
                <a:solidFill>
                  <a:srgbClr val="7D5E30"/>
                </a:solidFill>
                <a:latin typeface="Courier New" pitchFamily="34" charset="0"/>
                <a:ea typeface="Courier New" pitchFamily="34" charset="-122"/>
                <a:cs typeface="Courier New" pitchFamily="34" charset="-120"/>
              </a:rPr>
              <a:t>memory.py</a:t>
            </a:r>
            <a:endParaRPr lang="en-US" sz="650" dirty="0"/>
          </a:p>
        </p:txBody>
      </p:sp>
      <p:sp>
        <p:nvSpPr>
          <p:cNvPr id="39" name="Text 37"/>
          <p:cNvSpPr txBox="1"/>
          <p:nvPr/>
        </p:nvSpPr>
        <p:spPr>
          <a:xfrm>
            <a:off x="2732227" y="2560320"/>
            <a:ext cx="2313432" cy="274320"/>
          </a:xfrm>
          <a:prstGeom prst="rect">
            <a:avLst/>
          </a:prstGeom>
          <a:noFill/>
          <a:ln/>
        </p:spPr>
        <p:txBody>
          <a:bodyPr wrap="square" lIns="0" tIns="0" rIns="0" bIns="0" rtlCol="0" anchor="t"/>
          <a:lstStyle/>
          <a:p>
            <a:pPr algn="ct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40" name="Text 38"/>
          <p:cNvSpPr txBox="1"/>
          <p:nvPr/>
        </p:nvSpPr>
        <p:spPr>
          <a:xfrm>
            <a:off x="548640" y="2880360"/>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KEY CHOICES, AGAINST THE ALTERNATIVE WE CONSIDERED</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72384"/>
          <a:ext cx="8046720" cy="914400"/>
        </p:xfrm>
        <a:graphic>
          <a:graphicData uri="http://schemas.openxmlformats.org/drawingml/2006/table">
            <a:tbl>
              <a:tblPr/>
              <a:tblGrid>
                <a:gridCol w="1828800"/>
                <a:gridCol w="1691640"/>
                <a:gridCol w="4526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as he speaks,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 for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rules in SQLite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vector-store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constraint must apply exactly, with who said it, and be auditable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07008"/>
          <a:ext cx="8046720" cy="914400"/>
        </p:xfrm>
        <a:graphic>
          <a:graphicData uri="http://schemas.openxmlformats.org/drawingml/2006/table">
            <a:tbl>
              <a:tblPr/>
              <a:tblGrid>
                <a:gridCol w="5120640"/>
                <a:gridCol w="1828800"/>
                <a:gridCol w="1097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Voice assistant: phone UI, speech in and out,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Long-term memory: rules from confirmed bookings, log, profile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Four-objective scorer, frozen presets, objective lab</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Capacity questions and workshop checks from chat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Chat-first desk redesign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Duong Thanh Nhan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AWS deployment behind HTTPS (demo site)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Joshua Wesley Gloor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Clarification reliability fixes and 247-assertion benchmark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Live run on all 30 inbox requests, two independent labellers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8A2C35"/>
                          </a:solidFill>
                          <a:latin typeface="Arial" pitchFamily="34" charset="0"/>
                          <a:ea typeface="Arial" pitchFamily="34" charset="-122"/>
                          <a:cs typeface="Arial" pitchFamily="34" charset="-120"/>
                        </a:rPr>
                        <a:t>[TBD]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Held-out rewordings and prompt-injection items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8A2C35"/>
                          </a:solidFill>
                          <a:latin typeface="Arial" pitchFamily="34" charset="0"/>
                          <a:ea typeface="Arial" pitchFamily="34" charset="-122"/>
                          <a:cs typeface="Arial" pitchFamily="34" charset="-120"/>
                        </a:rPr>
                        <a:t>[TBD]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83464">
                <a:tc>
                  <a:txBody>
                    <a:bodyPr/>
                    <a:lstStyle/>
                    <a:p>
                      <a:pPr indent="0" marL="0">
                        <a:buNone/>
                      </a:pPr>
                      <a:r>
                        <a:rPr lang="en-US" sz="900" dirty="0">
                          <a:solidFill>
                            <a:srgbClr val="1D1B18"/>
                          </a:solidFill>
                          <a:latin typeface="Arial" pitchFamily="34" charset="0"/>
                          <a:ea typeface="Arial" pitchFamily="34" charset="-122"/>
                          <a:cs typeface="Arial" pitchFamily="34" charset="-120"/>
                        </a:rPr>
                        <a:t>Usability test: two people acting as dispatchers, four tasks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8A2C35"/>
                          </a:solidFill>
                          <a:latin typeface="Arial" pitchFamily="34" charset="0"/>
                          <a:ea typeface="Arial" pitchFamily="34" charset="-122"/>
                          <a:cs typeface="Arial" pitchFamily="34" charset="-120"/>
                        </a:rPr>
                        <a:t>[TBD]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6 of 10 done. Code: github.com/JoshuaGloor/dss5105-capstone-project (PR #15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held-out rewordings and bait items; two teammates label separately, then agree. A model judge is used only where it agrees with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Ravi, on the floor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RAVI TALKS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Quick-Response Subcontracting Desk - Sprint 2</dc:title>
  <dc:subject>PptxGenJS Presentation</dc:subject>
  <dc:creator>Group 11</dc:creator>
  <cp:lastModifiedBy>Group 11</cp:lastModifiedBy>
  <cp:revision>1</cp:revision>
  <dcterms:created xsi:type="dcterms:W3CDTF">2026-10-26T12:08:01Z</dcterms:created>
  <dcterms:modified xsi:type="dcterms:W3CDTF">2026-10-26T12:08:01Z</dcterms:modified>
</cp:coreProperties>
</file>