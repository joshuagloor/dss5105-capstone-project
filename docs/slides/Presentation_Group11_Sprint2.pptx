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Joshua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Saadhvika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Saadhvika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(1:53-2:11)  Niyanthri
"Every feature has an owner. Seven of eleven are done, including the voice assistant, memory,
the four-objective scorer and 205 generated evaluation requests. In progress: clarification
fixes and independent inbox labels. Planned: Lynn's re-run of the test set, and Joshua's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(2:11-2:55)  Niyanthri
"We measure late batches and late days, our primary objective, in the course simulator, with and
without a closure, against random, biggest capacity, cheapest and earliest finish. The minimum
is to beat all three baselines and handle all 30 inbox requests. Today: 1.4 percent late against
1.7, and 68 percent fewer late days. For language: the inbox plus 205 generated requests, 65 held
out with new wording; 96.9 percent passed on the first live run.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The slides recording ends on this slide for two seconds:
  Niyanthri: "Now, the demo."
Charles's recording starts straight in the app. Times are from the start of the app part. Speak only when the app is quiet.
[0:00] Charles: "Hi everyone, I'm Zepeng, or Charles, as the app calls me. In this demo I'll
       play the dispatcher, using our app, StitchFlow. The rings show how busy each workshop
       is, and OldMill is grey because it's suspended."
[0:08] Hold the mic and say: "Hi, I've got order 109 for Harbor Knits, 500 vests, due April
       13th. And keep it away from BudgetWorks, their last batch came back rough."
       Let the answer play: "GiantWeave can deliver order 109 by Thursday 9 April, 3.71 days
       early. Cost 550, defect risk 6.0%. Say book it, or tap book, to confirm."
[0:30] Tap "Compare 4 workshops", then "Can't take it", then close them. (optional)
       Charles: "Here are the other options, and why the rest can't take it. BudgetWorks is out
       because I asked."
[0:40] Hold the mic and say: "Okay, book it." The sheet opens.
       Charles: "Nothing is saved until I slide." Slide to confirm.
[0:52] On the receipt, tap "Remember".
       Charles: "And it offers to remember that rule."
[0:58] Hold the mic and say: "Next one: order 81 for Harbor Knits, due April 20th."
       (Say "due", not "go out by": "go out by" is a ship date, and the desk would ask which.)
       Let the answer play, then point at the memory note on the card.
       Charles: "Same customer, so the rule is applied, and the card says it came from memory."
[1:22] Charles: "Now a hard case, straight from the inbox."
       Hold the mic and say: "QuickStitch for the scarves on order 103?"
       Let the answer play: QuickStitch cannot make scarves, no workshop meets 4 April, and the
       best alternative is 13.44 days late.
[1:45] Charles: "It refuses, gives the earliest option and a two-shop split, and books nothing."
[1:52] Point at the "Behind the answer" panel on the right. (optional)
       Charles: "This panel shows what the model read, with quotes, and what Python computed."
[1:59]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The recorded deck has no demo link line. The submitted deck must have it, so add it to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How was the evaluation set built? 205 requests generated from templates with fixed seeds,
  across the seven request kinds: 140 train, 65 test, and the test wording never appears in
  train. Labels come from construction (the generator knows the order, date and constraint it
  wrote) plus the deterministic dispatch preview, so no model labels them. Results are
  behaviour-rubric pass rates from one gpt-5.6 run on intake-v2: train 134/140 (95.7%), test
  63/65 (96.9%). They are not model accuracy. The three original train failures (TR053,
  TR056, TR059) were an unneeded quantity question blocking a refusal, fixed in intake-v3.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3E34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C9BEAD"/>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3E342B"/>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3E342B"/>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C9BEAD"/>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368838" y="411480"/>
            <a:ext cx="2272242"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188720"/>
            <a:ext cx="3611880" cy="1417320"/>
          </a:xfrm>
          <a:prstGeom prst="roundRect">
            <a:avLst>
              <a:gd name="adj" fmla="val 5161"/>
            </a:avLst>
          </a:prstGeom>
          <a:solidFill>
            <a:srgbClr val="F1E7D6"/>
          </a:solidFill>
          <a:ln w="9525">
            <a:solidFill>
              <a:srgbClr val="E2D3B9"/>
            </a:solidFill>
            <a:prstDash val="solid"/>
          </a:ln>
        </p:spPr>
      </p:sp>
      <p:sp>
        <p:nvSpPr>
          <p:cNvPr id="5" name="Shape 3"/>
          <p:cNvSpPr/>
          <p:nvPr/>
        </p:nvSpPr>
        <p:spPr>
          <a:xfrm>
            <a:off x="548640" y="1188720"/>
            <a:ext cx="54864" cy="1417320"/>
          </a:xfrm>
          <a:prstGeom prst="rect">
            <a:avLst/>
          </a:prstGeom>
          <a:solidFill>
            <a:srgbClr val="A3804C"/>
          </a:solidFill>
          <a:ln w="12700">
            <a:solidFill>
              <a:srgbClr val="A3804C"/>
            </a:solidFill>
            <a:prstDash val="solid"/>
          </a:ln>
        </p:spPr>
      </p:sp>
      <p:sp>
        <p:nvSpPr>
          <p:cNvPr id="6" name="Text 4"/>
          <p:cNvSpPr txBox="1"/>
          <p:nvPr/>
        </p:nvSpPr>
        <p:spPr>
          <a:xfrm>
            <a:off x="777240" y="1325880"/>
            <a:ext cx="320040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A REAL REQUEST FROM THE INBOX</a:t>
            </a:r>
            <a:endParaRPr lang="en-US" sz="750" dirty="0"/>
          </a:p>
        </p:txBody>
      </p:sp>
      <p:sp>
        <p:nvSpPr>
          <p:cNvPr id="7" name="Text 5"/>
          <p:cNvSpPr txBox="1"/>
          <p:nvPr/>
        </p:nvSpPr>
        <p:spPr>
          <a:xfrm>
            <a:off x="777240" y="1536192"/>
            <a:ext cx="3200400" cy="777240"/>
          </a:xfrm>
          <a:prstGeom prst="rect">
            <a:avLst/>
          </a:prstGeom>
          <a:noFill/>
          <a:ln/>
        </p:spPr>
        <p:txBody>
          <a:bodyPr wrap="square" lIns="0" tIns="0" rIns="0" bIns="0" rtlCol="0" anchor="t"/>
          <a:lstStyle/>
          <a:p>
            <a:pPr indent="0" marL="0">
              <a:buNone/>
            </a:pPr>
            <a:r>
              <a:rPr lang="en-US" sz="135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350" dirty="0"/>
          </a:p>
        </p:txBody>
      </p:sp>
      <p:sp>
        <p:nvSpPr>
          <p:cNvPr id="8" name="Text 6"/>
          <p:cNvSpPr txBox="1"/>
          <p:nvPr/>
        </p:nvSpPr>
        <p:spPr>
          <a:xfrm>
            <a:off x="777240" y="2331720"/>
            <a:ext cx="3200400" cy="164592"/>
          </a:xfrm>
          <a:prstGeom prst="rect">
            <a:avLst/>
          </a:prstGeom>
          <a:noFill/>
          <a:ln/>
        </p:spPr>
        <p:txBody>
          <a:bodyPr wrap="square" lIns="0" tIns="0" rIns="0" bIns="0" rtlCol="0" anchor="t"/>
          <a:lstStyle/>
          <a:p>
            <a:pPr indent="0" marL="0">
              <a:buNone/>
            </a:pPr>
            <a:r>
              <a:rPr lang="en-US" sz="800" dirty="0">
                <a:solidFill>
                  <a:srgbClr val="6B665D"/>
                </a:solidFill>
                <a:latin typeface="Arial" pitchFamily="34" charset="0"/>
                <a:ea typeface="Arial" pitchFamily="34" charset="-122"/>
                <a:cs typeface="Arial" pitchFamily="34" charset="-120"/>
              </a:rPr>
              <a:t>Mei, 09:53, request R25</a:t>
            </a:r>
            <a:endParaRPr lang="en-US" sz="800" dirty="0"/>
          </a:p>
        </p:txBody>
      </p:sp>
      <p:sp>
        <p:nvSpPr>
          <p:cNvPr id="9" name="Text 7"/>
          <p:cNvSpPr txBox="1"/>
          <p:nvPr/>
        </p:nvSpPr>
        <p:spPr>
          <a:xfrm>
            <a:off x="548640" y="2743200"/>
            <a:ext cx="36118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10" name="Text 8"/>
          <p:cNvSpPr txBox="1"/>
          <p:nvPr/>
        </p:nvSpPr>
        <p:spPr>
          <a:xfrm>
            <a:off x="548640" y="2907792"/>
            <a:ext cx="361188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The production dispatcher at SweaterCo</a:t>
            </a:r>
            <a:endParaRPr lang="en-US" sz="1400" dirty="0"/>
          </a:p>
        </p:txBody>
      </p:sp>
      <p:sp>
        <p:nvSpPr>
          <p:cNvPr id="11" name="Text 9"/>
          <p:cNvSpPr txBox="1"/>
          <p:nvPr/>
        </p:nvSpPr>
        <p:spPr>
          <a:xfrm>
            <a:off x="548640" y="3172968"/>
            <a:ext cx="3611880" cy="310896"/>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Most requests are messy: missing dates, vague orders, banned workshops.</a:t>
            </a:r>
            <a:endParaRPr lang="en-US" sz="900" dirty="0"/>
          </a:p>
        </p:txBody>
      </p:sp>
      <p:sp>
        <p:nvSpPr>
          <p:cNvPr id="12" name="Shape 10"/>
          <p:cNvSpPr/>
          <p:nvPr/>
        </p:nvSpPr>
        <p:spPr>
          <a:xfrm>
            <a:off x="548640" y="3566160"/>
            <a:ext cx="3611880" cy="265176"/>
          </a:xfrm>
          <a:prstGeom prst="roundRect">
            <a:avLst>
              <a:gd name="adj" fmla="val 27586"/>
            </a:avLst>
          </a:prstGeom>
          <a:solidFill>
            <a:srgbClr val="FFFFFF"/>
          </a:solidFill>
          <a:ln w="9525">
            <a:solidFill>
              <a:srgbClr val="E4DDD0"/>
            </a:solidFill>
            <a:prstDash val="solid"/>
          </a:ln>
        </p:spPr>
      </p:sp>
      <p:sp>
        <p:nvSpPr>
          <p:cNvPr id="13" name="Text 11"/>
          <p:cNvSpPr txBox="1"/>
          <p:nvPr/>
        </p:nvSpPr>
        <p:spPr>
          <a:xfrm>
            <a:off x="658368" y="356616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1</a:t>
            </a:r>
            <a:endParaRPr lang="en-US" sz="1200" dirty="0"/>
          </a:p>
        </p:txBody>
      </p:sp>
      <p:sp>
        <p:nvSpPr>
          <p:cNvPr id="14" name="Text 12"/>
          <p:cNvSpPr txBox="1"/>
          <p:nvPr/>
        </p:nvSpPr>
        <p:spPr>
          <a:xfrm>
            <a:off x="868680" y="356616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A safe workshop, its date and why, in seconds</a:t>
            </a:r>
            <a:endParaRPr lang="en-US" sz="900" dirty="0"/>
          </a:p>
        </p:txBody>
      </p:sp>
      <p:sp>
        <p:nvSpPr>
          <p:cNvPr id="15" name="Shape 13"/>
          <p:cNvSpPr/>
          <p:nvPr/>
        </p:nvSpPr>
        <p:spPr>
          <a:xfrm>
            <a:off x="548640" y="3886200"/>
            <a:ext cx="3611880" cy="265176"/>
          </a:xfrm>
          <a:prstGeom prst="roundRect">
            <a:avLst>
              <a:gd name="adj" fmla="val 27586"/>
            </a:avLst>
          </a:prstGeom>
          <a:solidFill>
            <a:srgbClr val="FFFFFF"/>
          </a:solidFill>
          <a:ln w="9525">
            <a:solidFill>
              <a:srgbClr val="E4DDD0"/>
            </a:solidFill>
            <a:prstDash val="solid"/>
          </a:ln>
        </p:spPr>
      </p:sp>
      <p:sp>
        <p:nvSpPr>
          <p:cNvPr id="16" name="Text 14"/>
          <p:cNvSpPr txBox="1"/>
          <p:nvPr/>
        </p:nvSpPr>
        <p:spPr>
          <a:xfrm>
            <a:off x="658368" y="388620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2</a:t>
            </a:r>
            <a:endParaRPr lang="en-US" sz="1200" dirty="0"/>
          </a:p>
        </p:txBody>
      </p:sp>
      <p:sp>
        <p:nvSpPr>
          <p:cNvPr id="17" name="Text 15"/>
          <p:cNvSpPr txBox="1"/>
          <p:nvPr/>
        </p:nvSpPr>
        <p:spPr>
          <a:xfrm>
            <a:off x="868680" y="388620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The constraint kept, and who asked recorded</a:t>
            </a:r>
            <a:endParaRPr lang="en-US" sz="900" dirty="0"/>
          </a:p>
        </p:txBody>
      </p:sp>
      <p:sp>
        <p:nvSpPr>
          <p:cNvPr id="18" name="Shape 16"/>
          <p:cNvSpPr/>
          <p:nvPr/>
        </p:nvSpPr>
        <p:spPr>
          <a:xfrm>
            <a:off x="548640" y="4206240"/>
            <a:ext cx="3611880" cy="265176"/>
          </a:xfrm>
          <a:prstGeom prst="roundRect">
            <a:avLst>
              <a:gd name="adj" fmla="val 27586"/>
            </a:avLst>
          </a:prstGeom>
          <a:solidFill>
            <a:srgbClr val="FFFFFF"/>
          </a:solidFill>
          <a:ln w="9525">
            <a:solidFill>
              <a:srgbClr val="E4DDD0"/>
            </a:solidFill>
            <a:prstDash val="solid"/>
          </a:ln>
        </p:spPr>
      </p:sp>
      <p:sp>
        <p:nvSpPr>
          <p:cNvPr id="19" name="Text 17"/>
          <p:cNvSpPr txBox="1"/>
          <p:nvPr/>
        </p:nvSpPr>
        <p:spPr>
          <a:xfrm>
            <a:off x="658368" y="420624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3</a:t>
            </a:r>
            <a:endParaRPr lang="en-US" sz="1200" dirty="0"/>
          </a:p>
        </p:txBody>
      </p:sp>
      <p:sp>
        <p:nvSpPr>
          <p:cNvPr id="20" name="Text 18"/>
          <p:cNvSpPr txBox="1"/>
          <p:nvPr/>
        </p:nvSpPr>
        <p:spPr>
          <a:xfrm>
            <a:off x="868680" y="420624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One deliberate step to commit; a record after</a:t>
            </a:r>
            <a:endParaRPr lang="en-US" sz="900" dirty="0"/>
          </a:p>
        </p:txBody>
      </p:sp>
      <p:sp>
        <p:nvSpPr>
          <p:cNvPr id="21" name="Text 19"/>
          <p:cNvSpPr txBox="1"/>
          <p:nvPr/>
        </p:nvSpPr>
        <p:spPr>
          <a:xfrm>
            <a:off x="4434840" y="118872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sp>
        <p:nvSpPr>
          <p:cNvPr id="22" name="Shape 20"/>
          <p:cNvSpPr/>
          <p:nvPr/>
        </p:nvSpPr>
        <p:spPr>
          <a:xfrm>
            <a:off x="4434840" y="1389888"/>
            <a:ext cx="1325880" cy="1463040"/>
          </a:xfrm>
          <a:prstGeom prst="roundRect">
            <a:avLst>
              <a:gd name="adj" fmla="val 5517"/>
            </a:avLst>
          </a:prstGeom>
          <a:solidFill>
            <a:srgbClr val="FFFFFF"/>
          </a:solidFill>
          <a:ln w="9525">
            <a:solidFill>
              <a:srgbClr val="E4DDD0"/>
            </a:solidFill>
            <a:prstDash val="solid"/>
          </a:ln>
        </p:spPr>
      </p:sp>
      <p:sp>
        <p:nvSpPr>
          <p:cNvPr id="23" name="Text 21"/>
          <p:cNvSpPr txBox="1"/>
          <p:nvPr/>
        </p:nvSpPr>
        <p:spPr>
          <a:xfrm>
            <a:off x="456285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68%</a:t>
            </a:r>
            <a:endParaRPr lang="en-US" sz="2600" dirty="0"/>
          </a:p>
        </p:txBody>
      </p:sp>
      <p:sp>
        <p:nvSpPr>
          <p:cNvPr id="24" name="Text 22"/>
          <p:cNvSpPr txBox="1"/>
          <p:nvPr/>
        </p:nvSpPr>
        <p:spPr>
          <a:xfrm>
            <a:off x="456285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fewer late days than earliest finish, which tied us in Sprint 1 (1.42% late vs 1.67%)</a:t>
            </a:r>
            <a:endParaRPr lang="en-US" sz="850" dirty="0"/>
          </a:p>
        </p:txBody>
      </p:sp>
      <p:sp>
        <p:nvSpPr>
          <p:cNvPr id="25" name="Shape 23"/>
          <p:cNvSpPr/>
          <p:nvPr/>
        </p:nvSpPr>
        <p:spPr>
          <a:xfrm>
            <a:off x="5852160" y="1389888"/>
            <a:ext cx="1325880" cy="1463040"/>
          </a:xfrm>
          <a:prstGeom prst="roundRect">
            <a:avLst>
              <a:gd name="adj" fmla="val 5517"/>
            </a:avLst>
          </a:prstGeom>
          <a:solidFill>
            <a:srgbClr val="FFFFFF"/>
          </a:solidFill>
          <a:ln w="9525">
            <a:solidFill>
              <a:srgbClr val="E4DDD0"/>
            </a:solidFill>
            <a:prstDash val="solid"/>
          </a:ln>
        </p:spPr>
      </p:sp>
      <p:sp>
        <p:nvSpPr>
          <p:cNvPr id="26" name="Text 24"/>
          <p:cNvSpPr txBox="1"/>
          <p:nvPr/>
        </p:nvSpPr>
        <p:spPr>
          <a:xfrm>
            <a:off x="598017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4.90%</a:t>
            </a:r>
            <a:endParaRPr lang="en-US" sz="2600" dirty="0"/>
          </a:p>
        </p:txBody>
      </p:sp>
      <p:sp>
        <p:nvSpPr>
          <p:cNvPr id="27" name="Text 25"/>
          <p:cNvSpPr txBox="1"/>
          <p:nvPr/>
        </p:nvSpPr>
        <p:spPr>
          <a:xfrm>
            <a:off x="598017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with the defects setting, vs 5.28% for biggest capacity, which won in Sprint 1</a:t>
            </a:r>
            <a:endParaRPr lang="en-US" sz="850" dirty="0"/>
          </a:p>
        </p:txBody>
      </p:sp>
      <p:sp>
        <p:nvSpPr>
          <p:cNvPr id="28" name="Shape 26"/>
          <p:cNvSpPr/>
          <p:nvPr/>
        </p:nvSpPr>
        <p:spPr>
          <a:xfrm>
            <a:off x="7269480" y="1389888"/>
            <a:ext cx="1325880" cy="1463040"/>
          </a:xfrm>
          <a:prstGeom prst="roundRect">
            <a:avLst>
              <a:gd name="adj" fmla="val 5517"/>
            </a:avLst>
          </a:prstGeom>
          <a:solidFill>
            <a:srgbClr val="FFFFFF"/>
          </a:solidFill>
          <a:ln w="9525">
            <a:solidFill>
              <a:srgbClr val="E4DDD0"/>
            </a:solidFill>
            <a:prstDash val="solid"/>
          </a:ln>
        </p:spPr>
      </p:sp>
      <p:sp>
        <p:nvSpPr>
          <p:cNvPr id="29" name="Text 27"/>
          <p:cNvSpPr txBox="1"/>
          <p:nvPr/>
        </p:nvSpPr>
        <p:spPr>
          <a:xfrm>
            <a:off x="739749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19.2%</a:t>
            </a:r>
            <a:endParaRPr lang="en-US" sz="2600" dirty="0"/>
          </a:p>
        </p:txBody>
      </p:sp>
      <p:sp>
        <p:nvSpPr>
          <p:cNvPr id="30" name="Text 28"/>
          <p:cNvSpPr txBox="1"/>
          <p:nvPr/>
        </p:nvSpPr>
        <p:spPr>
          <a:xfrm>
            <a:off x="739749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largest workshop share with the fairness setting, vs 22.6% for random; not tuned in Sprint 1</a:t>
            </a:r>
            <a:endParaRPr lang="en-US" sz="850" dirty="0"/>
          </a:p>
        </p:txBody>
      </p:sp>
      <p:sp>
        <p:nvSpPr>
          <p:cNvPr id="31" name="Shape 29"/>
          <p:cNvSpPr/>
          <p:nvPr/>
        </p:nvSpPr>
        <p:spPr>
          <a:xfrm>
            <a:off x="4434840" y="2990088"/>
            <a:ext cx="4160520" cy="512064"/>
          </a:xfrm>
          <a:prstGeom prst="roundRect">
            <a:avLst>
              <a:gd name="adj" fmla="val 14286"/>
            </a:avLst>
          </a:prstGeom>
          <a:solidFill>
            <a:srgbClr val="FFFFFF"/>
          </a:solidFill>
          <a:ln w="9525">
            <a:solidFill>
              <a:srgbClr val="E4DDD0"/>
            </a:solidFill>
            <a:prstDash val="solid"/>
          </a:ln>
        </p:spPr>
      </p:sp>
      <p:sp>
        <p:nvSpPr>
          <p:cNvPr id="32" name="Shape 30"/>
          <p:cNvSpPr/>
          <p:nvPr/>
        </p:nvSpPr>
        <p:spPr>
          <a:xfrm>
            <a:off x="4434840" y="2990088"/>
            <a:ext cx="54864" cy="512064"/>
          </a:xfrm>
          <a:prstGeom prst="rect">
            <a:avLst/>
          </a:prstGeom>
          <a:solidFill>
            <a:srgbClr val="2F5D46"/>
          </a:solidFill>
          <a:ln w="12700">
            <a:solidFill>
              <a:srgbClr val="2F5D46"/>
            </a:solidFill>
            <a:prstDash val="solid"/>
          </a:ln>
        </p:spPr>
      </p:sp>
      <p:sp>
        <p:nvSpPr>
          <p:cNvPr id="33" name="Text 31"/>
          <p:cNvSpPr txBox="1"/>
          <p:nvPr/>
        </p:nvSpPr>
        <p:spPr>
          <a:xfrm>
            <a:off x="4617720" y="2990088"/>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4" name="Text 32"/>
          <p:cNvSpPr txBox="1"/>
          <p:nvPr/>
        </p:nvSpPr>
        <p:spPr>
          <a:xfrm>
            <a:off x="5074920" y="2990088"/>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Voice on the phone: answers read aloud, and one slide to book</a:t>
            </a:r>
            <a:endParaRPr lang="en-US" sz="950" dirty="0"/>
          </a:p>
        </p:txBody>
      </p:sp>
      <p:sp>
        <p:nvSpPr>
          <p:cNvPr id="35" name="Shape 33"/>
          <p:cNvSpPr/>
          <p:nvPr/>
        </p:nvSpPr>
        <p:spPr>
          <a:xfrm>
            <a:off x="4434840" y="3593592"/>
            <a:ext cx="4160520" cy="512064"/>
          </a:xfrm>
          <a:prstGeom prst="roundRect">
            <a:avLst>
              <a:gd name="adj" fmla="val 14286"/>
            </a:avLst>
          </a:prstGeom>
          <a:solidFill>
            <a:srgbClr val="FFFFFF"/>
          </a:solidFill>
          <a:ln w="9525">
            <a:solidFill>
              <a:srgbClr val="E4DDD0"/>
            </a:solidFill>
            <a:prstDash val="solid"/>
          </a:ln>
        </p:spPr>
      </p:sp>
      <p:sp>
        <p:nvSpPr>
          <p:cNvPr id="36" name="Shape 34"/>
          <p:cNvSpPr/>
          <p:nvPr/>
        </p:nvSpPr>
        <p:spPr>
          <a:xfrm>
            <a:off x="4434840" y="3593592"/>
            <a:ext cx="54864" cy="512064"/>
          </a:xfrm>
          <a:prstGeom prst="rect">
            <a:avLst/>
          </a:prstGeom>
          <a:solidFill>
            <a:srgbClr val="2F5D46"/>
          </a:solidFill>
          <a:ln w="12700">
            <a:solidFill>
              <a:srgbClr val="2F5D46"/>
            </a:solidFill>
            <a:prstDash val="solid"/>
          </a:ln>
        </p:spPr>
      </p:sp>
      <p:sp>
        <p:nvSpPr>
          <p:cNvPr id="37" name="Text 35"/>
          <p:cNvSpPr txBox="1"/>
          <p:nvPr/>
        </p:nvSpPr>
        <p:spPr>
          <a:xfrm>
            <a:off x="4617720" y="3593592"/>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8" name="Text 36"/>
          <p:cNvSpPr txBox="1"/>
          <p:nvPr/>
        </p:nvSpPr>
        <p:spPr>
          <a:xfrm>
            <a:off x="5074920" y="3593592"/>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Memory: confirmed constraints come back, with who said them</a:t>
            </a:r>
            <a:endParaRPr lang="en-US" sz="95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0154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18325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4843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18325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85445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3616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0133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3616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0735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48906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75424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48906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16026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14197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40714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14197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sp>
        <p:nvSpPr>
          <p:cNvPr id="4" name="Shape 2"/>
          <p:cNvSpPr/>
          <p:nvPr/>
        </p:nvSpPr>
        <p:spPr>
          <a:xfrm>
            <a:off x="548640" y="1188720"/>
            <a:ext cx="1929384" cy="1536192"/>
          </a:xfrm>
          <a:prstGeom prst="roundRect">
            <a:avLst>
              <a:gd name="adj" fmla="val 4762"/>
            </a:avLst>
          </a:prstGeom>
          <a:solidFill>
            <a:srgbClr val="F1E7D6"/>
          </a:solidFill>
          <a:ln w="9525">
            <a:solidFill>
              <a:srgbClr val="E2D3B9"/>
            </a:solidFill>
            <a:prstDash val="solid"/>
          </a:ln>
        </p:spPr>
      </p:sp>
      <p:sp>
        <p:nvSpPr>
          <p:cNvPr id="5" name="Shape 3"/>
          <p:cNvSpPr/>
          <p:nvPr/>
        </p:nvSpPr>
        <p:spPr>
          <a:xfrm>
            <a:off x="548640" y="1188720"/>
            <a:ext cx="54864" cy="1536192"/>
          </a:xfrm>
          <a:prstGeom prst="rect">
            <a:avLst/>
          </a:prstGeom>
          <a:solidFill>
            <a:srgbClr val="A3804C"/>
          </a:solidFill>
          <a:ln w="12700">
            <a:solidFill>
              <a:srgbClr val="A3804C"/>
            </a:solidFill>
            <a:prstDash val="solid"/>
          </a:ln>
        </p:spPr>
      </p:sp>
      <p:sp>
        <p:nvSpPr>
          <p:cNvPr id="6" name="Text 4"/>
          <p:cNvSpPr txBox="1"/>
          <p:nvPr/>
        </p:nvSpPr>
        <p:spPr>
          <a:xfrm>
            <a:off x="685800"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MODEL</a:t>
            </a:r>
            <a:endParaRPr lang="en-US" sz="750" dirty="0"/>
          </a:p>
        </p:txBody>
      </p:sp>
      <p:sp>
        <p:nvSpPr>
          <p:cNvPr id="7" name="Text 5"/>
          <p:cNvSpPr txBox="1"/>
          <p:nvPr/>
        </p:nvSpPr>
        <p:spPr>
          <a:xfrm>
            <a:off x="685800"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hosted model, named in .env</a:t>
            </a:r>
            <a:endParaRPr lang="en-US" sz="1250" dirty="0"/>
          </a:p>
        </p:txBody>
      </p:sp>
      <p:sp>
        <p:nvSpPr>
          <p:cNvPr id="8" name="Text 6"/>
          <p:cNvSpPr txBox="1"/>
          <p:nvPr/>
        </p:nvSpPr>
        <p:spPr>
          <a:xfrm>
            <a:off x="685800"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fine-tuned or local model</a:t>
            </a:r>
            <a:endParaRPr lang="en-US" sz="800" dirty="0"/>
          </a:p>
        </p:txBody>
      </p:sp>
      <p:sp>
        <p:nvSpPr>
          <p:cNvPr id="9" name="Text 7"/>
          <p:cNvSpPr txBox="1"/>
          <p:nvPr/>
        </p:nvSpPr>
        <p:spPr>
          <a:xfrm>
            <a:off x="685800"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800" dirty="0"/>
          </a:p>
        </p:txBody>
      </p:sp>
      <p:sp>
        <p:nvSpPr>
          <p:cNvPr id="10" name="Shape 8"/>
          <p:cNvSpPr/>
          <p:nvPr/>
        </p:nvSpPr>
        <p:spPr>
          <a:xfrm>
            <a:off x="2587752" y="1188720"/>
            <a:ext cx="1929384" cy="1536192"/>
          </a:xfrm>
          <a:prstGeom prst="roundRect">
            <a:avLst>
              <a:gd name="adj" fmla="val 4762"/>
            </a:avLst>
          </a:prstGeom>
          <a:solidFill>
            <a:srgbClr val="F1E7D6"/>
          </a:solidFill>
          <a:ln w="9525">
            <a:solidFill>
              <a:srgbClr val="E2D3B9"/>
            </a:solidFill>
            <a:prstDash val="solid"/>
          </a:ln>
        </p:spPr>
      </p:sp>
      <p:sp>
        <p:nvSpPr>
          <p:cNvPr id="11" name="Shape 9"/>
          <p:cNvSpPr/>
          <p:nvPr/>
        </p:nvSpPr>
        <p:spPr>
          <a:xfrm>
            <a:off x="2587752" y="1188720"/>
            <a:ext cx="54864" cy="1536192"/>
          </a:xfrm>
          <a:prstGeom prst="rect">
            <a:avLst/>
          </a:prstGeom>
          <a:solidFill>
            <a:srgbClr val="A3804C"/>
          </a:solidFill>
          <a:ln w="12700">
            <a:solidFill>
              <a:srgbClr val="A3804C"/>
            </a:solidFill>
            <a:prstDash val="solid"/>
          </a:ln>
        </p:spPr>
      </p:sp>
      <p:sp>
        <p:nvSpPr>
          <p:cNvPr id="12" name="Text 10"/>
          <p:cNvSpPr txBox="1"/>
          <p:nvPr/>
        </p:nvSpPr>
        <p:spPr>
          <a:xfrm>
            <a:off x="2724912"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RETRIEVAL</a:t>
            </a:r>
            <a:endParaRPr lang="en-US" sz="750" dirty="0"/>
          </a:p>
        </p:txBody>
      </p:sp>
      <p:sp>
        <p:nvSpPr>
          <p:cNvPr id="13" name="Text 11"/>
          <p:cNvSpPr txBox="1"/>
          <p:nvPr/>
        </p:nvSpPr>
        <p:spPr>
          <a:xfrm>
            <a:off x="2724912"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Exact lookup by order ID</a:t>
            </a:r>
            <a:endParaRPr lang="en-US" sz="1250" dirty="0"/>
          </a:p>
        </p:txBody>
      </p:sp>
      <p:sp>
        <p:nvSpPr>
          <p:cNvPr id="14" name="Text 12"/>
          <p:cNvSpPr txBox="1"/>
          <p:nvPr/>
        </p:nvSpPr>
        <p:spPr>
          <a:xfrm>
            <a:off x="2724912"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embedding retrieval (RAG)</a:t>
            </a:r>
            <a:endParaRPr lang="en-US" sz="800" dirty="0"/>
          </a:p>
        </p:txBody>
      </p:sp>
      <p:sp>
        <p:nvSpPr>
          <p:cNvPr id="15" name="Text 13"/>
          <p:cNvSpPr txBox="1"/>
          <p:nvPr/>
        </p:nvSpPr>
        <p:spPr>
          <a:xfrm>
            <a:off x="2724912"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Orders have keys; an exact match cannot fetch the wrong order.</a:t>
            </a:r>
            <a:endParaRPr lang="en-US" sz="800" dirty="0"/>
          </a:p>
        </p:txBody>
      </p:sp>
      <p:sp>
        <p:nvSpPr>
          <p:cNvPr id="16" name="Shape 14"/>
          <p:cNvSpPr/>
          <p:nvPr/>
        </p:nvSpPr>
        <p:spPr>
          <a:xfrm>
            <a:off x="4626864" y="1188720"/>
            <a:ext cx="1929384" cy="1536192"/>
          </a:xfrm>
          <a:prstGeom prst="roundRect">
            <a:avLst>
              <a:gd name="adj" fmla="val 4762"/>
            </a:avLst>
          </a:prstGeom>
          <a:solidFill>
            <a:srgbClr val="F1E7D6"/>
          </a:solidFill>
          <a:ln w="9525">
            <a:solidFill>
              <a:srgbClr val="E2D3B9"/>
            </a:solidFill>
            <a:prstDash val="solid"/>
          </a:ln>
        </p:spPr>
      </p:sp>
      <p:sp>
        <p:nvSpPr>
          <p:cNvPr id="17" name="Shape 15"/>
          <p:cNvSpPr/>
          <p:nvPr/>
        </p:nvSpPr>
        <p:spPr>
          <a:xfrm>
            <a:off x="4626864" y="1188720"/>
            <a:ext cx="54864" cy="1536192"/>
          </a:xfrm>
          <a:prstGeom prst="rect">
            <a:avLst/>
          </a:prstGeom>
          <a:solidFill>
            <a:srgbClr val="A3804C"/>
          </a:solidFill>
          <a:ln w="12700">
            <a:solidFill>
              <a:srgbClr val="A3804C"/>
            </a:solidFill>
            <a:prstDash val="solid"/>
          </a:ln>
        </p:spPr>
      </p:sp>
      <p:sp>
        <p:nvSpPr>
          <p:cNvPr id="18" name="Text 16"/>
          <p:cNvSpPr txBox="1"/>
          <p:nvPr/>
        </p:nvSpPr>
        <p:spPr>
          <a:xfrm>
            <a:off x="4764024"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DATA STORE</a:t>
            </a:r>
            <a:endParaRPr lang="en-US" sz="750" dirty="0"/>
          </a:p>
        </p:txBody>
      </p:sp>
      <p:sp>
        <p:nvSpPr>
          <p:cNvPr id="19" name="Text 17"/>
          <p:cNvSpPr txBox="1"/>
          <p:nvPr/>
        </p:nvSpPr>
        <p:spPr>
          <a:xfrm>
            <a:off x="4764024"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SQLite for records and memory</a:t>
            </a:r>
            <a:endParaRPr lang="en-US" sz="1250" dirty="0"/>
          </a:p>
        </p:txBody>
      </p:sp>
      <p:sp>
        <p:nvSpPr>
          <p:cNvPr id="20" name="Text 18"/>
          <p:cNvSpPr txBox="1"/>
          <p:nvPr/>
        </p:nvSpPr>
        <p:spPr>
          <a:xfrm>
            <a:off x="4764024"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vector store</a:t>
            </a:r>
            <a:endParaRPr lang="en-US" sz="800" dirty="0"/>
          </a:p>
        </p:txBody>
      </p:sp>
      <p:sp>
        <p:nvSpPr>
          <p:cNvPr id="21" name="Text 19"/>
          <p:cNvSpPr txBox="1"/>
          <p:nvPr/>
        </p:nvSpPr>
        <p:spPr>
          <a:xfrm>
            <a:off x="4764024"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rule must apply exactly, with who said it, auditable in one local file.</a:t>
            </a:r>
            <a:endParaRPr lang="en-US" sz="800" dirty="0"/>
          </a:p>
        </p:txBody>
      </p:sp>
      <p:sp>
        <p:nvSpPr>
          <p:cNvPr id="22" name="Shape 20"/>
          <p:cNvSpPr/>
          <p:nvPr/>
        </p:nvSpPr>
        <p:spPr>
          <a:xfrm>
            <a:off x="6665976" y="1188720"/>
            <a:ext cx="1929384" cy="1536192"/>
          </a:xfrm>
          <a:prstGeom prst="roundRect">
            <a:avLst>
              <a:gd name="adj" fmla="val 4762"/>
            </a:avLst>
          </a:prstGeom>
          <a:solidFill>
            <a:srgbClr val="F1E7D6"/>
          </a:solidFill>
          <a:ln w="9525">
            <a:solidFill>
              <a:srgbClr val="E2D3B9"/>
            </a:solidFill>
            <a:prstDash val="solid"/>
          </a:ln>
        </p:spPr>
      </p:sp>
      <p:sp>
        <p:nvSpPr>
          <p:cNvPr id="23" name="Shape 21"/>
          <p:cNvSpPr/>
          <p:nvPr/>
        </p:nvSpPr>
        <p:spPr>
          <a:xfrm>
            <a:off x="6665976" y="1188720"/>
            <a:ext cx="54864" cy="1536192"/>
          </a:xfrm>
          <a:prstGeom prst="rect">
            <a:avLst/>
          </a:prstGeom>
          <a:solidFill>
            <a:srgbClr val="A3804C"/>
          </a:solidFill>
          <a:ln w="12700">
            <a:solidFill>
              <a:srgbClr val="A3804C"/>
            </a:solidFill>
            <a:prstDash val="solid"/>
          </a:ln>
        </p:spPr>
      </p:sp>
      <p:sp>
        <p:nvSpPr>
          <p:cNvPr id="24" name="Text 22"/>
          <p:cNvSpPr txBox="1"/>
          <p:nvPr/>
        </p:nvSpPr>
        <p:spPr>
          <a:xfrm>
            <a:off x="6803136"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TOOLS</a:t>
            </a:r>
            <a:endParaRPr lang="en-US" sz="750" dirty="0"/>
          </a:p>
        </p:txBody>
      </p:sp>
      <p:sp>
        <p:nvSpPr>
          <p:cNvPr id="25" name="Text 23"/>
          <p:cNvSpPr txBox="1"/>
          <p:nvPr/>
        </p:nvSpPr>
        <p:spPr>
          <a:xfrm>
            <a:off x="6803136"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The course's eligible_workshops()</a:t>
            </a:r>
            <a:endParaRPr lang="en-US" sz="1250" dirty="0"/>
          </a:p>
        </p:txBody>
      </p:sp>
      <p:sp>
        <p:nvSpPr>
          <p:cNvPr id="26" name="Text 24"/>
          <p:cNvSpPr txBox="1"/>
          <p:nvPr/>
        </p:nvSpPr>
        <p:spPr>
          <a:xfrm>
            <a:off x="6803136"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our own eligibility rule</a:t>
            </a:r>
            <a:endParaRPr lang="en-US" sz="800" dirty="0"/>
          </a:p>
        </p:txBody>
      </p:sp>
      <p:sp>
        <p:nvSpPr>
          <p:cNvPr id="27" name="Text 25"/>
          <p:cNvSpPr txBox="1"/>
          <p:nvPr/>
        </p:nvSpPr>
        <p:spPr>
          <a:xfrm>
            <a:off x="6803136"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Our checks and the course simulator can never disagree.</a:t>
            </a:r>
            <a:endParaRPr lang="en-US" sz="800" dirty="0"/>
          </a:p>
        </p:txBody>
      </p:sp>
      <p:sp>
        <p:nvSpPr>
          <p:cNvPr id="28" name="Shape 26"/>
          <p:cNvSpPr/>
          <p:nvPr/>
        </p:nvSpPr>
        <p:spPr>
          <a:xfrm>
            <a:off x="548640" y="2834640"/>
            <a:ext cx="1929384" cy="1536192"/>
          </a:xfrm>
          <a:prstGeom prst="roundRect">
            <a:avLst>
              <a:gd name="adj" fmla="val 4762"/>
            </a:avLst>
          </a:prstGeom>
          <a:solidFill>
            <a:srgbClr val="FFFFFF"/>
          </a:solidFill>
          <a:ln w="9525">
            <a:solidFill>
              <a:srgbClr val="E4DDD0"/>
            </a:solidFill>
            <a:prstDash val="solid"/>
          </a:ln>
        </p:spPr>
      </p:sp>
      <p:sp>
        <p:nvSpPr>
          <p:cNvPr id="29" name="Text 27"/>
          <p:cNvSpPr txBox="1"/>
          <p:nvPr/>
        </p:nvSpPr>
        <p:spPr>
          <a:xfrm>
            <a:off x="685800"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ORCHESTRATION</a:t>
            </a:r>
            <a:endParaRPr lang="en-US" sz="750" dirty="0"/>
          </a:p>
        </p:txBody>
      </p:sp>
      <p:sp>
        <p:nvSpPr>
          <p:cNvPr id="30" name="Text 28"/>
          <p:cNvSpPr txBox="1"/>
          <p:nvPr/>
        </p:nvSpPr>
        <p:spPr>
          <a:xfrm>
            <a:off x="685800"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fixed workflow</a:t>
            </a:r>
            <a:endParaRPr lang="en-US" sz="1250" dirty="0"/>
          </a:p>
        </p:txBody>
      </p:sp>
      <p:sp>
        <p:nvSpPr>
          <p:cNvPr id="31" name="Text 29"/>
          <p:cNvSpPr txBox="1"/>
          <p:nvPr/>
        </p:nvSpPr>
        <p:spPr>
          <a:xfrm>
            <a:off x="685800"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ReAct agent loop</a:t>
            </a:r>
            <a:endParaRPr lang="en-US" sz="800" dirty="0"/>
          </a:p>
        </p:txBody>
      </p:sp>
      <p:sp>
        <p:nvSpPr>
          <p:cNvPr id="32" name="Text 30"/>
          <p:cNvSpPr txBox="1"/>
          <p:nvPr/>
        </p:nvSpPr>
        <p:spPr>
          <a:xfrm>
            <a:off x="685800"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800" dirty="0"/>
          </a:p>
        </p:txBody>
      </p:sp>
      <p:sp>
        <p:nvSpPr>
          <p:cNvPr id="33" name="Shape 31"/>
          <p:cNvSpPr/>
          <p:nvPr/>
        </p:nvSpPr>
        <p:spPr>
          <a:xfrm>
            <a:off x="2587752" y="2834640"/>
            <a:ext cx="1929384" cy="1536192"/>
          </a:xfrm>
          <a:prstGeom prst="roundRect">
            <a:avLst>
              <a:gd name="adj" fmla="val 4762"/>
            </a:avLst>
          </a:prstGeom>
          <a:solidFill>
            <a:srgbClr val="FFFFFF"/>
          </a:solidFill>
          <a:ln w="9525">
            <a:solidFill>
              <a:srgbClr val="E4DDD0"/>
            </a:solidFill>
            <a:prstDash val="solid"/>
          </a:ln>
        </p:spPr>
      </p:sp>
      <p:sp>
        <p:nvSpPr>
          <p:cNvPr id="34" name="Text 32"/>
          <p:cNvSpPr txBox="1"/>
          <p:nvPr/>
        </p:nvSpPr>
        <p:spPr>
          <a:xfrm>
            <a:off x="2724912"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REPLIES</a:t>
            </a:r>
            <a:endParaRPr lang="en-US" sz="750" dirty="0"/>
          </a:p>
        </p:txBody>
      </p:sp>
      <p:sp>
        <p:nvSpPr>
          <p:cNvPr id="35" name="Text 33"/>
          <p:cNvSpPr txBox="1"/>
          <p:nvPr/>
        </p:nvSpPr>
        <p:spPr>
          <a:xfrm>
            <a:off x="2724912"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Python templates</a:t>
            </a:r>
            <a:endParaRPr lang="en-US" sz="1250" dirty="0"/>
          </a:p>
        </p:txBody>
      </p:sp>
      <p:sp>
        <p:nvSpPr>
          <p:cNvPr id="36" name="Text 34"/>
          <p:cNvSpPr txBox="1"/>
          <p:nvPr/>
        </p:nvSpPr>
        <p:spPr>
          <a:xfrm>
            <a:off x="2724912"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model-written replies</a:t>
            </a:r>
            <a:endParaRPr lang="en-US" sz="800" dirty="0"/>
          </a:p>
        </p:txBody>
      </p:sp>
      <p:sp>
        <p:nvSpPr>
          <p:cNvPr id="37" name="Text 35"/>
          <p:cNvSpPr txBox="1"/>
          <p:nvPr/>
        </p:nvSpPr>
        <p:spPr>
          <a:xfrm>
            <a:off x="2724912"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800" dirty="0"/>
          </a:p>
        </p:txBody>
      </p:sp>
      <p:sp>
        <p:nvSpPr>
          <p:cNvPr id="38" name="Shape 36"/>
          <p:cNvSpPr/>
          <p:nvPr/>
        </p:nvSpPr>
        <p:spPr>
          <a:xfrm>
            <a:off x="4626864" y="2834640"/>
            <a:ext cx="1929384" cy="1536192"/>
          </a:xfrm>
          <a:prstGeom prst="roundRect">
            <a:avLst>
              <a:gd name="adj" fmla="val 4762"/>
            </a:avLst>
          </a:prstGeom>
          <a:solidFill>
            <a:srgbClr val="FFFFFF"/>
          </a:solidFill>
          <a:ln w="9525">
            <a:solidFill>
              <a:srgbClr val="E4DDD0"/>
            </a:solidFill>
            <a:prstDash val="solid"/>
          </a:ln>
        </p:spPr>
      </p:sp>
      <p:sp>
        <p:nvSpPr>
          <p:cNvPr id="39" name="Text 37"/>
          <p:cNvSpPr txBox="1"/>
          <p:nvPr/>
        </p:nvSpPr>
        <p:spPr>
          <a:xfrm>
            <a:off x="4764024"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SPEECH</a:t>
            </a:r>
            <a:endParaRPr lang="en-US" sz="750" dirty="0"/>
          </a:p>
        </p:txBody>
      </p:sp>
      <p:sp>
        <p:nvSpPr>
          <p:cNvPr id="40" name="Text 38"/>
          <p:cNvSpPr txBox="1"/>
          <p:nvPr/>
        </p:nvSpPr>
        <p:spPr>
          <a:xfrm>
            <a:off x="4764024"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Browser speech recognition</a:t>
            </a:r>
            <a:endParaRPr lang="en-US" sz="1250" dirty="0"/>
          </a:p>
        </p:txBody>
      </p:sp>
      <p:sp>
        <p:nvSpPr>
          <p:cNvPr id="41" name="Text 39"/>
          <p:cNvSpPr txBox="1"/>
          <p:nvPr/>
        </p:nvSpPr>
        <p:spPr>
          <a:xfrm>
            <a:off x="4764024"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server speech-to-text</a:t>
            </a:r>
            <a:endParaRPr lang="en-US" sz="800" dirty="0"/>
          </a:p>
        </p:txBody>
      </p:sp>
      <p:sp>
        <p:nvSpPr>
          <p:cNvPr id="42" name="Text 40"/>
          <p:cNvSpPr txBox="1"/>
          <p:nvPr/>
        </p:nvSpPr>
        <p:spPr>
          <a:xfrm>
            <a:off x="4764024"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800" dirty="0"/>
          </a:p>
        </p:txBody>
      </p:sp>
      <p:sp>
        <p:nvSpPr>
          <p:cNvPr id="43" name="Shape 41"/>
          <p:cNvSpPr/>
          <p:nvPr/>
        </p:nvSpPr>
        <p:spPr>
          <a:xfrm>
            <a:off x="6665976" y="2834640"/>
            <a:ext cx="1929384" cy="1536192"/>
          </a:xfrm>
          <a:prstGeom prst="roundRect">
            <a:avLst>
              <a:gd name="adj" fmla="val 4762"/>
            </a:avLst>
          </a:prstGeom>
          <a:solidFill>
            <a:srgbClr val="FFFFFF"/>
          </a:solidFill>
          <a:ln w="9525">
            <a:solidFill>
              <a:srgbClr val="E4DDD0"/>
            </a:solidFill>
            <a:prstDash val="solid"/>
          </a:ln>
        </p:spPr>
      </p:sp>
      <p:sp>
        <p:nvSpPr>
          <p:cNvPr id="44" name="Text 42"/>
          <p:cNvSpPr txBox="1"/>
          <p:nvPr/>
        </p:nvSpPr>
        <p:spPr>
          <a:xfrm>
            <a:off x="6803136"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COMMIT</a:t>
            </a:r>
            <a:endParaRPr lang="en-US" sz="750" dirty="0"/>
          </a:p>
        </p:txBody>
      </p:sp>
      <p:sp>
        <p:nvSpPr>
          <p:cNvPr id="45" name="Text 43"/>
          <p:cNvSpPr txBox="1"/>
          <p:nvPr/>
        </p:nvSpPr>
        <p:spPr>
          <a:xfrm>
            <a:off x="6803136"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Slide to confirm</a:t>
            </a:r>
            <a:endParaRPr lang="en-US" sz="1250" dirty="0"/>
          </a:p>
        </p:txBody>
      </p:sp>
      <p:sp>
        <p:nvSpPr>
          <p:cNvPr id="46" name="Text 44"/>
          <p:cNvSpPr txBox="1"/>
          <p:nvPr/>
        </p:nvSpPr>
        <p:spPr>
          <a:xfrm>
            <a:off x="6803136"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booking on a spoken "yes"</a:t>
            </a:r>
            <a:endParaRPr lang="en-US" sz="800" dirty="0"/>
          </a:p>
        </p:txBody>
      </p:sp>
      <p:sp>
        <p:nvSpPr>
          <p:cNvPr id="47" name="Text 45"/>
          <p:cNvSpPr txBox="1"/>
          <p:nvPr/>
        </p:nvSpPr>
        <p:spPr>
          <a:xfrm>
            <a:off x="6803136"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misheard "yes" on a noisy floor cannot send work out.</a:t>
            </a:r>
            <a:endParaRPr lang="en-US" sz="800" dirty="0"/>
          </a:p>
        </p:txBody>
      </p:sp>
      <p:sp>
        <p:nvSpPr>
          <p:cNvPr id="48" name="Text 46"/>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Highlighted: the four choices the brief asks us to justify.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1737360" cy="914400"/>
          </a:xfrm>
          <a:prstGeom prst="rect">
            <a:avLst/>
          </a:prstGeom>
          <a:noFill/>
          <a:ln/>
        </p:spPr>
        <p:txBody>
          <a:bodyPr wrap="square" lIns="0" tIns="0" rIns="0" bIns="0" rtlCol="0" anchor="ctr"/>
          <a:lstStyle/>
          <a:p>
            <a:pPr indent="0" marL="0">
              <a:buNone/>
            </a:pPr>
            <a:r>
              <a:rPr lang="en-US" sz="5600" dirty="0">
                <a:solidFill>
                  <a:srgbClr val="2F5D46"/>
                </a:solidFill>
                <a:latin typeface="Georgia" pitchFamily="34" charset="0"/>
                <a:ea typeface="Georgia" pitchFamily="34" charset="-122"/>
                <a:cs typeface="Georgia" pitchFamily="34" charset="-120"/>
              </a:rPr>
              <a:t>7</a:t>
            </a:r>
            <a:r>
              <a:rPr lang="en-US" sz="5600" dirty="0">
                <a:solidFill>
                  <a:srgbClr val="1D1B18"/>
                </a:solidFill>
                <a:latin typeface="Georgia" pitchFamily="34" charset="0"/>
                <a:ea typeface="Georgia" pitchFamily="34" charset="-122"/>
                <a:cs typeface="Georgia" pitchFamily="34" charset="-120"/>
              </a:rPr>
              <a:t>/11</a:t>
            </a:r>
            <a:endParaRPr lang="en-US" sz="5600" dirty="0"/>
          </a:p>
        </p:txBody>
      </p:sp>
      <p:sp>
        <p:nvSpPr>
          <p:cNvPr id="5" name="Text 3"/>
          <p:cNvSpPr txBox="1"/>
          <p:nvPr/>
        </p:nvSpPr>
        <p:spPr>
          <a:xfrm>
            <a:off x="548640" y="2194560"/>
            <a:ext cx="1737360" cy="256032"/>
          </a:xfrm>
          <a:prstGeom prst="rect">
            <a:avLst/>
          </a:prstGeom>
          <a:noFill/>
          <a:ln/>
        </p:spPr>
        <p:txBody>
          <a:bodyPr wrap="square" lIns="0" tIns="0" rIns="0" bIns="0" rtlCol="0" anchor="t"/>
          <a:lstStyle/>
          <a:p>
            <a:pPr indent="0" marL="0">
              <a:buNone/>
            </a:pPr>
            <a:r>
              <a:rPr lang="en-US" sz="1050" b="1" dirty="0">
                <a:solidFill>
                  <a:srgbClr val="1D1B18"/>
                </a:solidFill>
                <a:latin typeface="Arial" pitchFamily="34" charset="0"/>
                <a:ea typeface="Arial" pitchFamily="34" charset="-122"/>
                <a:cs typeface="Arial" pitchFamily="34" charset="-120"/>
              </a:rPr>
              <a:t>features done this sprint</a:t>
            </a:r>
            <a:endParaRPr lang="en-US" sz="1050" dirty="0"/>
          </a:p>
        </p:txBody>
      </p:sp>
      <p:sp>
        <p:nvSpPr>
          <p:cNvPr id="6" name="Text 4"/>
          <p:cNvSpPr txBox="1"/>
          <p:nvPr/>
        </p:nvSpPr>
        <p:spPr>
          <a:xfrm>
            <a:off x="548640" y="2514600"/>
            <a:ext cx="160020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Each card names its owner. Code and pull requests are linked below.</a:t>
            </a:r>
            <a:endParaRPr lang="en-US" sz="850" dirty="0"/>
          </a:p>
        </p:txBody>
      </p:sp>
      <p:sp>
        <p:nvSpPr>
          <p:cNvPr id="7" name="Shape 5"/>
          <p:cNvSpPr/>
          <p:nvPr/>
        </p:nvSpPr>
        <p:spPr>
          <a:xfrm>
            <a:off x="2377440" y="1188720"/>
            <a:ext cx="3108960" cy="256032"/>
          </a:xfrm>
          <a:prstGeom prst="roundRect">
            <a:avLst>
              <a:gd name="adj" fmla="val 50000"/>
            </a:avLst>
          </a:prstGeom>
          <a:solidFill>
            <a:srgbClr val="2F5D46"/>
          </a:solidFill>
          <a:ln w="12700">
            <a:solidFill>
              <a:srgbClr val="2F5D46"/>
            </a:solidFill>
            <a:prstDash val="solid"/>
          </a:ln>
        </p:spPr>
      </p:sp>
      <p:sp>
        <p:nvSpPr>
          <p:cNvPr id="8" name="Text 6"/>
          <p:cNvSpPr txBox="1"/>
          <p:nvPr/>
        </p:nvSpPr>
        <p:spPr>
          <a:xfrm>
            <a:off x="2377440" y="1188720"/>
            <a:ext cx="310896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DONE  7</a:t>
            </a:r>
            <a:endParaRPr lang="en-US" sz="800" dirty="0"/>
          </a:p>
        </p:txBody>
      </p:sp>
      <p:sp>
        <p:nvSpPr>
          <p:cNvPr id="9" name="Shape 7"/>
          <p:cNvSpPr/>
          <p:nvPr/>
        </p:nvSpPr>
        <p:spPr>
          <a:xfrm>
            <a:off x="2377440" y="1517904"/>
            <a:ext cx="3108960" cy="384048"/>
          </a:xfrm>
          <a:prstGeom prst="roundRect">
            <a:avLst>
              <a:gd name="adj" fmla="val 19048"/>
            </a:avLst>
          </a:prstGeom>
          <a:solidFill>
            <a:srgbClr val="FFFFFF"/>
          </a:solidFill>
          <a:ln w="9525">
            <a:solidFill>
              <a:srgbClr val="E4DDD0"/>
            </a:solidFill>
            <a:prstDash val="solid"/>
          </a:ln>
        </p:spPr>
      </p:sp>
      <p:sp>
        <p:nvSpPr>
          <p:cNvPr id="10" name="Shape 8"/>
          <p:cNvSpPr/>
          <p:nvPr/>
        </p:nvSpPr>
        <p:spPr>
          <a:xfrm>
            <a:off x="2377440" y="1517904"/>
            <a:ext cx="54864" cy="384048"/>
          </a:xfrm>
          <a:prstGeom prst="rect">
            <a:avLst/>
          </a:prstGeom>
          <a:solidFill>
            <a:srgbClr val="2F5D46"/>
          </a:solidFill>
          <a:ln w="12700">
            <a:solidFill>
              <a:srgbClr val="2F5D46"/>
            </a:solidFill>
            <a:prstDash val="solid"/>
          </a:ln>
        </p:spPr>
      </p:sp>
      <p:sp>
        <p:nvSpPr>
          <p:cNvPr id="11" name="Text 9"/>
          <p:cNvSpPr txBox="1"/>
          <p:nvPr/>
        </p:nvSpPr>
        <p:spPr>
          <a:xfrm>
            <a:off x="2505456" y="155448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Voice assistant: speech in and out, slide to book</a:t>
            </a:r>
            <a:endParaRPr lang="en-US" sz="800" dirty="0"/>
          </a:p>
        </p:txBody>
      </p:sp>
      <p:sp>
        <p:nvSpPr>
          <p:cNvPr id="12" name="Text 10"/>
          <p:cNvSpPr txBox="1"/>
          <p:nvPr/>
        </p:nvSpPr>
        <p:spPr>
          <a:xfrm>
            <a:off x="2505456" y="174650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3" name="Shape 11"/>
          <p:cNvSpPr/>
          <p:nvPr/>
        </p:nvSpPr>
        <p:spPr>
          <a:xfrm>
            <a:off x="2377440" y="1938528"/>
            <a:ext cx="3108960" cy="384048"/>
          </a:xfrm>
          <a:prstGeom prst="roundRect">
            <a:avLst>
              <a:gd name="adj" fmla="val 19048"/>
            </a:avLst>
          </a:prstGeom>
          <a:solidFill>
            <a:srgbClr val="FFFFFF"/>
          </a:solidFill>
          <a:ln w="9525">
            <a:solidFill>
              <a:srgbClr val="E4DDD0"/>
            </a:solidFill>
            <a:prstDash val="solid"/>
          </a:ln>
        </p:spPr>
      </p:sp>
      <p:sp>
        <p:nvSpPr>
          <p:cNvPr id="14" name="Shape 12"/>
          <p:cNvSpPr/>
          <p:nvPr/>
        </p:nvSpPr>
        <p:spPr>
          <a:xfrm>
            <a:off x="2377440" y="1938528"/>
            <a:ext cx="54864" cy="384048"/>
          </a:xfrm>
          <a:prstGeom prst="rect">
            <a:avLst/>
          </a:prstGeom>
          <a:solidFill>
            <a:srgbClr val="2F5D46"/>
          </a:solidFill>
          <a:ln w="12700">
            <a:solidFill>
              <a:srgbClr val="2F5D46"/>
            </a:solidFill>
            <a:prstDash val="solid"/>
          </a:ln>
        </p:spPr>
      </p:sp>
      <p:sp>
        <p:nvSpPr>
          <p:cNvPr id="15" name="Text 13"/>
          <p:cNvSpPr txBox="1"/>
          <p:nvPr/>
        </p:nvSpPr>
        <p:spPr>
          <a:xfrm>
            <a:off x="2505456" y="197510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Long-term memory of confirmed rules, log, profile</a:t>
            </a:r>
            <a:endParaRPr lang="en-US" sz="800" dirty="0"/>
          </a:p>
        </p:txBody>
      </p:sp>
      <p:sp>
        <p:nvSpPr>
          <p:cNvPr id="16" name="Text 14"/>
          <p:cNvSpPr txBox="1"/>
          <p:nvPr/>
        </p:nvSpPr>
        <p:spPr>
          <a:xfrm>
            <a:off x="2505456" y="216712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7" name="Shape 15"/>
          <p:cNvSpPr/>
          <p:nvPr/>
        </p:nvSpPr>
        <p:spPr>
          <a:xfrm>
            <a:off x="2377440" y="2359152"/>
            <a:ext cx="3108960" cy="384048"/>
          </a:xfrm>
          <a:prstGeom prst="roundRect">
            <a:avLst>
              <a:gd name="adj" fmla="val 19048"/>
            </a:avLst>
          </a:prstGeom>
          <a:solidFill>
            <a:srgbClr val="FFFFFF"/>
          </a:solidFill>
          <a:ln w="9525">
            <a:solidFill>
              <a:srgbClr val="E4DDD0"/>
            </a:solidFill>
            <a:prstDash val="solid"/>
          </a:ln>
        </p:spPr>
      </p:sp>
      <p:sp>
        <p:nvSpPr>
          <p:cNvPr id="18" name="Shape 16"/>
          <p:cNvSpPr/>
          <p:nvPr/>
        </p:nvSpPr>
        <p:spPr>
          <a:xfrm>
            <a:off x="2377440" y="2359152"/>
            <a:ext cx="54864" cy="384048"/>
          </a:xfrm>
          <a:prstGeom prst="rect">
            <a:avLst/>
          </a:prstGeom>
          <a:solidFill>
            <a:srgbClr val="2F5D46"/>
          </a:solidFill>
          <a:ln w="12700">
            <a:solidFill>
              <a:srgbClr val="2F5D46"/>
            </a:solidFill>
            <a:prstDash val="solid"/>
          </a:ln>
        </p:spPr>
      </p:sp>
      <p:sp>
        <p:nvSpPr>
          <p:cNvPr id="19" name="Text 17"/>
          <p:cNvSpPr txBox="1"/>
          <p:nvPr/>
        </p:nvSpPr>
        <p:spPr>
          <a:xfrm>
            <a:off x="2505456" y="2395728"/>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Four-objective scorer, presets, objective lab</a:t>
            </a:r>
            <a:endParaRPr lang="en-US" sz="800" dirty="0"/>
          </a:p>
        </p:txBody>
      </p:sp>
      <p:sp>
        <p:nvSpPr>
          <p:cNvPr id="20" name="Text 18"/>
          <p:cNvSpPr txBox="1"/>
          <p:nvPr/>
        </p:nvSpPr>
        <p:spPr>
          <a:xfrm>
            <a:off x="2505456" y="2587752"/>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1" name="Shape 19"/>
          <p:cNvSpPr/>
          <p:nvPr/>
        </p:nvSpPr>
        <p:spPr>
          <a:xfrm>
            <a:off x="2377440" y="2779776"/>
            <a:ext cx="3108960" cy="384048"/>
          </a:xfrm>
          <a:prstGeom prst="roundRect">
            <a:avLst>
              <a:gd name="adj" fmla="val 19048"/>
            </a:avLst>
          </a:prstGeom>
          <a:solidFill>
            <a:srgbClr val="FFFFFF"/>
          </a:solidFill>
          <a:ln w="9525">
            <a:solidFill>
              <a:srgbClr val="E4DDD0"/>
            </a:solidFill>
            <a:prstDash val="solid"/>
          </a:ln>
        </p:spPr>
      </p:sp>
      <p:sp>
        <p:nvSpPr>
          <p:cNvPr id="22" name="Shape 20"/>
          <p:cNvSpPr/>
          <p:nvPr/>
        </p:nvSpPr>
        <p:spPr>
          <a:xfrm>
            <a:off x="2377440" y="2779776"/>
            <a:ext cx="54864" cy="384048"/>
          </a:xfrm>
          <a:prstGeom prst="rect">
            <a:avLst/>
          </a:prstGeom>
          <a:solidFill>
            <a:srgbClr val="2F5D46"/>
          </a:solidFill>
          <a:ln w="12700">
            <a:solidFill>
              <a:srgbClr val="2F5D46"/>
            </a:solidFill>
            <a:prstDash val="solid"/>
          </a:ln>
        </p:spPr>
      </p:sp>
      <p:sp>
        <p:nvSpPr>
          <p:cNvPr id="23" name="Text 21"/>
          <p:cNvSpPr txBox="1"/>
          <p:nvPr/>
        </p:nvSpPr>
        <p:spPr>
          <a:xfrm>
            <a:off x="2505456" y="2816352"/>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Capacity questions and workshop checks from chat</a:t>
            </a:r>
            <a:endParaRPr lang="en-US" sz="800" dirty="0"/>
          </a:p>
        </p:txBody>
      </p:sp>
      <p:sp>
        <p:nvSpPr>
          <p:cNvPr id="24" name="Text 22"/>
          <p:cNvSpPr txBox="1"/>
          <p:nvPr/>
        </p:nvSpPr>
        <p:spPr>
          <a:xfrm>
            <a:off x="2505456" y="3008376"/>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5" name="Shape 23"/>
          <p:cNvSpPr/>
          <p:nvPr/>
        </p:nvSpPr>
        <p:spPr>
          <a:xfrm>
            <a:off x="2377440" y="3200400"/>
            <a:ext cx="3108960" cy="384048"/>
          </a:xfrm>
          <a:prstGeom prst="roundRect">
            <a:avLst>
              <a:gd name="adj" fmla="val 19048"/>
            </a:avLst>
          </a:prstGeom>
          <a:solidFill>
            <a:srgbClr val="FFFFFF"/>
          </a:solidFill>
          <a:ln w="9525">
            <a:solidFill>
              <a:srgbClr val="E4DDD0"/>
            </a:solidFill>
            <a:prstDash val="solid"/>
          </a:ln>
        </p:spPr>
      </p:sp>
      <p:sp>
        <p:nvSpPr>
          <p:cNvPr id="26" name="Shape 24"/>
          <p:cNvSpPr/>
          <p:nvPr/>
        </p:nvSpPr>
        <p:spPr>
          <a:xfrm>
            <a:off x="2377440" y="3200400"/>
            <a:ext cx="54864" cy="384048"/>
          </a:xfrm>
          <a:prstGeom prst="rect">
            <a:avLst/>
          </a:prstGeom>
          <a:solidFill>
            <a:srgbClr val="2F5D46"/>
          </a:solidFill>
          <a:ln w="12700">
            <a:solidFill>
              <a:srgbClr val="2F5D46"/>
            </a:solidFill>
            <a:prstDash val="solid"/>
          </a:ln>
        </p:spPr>
      </p:sp>
      <p:sp>
        <p:nvSpPr>
          <p:cNvPr id="27" name="Text 25"/>
          <p:cNvSpPr txBox="1"/>
          <p:nvPr/>
        </p:nvSpPr>
        <p:spPr>
          <a:xfrm>
            <a:off x="2505456" y="3236976"/>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Chat-first desk redesign</a:t>
            </a:r>
            <a:endParaRPr lang="en-US" sz="800" dirty="0"/>
          </a:p>
        </p:txBody>
      </p:sp>
      <p:sp>
        <p:nvSpPr>
          <p:cNvPr id="28" name="Text 26"/>
          <p:cNvSpPr txBox="1"/>
          <p:nvPr/>
        </p:nvSpPr>
        <p:spPr>
          <a:xfrm>
            <a:off x="2505456" y="3429000"/>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Duong Thanh Nhan</a:t>
            </a:r>
            <a:endParaRPr lang="en-US" sz="700" dirty="0"/>
          </a:p>
        </p:txBody>
      </p:sp>
      <p:sp>
        <p:nvSpPr>
          <p:cNvPr id="29" name="Shape 27"/>
          <p:cNvSpPr/>
          <p:nvPr/>
        </p:nvSpPr>
        <p:spPr>
          <a:xfrm>
            <a:off x="2377440" y="3621024"/>
            <a:ext cx="3108960" cy="384048"/>
          </a:xfrm>
          <a:prstGeom prst="roundRect">
            <a:avLst>
              <a:gd name="adj" fmla="val 19048"/>
            </a:avLst>
          </a:prstGeom>
          <a:solidFill>
            <a:srgbClr val="FFFFFF"/>
          </a:solidFill>
          <a:ln w="9525">
            <a:solidFill>
              <a:srgbClr val="E4DDD0"/>
            </a:solidFill>
            <a:prstDash val="solid"/>
          </a:ln>
        </p:spPr>
      </p:sp>
      <p:sp>
        <p:nvSpPr>
          <p:cNvPr id="30" name="Shape 28"/>
          <p:cNvSpPr/>
          <p:nvPr/>
        </p:nvSpPr>
        <p:spPr>
          <a:xfrm>
            <a:off x="2377440" y="3621024"/>
            <a:ext cx="54864" cy="384048"/>
          </a:xfrm>
          <a:prstGeom prst="rect">
            <a:avLst/>
          </a:prstGeom>
          <a:solidFill>
            <a:srgbClr val="2F5D46"/>
          </a:solidFill>
          <a:ln w="12700">
            <a:solidFill>
              <a:srgbClr val="2F5D46"/>
            </a:solidFill>
            <a:prstDash val="solid"/>
          </a:ln>
        </p:spPr>
      </p:sp>
      <p:sp>
        <p:nvSpPr>
          <p:cNvPr id="31" name="Text 29"/>
          <p:cNvSpPr txBox="1"/>
          <p:nvPr/>
        </p:nvSpPr>
        <p:spPr>
          <a:xfrm>
            <a:off x="2505456" y="365760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AWS deployment behind HTTPS (demo site)</a:t>
            </a:r>
            <a:endParaRPr lang="en-US" sz="800" dirty="0"/>
          </a:p>
        </p:txBody>
      </p:sp>
      <p:sp>
        <p:nvSpPr>
          <p:cNvPr id="32" name="Text 30"/>
          <p:cNvSpPr txBox="1"/>
          <p:nvPr/>
        </p:nvSpPr>
        <p:spPr>
          <a:xfrm>
            <a:off x="2505456" y="384962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33" name="Shape 31"/>
          <p:cNvSpPr/>
          <p:nvPr/>
        </p:nvSpPr>
        <p:spPr>
          <a:xfrm>
            <a:off x="2377440" y="4041648"/>
            <a:ext cx="3108960" cy="384048"/>
          </a:xfrm>
          <a:prstGeom prst="roundRect">
            <a:avLst>
              <a:gd name="adj" fmla="val 19048"/>
            </a:avLst>
          </a:prstGeom>
          <a:solidFill>
            <a:srgbClr val="FFFFFF"/>
          </a:solidFill>
          <a:ln w="9525">
            <a:solidFill>
              <a:srgbClr val="E4DDD0"/>
            </a:solidFill>
            <a:prstDash val="solid"/>
          </a:ln>
        </p:spPr>
      </p:sp>
      <p:sp>
        <p:nvSpPr>
          <p:cNvPr id="34" name="Shape 32"/>
          <p:cNvSpPr/>
          <p:nvPr/>
        </p:nvSpPr>
        <p:spPr>
          <a:xfrm>
            <a:off x="2377440" y="4041648"/>
            <a:ext cx="54864" cy="384048"/>
          </a:xfrm>
          <a:prstGeom prst="rect">
            <a:avLst/>
          </a:prstGeom>
          <a:solidFill>
            <a:srgbClr val="2F5D46"/>
          </a:solidFill>
          <a:ln w="12700">
            <a:solidFill>
              <a:srgbClr val="2F5D46"/>
            </a:solidFill>
            <a:prstDash val="solid"/>
          </a:ln>
        </p:spPr>
      </p:sp>
      <p:sp>
        <p:nvSpPr>
          <p:cNvPr id="35" name="Text 33"/>
          <p:cNvSpPr txBox="1"/>
          <p:nvPr/>
        </p:nvSpPr>
        <p:spPr>
          <a:xfrm>
            <a:off x="2505456" y="407822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Evaluation sets: 205 requests, 140 train / 65 test</a:t>
            </a:r>
            <a:endParaRPr lang="en-US" sz="800" dirty="0"/>
          </a:p>
        </p:txBody>
      </p:sp>
      <p:sp>
        <p:nvSpPr>
          <p:cNvPr id="36" name="Text 34"/>
          <p:cNvSpPr txBox="1"/>
          <p:nvPr/>
        </p:nvSpPr>
        <p:spPr>
          <a:xfrm>
            <a:off x="2505456" y="427024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37" name="Shape 35"/>
          <p:cNvSpPr/>
          <p:nvPr/>
        </p:nvSpPr>
        <p:spPr>
          <a:xfrm>
            <a:off x="5577840" y="1188720"/>
            <a:ext cx="1463040" cy="256032"/>
          </a:xfrm>
          <a:prstGeom prst="roundRect">
            <a:avLst>
              <a:gd name="adj" fmla="val 50000"/>
            </a:avLst>
          </a:prstGeom>
          <a:solidFill>
            <a:srgbClr val="9A6A12"/>
          </a:solidFill>
          <a:ln w="12700">
            <a:solidFill>
              <a:srgbClr val="9A6A12"/>
            </a:solidFill>
            <a:prstDash val="solid"/>
          </a:ln>
        </p:spPr>
      </p:sp>
      <p:sp>
        <p:nvSpPr>
          <p:cNvPr id="38" name="Text 36"/>
          <p:cNvSpPr txBox="1"/>
          <p:nvPr/>
        </p:nvSpPr>
        <p:spPr>
          <a:xfrm>
            <a:off x="557784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IN PROGRESS  2</a:t>
            </a:r>
            <a:endParaRPr lang="en-US" sz="800" dirty="0"/>
          </a:p>
        </p:txBody>
      </p:sp>
      <p:sp>
        <p:nvSpPr>
          <p:cNvPr id="39" name="Shape 37"/>
          <p:cNvSpPr/>
          <p:nvPr/>
        </p:nvSpPr>
        <p:spPr>
          <a:xfrm>
            <a:off x="5577840" y="1517904"/>
            <a:ext cx="1463040" cy="658368"/>
          </a:xfrm>
          <a:prstGeom prst="roundRect">
            <a:avLst>
              <a:gd name="adj" fmla="val 11111"/>
            </a:avLst>
          </a:prstGeom>
          <a:solidFill>
            <a:srgbClr val="FFFFFF"/>
          </a:solidFill>
          <a:ln w="9525">
            <a:solidFill>
              <a:srgbClr val="E4DDD0"/>
            </a:solidFill>
            <a:prstDash val="solid"/>
          </a:ln>
        </p:spPr>
      </p:sp>
      <p:sp>
        <p:nvSpPr>
          <p:cNvPr id="40" name="Shape 38"/>
          <p:cNvSpPr/>
          <p:nvPr/>
        </p:nvSpPr>
        <p:spPr>
          <a:xfrm>
            <a:off x="5577840" y="1517904"/>
            <a:ext cx="54864" cy="658368"/>
          </a:xfrm>
          <a:prstGeom prst="rect">
            <a:avLst/>
          </a:prstGeom>
          <a:solidFill>
            <a:srgbClr val="9A6A12"/>
          </a:solidFill>
          <a:ln w="12700">
            <a:solidFill>
              <a:srgbClr val="9A6A12"/>
            </a:solidFill>
            <a:prstDash val="solid"/>
          </a:ln>
        </p:spPr>
      </p:sp>
      <p:sp>
        <p:nvSpPr>
          <p:cNvPr id="41" name="Text 39"/>
          <p:cNvSpPr txBox="1"/>
          <p:nvPr/>
        </p:nvSpPr>
        <p:spPr>
          <a:xfrm>
            <a:off x="570585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Clarification reliability fixes and 247-assertion benchmark</a:t>
            </a:r>
            <a:endParaRPr lang="en-US" sz="800" dirty="0"/>
          </a:p>
        </p:txBody>
      </p:sp>
      <p:sp>
        <p:nvSpPr>
          <p:cNvPr id="42" name="Text 40"/>
          <p:cNvSpPr txBox="1"/>
          <p:nvPr/>
        </p:nvSpPr>
        <p:spPr>
          <a:xfrm>
            <a:off x="570585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43" name="Shape 41"/>
          <p:cNvSpPr/>
          <p:nvPr/>
        </p:nvSpPr>
        <p:spPr>
          <a:xfrm>
            <a:off x="5577840" y="2212848"/>
            <a:ext cx="1463040" cy="658368"/>
          </a:xfrm>
          <a:prstGeom prst="roundRect">
            <a:avLst>
              <a:gd name="adj" fmla="val 11111"/>
            </a:avLst>
          </a:prstGeom>
          <a:solidFill>
            <a:srgbClr val="FFFFFF"/>
          </a:solidFill>
          <a:ln w="9525">
            <a:solidFill>
              <a:srgbClr val="E4DDD0"/>
            </a:solidFill>
            <a:prstDash val="solid"/>
          </a:ln>
        </p:spPr>
      </p:sp>
      <p:sp>
        <p:nvSpPr>
          <p:cNvPr id="44" name="Shape 42"/>
          <p:cNvSpPr/>
          <p:nvPr/>
        </p:nvSpPr>
        <p:spPr>
          <a:xfrm>
            <a:off x="5577840" y="2212848"/>
            <a:ext cx="54864" cy="658368"/>
          </a:xfrm>
          <a:prstGeom prst="rect">
            <a:avLst/>
          </a:prstGeom>
          <a:solidFill>
            <a:srgbClr val="9A6A12"/>
          </a:solidFill>
          <a:ln w="12700">
            <a:solidFill>
              <a:srgbClr val="9A6A12"/>
            </a:solidFill>
            <a:prstDash val="solid"/>
          </a:ln>
        </p:spPr>
      </p:sp>
      <p:sp>
        <p:nvSpPr>
          <p:cNvPr id="45" name="Text 43"/>
          <p:cNvSpPr txBox="1"/>
          <p:nvPr/>
        </p:nvSpPr>
        <p:spPr>
          <a:xfrm>
            <a:off x="570585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Independent labels for the 30 inbox requests</a:t>
            </a:r>
            <a:endParaRPr lang="en-US" sz="800" dirty="0"/>
          </a:p>
        </p:txBody>
      </p:sp>
      <p:sp>
        <p:nvSpPr>
          <p:cNvPr id="46" name="Text 44"/>
          <p:cNvSpPr txBox="1"/>
          <p:nvPr/>
        </p:nvSpPr>
        <p:spPr>
          <a:xfrm>
            <a:off x="570585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47" name="Shape 45"/>
          <p:cNvSpPr/>
          <p:nvPr/>
        </p:nvSpPr>
        <p:spPr>
          <a:xfrm>
            <a:off x="7132320" y="1188720"/>
            <a:ext cx="1463040" cy="256032"/>
          </a:xfrm>
          <a:prstGeom prst="roundRect">
            <a:avLst>
              <a:gd name="adj" fmla="val 50000"/>
            </a:avLst>
          </a:prstGeom>
          <a:solidFill>
            <a:srgbClr val="6B665D"/>
          </a:solidFill>
          <a:ln w="12700">
            <a:solidFill>
              <a:srgbClr val="6B665D"/>
            </a:solidFill>
            <a:prstDash val="solid"/>
          </a:ln>
        </p:spPr>
      </p:sp>
      <p:sp>
        <p:nvSpPr>
          <p:cNvPr id="48" name="Text 46"/>
          <p:cNvSpPr txBox="1"/>
          <p:nvPr/>
        </p:nvSpPr>
        <p:spPr>
          <a:xfrm>
            <a:off x="713232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PLANNED  2</a:t>
            </a:r>
            <a:endParaRPr lang="en-US" sz="800" dirty="0"/>
          </a:p>
        </p:txBody>
      </p:sp>
      <p:sp>
        <p:nvSpPr>
          <p:cNvPr id="49" name="Shape 47"/>
          <p:cNvSpPr/>
          <p:nvPr/>
        </p:nvSpPr>
        <p:spPr>
          <a:xfrm>
            <a:off x="7132320" y="1517904"/>
            <a:ext cx="1463040" cy="658368"/>
          </a:xfrm>
          <a:prstGeom prst="roundRect">
            <a:avLst>
              <a:gd name="adj" fmla="val 11111"/>
            </a:avLst>
          </a:prstGeom>
          <a:solidFill>
            <a:srgbClr val="FFFFFF"/>
          </a:solidFill>
          <a:ln w="9525">
            <a:solidFill>
              <a:srgbClr val="E4DDD0"/>
            </a:solidFill>
            <a:prstDash val="solid"/>
          </a:ln>
        </p:spPr>
      </p:sp>
      <p:sp>
        <p:nvSpPr>
          <p:cNvPr id="50" name="Shape 48"/>
          <p:cNvSpPr/>
          <p:nvPr/>
        </p:nvSpPr>
        <p:spPr>
          <a:xfrm>
            <a:off x="7132320" y="1517904"/>
            <a:ext cx="54864" cy="658368"/>
          </a:xfrm>
          <a:prstGeom prst="rect">
            <a:avLst/>
          </a:prstGeom>
          <a:solidFill>
            <a:srgbClr val="6B665D"/>
          </a:solidFill>
          <a:ln w="12700">
            <a:solidFill>
              <a:srgbClr val="6B665D"/>
            </a:solidFill>
            <a:prstDash val="solid"/>
          </a:ln>
        </p:spPr>
      </p:sp>
      <p:sp>
        <p:nvSpPr>
          <p:cNvPr id="51" name="Text 49"/>
          <p:cNvSpPr txBox="1"/>
          <p:nvPr/>
        </p:nvSpPr>
        <p:spPr>
          <a:xfrm>
            <a:off x="726033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Re-run the 65 test requests on the current intake (v3)</a:t>
            </a:r>
            <a:endParaRPr lang="en-US" sz="800" dirty="0"/>
          </a:p>
        </p:txBody>
      </p:sp>
      <p:sp>
        <p:nvSpPr>
          <p:cNvPr id="52" name="Text 50"/>
          <p:cNvSpPr txBox="1"/>
          <p:nvPr/>
        </p:nvSpPr>
        <p:spPr>
          <a:xfrm>
            <a:off x="726033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53" name="Shape 51"/>
          <p:cNvSpPr/>
          <p:nvPr/>
        </p:nvSpPr>
        <p:spPr>
          <a:xfrm>
            <a:off x="7132320" y="2212848"/>
            <a:ext cx="1463040" cy="658368"/>
          </a:xfrm>
          <a:prstGeom prst="roundRect">
            <a:avLst>
              <a:gd name="adj" fmla="val 11111"/>
            </a:avLst>
          </a:prstGeom>
          <a:solidFill>
            <a:srgbClr val="FFFFFF"/>
          </a:solidFill>
          <a:ln w="9525">
            <a:solidFill>
              <a:srgbClr val="E4DDD0"/>
            </a:solidFill>
            <a:prstDash val="solid"/>
          </a:ln>
        </p:spPr>
      </p:sp>
      <p:sp>
        <p:nvSpPr>
          <p:cNvPr id="54" name="Shape 52"/>
          <p:cNvSpPr/>
          <p:nvPr/>
        </p:nvSpPr>
        <p:spPr>
          <a:xfrm>
            <a:off x="7132320" y="2212848"/>
            <a:ext cx="54864" cy="658368"/>
          </a:xfrm>
          <a:prstGeom prst="rect">
            <a:avLst/>
          </a:prstGeom>
          <a:solidFill>
            <a:srgbClr val="6B665D"/>
          </a:solidFill>
          <a:ln w="12700">
            <a:solidFill>
              <a:srgbClr val="6B665D"/>
            </a:solidFill>
            <a:prstDash val="solid"/>
          </a:ln>
        </p:spPr>
      </p:sp>
      <p:sp>
        <p:nvSpPr>
          <p:cNvPr id="55" name="Text 53"/>
          <p:cNvSpPr txBox="1"/>
          <p:nvPr/>
        </p:nvSpPr>
        <p:spPr>
          <a:xfrm>
            <a:off x="726033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Usability test: two people acting as dispatchers, four tasks</a:t>
            </a:r>
            <a:endParaRPr lang="en-US" sz="800" dirty="0"/>
          </a:p>
        </p:txBody>
      </p:sp>
      <p:sp>
        <p:nvSpPr>
          <p:cNvPr id="56" name="Text 54"/>
          <p:cNvSpPr txBox="1"/>
          <p:nvPr/>
        </p:nvSpPr>
        <p:spPr>
          <a:xfrm>
            <a:off x="726033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57" name="Text 55"/>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this sprint, #16 and #17 evaluation sets, #14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Shape 2"/>
          <p:cNvSpPr/>
          <p:nvPr/>
        </p:nvSpPr>
        <p:spPr>
          <a:xfrm>
            <a:off x="548640" y="1170432"/>
            <a:ext cx="1929384" cy="1024128"/>
          </a:xfrm>
          <a:prstGeom prst="roundRect">
            <a:avLst>
              <a:gd name="adj" fmla="val 7143"/>
            </a:avLst>
          </a:prstGeom>
          <a:solidFill>
            <a:srgbClr val="FFFFFF"/>
          </a:solidFill>
          <a:ln w="9525">
            <a:solidFill>
              <a:srgbClr val="E4DDD0"/>
            </a:solidFill>
            <a:prstDash val="solid"/>
          </a:ln>
        </p:spPr>
      </p:sp>
      <p:sp>
        <p:nvSpPr>
          <p:cNvPr id="5" name="Text 3"/>
          <p:cNvSpPr txBox="1"/>
          <p:nvPr/>
        </p:nvSpPr>
        <p:spPr>
          <a:xfrm>
            <a:off x="685800"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1.42%</a:t>
            </a:r>
            <a:endParaRPr lang="en-US" sz="2800" dirty="0"/>
          </a:p>
        </p:txBody>
      </p:sp>
      <p:sp>
        <p:nvSpPr>
          <p:cNvPr id="6" name="Text 4"/>
          <p:cNvSpPr txBox="1"/>
          <p:nvPr/>
        </p:nvSpPr>
        <p:spPr>
          <a:xfrm>
            <a:off x="685800"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(our objective), vs 1.67% for earliest finish</a:t>
            </a:r>
            <a:endParaRPr lang="en-US" sz="850" dirty="0"/>
          </a:p>
        </p:txBody>
      </p:sp>
      <p:sp>
        <p:nvSpPr>
          <p:cNvPr id="7" name="Shape 5"/>
          <p:cNvSpPr/>
          <p:nvPr/>
        </p:nvSpPr>
        <p:spPr>
          <a:xfrm>
            <a:off x="2587752" y="1170432"/>
            <a:ext cx="1929384" cy="1024128"/>
          </a:xfrm>
          <a:prstGeom prst="roundRect">
            <a:avLst>
              <a:gd name="adj" fmla="val 7143"/>
            </a:avLst>
          </a:prstGeom>
          <a:solidFill>
            <a:srgbClr val="FFFFFF"/>
          </a:solidFill>
          <a:ln w="9525">
            <a:solidFill>
              <a:srgbClr val="E4DDD0"/>
            </a:solidFill>
            <a:prstDash val="solid"/>
          </a:ln>
        </p:spPr>
      </p:sp>
      <p:sp>
        <p:nvSpPr>
          <p:cNvPr id="8" name="Text 6"/>
          <p:cNvSpPr txBox="1"/>
          <p:nvPr/>
        </p:nvSpPr>
        <p:spPr>
          <a:xfrm>
            <a:off x="2724912"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0.057</a:t>
            </a:r>
            <a:endParaRPr lang="en-US" sz="2800" dirty="0"/>
          </a:p>
        </p:txBody>
      </p:sp>
      <p:sp>
        <p:nvSpPr>
          <p:cNvPr id="9" name="Text 7"/>
          <p:cNvSpPr txBox="1"/>
          <p:nvPr/>
        </p:nvSpPr>
        <p:spPr>
          <a:xfrm>
            <a:off x="2724912"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mean late days, vs 0.178 for earliest finish</a:t>
            </a:r>
            <a:endParaRPr lang="en-US" sz="850" dirty="0"/>
          </a:p>
        </p:txBody>
      </p:sp>
      <p:sp>
        <p:nvSpPr>
          <p:cNvPr id="10" name="Shape 8"/>
          <p:cNvSpPr/>
          <p:nvPr/>
        </p:nvSpPr>
        <p:spPr>
          <a:xfrm>
            <a:off x="4626864" y="1170432"/>
            <a:ext cx="1929384" cy="1024128"/>
          </a:xfrm>
          <a:prstGeom prst="roundRect">
            <a:avLst>
              <a:gd name="adj" fmla="val 7143"/>
            </a:avLst>
          </a:prstGeom>
          <a:solidFill>
            <a:srgbClr val="FFFFFF"/>
          </a:solidFill>
          <a:ln w="9525">
            <a:solidFill>
              <a:srgbClr val="E4DDD0"/>
            </a:solidFill>
            <a:prstDash val="solid"/>
          </a:ln>
        </p:spPr>
      </p:sp>
      <p:sp>
        <p:nvSpPr>
          <p:cNvPr id="11" name="Text 9"/>
          <p:cNvSpPr txBox="1"/>
          <p:nvPr/>
        </p:nvSpPr>
        <p:spPr>
          <a:xfrm>
            <a:off x="4764024"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4.90%</a:t>
            </a:r>
            <a:endParaRPr lang="en-US" sz="2800" dirty="0"/>
          </a:p>
        </p:txBody>
      </p:sp>
      <p:sp>
        <p:nvSpPr>
          <p:cNvPr id="12" name="Text 10"/>
          <p:cNvSpPr txBox="1"/>
          <p:nvPr/>
        </p:nvSpPr>
        <p:spPr>
          <a:xfrm>
            <a:off x="4764024"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vs 5.28% for biggest capacity</a:t>
            </a:r>
            <a:endParaRPr lang="en-US" sz="850" dirty="0"/>
          </a:p>
        </p:txBody>
      </p:sp>
      <p:sp>
        <p:nvSpPr>
          <p:cNvPr id="13" name="Shape 11"/>
          <p:cNvSpPr/>
          <p:nvPr/>
        </p:nvSpPr>
        <p:spPr>
          <a:xfrm>
            <a:off x="6665976" y="1170432"/>
            <a:ext cx="1929384" cy="1024128"/>
          </a:xfrm>
          <a:prstGeom prst="roundRect">
            <a:avLst>
              <a:gd name="adj" fmla="val 7143"/>
            </a:avLst>
          </a:prstGeom>
          <a:solidFill>
            <a:srgbClr val="F1E7D6"/>
          </a:solidFill>
          <a:ln w="9525">
            <a:solidFill>
              <a:srgbClr val="E2D3B9"/>
            </a:solidFill>
            <a:prstDash val="solid"/>
          </a:ln>
        </p:spPr>
      </p:sp>
      <p:sp>
        <p:nvSpPr>
          <p:cNvPr id="14" name="Shape 12"/>
          <p:cNvSpPr/>
          <p:nvPr/>
        </p:nvSpPr>
        <p:spPr>
          <a:xfrm>
            <a:off x="6665976" y="1170432"/>
            <a:ext cx="54864" cy="1024128"/>
          </a:xfrm>
          <a:prstGeom prst="rect">
            <a:avLst/>
          </a:prstGeom>
          <a:solidFill>
            <a:srgbClr val="A3804C"/>
          </a:solidFill>
          <a:ln w="12700">
            <a:solidFill>
              <a:srgbClr val="A3804C"/>
            </a:solidFill>
            <a:prstDash val="solid"/>
          </a:ln>
        </p:spPr>
      </p:sp>
      <p:sp>
        <p:nvSpPr>
          <p:cNvPr id="15" name="Text 13"/>
          <p:cNvSpPr txBox="1"/>
          <p:nvPr/>
        </p:nvSpPr>
        <p:spPr>
          <a:xfrm>
            <a:off x="6803136"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96.9%</a:t>
            </a:r>
            <a:endParaRPr lang="en-US" sz="2800" dirty="0"/>
          </a:p>
        </p:txBody>
      </p:sp>
      <p:sp>
        <p:nvSpPr>
          <p:cNvPr id="16" name="Text 14"/>
          <p:cNvSpPr txBox="1"/>
          <p:nvPr/>
        </p:nvSpPr>
        <p:spPr>
          <a:xfrm>
            <a:off x="6803136"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of 65 held-out requests passed (63/65); train 95.7%</a:t>
            </a:r>
            <a:endParaRPr lang="en-US" sz="850" dirty="0"/>
          </a:p>
        </p:txBody>
      </p:sp>
      <p:sp>
        <p:nvSpPr>
          <p:cNvPr id="17" name="Shape 15"/>
          <p:cNvSpPr/>
          <p:nvPr/>
        </p:nvSpPr>
        <p:spPr>
          <a:xfrm>
            <a:off x="548640" y="2304288"/>
            <a:ext cx="2609088" cy="1024128"/>
          </a:xfrm>
          <a:prstGeom prst="roundRect">
            <a:avLst>
              <a:gd name="adj" fmla="val 7143"/>
            </a:avLst>
          </a:prstGeom>
          <a:solidFill>
            <a:srgbClr val="F3EFE7"/>
          </a:solidFill>
          <a:ln w="9525">
            <a:solidFill>
              <a:srgbClr val="F3EFE7"/>
            </a:solidFill>
            <a:prstDash val="solid"/>
          </a:ln>
        </p:spPr>
      </p:sp>
      <p:sp>
        <p:nvSpPr>
          <p:cNvPr id="18" name="Text 16"/>
          <p:cNvSpPr txBox="1"/>
          <p:nvPr/>
        </p:nvSpPr>
        <p:spPr>
          <a:xfrm>
            <a:off x="685800"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19" name="Text 17"/>
          <p:cNvSpPr txBox="1"/>
          <p:nvPr/>
        </p:nvSpPr>
        <p:spPr>
          <a:xfrm>
            <a:off x="685800"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Late batches and late days (our objective), defective pieces, largest share and the change under a closure: the course simulator's own metrics. Language: the right behaviour per request, every number traced to a tool.</a:t>
            </a:r>
            <a:endParaRPr lang="en-US" sz="800" dirty="0"/>
          </a:p>
        </p:txBody>
      </p:sp>
      <p:sp>
        <p:nvSpPr>
          <p:cNvPr id="20" name="Shape 18"/>
          <p:cNvSpPr/>
          <p:nvPr/>
        </p:nvSpPr>
        <p:spPr>
          <a:xfrm>
            <a:off x="3267456" y="2304288"/>
            <a:ext cx="2609088" cy="1024128"/>
          </a:xfrm>
          <a:prstGeom prst="roundRect">
            <a:avLst>
              <a:gd name="adj" fmla="val 7143"/>
            </a:avLst>
          </a:prstGeom>
          <a:solidFill>
            <a:srgbClr val="F3EFE7"/>
          </a:solidFill>
          <a:ln w="9525">
            <a:solidFill>
              <a:srgbClr val="F3EFE7"/>
            </a:solidFill>
            <a:prstDash val="solid"/>
          </a:ln>
        </p:spPr>
      </p:sp>
      <p:sp>
        <p:nvSpPr>
          <p:cNvPr id="21" name="Text 19"/>
          <p:cNvSpPr txBox="1"/>
          <p:nvPr/>
        </p:nvSpPr>
        <p:spPr>
          <a:xfrm>
            <a:off x="3404616"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22" name="Text 20"/>
          <p:cNvSpPr txBox="1"/>
          <p:nvPr/>
        </p:nvSpPr>
        <p:spPr>
          <a:xfrm>
            <a:off x="3404616"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30 inbox requests by kind, plus 205 generated by Saadhvika and Niyanthri: 140 to tune on, 65 held out with new wording. Labels come from how each request was built, never from a model.</a:t>
            </a:r>
            <a:endParaRPr lang="en-US" sz="800" dirty="0"/>
          </a:p>
        </p:txBody>
      </p:sp>
      <p:sp>
        <p:nvSpPr>
          <p:cNvPr id="23" name="Shape 21"/>
          <p:cNvSpPr/>
          <p:nvPr/>
        </p:nvSpPr>
        <p:spPr>
          <a:xfrm>
            <a:off x="5986272" y="2304288"/>
            <a:ext cx="2609088" cy="1024128"/>
          </a:xfrm>
          <a:prstGeom prst="roundRect">
            <a:avLst>
              <a:gd name="adj" fmla="val 7143"/>
            </a:avLst>
          </a:prstGeom>
          <a:solidFill>
            <a:srgbClr val="F3EFE7"/>
          </a:solidFill>
          <a:ln w="9525">
            <a:solidFill>
              <a:srgbClr val="F3EFE7"/>
            </a:solidFill>
            <a:prstDash val="solid"/>
          </a:ln>
        </p:spPr>
      </p:sp>
      <p:sp>
        <p:nvSpPr>
          <p:cNvPr id="24" name="Text 22"/>
          <p:cNvSpPr txBox="1"/>
          <p:nvPr/>
        </p:nvSpPr>
        <p:spPr>
          <a:xfrm>
            <a:off x="6123432"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25" name="Text 23"/>
          <p:cNvSpPr txBox="1"/>
          <p:nvPr/>
        </p:nvSpPr>
        <p:spPr>
          <a:xfrm>
            <a:off x="6123432"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Random, biggest capacity and cheapest, plus earliest finish. Minimum: beat all three baselines on late batches and late days, and handle all 30 inbox requests by kind.</a:t>
            </a:r>
            <a:endParaRPr lang="en-US" sz="800" dirty="0"/>
          </a:p>
        </p:txBody>
      </p:sp>
      <p:sp>
        <p:nvSpPr>
          <p:cNvPr id="26" name="Text 24"/>
          <p:cNvSpPr txBox="1"/>
          <p:nvPr/>
        </p:nvSpPr>
        <p:spPr>
          <a:xfrm>
            <a:off x="548640" y="3438144"/>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27" name="Shape 25"/>
          <p:cNvSpPr/>
          <p:nvPr/>
        </p:nvSpPr>
        <p:spPr>
          <a:xfrm>
            <a:off x="548640" y="3621024"/>
            <a:ext cx="2609088" cy="841248"/>
          </a:xfrm>
          <a:prstGeom prst="roundRect">
            <a:avLst>
              <a:gd name="adj" fmla="val 8696"/>
            </a:avLst>
          </a:prstGeom>
          <a:solidFill>
            <a:srgbClr val="FFFFFF"/>
          </a:solidFill>
          <a:ln w="9525">
            <a:solidFill>
              <a:srgbClr val="E4DDD0"/>
            </a:solidFill>
            <a:prstDash val="solid"/>
          </a:ln>
        </p:spPr>
      </p:sp>
      <p:sp>
        <p:nvSpPr>
          <p:cNvPr id="28" name="Text 26"/>
          <p:cNvSpPr txBox="1"/>
          <p:nvPr/>
        </p:nvSpPr>
        <p:spPr>
          <a:xfrm>
            <a:off x="685800"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1</a:t>
            </a:r>
            <a:endParaRPr lang="en-US" sz="2600" dirty="0"/>
          </a:p>
        </p:txBody>
      </p:sp>
      <p:sp>
        <p:nvSpPr>
          <p:cNvPr id="29" name="Text 27"/>
          <p:cNvSpPr txBox="1"/>
          <p:nvPr/>
        </p:nvSpPr>
        <p:spPr>
          <a:xfrm>
            <a:off x="1051560"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Impossible date</a:t>
            </a:r>
            <a:endParaRPr lang="en-US" sz="950" dirty="0"/>
          </a:p>
        </p:txBody>
      </p:sp>
      <p:sp>
        <p:nvSpPr>
          <p:cNvPr id="30" name="Text 28"/>
          <p:cNvSpPr txBox="1"/>
          <p:nvPr/>
        </p:nvSpPr>
        <p:spPr>
          <a:xfrm>
            <a:off x="1051560"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and a two-shop split; nothing is booked</a:t>
            </a:r>
            <a:endParaRPr lang="en-US" sz="800" dirty="0"/>
          </a:p>
        </p:txBody>
      </p:sp>
      <p:sp>
        <p:nvSpPr>
          <p:cNvPr id="31" name="Shape 29"/>
          <p:cNvSpPr/>
          <p:nvPr/>
        </p:nvSpPr>
        <p:spPr>
          <a:xfrm>
            <a:off x="3267456" y="3621024"/>
            <a:ext cx="2609088" cy="841248"/>
          </a:xfrm>
          <a:prstGeom prst="roundRect">
            <a:avLst>
              <a:gd name="adj" fmla="val 8696"/>
            </a:avLst>
          </a:prstGeom>
          <a:solidFill>
            <a:srgbClr val="FFFFFF"/>
          </a:solidFill>
          <a:ln w="9525">
            <a:solidFill>
              <a:srgbClr val="E4DDD0"/>
            </a:solidFill>
            <a:prstDash val="solid"/>
          </a:ln>
        </p:spPr>
      </p:sp>
      <p:sp>
        <p:nvSpPr>
          <p:cNvPr id="32" name="Text 30"/>
          <p:cNvSpPr txBox="1"/>
          <p:nvPr/>
        </p:nvSpPr>
        <p:spPr>
          <a:xfrm>
            <a:off x="3404616"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2</a:t>
            </a:r>
            <a:endParaRPr lang="en-US" sz="2600" dirty="0"/>
          </a:p>
        </p:txBody>
      </p:sp>
      <p:sp>
        <p:nvSpPr>
          <p:cNvPr id="33" name="Text 31"/>
          <p:cNvSpPr txBox="1"/>
          <p:nvPr/>
        </p:nvSpPr>
        <p:spPr>
          <a:xfrm>
            <a:off x="3770376"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Workshop that cannot take it</a:t>
            </a:r>
            <a:endParaRPr lang="en-US" sz="950" dirty="0"/>
          </a:p>
        </p:txBody>
      </p:sp>
      <p:sp>
        <p:nvSpPr>
          <p:cNvPr id="34" name="Text 32"/>
          <p:cNvSpPr txBox="1"/>
          <p:nvPr/>
        </p:nvSpPr>
        <p:spPr>
          <a:xfrm>
            <a:off x="3770376"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permitted alternative</a:t>
            </a:r>
            <a:endParaRPr lang="en-US" sz="800" dirty="0"/>
          </a:p>
        </p:txBody>
      </p:sp>
      <p:sp>
        <p:nvSpPr>
          <p:cNvPr id="35" name="Shape 33"/>
          <p:cNvSpPr/>
          <p:nvPr/>
        </p:nvSpPr>
        <p:spPr>
          <a:xfrm>
            <a:off x="5986272" y="3621024"/>
            <a:ext cx="2609088" cy="841248"/>
          </a:xfrm>
          <a:prstGeom prst="roundRect">
            <a:avLst>
              <a:gd name="adj" fmla="val 8696"/>
            </a:avLst>
          </a:prstGeom>
          <a:solidFill>
            <a:srgbClr val="FFFFFF"/>
          </a:solidFill>
          <a:ln w="9525">
            <a:solidFill>
              <a:srgbClr val="E4DDD0"/>
            </a:solidFill>
            <a:prstDash val="solid"/>
          </a:ln>
        </p:spPr>
      </p:sp>
      <p:sp>
        <p:nvSpPr>
          <p:cNvPr id="36" name="Text 34"/>
          <p:cNvSpPr txBox="1"/>
          <p:nvPr/>
        </p:nvSpPr>
        <p:spPr>
          <a:xfrm>
            <a:off x="6123432"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3</a:t>
            </a:r>
            <a:endParaRPr lang="en-US" sz="2600" dirty="0"/>
          </a:p>
        </p:txBody>
      </p:sp>
      <p:sp>
        <p:nvSpPr>
          <p:cNvPr id="37" name="Text 35"/>
          <p:cNvSpPr txBox="1"/>
          <p:nvPr/>
        </p:nvSpPr>
        <p:spPr>
          <a:xfrm>
            <a:off x="6489192"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Misheard order on the floor</a:t>
            </a:r>
            <a:endParaRPr lang="en-US" sz="950" dirty="0"/>
          </a:p>
        </p:txBody>
      </p:sp>
      <p:sp>
        <p:nvSpPr>
          <p:cNvPr id="38" name="Text 36"/>
          <p:cNvSpPr txBox="1"/>
          <p:nvPr/>
        </p:nvSpPr>
        <p:spPr>
          <a:xfrm>
            <a:off x="6489192"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and pieces read back from orders.csv; a slide commits</a:t>
            </a:r>
            <a:endParaRPr lang="en-US" sz="80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Allocation: course seeds 5105-5114, presets chosen on seeds 6000-6029 (OBJECTIVE_STUDY.md). Language: one gpt-5.6 run; a rubric pass rate, not model accuracy.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243584"/>
            <a:ext cx="4572000" cy="201168"/>
          </a:xfrm>
          <a:prstGeom prst="rect">
            <a:avLst/>
          </a:prstGeom>
          <a:noFill/>
          <a:ln/>
        </p:spPr>
        <p:txBody>
          <a:bodyPr wrap="square" lIns="0" tIns="0" rIns="0" bIns="0" rtlCol="0" anchor="t"/>
          <a:lstStyle/>
          <a:p>
            <a:pPr indent="0" marL="0">
              <a:buNone/>
            </a:pPr>
            <a:r>
              <a:rPr lang="en-US" sz="950" dirty="0">
                <a:solidFill>
                  <a:srgbClr val="C9BEAD"/>
                </a:solidFill>
                <a:latin typeface="Arial" pitchFamily="34" charset="0"/>
                <a:ea typeface="Arial" pitchFamily="34" charset="-122"/>
                <a:cs typeface="Arial" pitchFamily="34" charset="-120"/>
              </a:rPr>
              <a:t>Presented by Chen Zepeng (A0156784N), who goes by Charles</a:t>
            </a:r>
            <a:endParaRPr lang="en-US" sz="950" dirty="0"/>
          </a:p>
        </p:txBody>
      </p:sp>
      <p:sp>
        <p:nvSpPr>
          <p:cNvPr id="5" name="Text 3"/>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6" name="Text 4"/>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7" name="Text 5"/>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8" name="Text 6"/>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9" name="Text 7"/>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10" name="Text 8"/>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1" name="Text 9"/>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2" name="Text 10"/>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3" name="Text 11"/>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4" name="Text 12"/>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5" name="Text 13"/>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6" name="Text 14"/>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7" name="Text 15"/>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8" name="Text 16"/>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9" name="Image 0" descr="The assistant beside its Behind the answer panel, showing a remembered rule applied to a new order">    </p:cNvPr>
          <p:cNvPicPr>
            <a:picLocks noChangeAspect="1"/>
          </p:cNvPicPr>
          <p:nvPr/>
        </p:nvPicPr>
        <p:blipFill>
          <a:blip r:embed="rId1"/>
          <a:stretch>
            <a:fillRect/>
          </a:stretch>
        </p:blipFill>
        <p:spPr>
          <a:xfrm>
            <a:off x="5029200" y="860663"/>
            <a:ext cx="3611880" cy="334445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C9BEAD"/>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7" name="Text 5"/>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C9BEAD"/>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2026-10-29T15:28:47Z</dcterms:created>
  <dcterms:modified xsi:type="dcterms:W3CDTF">2026-10-29T15:28:47Z</dcterms:modified>
</cp:coreProperties>
</file>