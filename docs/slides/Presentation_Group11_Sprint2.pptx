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Take B starts on this slide for two seconds:
  Charles: "Now the demo."
Then the app. Times are from the start of the app part. Speak only when the app is quiet.
[0:00] Charles: "I'm Chen Zepeng, Charles in the app, playing the dispatcher. The rings show how
       busy each workshop is, and OldMill is grey because it's suspended."
[0:08] Hold the mic and say: "ORD-109, 500 vests for Harbor Knits, due April 13. Keep it away
       from BudgetWorks."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"Book it." The sheet opens.
       Charles: "Nothing is saved until I slide." Slide to confirm.
[0:52] On the receipt, tap "Remember".
       Charles: "And it offers to remember that rule."
[0:58] Hold the mic and say: "ORD-081 for Harbor Knits needs to go out, due April 20."
       Let the answer play, then point at the memory note on the card.
       Charles: "Same customer, so the rule is applied, and the card says it came from memory."
[1:22] Charles: "Now a hard case, straight from the inbox."
       Hold the mic and say: "QuickStitch for the scarves on ORD-103?"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Put the link on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D1B18"/>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B9AF9F"/>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1D1B18"/>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1D1B18"/>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B9AF9F"/>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425696"/>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DEMO VIDEO  </a:t>
            </a:r>
            <a:r>
              <a:rPr lang="en-US" sz="850" spc="50" kern="0" dirty="0">
                <a:solidFill>
                  <a:srgbClr val="F4EFE6"/>
                </a:solidFill>
                <a:latin typeface="Arial" pitchFamily="34" charset="0"/>
                <a:ea typeface="Arial" pitchFamily="34" charset="-122"/>
                <a:cs typeface="Arial" pitchFamily="34" charset="-120"/>
              </a:rPr>
              <a:t>[YouTube link: add after upload]</a:t>
            </a:r>
            <a:endParaRPr lang="en-US" sz="850" dirty="0"/>
          </a:p>
        </p:txBody>
      </p:sp>
      <p:sp>
        <p:nvSpPr>
          <p:cNvPr id="25" name="Text 23"/>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B9AF9F"/>
                </a:solidFill>
                <a:latin typeface="Arial" pitchFamily="34" charset="0"/>
                <a:ea typeface="Arial" pitchFamily="34" charset="-122"/>
                <a:cs typeface="Arial" pitchFamily="34" charset="-120"/>
              </a:rPr>
              <a:t>DSS5105 CAPSTONE  /  30 OCTOBER 2026</a:t>
            </a:r>
            <a:endParaRPr lang="en-US" sz="700" dirty="0"/>
          </a:p>
        </p:txBody>
      </p:sp>
      <p:pic>
        <p:nvPicPr>
          <p:cNvPr id="26"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234440"/>
            <a:ext cx="3520440" cy="1051560"/>
          </a:xfrm>
          <a:prstGeom prst="rect">
            <a:avLst/>
          </a:prstGeom>
          <a:solidFill>
            <a:srgbClr val="FFFFFF"/>
          </a:solidFill>
          <a:ln w="9525">
            <a:solidFill>
              <a:srgbClr val="E4DDD0"/>
            </a:solidFill>
            <a:prstDash val="solid"/>
          </a:ln>
        </p:spPr>
      </p:sp>
      <p:sp>
        <p:nvSpPr>
          <p:cNvPr id="5" name="Text 3"/>
          <p:cNvSpPr txBox="1"/>
          <p:nvPr/>
        </p:nvSpPr>
        <p:spPr>
          <a:xfrm>
            <a:off x="731520" y="1344168"/>
            <a:ext cx="310896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6" name="Text 4"/>
          <p:cNvSpPr txBox="1"/>
          <p:nvPr/>
        </p:nvSpPr>
        <p:spPr>
          <a:xfrm>
            <a:off x="731520" y="1536192"/>
            <a:ext cx="3200400" cy="274320"/>
          </a:xfrm>
          <a:prstGeom prst="rect">
            <a:avLst/>
          </a:prstGeom>
          <a:noFill/>
          <a:ln/>
        </p:spPr>
        <p:txBody>
          <a:bodyPr wrap="square" lIns="0" tIns="0" rIns="0" bIns="0" rtlCol="0" anchor="t"/>
          <a:lstStyle/>
          <a:p>
            <a:pPr indent="0" marL="0">
              <a:buNone/>
            </a:pPr>
            <a:r>
              <a:rPr lang="en-US" sz="1350" dirty="0">
                <a:solidFill>
                  <a:srgbClr val="1D1B18"/>
                </a:solidFill>
                <a:latin typeface="Georgia" pitchFamily="34" charset="0"/>
                <a:ea typeface="Georgia" pitchFamily="34" charset="-122"/>
                <a:cs typeface="Georgia" pitchFamily="34" charset="-120"/>
              </a:rPr>
              <a:t>The production dispatcher at SweaterCo</a:t>
            </a:r>
            <a:endParaRPr lang="en-US" sz="1350" dirty="0"/>
          </a:p>
        </p:txBody>
      </p:sp>
      <p:sp>
        <p:nvSpPr>
          <p:cNvPr id="7" name="Text 5"/>
          <p:cNvSpPr txBox="1"/>
          <p:nvPr/>
        </p:nvSpPr>
        <p:spPr>
          <a:xfrm>
            <a:off x="731520" y="1810512"/>
            <a:ext cx="3200400" cy="457200"/>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not at a desk. Requests arrive in a group chat, and most are messy: missing dates, vague orders, banned workshops.</a:t>
            </a:r>
            <a:endParaRPr lang="en-US" sz="900" dirty="0"/>
          </a:p>
        </p:txBody>
      </p:sp>
      <p:sp>
        <p:nvSpPr>
          <p:cNvPr id="8" name="Text 6"/>
          <p:cNvSpPr txBox="1"/>
          <p:nvPr/>
        </p:nvSpPr>
        <p:spPr>
          <a:xfrm>
            <a:off x="548640" y="24505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A REAL REQUEST FROM THE INBOX</a:t>
            </a:r>
            <a:endParaRPr lang="en-US" sz="750" dirty="0"/>
          </a:p>
        </p:txBody>
      </p:sp>
      <p:sp>
        <p:nvSpPr>
          <p:cNvPr id="9" name="Text 7"/>
          <p:cNvSpPr txBox="1"/>
          <p:nvPr/>
        </p:nvSpPr>
        <p:spPr>
          <a:xfrm>
            <a:off x="548640" y="2651760"/>
            <a:ext cx="3520440" cy="594360"/>
          </a:xfrm>
          <a:prstGeom prst="rect">
            <a:avLst/>
          </a:prstGeom>
          <a:noFill/>
          <a:ln/>
        </p:spPr>
        <p:txBody>
          <a:bodyPr wrap="square" lIns="0" tIns="0" rIns="0" bIns="0" rtlCol="0" anchor="t"/>
          <a:lstStyle/>
          <a:p>
            <a:pPr indent="0" marL="0">
              <a:buNone/>
            </a:pPr>
            <a:r>
              <a:rPr lang="en-US" sz="120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200" dirty="0"/>
          </a:p>
        </p:txBody>
      </p:sp>
      <p:sp>
        <p:nvSpPr>
          <p:cNvPr id="10" name="Text 8"/>
          <p:cNvSpPr txBox="1"/>
          <p:nvPr/>
        </p:nvSpPr>
        <p:spPr>
          <a:xfrm>
            <a:off x="548640" y="3364992"/>
            <a:ext cx="352044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THE DISPATCHER NEEDS</a:t>
            </a:r>
            <a:endParaRPr lang="en-US" sz="750" dirty="0"/>
          </a:p>
        </p:txBody>
      </p:sp>
      <p:sp>
        <p:nvSpPr>
          <p:cNvPr id="11" name="Text 9"/>
          <p:cNvSpPr txBox="1"/>
          <p:nvPr/>
        </p:nvSpPr>
        <p:spPr>
          <a:xfrm>
            <a:off x="548640" y="3566160"/>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1   A safe workshop, its arrival date and why, in seconds</a:t>
            </a:r>
            <a:endParaRPr lang="en-US" sz="950" dirty="0"/>
          </a:p>
        </p:txBody>
      </p:sp>
      <p:sp>
        <p:nvSpPr>
          <p:cNvPr id="12" name="Text 10"/>
          <p:cNvSpPr txBox="1"/>
          <p:nvPr/>
        </p:nvSpPr>
        <p:spPr>
          <a:xfrm>
            <a:off x="548640" y="3813048"/>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2   The constraint honoured, and who asked recorded</a:t>
            </a:r>
            <a:endParaRPr lang="en-US" sz="950" dirty="0"/>
          </a:p>
        </p:txBody>
      </p:sp>
      <p:sp>
        <p:nvSpPr>
          <p:cNvPr id="13" name="Text 11"/>
          <p:cNvSpPr txBox="1"/>
          <p:nvPr/>
        </p:nvSpPr>
        <p:spPr>
          <a:xfrm>
            <a:off x="548640" y="4059936"/>
            <a:ext cx="3520440" cy="228600"/>
          </a:xfrm>
          <a:prstGeom prst="rect">
            <a:avLst/>
          </a:prstGeom>
          <a:noFill/>
          <a:ln/>
        </p:spPr>
        <p:txBody>
          <a:bodyPr wrap="square" lIns="0" tIns="0" rIns="0" bIns="0" rtlCol="0" anchor="t"/>
          <a:lstStyle/>
          <a:p>
            <a:pPr indent="0" marL="0">
              <a:buNone/>
            </a:pPr>
            <a:r>
              <a:rPr lang="en-US" sz="950" dirty="0">
                <a:solidFill>
                  <a:srgbClr val="1D1B18"/>
                </a:solidFill>
                <a:latin typeface="Arial" pitchFamily="34" charset="0"/>
                <a:ea typeface="Arial" pitchFamily="34" charset="-122"/>
                <a:cs typeface="Arial" pitchFamily="34" charset="-120"/>
              </a:rPr>
              <a:t>3   One deliberate step to commit; a record afterwards</a:t>
            </a:r>
            <a:endParaRPr lang="en-US" sz="950" dirty="0"/>
          </a:p>
        </p:txBody>
      </p:sp>
      <p:sp>
        <p:nvSpPr>
          <p:cNvPr id="14" name="Text 12"/>
          <p:cNvSpPr txBox="1"/>
          <p:nvPr/>
        </p:nvSpPr>
        <p:spPr>
          <a:xfrm>
            <a:off x="4434840" y="123444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434840" y="1463040"/>
          <a:ext cx="4160520" cy="914400"/>
        </p:xfrm>
        <a:graphic>
          <a:graphicData uri="http://schemas.openxmlformats.org/drawingml/2006/table">
            <a:tbl>
              <a:tblPr/>
              <a:tblGrid>
                <a:gridCol w="1600200"/>
                <a:gridCol w="256032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1</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SPRINT 2</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Earliest finish tied us on lateness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Default beats it: 1.42% late vs 1.67%, 68% fewer late days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Biggest capacity won on defects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Defects setting wins: 4.90% defective pieces vs 5.28%</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Fairness not tuned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Fairness setting: largest share 19.2% vs random 22.6%</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Typing at a desk only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Voice on the phone, read aloud, slide to book</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457200">
                <a:tc>
                  <a:txBody>
                    <a:bodyPr/>
                    <a:lstStyle/>
                    <a:p>
                      <a:pPr indent="0" marL="0">
                        <a:buNone/>
                      </a:pPr>
                      <a:r>
                        <a:rPr lang="en-US" sz="900" dirty="0">
                          <a:solidFill>
                            <a:srgbClr val="6B665D"/>
                          </a:solidFill>
                          <a:latin typeface="Arial" pitchFamily="34" charset="0"/>
                          <a:ea typeface="Arial" pitchFamily="34" charset="-122"/>
                          <a:cs typeface="Arial" pitchFamily="34" charset="-120"/>
                        </a:rPr>
                        <a:t>No memory between requests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2F5D46"/>
                          </a:solidFill>
                          <a:latin typeface="Arial" pitchFamily="34" charset="0"/>
                          <a:ea typeface="Arial" pitchFamily="34" charset="-122"/>
                          <a:cs typeface="Arial" pitchFamily="34" charset="-120"/>
                        </a:rPr>
                        <a:t>Remembers confirmed constraints, and says when it applies one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6" name="Text 13"/>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243584"/>
          <a:ext cx="8046720" cy="914400"/>
        </p:xfrm>
        <a:graphic>
          <a:graphicData uri="http://schemas.openxmlformats.org/drawingml/2006/table">
            <a:tbl>
              <a:tblPr/>
              <a:tblGrid>
                <a:gridCol w="1143000"/>
                <a:gridCol w="2148840"/>
                <a:gridCol w="1691640"/>
                <a:gridCol w="3063240"/>
              </a:tblGrid>
              <a:tr h="237744">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FOR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WE CHOSE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OVER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BECAUSE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MODEL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hosted model, named in .env</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fine-tuned or local model</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ORCHESTRATION</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One fixed workflow</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ReAct agent loop</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RETRIEVAL</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Exact lookup by order ID</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Embedding retrieval (RAG)</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Orders have keys; an exact match cannot fetch the wrong order</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DATA STORE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SQLite for records and memory</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A vector store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rule must apply exactly, with who said it, and be auditable in one local file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TOOLS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The course's eligible_workshops()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Our own eligibility rule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Our checks and the course simulator can never disagree</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REPLIES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Python templates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Model-written replies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SPEECH</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Browser speech recognition</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Server speech-to-text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65760">
                <a:tc>
                  <a:txBody>
                    <a:bodyPr/>
                    <a:lstStyle/>
                    <a:p>
                      <a:pPr indent="0" marL="0">
                        <a:buNone/>
                      </a:pPr>
                      <a:r>
                        <a:rPr lang="en-US" sz="700" b="1" spc="150" kern="0" dirty="0">
                          <a:solidFill>
                            <a:srgbClr val="7D5E30"/>
                          </a:solidFill>
                          <a:latin typeface="Arial" pitchFamily="34" charset="0"/>
                          <a:ea typeface="Arial" pitchFamily="34" charset="-122"/>
                          <a:cs typeface="Arial" pitchFamily="34" charset="-120"/>
                        </a:rPr>
                        <a:t>COMMIT</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b="1" dirty="0">
                          <a:solidFill>
                            <a:srgbClr val="1D1B18"/>
                          </a:solidFill>
                          <a:latin typeface="Arial" pitchFamily="34" charset="0"/>
                          <a:ea typeface="Arial" pitchFamily="34" charset="-122"/>
                          <a:cs typeface="Arial" pitchFamily="34" charset="-120"/>
                        </a:rPr>
                        <a:t>Slide to confirm</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6B665D"/>
                          </a:solidFill>
                          <a:latin typeface="Arial" pitchFamily="34" charset="0"/>
                          <a:ea typeface="Arial" pitchFamily="34" charset="-122"/>
                          <a:cs typeface="Arial" pitchFamily="34" charset="-120"/>
                        </a:rPr>
                        <a:t>Book on a spoken "yes"</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900" dirty="0">
                          <a:solidFill>
                            <a:srgbClr val="4A463F"/>
                          </a:solidFill>
                          <a:latin typeface="Arial" pitchFamily="34" charset="0"/>
                          <a:ea typeface="Arial" pitchFamily="34" charset="-122"/>
                          <a:cs typeface="Arial" pitchFamily="34" charset="-120"/>
                        </a:rPr>
                        <a:t>A misheard "yes" on a noisy floor cannot send work out</a:t>
                      </a:r>
                      <a:endParaRPr lang="en-US" sz="9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5" name="Text 2"/>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Trust boundary: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2011680" cy="914400"/>
          </a:xfrm>
          <a:prstGeom prst="rect">
            <a:avLst/>
          </a:prstGeom>
          <a:noFill/>
          <a:ln/>
        </p:spPr>
        <p:txBody>
          <a:bodyPr wrap="square" lIns="0" tIns="0" rIns="0" bIns="0" rtlCol="0" anchor="ctr"/>
          <a:lstStyle/>
          <a:p>
            <a:pPr indent="0" marL="0">
              <a:buNone/>
            </a:pPr>
            <a:r>
              <a:rPr lang="en-US" sz="6000" dirty="0">
                <a:solidFill>
                  <a:srgbClr val="2F5D46"/>
                </a:solidFill>
                <a:latin typeface="Georgia" pitchFamily="34" charset="0"/>
                <a:ea typeface="Georgia" pitchFamily="34" charset="-122"/>
                <a:cs typeface="Georgia" pitchFamily="34" charset="-120"/>
              </a:rPr>
              <a:t>7</a:t>
            </a:r>
            <a:r>
              <a:rPr lang="en-US" sz="6000" dirty="0">
                <a:solidFill>
                  <a:srgbClr val="1D1B18"/>
                </a:solidFill>
                <a:latin typeface="Georgia" pitchFamily="34" charset="0"/>
                <a:ea typeface="Georgia" pitchFamily="34" charset="-122"/>
                <a:cs typeface="Georgia" pitchFamily="34" charset="-120"/>
              </a:rPr>
              <a:t>/11</a:t>
            </a:r>
            <a:endParaRPr lang="en-US" sz="6000" dirty="0"/>
          </a:p>
        </p:txBody>
      </p:sp>
      <p:sp>
        <p:nvSpPr>
          <p:cNvPr id="5" name="Text 3"/>
          <p:cNvSpPr txBox="1"/>
          <p:nvPr/>
        </p:nvSpPr>
        <p:spPr>
          <a:xfrm>
            <a:off x="548640" y="2194560"/>
            <a:ext cx="2011680" cy="256032"/>
          </a:xfrm>
          <a:prstGeom prst="rect">
            <a:avLst/>
          </a:prstGeom>
          <a:noFill/>
          <a:ln/>
        </p:spPr>
        <p:txBody>
          <a:bodyPr wrap="square" lIns="0" tIns="0" rIns="0" bIns="0" rtlCol="0" anchor="t"/>
          <a:lstStyle/>
          <a:p>
            <a:pPr indent="0" marL="0">
              <a:buNone/>
            </a:pPr>
            <a:r>
              <a:rPr lang="en-US" sz="1100" b="1" dirty="0">
                <a:solidFill>
                  <a:srgbClr val="1D1B18"/>
                </a:solidFill>
                <a:latin typeface="Arial" pitchFamily="34" charset="0"/>
                <a:ea typeface="Arial" pitchFamily="34" charset="-122"/>
                <a:cs typeface="Arial" pitchFamily="34" charset="-120"/>
              </a:rPr>
              <a:t>features done this sprint</a:t>
            </a:r>
            <a:endParaRPr lang="en-US" sz="1100" dirty="0"/>
          </a:p>
        </p:txBody>
      </p:sp>
      <p:sp>
        <p:nvSpPr>
          <p:cNvPr id="6" name="Shape 4"/>
          <p:cNvSpPr/>
          <p:nvPr/>
        </p:nvSpPr>
        <p:spPr>
          <a:xfrm>
            <a:off x="548640" y="2615184"/>
            <a:ext cx="1463040" cy="292608"/>
          </a:xfrm>
          <a:prstGeom prst="roundRect">
            <a:avLst>
              <a:gd name="adj" fmla="val 50000"/>
            </a:avLst>
          </a:prstGeom>
          <a:solidFill>
            <a:srgbClr val="9A6A12"/>
          </a:solidFill>
          <a:ln w="12700">
            <a:solidFill>
              <a:srgbClr val="9A6A12"/>
            </a:solidFill>
            <a:prstDash val="solid"/>
          </a:ln>
        </p:spPr>
      </p:sp>
      <p:sp>
        <p:nvSpPr>
          <p:cNvPr id="7" name="Text 5"/>
          <p:cNvSpPr txBox="1"/>
          <p:nvPr/>
        </p:nvSpPr>
        <p:spPr>
          <a:xfrm>
            <a:off x="548640" y="2615184"/>
            <a:ext cx="1463040" cy="292608"/>
          </a:xfrm>
          <a:prstGeom prst="rect">
            <a:avLst/>
          </a:prstGeom>
          <a:noFill/>
          <a:ln/>
        </p:spPr>
        <p:txBody>
          <a:bodyPr wrap="square" lIns="0" tIns="0" rIns="0" bIns="0" rtlCol="0" anchor="ctr"/>
          <a:lstStyle/>
          <a:p>
            <a:pPr algn="ctr" indent="0" marL="0">
              <a:buNone/>
            </a:pPr>
            <a:r>
              <a:rPr lang="en-US" sz="900" b="1" dirty="0">
                <a:solidFill>
                  <a:srgbClr val="FFFFFF"/>
                </a:solidFill>
                <a:latin typeface="Arial" pitchFamily="34" charset="0"/>
                <a:ea typeface="Arial" pitchFamily="34" charset="-122"/>
                <a:cs typeface="Arial" pitchFamily="34" charset="-120"/>
              </a:rPr>
              <a:t>2 in progress</a:t>
            </a:r>
            <a:endParaRPr lang="en-US" sz="900" dirty="0"/>
          </a:p>
        </p:txBody>
      </p:sp>
      <p:sp>
        <p:nvSpPr>
          <p:cNvPr id="8" name="Shape 6"/>
          <p:cNvSpPr/>
          <p:nvPr/>
        </p:nvSpPr>
        <p:spPr>
          <a:xfrm>
            <a:off x="548640" y="3017520"/>
            <a:ext cx="1463040" cy="292608"/>
          </a:xfrm>
          <a:prstGeom prst="roundRect">
            <a:avLst>
              <a:gd name="adj" fmla="val 50000"/>
            </a:avLst>
          </a:prstGeom>
          <a:solidFill>
            <a:srgbClr val="FAF8F4"/>
          </a:solidFill>
          <a:ln w="12700">
            <a:solidFill>
              <a:srgbClr val="6B665D"/>
            </a:solidFill>
            <a:prstDash val="solid"/>
          </a:ln>
        </p:spPr>
      </p:sp>
      <p:sp>
        <p:nvSpPr>
          <p:cNvPr id="9" name="Text 7"/>
          <p:cNvSpPr txBox="1"/>
          <p:nvPr/>
        </p:nvSpPr>
        <p:spPr>
          <a:xfrm>
            <a:off x="548640" y="3017520"/>
            <a:ext cx="1463040" cy="292608"/>
          </a:xfrm>
          <a:prstGeom prst="rect">
            <a:avLst/>
          </a:prstGeom>
          <a:noFill/>
          <a:ln/>
        </p:spPr>
        <p:txBody>
          <a:bodyPr wrap="square" lIns="0" tIns="0" rIns="0" bIns="0" rtlCol="0" anchor="ctr"/>
          <a:lstStyle/>
          <a:p>
            <a:pPr algn="ctr" indent="0" marL="0">
              <a:buNone/>
            </a:pPr>
            <a:r>
              <a:rPr lang="en-US" sz="900" b="1" dirty="0">
                <a:solidFill>
                  <a:srgbClr val="6B665D"/>
                </a:solidFill>
                <a:latin typeface="Arial" pitchFamily="34" charset="0"/>
                <a:ea typeface="Arial" pitchFamily="34" charset="-122"/>
                <a:cs typeface="Arial" pitchFamily="34" charset="-120"/>
              </a:rPr>
              <a:t>2 planned</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2743200" y="1207008"/>
          <a:ext cx="5852160" cy="914400"/>
        </p:xfrm>
        <a:graphic>
          <a:graphicData uri="http://schemas.openxmlformats.org/drawingml/2006/table">
            <a:tbl>
              <a:tblPr/>
              <a:tblGrid>
                <a:gridCol w="3520440"/>
                <a:gridCol w="1508760"/>
                <a:gridCol w="822960"/>
              </a:tblGrid>
              <a:tr h="219456">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FEATURE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OWNER</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STATUS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Voice assistant: phone UI, speech in and out, slide to book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Long-term memory: rules from confirmed bookings, log, profile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Four-objective scorer, frozen presets, objective lab</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Capacity questions and workshop checks from chat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Chen Zepeng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Chat-first desk redesign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Duong Thanh Nhan</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AWS deployment behind HTTPS (demo site)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Clarification reliability fixes and 247-assertion benchmark</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Evaluation sets: 205 generated requests, 140 train and 65 test</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Done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Independent labels for the 30 inbox requests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Saadhvika and Niyanthri</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9A6A12"/>
                          </a:solidFill>
                          <a:latin typeface="Arial" pitchFamily="34" charset="0"/>
                          <a:ea typeface="Arial" pitchFamily="34" charset="-122"/>
                          <a:cs typeface="Arial" pitchFamily="34" charset="-120"/>
                        </a:rPr>
                        <a:t>In progress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Re-run the 65 test requests on the current intake (v3)</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Tang Zheling</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265176">
                <a:tc>
                  <a:txBody>
                    <a:bodyPr/>
                    <a:lstStyle/>
                    <a:p>
                      <a:pPr indent="0" marL="0">
                        <a:buNone/>
                      </a:pPr>
                      <a:r>
                        <a:rPr lang="en-US" sz="850" dirty="0">
                          <a:solidFill>
                            <a:srgbClr val="1D1B18"/>
                          </a:solidFill>
                          <a:latin typeface="Arial" pitchFamily="34" charset="0"/>
                          <a:ea typeface="Arial" pitchFamily="34" charset="-122"/>
                          <a:cs typeface="Arial" pitchFamily="34" charset="-120"/>
                        </a:rPr>
                        <a:t>Usability test: two people acting as dispatchers, four tasks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4A463F"/>
                          </a:solidFill>
                          <a:latin typeface="Arial" pitchFamily="34" charset="0"/>
                          <a:ea typeface="Arial" pitchFamily="34" charset="-122"/>
                          <a:cs typeface="Arial" pitchFamily="34" charset="-120"/>
                        </a:rPr>
                        <a:t>Joshua Wesley Gloor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6B665D"/>
                          </a:solidFill>
                          <a:latin typeface="Arial" pitchFamily="34" charset="0"/>
                          <a:ea typeface="Arial" pitchFamily="34" charset="-122"/>
                          <a:cs typeface="Arial" pitchFamily="34" charset="-120"/>
                        </a:rPr>
                        <a:t>Planned</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1" name="Text 8"/>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Text 2"/>
          <p:cNvSpPr txBox="1"/>
          <p:nvPr/>
        </p:nvSpPr>
        <p:spPr>
          <a:xfrm>
            <a:off x="548640" y="1207008"/>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5" name="Text 3"/>
          <p:cNvSpPr txBox="1"/>
          <p:nvPr/>
        </p:nvSpPr>
        <p:spPr>
          <a:xfrm>
            <a:off x="548640" y="1389888"/>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and late days (our objective), defective pieces, largest share, change under a closure: the course simulator's own metrics. For language: the right behaviour on each request, and every number traced to a tool.</a:t>
            </a:r>
            <a:endParaRPr lang="en-US" sz="850" dirty="0"/>
          </a:p>
        </p:txBody>
      </p:sp>
      <p:sp>
        <p:nvSpPr>
          <p:cNvPr id="6" name="Text 4"/>
          <p:cNvSpPr txBox="1"/>
          <p:nvPr/>
        </p:nvSpPr>
        <p:spPr>
          <a:xfrm>
            <a:off x="548640" y="1993392"/>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7" name="Text 5"/>
          <p:cNvSpPr txBox="1"/>
          <p:nvPr/>
        </p:nvSpPr>
        <p:spPr>
          <a:xfrm>
            <a:off x="548640" y="2176272"/>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All 30 inbox requests by the 7 kinds in the data dictionary, plus 205 generated by Saadhvika and Niyanthri: 140 to tune on, 65 held out with new wording. Labels come from how each request was built, never from a model. First live run: test 63/65 passed (96.9%), train 134/140 (95.7%).</a:t>
            </a:r>
            <a:endParaRPr lang="en-US" sz="850" dirty="0"/>
          </a:p>
        </p:txBody>
      </p:sp>
      <p:sp>
        <p:nvSpPr>
          <p:cNvPr id="8" name="Text 6"/>
          <p:cNvSpPr txBox="1"/>
          <p:nvPr/>
        </p:nvSpPr>
        <p:spPr>
          <a:xfrm>
            <a:off x="548640" y="2779776"/>
            <a:ext cx="38404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9" name="Text 7"/>
          <p:cNvSpPr txBox="1"/>
          <p:nvPr/>
        </p:nvSpPr>
        <p:spPr>
          <a:xfrm>
            <a:off x="548640" y="2962656"/>
            <a:ext cx="3840480" cy="566928"/>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Random, biggest capacity and cheapest, plus the earliest-finish rule. Minimum: beat all three baselines on late batches and late days, and handle all 30 requests by kind.</a:t>
            </a:r>
            <a:endParaRPr lang="en-US" sz="850" dirty="0"/>
          </a:p>
        </p:txBody>
      </p:sp>
      <p:sp>
        <p:nvSpPr>
          <p:cNvPr id="10" name="Text 8"/>
          <p:cNvSpPr txBox="1"/>
          <p:nvPr/>
        </p:nvSpPr>
        <p:spPr>
          <a:xfrm>
            <a:off x="4663440" y="1207008"/>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TODAY, COURSE SEEDS 5105-5114, NORMAL RUNS</a:t>
            </a:r>
            <a:endParaRPr lang="en-US" sz="7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663440" y="1389888"/>
          <a:ext cx="3931920" cy="914400"/>
        </p:xfrm>
        <a:graphic>
          <a:graphicData uri="http://schemas.openxmlformats.org/drawingml/2006/table">
            <a:tbl>
              <a:tblPr/>
              <a:tblGrid>
                <a:gridCol w="960120"/>
                <a:gridCol w="1325880"/>
                <a:gridCol w="1005840"/>
                <a:gridCol w="640080"/>
              </a:tblGrid>
              <a:tr h="201168">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OBJECTIVE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OURS</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r>
                        <a:rPr lang="en-US" sz="700" b="1" spc="150" kern="0" dirty="0">
                          <a:solidFill>
                            <a:srgbClr val="6B665D"/>
                          </a:solidFill>
                          <a:latin typeface="Arial" pitchFamily="34" charset="0"/>
                          <a:ea typeface="Arial" pitchFamily="34" charset="-122"/>
                          <a:cs typeface="Arial" pitchFamily="34" charset="-120"/>
                        </a:rPr>
                        <a:t>BEST REFERENCE</a:t>
                      </a: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c>
                  <a:txBody>
                    <a:bodyPr/>
                    <a:lstStyle/>
                    <a:p>
                      <a:pPr indent="0" marL="0">
                        <a:buNone/>
                      </a:pPr>
                      <a:endParaRPr lang="en-US" sz="70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12700" cap="flat" cmpd="sng" algn="ctr">
                      <a:solidFill>
                        <a:srgbClr val="1D1B18"/>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Lateness (primary)</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1.42% late, 0.057 late days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earliest finish 1.67%, 0.178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Defects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4.90% defective pieces</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biggest capacity 5.28%</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all</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Fairness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largest share 19.2%</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22.6%</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Beats random</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r h="347472">
                <a:tc>
                  <a:txBody>
                    <a:bodyPr/>
                    <a:lstStyle/>
                    <a:p>
                      <a:pPr indent="0" marL="0">
                        <a:buNone/>
                      </a:pPr>
                      <a:r>
                        <a:rPr lang="en-US" sz="950" dirty="0">
                          <a:solidFill>
                            <a:srgbClr val="1D1B18"/>
                          </a:solidFill>
                          <a:latin typeface="Georgia" pitchFamily="34" charset="0"/>
                          <a:ea typeface="Georgia" pitchFamily="34" charset="-122"/>
                          <a:cs typeface="Georgia" pitchFamily="34" charset="-120"/>
                        </a:rPr>
                        <a:t>Robustness</a:t>
                      </a:r>
                      <a:endParaRPr lang="en-US" sz="950" dirty="0">
                        <a:latin typeface="Georgia" charset="0"/>
                        <a:ea typeface="Georgia" charset="0"/>
                        <a:cs typeface="Georgia"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1D1B18"/>
                          </a:solidFill>
                          <a:latin typeface="Arial" pitchFamily="34" charset="0"/>
                          <a:ea typeface="Arial" pitchFamily="34" charset="-122"/>
                          <a:cs typeface="Arial" pitchFamily="34" charset="-120"/>
                        </a:rPr>
                        <a:t>+0.083 pts late under closure</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dirty="0">
                          <a:solidFill>
                            <a:srgbClr val="6B665D"/>
                          </a:solidFill>
                          <a:latin typeface="Arial" pitchFamily="34" charset="0"/>
                          <a:ea typeface="Arial" pitchFamily="34" charset="-122"/>
                          <a:cs typeface="Arial" pitchFamily="34" charset="-120"/>
                        </a:rPr>
                        <a:t>random +4.000</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c>
                  <a:txBody>
                    <a:bodyPr/>
                    <a:lstStyle/>
                    <a:p>
                      <a:pPr indent="0" marL="0">
                        <a:buNone/>
                      </a:pPr>
                      <a:r>
                        <a:rPr lang="en-US" sz="850" b="1" dirty="0">
                          <a:solidFill>
                            <a:srgbClr val="2F5D46"/>
                          </a:solidFill>
                          <a:latin typeface="Arial" pitchFamily="34" charset="0"/>
                          <a:ea typeface="Arial" pitchFamily="34" charset="-122"/>
                          <a:cs typeface="Arial" pitchFamily="34" charset="-120"/>
                        </a:rPr>
                        <a:t>Steadier</a:t>
                      </a:r>
                      <a:endParaRPr lang="en-US" sz="850" dirty="0">
                        <a:latin typeface="Arial" charset="0"/>
                        <a:ea typeface="Arial" charset="0"/>
                        <a:cs typeface="Arial" charset="0"/>
                      </a:endParaRPr>
                    </a:p>
                  </a:txBody>
                  <a:tcPr marL="0" marR="50800" marT="25400" marB="25400" anchor="ctr">
                    <a:lnL w="0" cap="flat" cmpd="sng" algn="ctr">
                      <a:noFill/>
                    </a:lnL>
                    <a:lnR w="0" cap="flat" cmpd="sng" algn="ctr">
                      <a:noFill/>
                    </a:lnR>
                    <a:lnT w="0" cap="flat" cmpd="sng" algn="ctr">
                      <a:noFill/>
                    </a:lnT>
                    <a:lnB w="9525" cap="flat" cmpd="sng" algn="ctr">
                      <a:solidFill>
                        <a:srgbClr val="E4DDD0"/>
                      </a:solidFill>
                      <a:prstDash val="solid"/>
                      <a:round/>
                      <a:headEnd type="none" w="med" len="med"/>
                      <a:tailEnd type="none" w="med" len="med"/>
                    </a:lnB>
                  </a:tcPr>
                </a:tc>
              </a:tr>
            </a:tbl>
          </a:graphicData>
        </a:graphic>
      </p:graphicFrame>
      <p:sp>
        <p:nvSpPr>
          <p:cNvPr id="12" name="Text 9"/>
          <p:cNvSpPr txBox="1"/>
          <p:nvPr/>
        </p:nvSpPr>
        <p:spPr>
          <a:xfrm>
            <a:off x="4663440" y="3182112"/>
            <a:ext cx="39319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13" name="Text 10"/>
          <p:cNvSpPr txBox="1"/>
          <p:nvPr/>
        </p:nvSpPr>
        <p:spPr>
          <a:xfrm>
            <a:off x="4663440" y="338328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14" name="Text 11"/>
          <p:cNvSpPr txBox="1"/>
          <p:nvPr/>
        </p:nvSpPr>
        <p:spPr>
          <a:xfrm>
            <a:off x="4919472" y="338328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Impossible date</a:t>
            </a:r>
            <a:endParaRPr lang="en-US" sz="900" dirty="0"/>
          </a:p>
        </p:txBody>
      </p:sp>
      <p:sp>
        <p:nvSpPr>
          <p:cNvPr id="15" name="Text 12"/>
          <p:cNvSpPr txBox="1"/>
          <p:nvPr/>
        </p:nvSpPr>
        <p:spPr>
          <a:xfrm>
            <a:off x="4919472" y="353872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 two-shop split; no booking</a:t>
            </a:r>
            <a:endParaRPr lang="en-US" sz="800" dirty="0"/>
          </a:p>
        </p:txBody>
      </p:sp>
      <p:sp>
        <p:nvSpPr>
          <p:cNvPr id="16" name="Text 13"/>
          <p:cNvSpPr txBox="1"/>
          <p:nvPr/>
        </p:nvSpPr>
        <p:spPr>
          <a:xfrm>
            <a:off x="4663440" y="374904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17" name="Text 14"/>
          <p:cNvSpPr txBox="1"/>
          <p:nvPr/>
        </p:nvSpPr>
        <p:spPr>
          <a:xfrm>
            <a:off x="4919472" y="374904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Workshop that cannot take it</a:t>
            </a:r>
            <a:endParaRPr lang="en-US" sz="900" dirty="0"/>
          </a:p>
        </p:txBody>
      </p:sp>
      <p:sp>
        <p:nvSpPr>
          <p:cNvPr id="18" name="Text 15"/>
          <p:cNvSpPr txBox="1"/>
          <p:nvPr/>
        </p:nvSpPr>
        <p:spPr>
          <a:xfrm>
            <a:off x="4919472" y="390448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alternative</a:t>
            </a:r>
            <a:endParaRPr lang="en-US" sz="800" dirty="0"/>
          </a:p>
        </p:txBody>
      </p:sp>
      <p:sp>
        <p:nvSpPr>
          <p:cNvPr id="19" name="Text 16"/>
          <p:cNvSpPr txBox="1"/>
          <p:nvPr/>
        </p:nvSpPr>
        <p:spPr>
          <a:xfrm>
            <a:off x="4663440" y="4114800"/>
            <a:ext cx="228600" cy="274320"/>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20" name="Text 17"/>
          <p:cNvSpPr txBox="1"/>
          <p:nvPr/>
        </p:nvSpPr>
        <p:spPr>
          <a:xfrm>
            <a:off x="4919472" y="4114800"/>
            <a:ext cx="3657600" cy="164592"/>
          </a:xfrm>
          <a:prstGeom prst="rect">
            <a:avLst/>
          </a:prstGeom>
          <a:noFill/>
          <a:ln/>
        </p:spPr>
        <p:txBody>
          <a:bodyPr wrap="square" lIns="0" tIns="0" rIns="0" bIns="0" rtlCol="0" anchor="t"/>
          <a:lstStyle/>
          <a:p>
            <a:pPr indent="0" marL="0">
              <a:buNone/>
            </a:pPr>
            <a:r>
              <a:rPr lang="en-US" sz="900" b="1" dirty="0">
                <a:solidFill>
                  <a:srgbClr val="1D1B18"/>
                </a:solidFill>
                <a:latin typeface="Arial" pitchFamily="34" charset="0"/>
                <a:ea typeface="Arial" pitchFamily="34" charset="-122"/>
                <a:cs typeface="Arial" pitchFamily="34" charset="-120"/>
              </a:rPr>
              <a:t>Misheard order on the floor</a:t>
            </a:r>
            <a:endParaRPr lang="en-US" sz="900" dirty="0"/>
          </a:p>
        </p:txBody>
      </p:sp>
      <p:sp>
        <p:nvSpPr>
          <p:cNvPr id="21" name="Text 18"/>
          <p:cNvSpPr txBox="1"/>
          <p:nvPr/>
        </p:nvSpPr>
        <p:spPr>
          <a:xfrm>
            <a:off x="4919472" y="4270248"/>
            <a:ext cx="3657600" cy="18288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pieces read back from orders.csv; slide to commit</a:t>
            </a:r>
            <a:endParaRPr lang="en-US" sz="800" dirty="0"/>
          </a:p>
        </p:txBody>
      </p:sp>
      <p:sp>
        <p:nvSpPr>
          <p:cNvPr id="22" name="Text 19"/>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presets chosen on seeds 6000-6029, course seeds run twice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B9AF9F"/>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B9AF9F"/>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352044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DEMO VIDEO  </a:t>
            </a:r>
            <a:r>
              <a:rPr lang="en-US" sz="1000" dirty="0">
                <a:solidFill>
                  <a:srgbClr val="F4EFE6"/>
                </a:solidFill>
                <a:latin typeface="Arial" pitchFamily="34" charset="0"/>
                <a:ea typeface="Arial" pitchFamily="34" charset="-122"/>
                <a:cs typeface="Arial" pitchFamily="34" charset="-120"/>
              </a:rPr>
              <a:t>[YouTube link: add after upload]</a:t>
            </a:r>
            <a:endParaRPr lang="en-US" sz="1000" dirty="0"/>
          </a:p>
        </p:txBody>
      </p:sp>
      <p:sp>
        <p:nvSpPr>
          <p:cNvPr id="7" name="Text 5"/>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8" name="Text 6"/>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B9AF9F"/>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2026-10-29T13:20:07Z</dcterms:created>
  <dcterms:modified xsi:type="dcterms:W3CDTF">2026-10-29T13:20:07Z</dcterms:modified>
</cp:coreProperties>
</file>