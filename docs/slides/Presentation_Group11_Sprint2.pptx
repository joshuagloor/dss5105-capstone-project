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Cover (0:00-0:13)  Joshua
"Hi, we're Group 11, Track 2. This is StitchFlow: say an order, and it finds the right workshop.
Our primary objective is minimising lateness, and our secondary is minimising defects."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Objective and focus (0:13-0:45)  Joshua
"Our user is SweaterCo's dispatcher, out on the factory floor. Requests arrive in a group chat.
A wrong pick means a late order or a bad batch, so the dispatcher needs a safe answer in
seconds, with a record of why. That one job is our scope.
Since Sprint 1, we beat earliest finish, which tied us, our defects and fairness settings beat
their baselines, and the dispatcher can now talk to the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The user journey (0:45-1:08)  Charles
"We designed the journey for the floor. The dispatcher holds the mic and says the order. The desk answers
on screen and out loud: the best workshop, when it arrives, and why. 'Book it' opens a sheet, and
a slide confirms. It offers to remember the constraint, and uses it on the next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Architecture (1:08-1:35)  Charles
"This is what we built. Speech becomes text in the browser, and Python answers commands like
'book it' itself. Everything else is one structured-output call, and every field must quote the
message. Deterministic tools then look up the order, apply remembered rules, check eligibility
and rank, so the model never does arithmetic. A slide confirms, and SQLite keeps the booking and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Key choices (1:35-1:53)  Charles
"We chose a fixed workflow over a ReAct agent, because every request needs the same checks;
exact lookups over embeddings, so we never fetch the wrong order; exact rules in SQLite over a
vector store; and a slide, never a spoken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Progress (1:53-2:13)  Saadhvika
"Every feature has an owner. Six of eleven are done: the voice assistant, memory, capacity
questions, the four-objective scorer, the desk redesign and the AWS deployment. In progress:
clarification fixes, and our evaluation set. Planned: Lynn's live run on the full set, and a
usability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Validation plan (2:13-2:55)  Niyanthri
"We measure late batches and late days, our primary objective, in the course simulator, with and
without a closure. Baselines are random, biggest capacity and cheapest, plus earliest
finish. The minimum is to beat all three
baselines, and handle all 30 inbox requests. Today: 1.4 percent late against 1.7, and 68 percent
fewer late days. For language, the 30 inbox requests plus 50 new held-out ones, labelled
separately, then agreed. Hard cases: an impossible date, a workshop that can't take it, and a
misheard order. We give options, refuse with a reason, and read the order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Demo (2:55-4:50)  Charles, then Lynn
Take A ends here:
  Charles: "Now the demo."
Take B, in the app. Times are from the start of Take B. Speak only when the app is quiet.
[0:00] Charles: "I'm Charles, playing the dispatcher. The rings show how busy each workshop is,
       and OldMill is grey because it's suspended."
[0:08] Hold the mic and say: "ORD-109, 500 vests for Harbor Knits, due April 13. Keep it away
       from BudgetWorks."
       Let the answer play: "GiantWeave can deliver order 109 by Thursday 9 April, 3.71 days
       early. Cost 550, defect risk 6.0%. Say book it, or tap book, to confirm."
[0:30] Tap "Compare 4 workshops", then "Can't take it", then close them. (optional)
       Charles: "Here are the other options, and why the rest can't take it. BudgetWorks is out
       because I asked."
[0:40] Hold the mic and say: "Book it." The sheet opens.
       Charles: "Nothing is saved until I slide." Slide to confirm.
[0:52] On the receipt, tap "Remember".
       Charles: "And it offers to remember that rule."
[0:58] Hold the mic and say: "ORD-081 for Harbor Knits needs to go out, due April 20."
       Let the answer play, then point at the memory note on the card.
       Charles: "Same customer, so the rule is applied, and the card says it came from memory."
[1:22] Lynn: "Now a hard case, straight from the inbox."
       Charles holds the mic and says: "QuickStitch for the scarves on ORD-103?"
       Let the answer play: QuickStitch cannot make scarves, no workshop meets 4 April, and the
       best alternative is 13.44 days late.
[1:45] Lynn: "It refuses, gives the earliest option and a two-shop split, and books nothing."
[1:52] Open "Behind the answer". (optional)
       Lynn: "This panel shows what the model read, with quotes, and what Python computed."
[1:59] Stop recording.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Thank you (not recorded)
The video ends on the demo, so this slide stays in the deck for the Q&amp;A only.
AFTER RECORDING
- Upload the .mp4 to YouTube as unlisted, then open the link in a private window.
- Put the link on slides 1 and 9:
    DEMO_LINK=https://youtu.be/... node scripts/build_sprint2_deck.mjs
  then export the PDF again, and open the GitHub link in a private window too.
- One member uploads the .mp4 and the .pptx (or .pdf) to Canvas by 15:00.
Q&amp;A PREPARATION (not read aloud)
- Ruby (Duong Thanh Nhan) cannot attend: Ruby emails Salman and Jack with the reason before the
  session, and slide 1 shows "Absent" with that reason. Any member may be asked about Ruby's desk
  redesign: one answer at a time, objective panel, saved plan, Show working.
- Who is the user? SweaterCo's dispatcher, the person who handles the dispatch chat. Five
  people post requests there (Ravi, Priya, Mei, Chen and the boss). In the demo Charles plays
  the dispatcher and says requests from the chat out loud: Mei's R25 and the boss's R14.
- Why "StitchFlow"? Stitch for garments, flow for orders moving to the right workshop.
  QuickStitch is one of the eight workshops, not us.
- Is the demo real time? Yes. It is one take with no cuts; only the start and end are trimmed.
- Why voice? The track's bonus asks how a dispatcher would really use it: on the floor, on a
  phone. Typing still works everywhere, and the course inbox is still evaluated as text.
- Can a misheard "yes" book something? No. "Book it" only opens the sheet. Saving needs a
  name and the slide, and the preview is recomputed and checked for changes first.
- Does the model see costs or queues? No. It sees the message, the conversation, and the
  workshop, customer and product names. Python computes every number.
- What does memory store? Constraints from confirmed bookings, with who said them and their
  words; a log of answers and bookings; the dispatcher's name and priorities. Nothing is
  learned from the model alone, and a rule can be paused.
- Did you tune on the course seeds? Presets were chosen on development seeds 6000-6029. The
  course seeds were run twice: after the first run a desk case (R12) showed reservation could
  prefer a slightly late shop, so we added an on-time-first charge and re-ran everything. It is
  disclosed in docs/OBJECTIVE_STUDY.md; the default's numbers did not change.
- Where do baselines still win? Under the closure our default is 0.17 points worse on late
  batches than earliest finish. The Sprint 1 lateness preset moves fewer late days under the
  closure than our robustness preset. We do not claim a universal robustness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AF8F4"/>
        </a:solidFill>
      </p:bgPr>
    </p:bg>
    <p:spTree>
      <p:nvGrpSpPr>
        <p:cNvPr id="1" name=""/>
        <p:cNvGrpSpPr/>
        <p:nvPr/>
      </p:nvGrpSpPr>
      <p:grpSpPr>
        <a:xfrm>
          <a:off x="0" y="0"/>
          <a:ext cx="0" cy="0"/>
          <a:chOff x="0" y="0"/>
          <a:chExt cx="0" cy="0"/>
        </a:xfrm>
      </p:grpSpPr>
      <p:sp>
        <p:nvSpPr>
          <p:cNvPr id="2" name="Text 0"/>
          <p:cNvSpPr/>
          <p:nvPr/>
        </p:nvSpPr>
        <p:spPr>
          <a:xfrm>
            <a:off x="548640" y="4800600"/>
            <a:ext cx="6400800" cy="201168"/>
          </a:xfrm>
          <a:prstGeom prst="rect">
            <a:avLst/>
          </a:prstGeom>
          <a:noFill/>
          <a:ln/>
        </p:spPr>
        <p:txBody>
          <a:bodyPr wrap="square" lIns="0" tIns="0" rIns="0" bIns="0" rtlCol="0" anchor="ctr"/>
          <a:lstStyle/>
          <a:p>
            <a:pPr indent="0" marL="0">
              <a:buNone/>
            </a:pPr>
            <a:r>
              <a:rPr lang="en-US" sz="700" spc="150" kern="0" dirty="0">
                <a:solidFill>
                  <a:srgbClr val="6B665D"/>
                </a:solidFill>
                <a:latin typeface="Arial" pitchFamily="34" charset="0"/>
                <a:ea typeface="Arial" pitchFamily="34" charset="-122"/>
                <a:cs typeface="Arial" pitchFamily="34" charset="-120"/>
              </a:rPr>
              <a:t>STITCHFLOW  /  QUICK-RESPONSE SUBCONTRACTING DESK  /  GROUP 11  /  SPRINT 2</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D1B18"/>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384048"/>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SWEATERCO</a:t>
            </a:r>
            <a:endParaRPr lang="en-US" sz="1300" dirty="0"/>
          </a:p>
        </p:txBody>
      </p:sp>
      <p:sp>
        <p:nvSpPr>
          <p:cNvPr id="3" name="Text 1"/>
          <p:cNvSpPr txBox="1"/>
          <p:nvPr/>
        </p:nvSpPr>
        <p:spPr>
          <a:xfrm>
            <a:off x="548640" y="914400"/>
            <a:ext cx="548640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GROUP 11  /  TRACK 2  /  SPRINT 2 REVIEW</a:t>
            </a:r>
            <a:endParaRPr lang="en-US" sz="850" dirty="0"/>
          </a:p>
        </p:txBody>
      </p:sp>
      <p:sp>
        <p:nvSpPr>
          <p:cNvPr id="4" name="Text 2"/>
          <p:cNvSpPr txBox="1"/>
          <p:nvPr/>
        </p:nvSpPr>
        <p:spPr>
          <a:xfrm>
            <a:off x="548640" y="1143000"/>
            <a:ext cx="5669280" cy="731520"/>
          </a:xfrm>
          <a:prstGeom prst="rect">
            <a:avLst/>
          </a:prstGeom>
          <a:noFill/>
          <a:ln/>
        </p:spPr>
        <p:txBody>
          <a:bodyPr wrap="square" lIns="0" tIns="0" rIns="0" bIns="0" rtlCol="0" anchor="ctr"/>
          <a:lstStyle/>
          <a:p>
            <a:pPr indent="0" marL="0">
              <a:buNone/>
            </a:pPr>
            <a:r>
              <a:rPr lang="en-US" sz="4400" dirty="0">
                <a:solidFill>
                  <a:srgbClr val="F4EFE6"/>
                </a:solidFill>
                <a:latin typeface="Georgia" pitchFamily="34" charset="0"/>
                <a:ea typeface="Georgia" pitchFamily="34" charset="-122"/>
                <a:cs typeface="Georgia" pitchFamily="34" charset="-120"/>
              </a:rPr>
              <a:t>StitchFlow</a:t>
            </a:r>
            <a:endParaRPr lang="en-US" sz="4400" dirty="0"/>
          </a:p>
        </p:txBody>
      </p:sp>
      <p:sp>
        <p:nvSpPr>
          <p:cNvPr id="5" name="Text 3"/>
          <p:cNvSpPr txBox="1"/>
          <p:nvPr/>
        </p:nvSpPr>
        <p:spPr>
          <a:xfrm>
            <a:off x="548640" y="1874520"/>
            <a:ext cx="5669280" cy="329184"/>
          </a:xfrm>
          <a:prstGeom prst="rect">
            <a:avLst/>
          </a:prstGeom>
          <a:noFill/>
          <a:ln/>
        </p:spPr>
        <p:txBody>
          <a:bodyPr wrap="square" lIns="0" tIns="0" rIns="0" bIns="0" rtlCol="0" anchor="ctr"/>
          <a:lstStyle/>
          <a:p>
            <a:pPr indent="0" marL="0">
              <a:buNone/>
            </a:pPr>
            <a:r>
              <a:rPr lang="en-US" sz="1700" dirty="0">
                <a:solidFill>
                  <a:srgbClr val="F4EFE6"/>
                </a:solidFill>
                <a:latin typeface="Georgia" pitchFamily="34" charset="0"/>
                <a:ea typeface="Georgia" pitchFamily="34" charset="-122"/>
                <a:cs typeface="Georgia" pitchFamily="34" charset="-120"/>
              </a:rPr>
              <a:t>The Quick-Response Subcontracting Desk</a:t>
            </a:r>
            <a:endParaRPr lang="en-US" sz="1700" dirty="0"/>
          </a:p>
        </p:txBody>
      </p:sp>
      <p:sp>
        <p:nvSpPr>
          <p:cNvPr id="6" name="Text 4"/>
          <p:cNvSpPr txBox="1"/>
          <p:nvPr/>
        </p:nvSpPr>
        <p:spPr>
          <a:xfrm>
            <a:off x="548640" y="2231136"/>
            <a:ext cx="5669280" cy="329184"/>
          </a:xfrm>
          <a:prstGeom prst="rect">
            <a:avLst/>
          </a:prstGeom>
          <a:noFill/>
          <a:ln/>
        </p:spPr>
        <p:txBody>
          <a:bodyPr wrap="square" lIns="0" tIns="0" rIns="0" bIns="0" rtlCol="0" anchor="ctr"/>
          <a:lstStyle/>
          <a:p>
            <a:pPr indent="0" marL="0">
              <a:buNone/>
            </a:pPr>
            <a:r>
              <a:rPr lang="en-US" sz="1300" i="1" dirty="0">
                <a:solidFill>
                  <a:srgbClr val="B9AF9F"/>
                </a:solidFill>
                <a:latin typeface="Georgia" pitchFamily="34" charset="0"/>
                <a:ea typeface="Georgia" pitchFamily="34" charset="-122"/>
                <a:cs typeface="Georgia" pitchFamily="34" charset="-120"/>
              </a:rPr>
              <a:t>Say the order. StitchFlow finds the right workshop.</a:t>
            </a:r>
            <a:endParaRPr lang="en-US" sz="1300" dirty="0"/>
          </a:p>
        </p:txBody>
      </p:sp>
      <p:sp>
        <p:nvSpPr>
          <p:cNvPr id="7" name="Shape 5"/>
          <p:cNvSpPr/>
          <p:nvPr/>
        </p:nvSpPr>
        <p:spPr>
          <a:xfrm>
            <a:off x="548640" y="2779776"/>
            <a:ext cx="2377440" cy="329184"/>
          </a:xfrm>
          <a:prstGeom prst="roundRect">
            <a:avLst>
              <a:gd name="adj" fmla="val 50000"/>
            </a:avLst>
          </a:prstGeom>
          <a:solidFill>
            <a:srgbClr val="1D1B18"/>
          </a:solidFill>
          <a:ln w="12700">
            <a:solidFill>
              <a:srgbClr val="A3804C"/>
            </a:solidFill>
            <a:prstDash val="solid"/>
          </a:ln>
        </p:spPr>
      </p:sp>
      <p:sp>
        <p:nvSpPr>
          <p:cNvPr id="8" name="Text 6"/>
          <p:cNvSpPr txBox="1"/>
          <p:nvPr/>
        </p:nvSpPr>
        <p:spPr>
          <a:xfrm>
            <a:off x="5486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PRIMARY  </a:t>
            </a:r>
            <a:r>
              <a:rPr lang="en-US" sz="850" b="1" spc="120" kern="0" dirty="0">
                <a:solidFill>
                  <a:srgbClr val="F4EFE6"/>
                </a:solidFill>
                <a:latin typeface="Arial" pitchFamily="34" charset="0"/>
                <a:ea typeface="Arial" pitchFamily="34" charset="-122"/>
                <a:cs typeface="Arial" pitchFamily="34" charset="-120"/>
              </a:rPr>
              <a:t>MINIMISE LATENESS</a:t>
            </a:r>
            <a:endParaRPr lang="en-US" sz="850" dirty="0"/>
          </a:p>
        </p:txBody>
      </p:sp>
      <p:sp>
        <p:nvSpPr>
          <p:cNvPr id="9" name="Shape 7"/>
          <p:cNvSpPr/>
          <p:nvPr/>
        </p:nvSpPr>
        <p:spPr>
          <a:xfrm>
            <a:off x="3063240" y="2779776"/>
            <a:ext cx="2377440" cy="329184"/>
          </a:xfrm>
          <a:prstGeom prst="roundRect">
            <a:avLst>
              <a:gd name="adj" fmla="val 50000"/>
            </a:avLst>
          </a:prstGeom>
          <a:solidFill>
            <a:srgbClr val="1D1B18"/>
          </a:solidFill>
          <a:ln w="12700">
            <a:solidFill>
              <a:srgbClr val="A3804C"/>
            </a:solidFill>
            <a:prstDash val="solid"/>
          </a:ln>
        </p:spPr>
      </p:sp>
      <p:sp>
        <p:nvSpPr>
          <p:cNvPr id="10" name="Text 8"/>
          <p:cNvSpPr txBox="1"/>
          <p:nvPr/>
        </p:nvSpPr>
        <p:spPr>
          <a:xfrm>
            <a:off x="30632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SECONDARY  </a:t>
            </a:r>
            <a:r>
              <a:rPr lang="en-US" sz="850" b="1" spc="120" kern="0" dirty="0">
                <a:solidFill>
                  <a:srgbClr val="F4EFE6"/>
                </a:solidFill>
                <a:latin typeface="Arial" pitchFamily="34" charset="0"/>
                <a:ea typeface="Arial" pitchFamily="34" charset="-122"/>
                <a:cs typeface="Arial" pitchFamily="34" charset="-120"/>
              </a:rPr>
              <a:t>MINIMISE DEFECTS</a:t>
            </a:r>
            <a:endParaRPr lang="en-US" sz="850" dirty="0"/>
          </a:p>
        </p:txBody>
      </p:sp>
      <p:sp>
        <p:nvSpPr>
          <p:cNvPr id="11" name="Text 9"/>
          <p:cNvSpPr txBox="1"/>
          <p:nvPr/>
        </p:nvSpPr>
        <p:spPr>
          <a:xfrm>
            <a:off x="54864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Chen Zepeng (A0156784N)</a:t>
            </a:r>
            <a:endParaRPr lang="en-US" sz="800" dirty="0"/>
          </a:p>
        </p:txBody>
      </p:sp>
      <p:sp>
        <p:nvSpPr>
          <p:cNvPr id="12" name="Text 10"/>
          <p:cNvSpPr txBox="1"/>
          <p:nvPr/>
        </p:nvSpPr>
        <p:spPr>
          <a:xfrm>
            <a:off x="548640" y="3392424"/>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3" name="Text 11"/>
          <p:cNvSpPr txBox="1"/>
          <p:nvPr/>
        </p:nvSpPr>
        <p:spPr>
          <a:xfrm>
            <a:off x="54864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Duong Thanh Nhan (A0296326W)</a:t>
            </a:r>
            <a:endParaRPr lang="en-US" sz="800" dirty="0"/>
          </a:p>
        </p:txBody>
      </p:sp>
      <p:sp>
        <p:nvSpPr>
          <p:cNvPr id="14" name="Text 12"/>
          <p:cNvSpPr txBox="1"/>
          <p:nvPr/>
        </p:nvSpPr>
        <p:spPr>
          <a:xfrm>
            <a:off x="548640" y="3703320"/>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Absent: business trip to China</a:t>
            </a:r>
            <a:endParaRPr lang="en-US" sz="700" dirty="0"/>
          </a:p>
        </p:txBody>
      </p:sp>
      <p:sp>
        <p:nvSpPr>
          <p:cNvPr id="15" name="Text 13"/>
          <p:cNvSpPr txBox="1"/>
          <p:nvPr/>
        </p:nvSpPr>
        <p:spPr>
          <a:xfrm>
            <a:off x="54864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Joshua Wesley Gloor (A0296944J)</a:t>
            </a:r>
            <a:endParaRPr lang="en-US" sz="800" dirty="0"/>
          </a:p>
        </p:txBody>
      </p:sp>
      <p:sp>
        <p:nvSpPr>
          <p:cNvPr id="16" name="Text 14"/>
          <p:cNvSpPr txBox="1"/>
          <p:nvPr/>
        </p:nvSpPr>
        <p:spPr>
          <a:xfrm>
            <a:off x="548640" y="4014216"/>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7" name="Text 15"/>
          <p:cNvSpPr txBox="1"/>
          <p:nvPr/>
        </p:nvSpPr>
        <p:spPr>
          <a:xfrm>
            <a:off x="324612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Sridhar Niyanthri Rajeswari (A0351151U)</a:t>
            </a:r>
            <a:endParaRPr lang="en-US" sz="800" dirty="0"/>
          </a:p>
        </p:txBody>
      </p:sp>
      <p:sp>
        <p:nvSpPr>
          <p:cNvPr id="18" name="Text 16"/>
          <p:cNvSpPr txBox="1"/>
          <p:nvPr/>
        </p:nvSpPr>
        <p:spPr>
          <a:xfrm>
            <a:off x="3246120" y="3392424"/>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9" name="Text 17"/>
          <p:cNvSpPr txBox="1"/>
          <p:nvPr/>
        </p:nvSpPr>
        <p:spPr>
          <a:xfrm>
            <a:off x="324612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Sundara Rajan Saadhvika (A0352594W)</a:t>
            </a:r>
            <a:endParaRPr lang="en-US" sz="800" dirty="0"/>
          </a:p>
        </p:txBody>
      </p:sp>
      <p:sp>
        <p:nvSpPr>
          <p:cNvPr id="20" name="Text 18"/>
          <p:cNvSpPr txBox="1"/>
          <p:nvPr/>
        </p:nvSpPr>
        <p:spPr>
          <a:xfrm>
            <a:off x="3246120" y="3703320"/>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21" name="Text 19"/>
          <p:cNvSpPr txBox="1"/>
          <p:nvPr/>
        </p:nvSpPr>
        <p:spPr>
          <a:xfrm>
            <a:off x="324612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Tang Zheling (A0352177B)</a:t>
            </a:r>
            <a:endParaRPr lang="en-US" sz="800" dirty="0"/>
          </a:p>
        </p:txBody>
      </p:sp>
      <p:sp>
        <p:nvSpPr>
          <p:cNvPr id="22" name="Text 20"/>
          <p:cNvSpPr txBox="1"/>
          <p:nvPr/>
        </p:nvSpPr>
        <p:spPr>
          <a:xfrm>
            <a:off x="3246120" y="4014216"/>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23" name="Text 21"/>
          <p:cNvSpPr txBox="1"/>
          <p:nvPr/>
        </p:nvSpPr>
        <p:spPr>
          <a:xfrm>
            <a:off x="548640" y="4206240"/>
            <a:ext cx="5669280" cy="182880"/>
          </a:xfrm>
          <a:prstGeom prst="rect">
            <a:avLst/>
          </a:prstGeom>
          <a:noFill/>
          <a:ln/>
        </p:spPr>
        <p:txBody>
          <a:bodyPr wrap="square" lIns="0" tIns="0" rIns="0" bIns="0" rtlCol="0" anchor="t"/>
          <a:lstStyle/>
          <a:p>
            <a:pPr indent="0" marL="0">
              <a:buNone/>
            </a:pPr>
            <a:r>
              <a:rPr lang="en-US" sz="850" b="1" spc="50" kern="0" dirty="0">
                <a:solidFill>
                  <a:srgbClr val="A3804C"/>
                </a:solidFill>
                <a:latin typeface="Arial" pitchFamily="34" charset="0"/>
                <a:ea typeface="Arial" pitchFamily="34" charset="-122"/>
                <a:cs typeface="Arial" pitchFamily="34" charset="-120"/>
              </a:rPr>
              <a:t>GITHUB  </a:t>
            </a:r>
            <a:r>
              <a:rPr lang="en-US" sz="850" spc="50" kern="0" dirty="0">
                <a:solidFill>
                  <a:srgbClr val="F4EFE6"/>
                </a:solidFill>
                <a:latin typeface="Arial" pitchFamily="34" charset="0"/>
                <a:ea typeface="Arial" pitchFamily="34" charset="-122"/>
                <a:cs typeface="Arial" pitchFamily="34" charset="-120"/>
              </a:rPr>
              <a:t>github.com/JoshuaGloor/dss5105-capstone-project</a:t>
            </a:r>
            <a:endParaRPr lang="en-US" sz="850" dirty="0"/>
          </a:p>
        </p:txBody>
      </p:sp>
      <p:sp>
        <p:nvSpPr>
          <p:cNvPr id="24" name="Text 22"/>
          <p:cNvSpPr txBox="1"/>
          <p:nvPr/>
        </p:nvSpPr>
        <p:spPr>
          <a:xfrm>
            <a:off x="548640" y="4425696"/>
            <a:ext cx="5669280" cy="182880"/>
          </a:xfrm>
          <a:prstGeom prst="rect">
            <a:avLst/>
          </a:prstGeom>
          <a:noFill/>
          <a:ln/>
        </p:spPr>
        <p:txBody>
          <a:bodyPr wrap="square" lIns="0" tIns="0" rIns="0" bIns="0" rtlCol="0" anchor="t"/>
          <a:lstStyle/>
          <a:p>
            <a:pPr indent="0" marL="0">
              <a:buNone/>
            </a:pPr>
            <a:r>
              <a:rPr lang="en-US" sz="850" b="1" spc="50" kern="0" dirty="0">
                <a:solidFill>
                  <a:srgbClr val="A3804C"/>
                </a:solidFill>
                <a:latin typeface="Arial" pitchFamily="34" charset="0"/>
                <a:ea typeface="Arial" pitchFamily="34" charset="-122"/>
                <a:cs typeface="Arial" pitchFamily="34" charset="-120"/>
              </a:rPr>
              <a:t>DEMO VIDEO  </a:t>
            </a:r>
            <a:r>
              <a:rPr lang="en-US" sz="850" spc="50" kern="0" dirty="0">
                <a:solidFill>
                  <a:srgbClr val="F4EFE6"/>
                </a:solidFill>
                <a:latin typeface="Arial" pitchFamily="34" charset="0"/>
                <a:ea typeface="Arial" pitchFamily="34" charset="-122"/>
                <a:cs typeface="Arial" pitchFamily="34" charset="-120"/>
              </a:rPr>
              <a:t>[YouTube link: add after upload]</a:t>
            </a:r>
            <a:endParaRPr lang="en-US" sz="850" dirty="0"/>
          </a:p>
        </p:txBody>
      </p:sp>
      <p:sp>
        <p:nvSpPr>
          <p:cNvPr id="25" name="Text 23"/>
          <p:cNvSpPr txBox="1"/>
          <p:nvPr/>
        </p:nvSpPr>
        <p:spPr>
          <a:xfrm>
            <a:off x="548640" y="4754880"/>
            <a:ext cx="5486400" cy="182880"/>
          </a:xfrm>
          <a:prstGeom prst="rect">
            <a:avLst/>
          </a:prstGeom>
          <a:noFill/>
          <a:ln/>
        </p:spPr>
        <p:txBody>
          <a:bodyPr wrap="square" lIns="0" tIns="0" rIns="0" bIns="0" rtlCol="0" anchor="t"/>
          <a:lstStyle/>
          <a:p>
            <a:pPr indent="0" marL="0">
              <a:buNone/>
            </a:pPr>
            <a:r>
              <a:rPr lang="en-US" sz="700" spc="200" kern="0" dirty="0">
                <a:solidFill>
                  <a:srgbClr val="B9AF9F"/>
                </a:solidFill>
                <a:latin typeface="Arial" pitchFamily="34" charset="0"/>
                <a:ea typeface="Arial" pitchFamily="34" charset="-122"/>
                <a:cs typeface="Arial" pitchFamily="34" charset="-120"/>
              </a:rPr>
              <a:t>DSS5105 CAPSTONE  /  30 OCTOBER 2026</a:t>
            </a:r>
            <a:endParaRPr lang="en-US" sz="700" dirty="0"/>
          </a:p>
        </p:txBody>
      </p:sp>
      <p:pic>
        <p:nvPicPr>
          <p:cNvPr id="26" name="Image 0" descr="The dispatch assistant on a phone: a greeting, the eight workshops with their queue rings, and example requests">    </p:cNvPr>
          <p:cNvPicPr>
            <a:picLocks noChangeAspect="1"/>
          </p:cNvPicPr>
          <p:nvPr/>
        </p:nvPicPr>
        <p:blipFill>
          <a:blip r:embed="rId1"/>
          <a:stretch>
            <a:fillRect/>
          </a:stretch>
        </p:blipFill>
        <p:spPr>
          <a:xfrm>
            <a:off x="6537960" y="411480"/>
            <a:ext cx="2108934" cy="434340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02   </a:t>
            </a:r>
            <a:r>
              <a:rPr lang="en-US" sz="850" b="1" spc="300" kern="0" dirty="0">
                <a:solidFill>
                  <a:srgbClr val="7D5E30"/>
                </a:solidFill>
                <a:latin typeface="Arial" pitchFamily="34" charset="0"/>
                <a:ea typeface="Arial" pitchFamily="34" charset="-122"/>
                <a:cs typeface="Arial" pitchFamily="34" charset="-120"/>
              </a:rPr>
              <a:t>OBJECTIVE AND FOCUS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dispatcher decides on the factory floor, in seconds</a:t>
            </a:r>
            <a:endParaRPr lang="en-US" sz="2300" dirty="0"/>
          </a:p>
        </p:txBody>
      </p:sp>
      <p:sp>
        <p:nvSpPr>
          <p:cNvPr id="4" name="Shape 2"/>
          <p:cNvSpPr/>
          <p:nvPr/>
        </p:nvSpPr>
        <p:spPr>
          <a:xfrm>
            <a:off x="548640" y="1234440"/>
            <a:ext cx="3520440" cy="1051560"/>
          </a:xfrm>
          <a:prstGeom prst="rect">
            <a:avLst/>
          </a:prstGeom>
          <a:solidFill>
            <a:srgbClr val="FFFFFF"/>
          </a:solidFill>
          <a:ln w="9525">
            <a:solidFill>
              <a:srgbClr val="E4DDD0"/>
            </a:solidFill>
            <a:prstDash val="solid"/>
          </a:ln>
        </p:spPr>
      </p:sp>
      <p:sp>
        <p:nvSpPr>
          <p:cNvPr id="5" name="Text 3"/>
          <p:cNvSpPr txBox="1"/>
          <p:nvPr/>
        </p:nvSpPr>
        <p:spPr>
          <a:xfrm>
            <a:off x="731520" y="1344168"/>
            <a:ext cx="310896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THE USER</a:t>
            </a:r>
            <a:endParaRPr lang="en-US" sz="750" dirty="0"/>
          </a:p>
        </p:txBody>
      </p:sp>
      <p:sp>
        <p:nvSpPr>
          <p:cNvPr id="6" name="Text 4"/>
          <p:cNvSpPr txBox="1"/>
          <p:nvPr/>
        </p:nvSpPr>
        <p:spPr>
          <a:xfrm>
            <a:off x="731520" y="1536192"/>
            <a:ext cx="3200400" cy="274320"/>
          </a:xfrm>
          <a:prstGeom prst="rect">
            <a:avLst/>
          </a:prstGeom>
          <a:noFill/>
          <a:ln/>
        </p:spPr>
        <p:txBody>
          <a:bodyPr wrap="square" lIns="0" tIns="0" rIns="0" bIns="0" rtlCol="0" anchor="t"/>
          <a:lstStyle/>
          <a:p>
            <a:pPr indent="0" marL="0">
              <a:buNone/>
            </a:pPr>
            <a:r>
              <a:rPr lang="en-US" sz="1350" dirty="0">
                <a:solidFill>
                  <a:srgbClr val="1D1B18"/>
                </a:solidFill>
                <a:latin typeface="Georgia" pitchFamily="34" charset="0"/>
                <a:ea typeface="Georgia" pitchFamily="34" charset="-122"/>
                <a:cs typeface="Georgia" pitchFamily="34" charset="-120"/>
              </a:rPr>
              <a:t>The production dispatcher at SweaterCo</a:t>
            </a:r>
            <a:endParaRPr lang="en-US" sz="1350" dirty="0"/>
          </a:p>
        </p:txBody>
      </p:sp>
      <p:sp>
        <p:nvSpPr>
          <p:cNvPr id="7" name="Text 5"/>
          <p:cNvSpPr txBox="1"/>
          <p:nvPr/>
        </p:nvSpPr>
        <p:spPr>
          <a:xfrm>
            <a:off x="731520" y="1810512"/>
            <a:ext cx="3200400" cy="457200"/>
          </a:xfrm>
          <a:prstGeom prst="rect">
            <a:avLst/>
          </a:prstGeom>
          <a:noFill/>
          <a:ln/>
        </p:spPr>
        <p:txBody>
          <a:bodyPr wrap="square" lIns="0" tIns="0" rIns="0" bIns="0" rtlCol="0" anchor="t"/>
          <a:lstStyle/>
          <a:p>
            <a:pPr indent="0" marL="0">
              <a:buNone/>
            </a:pPr>
            <a:r>
              <a:rPr lang="en-US" sz="900" dirty="0">
                <a:solidFill>
                  <a:srgbClr val="4A463F"/>
                </a:solidFill>
                <a:latin typeface="Arial" pitchFamily="34" charset="0"/>
                <a:ea typeface="Arial" pitchFamily="34" charset="-122"/>
                <a:cs typeface="Arial" pitchFamily="34" charset="-120"/>
              </a:rPr>
              <a:t>On the floor with a phone, not at a desk. Requests arrive in a group chat, and most are messy: missing dates, vague orders, banned workshops.</a:t>
            </a:r>
            <a:endParaRPr lang="en-US" sz="900" dirty="0"/>
          </a:p>
        </p:txBody>
      </p:sp>
      <p:sp>
        <p:nvSpPr>
          <p:cNvPr id="8" name="Text 6"/>
          <p:cNvSpPr txBox="1"/>
          <p:nvPr/>
        </p:nvSpPr>
        <p:spPr>
          <a:xfrm>
            <a:off x="548640" y="2450592"/>
            <a:ext cx="352044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A REAL REQUEST FROM THE INBOX</a:t>
            </a:r>
            <a:endParaRPr lang="en-US" sz="750" dirty="0"/>
          </a:p>
        </p:txBody>
      </p:sp>
      <p:sp>
        <p:nvSpPr>
          <p:cNvPr id="9" name="Text 7"/>
          <p:cNvSpPr txBox="1"/>
          <p:nvPr/>
        </p:nvSpPr>
        <p:spPr>
          <a:xfrm>
            <a:off x="548640" y="2651760"/>
            <a:ext cx="3520440" cy="594360"/>
          </a:xfrm>
          <a:prstGeom prst="rect">
            <a:avLst/>
          </a:prstGeom>
          <a:noFill/>
          <a:ln/>
        </p:spPr>
        <p:txBody>
          <a:bodyPr wrap="square" lIns="0" tIns="0" rIns="0" bIns="0" rtlCol="0" anchor="t"/>
          <a:lstStyle/>
          <a:p>
            <a:pPr indent="0" marL="0">
              <a:buNone/>
            </a:pPr>
            <a:r>
              <a:rPr lang="en-US" sz="1200" i="1" dirty="0">
                <a:solidFill>
                  <a:srgbClr val="1D1B18"/>
                </a:solidFill>
                <a:latin typeface="Georgia" pitchFamily="34" charset="0"/>
                <a:ea typeface="Georgia" pitchFamily="34" charset="-122"/>
                <a:cs typeface="Georgia" pitchFamily="34" charset="-120"/>
              </a:rPr>
              <a:t>"ORD-109, 500 vests for Harbor Knits, due Apr 13. ...and keep it away from BudgetWorks, the last batch came back rough."</a:t>
            </a:r>
            <a:endParaRPr lang="en-US" sz="1200" dirty="0"/>
          </a:p>
        </p:txBody>
      </p:sp>
      <p:sp>
        <p:nvSpPr>
          <p:cNvPr id="10" name="Text 8"/>
          <p:cNvSpPr txBox="1"/>
          <p:nvPr/>
        </p:nvSpPr>
        <p:spPr>
          <a:xfrm>
            <a:off x="548640" y="3364992"/>
            <a:ext cx="352044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THE DISPATCHER NEEDS</a:t>
            </a:r>
            <a:endParaRPr lang="en-US" sz="750" dirty="0"/>
          </a:p>
        </p:txBody>
      </p:sp>
      <p:sp>
        <p:nvSpPr>
          <p:cNvPr id="11" name="Text 9"/>
          <p:cNvSpPr txBox="1"/>
          <p:nvPr/>
        </p:nvSpPr>
        <p:spPr>
          <a:xfrm>
            <a:off x="548640" y="3566160"/>
            <a:ext cx="3520440" cy="228600"/>
          </a:xfrm>
          <a:prstGeom prst="rect">
            <a:avLst/>
          </a:prstGeom>
          <a:noFill/>
          <a:ln/>
        </p:spPr>
        <p:txBody>
          <a:bodyPr wrap="square" lIns="0" tIns="0" rIns="0" bIns="0" rtlCol="0" anchor="t"/>
          <a:lstStyle/>
          <a:p>
            <a:pPr indent="0" marL="0">
              <a:buNone/>
            </a:pPr>
            <a:r>
              <a:rPr lang="en-US" sz="950" dirty="0">
                <a:solidFill>
                  <a:srgbClr val="1D1B18"/>
                </a:solidFill>
                <a:latin typeface="Arial" pitchFamily="34" charset="0"/>
                <a:ea typeface="Arial" pitchFamily="34" charset="-122"/>
                <a:cs typeface="Arial" pitchFamily="34" charset="-120"/>
              </a:rPr>
              <a:t>1   A safe workshop, its arrival date and why, in seconds</a:t>
            </a:r>
            <a:endParaRPr lang="en-US" sz="950" dirty="0"/>
          </a:p>
        </p:txBody>
      </p:sp>
      <p:sp>
        <p:nvSpPr>
          <p:cNvPr id="12" name="Text 10"/>
          <p:cNvSpPr txBox="1"/>
          <p:nvPr/>
        </p:nvSpPr>
        <p:spPr>
          <a:xfrm>
            <a:off x="548640" y="3813048"/>
            <a:ext cx="3520440" cy="228600"/>
          </a:xfrm>
          <a:prstGeom prst="rect">
            <a:avLst/>
          </a:prstGeom>
          <a:noFill/>
          <a:ln/>
        </p:spPr>
        <p:txBody>
          <a:bodyPr wrap="square" lIns="0" tIns="0" rIns="0" bIns="0" rtlCol="0" anchor="t"/>
          <a:lstStyle/>
          <a:p>
            <a:pPr indent="0" marL="0">
              <a:buNone/>
            </a:pPr>
            <a:r>
              <a:rPr lang="en-US" sz="950" dirty="0">
                <a:solidFill>
                  <a:srgbClr val="1D1B18"/>
                </a:solidFill>
                <a:latin typeface="Arial" pitchFamily="34" charset="0"/>
                <a:ea typeface="Arial" pitchFamily="34" charset="-122"/>
                <a:cs typeface="Arial" pitchFamily="34" charset="-120"/>
              </a:rPr>
              <a:t>2   The constraint honoured, and who asked recorded</a:t>
            </a:r>
            <a:endParaRPr lang="en-US" sz="950" dirty="0"/>
          </a:p>
        </p:txBody>
      </p:sp>
      <p:sp>
        <p:nvSpPr>
          <p:cNvPr id="13" name="Text 11"/>
          <p:cNvSpPr txBox="1"/>
          <p:nvPr/>
        </p:nvSpPr>
        <p:spPr>
          <a:xfrm>
            <a:off x="548640" y="4059936"/>
            <a:ext cx="3520440" cy="228600"/>
          </a:xfrm>
          <a:prstGeom prst="rect">
            <a:avLst/>
          </a:prstGeom>
          <a:noFill/>
          <a:ln/>
        </p:spPr>
        <p:txBody>
          <a:bodyPr wrap="square" lIns="0" tIns="0" rIns="0" bIns="0" rtlCol="0" anchor="t"/>
          <a:lstStyle/>
          <a:p>
            <a:pPr indent="0" marL="0">
              <a:buNone/>
            </a:pPr>
            <a:r>
              <a:rPr lang="en-US" sz="950" dirty="0">
                <a:solidFill>
                  <a:srgbClr val="1D1B18"/>
                </a:solidFill>
                <a:latin typeface="Arial" pitchFamily="34" charset="0"/>
                <a:ea typeface="Arial" pitchFamily="34" charset="-122"/>
                <a:cs typeface="Arial" pitchFamily="34" charset="-120"/>
              </a:rPr>
              <a:t>3   One deliberate step to commit; a record afterwards</a:t>
            </a:r>
            <a:endParaRPr lang="en-US" sz="950" dirty="0"/>
          </a:p>
        </p:txBody>
      </p:sp>
      <p:sp>
        <p:nvSpPr>
          <p:cNvPr id="14" name="Text 12"/>
          <p:cNvSpPr txBox="1"/>
          <p:nvPr/>
        </p:nvSpPr>
        <p:spPr>
          <a:xfrm>
            <a:off x="4434840" y="1234440"/>
            <a:ext cx="41605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CHANGED SINCE SPRINT 1</a:t>
            </a:r>
            <a:endParaRPr lang="en-US" sz="7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434840" y="1463040"/>
          <a:ext cx="4160520" cy="914400"/>
        </p:xfrm>
        <a:graphic>
          <a:graphicData uri="http://schemas.openxmlformats.org/drawingml/2006/table">
            <a:tbl>
              <a:tblPr/>
              <a:tblGrid>
                <a:gridCol w="1600200"/>
                <a:gridCol w="2560320"/>
              </a:tblGrid>
              <a:tr h="237744">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SPRINT 1</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SPRINT 2</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Earliest finish tied us on lateness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Default beats it: 1.42% late vs 1.67%, 68% fewer late days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Biggest capacity won on defects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Defects setting wins: 4.90% defective pieces vs 5.28%</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Fairness not tuned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Fairness setting: largest share 19.2% vs random 22.6%</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Typing at a desk only</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Voice on the phone, read aloud, slide to book</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No memory between requests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Remembers confirmed constraints, and says when it applies 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16" name="Text 13"/>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Course simulator, mean of 10 normal runs (seeds 5105-5114); presets chosen on development seeds first. docs/OBJECTIVE_STUDY.md</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03   </a:t>
            </a:r>
            <a:r>
              <a:rPr lang="en-US" sz="850" b="1" spc="300" kern="0" dirty="0">
                <a:solidFill>
                  <a:srgbClr val="7D5E30"/>
                </a:solidFill>
                <a:latin typeface="Arial" pitchFamily="34" charset="0"/>
                <a:ea typeface="Arial" pitchFamily="34" charset="-122"/>
                <a:cs typeface="Arial" pitchFamily="34" charset="-120"/>
              </a:rPr>
              <a:t>THE USER JOURNEY  /  THINK LIKE THE USER</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Say it, check it, slide to book, and it remembers</a:t>
            </a:r>
            <a:endParaRPr lang="en-US" sz="2300" dirty="0"/>
          </a:p>
        </p:txBody>
      </p:sp>
      <p:pic>
        <p:nvPicPr>
          <p:cNvPr id="4" name="Image 0" descr="Ask: Hold the mic: order, date and any constraint, in plain words.">    </p:cNvPr>
          <p:cNvPicPr>
            <a:picLocks noChangeAspect="1"/>
          </p:cNvPicPr>
          <p:nvPr/>
        </p:nvPicPr>
        <p:blipFill>
          <a:blip r:embed="rId1"/>
          <a:stretch>
            <a:fillRect/>
          </a:stretch>
        </p:blipFill>
        <p:spPr>
          <a:xfrm>
            <a:off x="548640" y="1188720"/>
            <a:ext cx="1331958" cy="2743200"/>
          </a:xfrm>
          <a:prstGeom prst="rect">
            <a:avLst/>
          </a:prstGeom>
          <a:effectLst>
            <a:outerShdw sx="100000" sy="100000" kx="0" ky="0" algn="bl" rotWithShape="0" blurRad="127000" dist="38100" dir="5400000">
              <a:srgbClr val="000000">
                <a:alpha val="18000"/>
              </a:srgbClr>
            </a:outerShdw>
          </a:effectLst>
        </p:spPr>
      </p:pic>
      <p:sp>
        <p:nvSpPr>
          <p:cNvPr id="5" name="Text 2"/>
          <p:cNvSpPr txBox="1"/>
          <p:nvPr/>
        </p:nvSpPr>
        <p:spPr>
          <a:xfrm>
            <a:off x="53035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1</a:t>
            </a:r>
            <a:endParaRPr lang="en-US" sz="1800" dirty="0"/>
          </a:p>
        </p:txBody>
      </p:sp>
      <p:sp>
        <p:nvSpPr>
          <p:cNvPr id="6" name="Text 3"/>
          <p:cNvSpPr txBox="1"/>
          <p:nvPr/>
        </p:nvSpPr>
        <p:spPr>
          <a:xfrm>
            <a:off x="795528"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Ask</a:t>
            </a:r>
            <a:endParaRPr lang="en-US" sz="1200" dirty="0"/>
          </a:p>
        </p:txBody>
      </p:sp>
      <p:sp>
        <p:nvSpPr>
          <p:cNvPr id="7" name="Text 4"/>
          <p:cNvSpPr txBox="1"/>
          <p:nvPr/>
        </p:nvSpPr>
        <p:spPr>
          <a:xfrm>
            <a:off x="530352"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Hold the mic: order, date and any constraint, in plain words.</a:t>
            </a:r>
            <a:endParaRPr lang="en-US" sz="750" dirty="0"/>
          </a:p>
        </p:txBody>
      </p:sp>
      <p:pic>
        <p:nvPicPr>
          <p:cNvPr id="8" name="Image 1" descr="Answer: Best workshop, arrival and spare days, and why. Read aloud.">    </p:cNvPr>
          <p:cNvPicPr>
            <a:picLocks noChangeAspect="1"/>
          </p:cNvPicPr>
          <p:nvPr/>
        </p:nvPicPr>
        <p:blipFill>
          <a:blip r:embed="rId2"/>
          <a:stretch>
            <a:fillRect/>
          </a:stretch>
        </p:blipFill>
        <p:spPr>
          <a:xfrm>
            <a:off x="2227330" y="1188720"/>
            <a:ext cx="1331958" cy="2743200"/>
          </a:xfrm>
          <a:prstGeom prst="rect">
            <a:avLst/>
          </a:prstGeom>
          <a:effectLst>
            <a:outerShdw sx="100000" sy="100000" kx="0" ky="0" algn="bl" rotWithShape="0" blurRad="127000" dist="38100" dir="5400000">
              <a:srgbClr val="000000">
                <a:alpha val="18000"/>
              </a:srgbClr>
            </a:outerShdw>
          </a:effectLst>
        </p:spPr>
      </p:pic>
      <p:sp>
        <p:nvSpPr>
          <p:cNvPr id="9" name="Text 5"/>
          <p:cNvSpPr txBox="1"/>
          <p:nvPr/>
        </p:nvSpPr>
        <p:spPr>
          <a:xfrm>
            <a:off x="220904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2</a:t>
            </a:r>
            <a:endParaRPr lang="en-US" sz="1800" dirty="0"/>
          </a:p>
        </p:txBody>
      </p:sp>
      <p:sp>
        <p:nvSpPr>
          <p:cNvPr id="10" name="Text 6"/>
          <p:cNvSpPr txBox="1"/>
          <p:nvPr/>
        </p:nvSpPr>
        <p:spPr>
          <a:xfrm>
            <a:off x="2474218"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Answer</a:t>
            </a:r>
            <a:endParaRPr lang="en-US" sz="1200" dirty="0"/>
          </a:p>
        </p:txBody>
      </p:sp>
      <p:sp>
        <p:nvSpPr>
          <p:cNvPr id="11" name="Text 7"/>
          <p:cNvSpPr txBox="1"/>
          <p:nvPr/>
        </p:nvSpPr>
        <p:spPr>
          <a:xfrm>
            <a:off x="2209042"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Best workshop, arrival and spare days, and why. Read aloud.</a:t>
            </a:r>
            <a:endParaRPr lang="en-US" sz="750" dirty="0"/>
          </a:p>
        </p:txBody>
      </p:sp>
      <p:pic>
        <p:nvPicPr>
          <p:cNvPr id="12" name="Image 2" descr="Confirm: &quot;Book it&quot; opens one sheet. One slide books it, with a name on it.">    </p:cNvPr>
          <p:cNvPicPr>
            <a:picLocks noChangeAspect="1"/>
          </p:cNvPicPr>
          <p:nvPr/>
        </p:nvPicPr>
        <p:blipFill>
          <a:blip r:embed="rId3"/>
          <a:stretch>
            <a:fillRect/>
          </a:stretch>
        </p:blipFill>
        <p:spPr>
          <a:xfrm>
            <a:off x="3906021" y="1188720"/>
            <a:ext cx="1331958" cy="2743200"/>
          </a:xfrm>
          <a:prstGeom prst="rect">
            <a:avLst/>
          </a:prstGeom>
          <a:effectLst>
            <a:outerShdw sx="100000" sy="100000" kx="0" ky="0" algn="bl" rotWithShape="0" blurRad="127000" dist="38100" dir="5400000">
              <a:srgbClr val="000000">
                <a:alpha val="18000"/>
              </a:srgbClr>
            </a:outerShdw>
          </a:effectLst>
        </p:spPr>
      </p:pic>
      <p:sp>
        <p:nvSpPr>
          <p:cNvPr id="13" name="Text 8"/>
          <p:cNvSpPr txBox="1"/>
          <p:nvPr/>
        </p:nvSpPr>
        <p:spPr>
          <a:xfrm>
            <a:off x="3887733"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3</a:t>
            </a:r>
            <a:endParaRPr lang="en-US" sz="1800" dirty="0"/>
          </a:p>
        </p:txBody>
      </p:sp>
      <p:sp>
        <p:nvSpPr>
          <p:cNvPr id="14" name="Text 9"/>
          <p:cNvSpPr txBox="1"/>
          <p:nvPr/>
        </p:nvSpPr>
        <p:spPr>
          <a:xfrm>
            <a:off x="4152909"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Confirm</a:t>
            </a:r>
            <a:endParaRPr lang="en-US" sz="1200" dirty="0"/>
          </a:p>
        </p:txBody>
      </p:sp>
      <p:sp>
        <p:nvSpPr>
          <p:cNvPr id="15" name="Text 10"/>
          <p:cNvSpPr txBox="1"/>
          <p:nvPr/>
        </p:nvSpPr>
        <p:spPr>
          <a:xfrm>
            <a:off x="3887733"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"Book it" opens one sheet. One slide books it, with a name on it.</a:t>
            </a:r>
            <a:endParaRPr lang="en-US" sz="750" dirty="0"/>
          </a:p>
        </p:txBody>
      </p:sp>
      <p:pic>
        <p:nvPicPr>
          <p:cNvPr id="16" name="Image 3" descr="Remember: It offers to keep the constraint for this customer.">    </p:cNvPr>
          <p:cNvPicPr>
            <a:picLocks noChangeAspect="1"/>
          </p:cNvPicPr>
          <p:nvPr/>
        </p:nvPicPr>
        <p:blipFill>
          <a:blip r:embed="rId4"/>
          <a:stretch>
            <a:fillRect/>
          </a:stretch>
        </p:blipFill>
        <p:spPr>
          <a:xfrm>
            <a:off x="5584711" y="1188720"/>
            <a:ext cx="1331958" cy="2743200"/>
          </a:xfrm>
          <a:prstGeom prst="rect">
            <a:avLst/>
          </a:prstGeom>
          <a:effectLst>
            <a:outerShdw sx="100000" sy="100000" kx="0" ky="0" algn="bl" rotWithShape="0" blurRad="127000" dist="38100" dir="5400000">
              <a:srgbClr val="000000">
                <a:alpha val="18000"/>
              </a:srgbClr>
            </a:outerShdw>
          </a:effectLst>
        </p:spPr>
      </p:pic>
      <p:sp>
        <p:nvSpPr>
          <p:cNvPr id="17" name="Text 11"/>
          <p:cNvSpPr txBox="1"/>
          <p:nvPr/>
        </p:nvSpPr>
        <p:spPr>
          <a:xfrm>
            <a:off x="5566423"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4</a:t>
            </a:r>
            <a:endParaRPr lang="en-US" sz="1800" dirty="0"/>
          </a:p>
        </p:txBody>
      </p:sp>
      <p:sp>
        <p:nvSpPr>
          <p:cNvPr id="18" name="Text 12"/>
          <p:cNvSpPr txBox="1"/>
          <p:nvPr/>
        </p:nvSpPr>
        <p:spPr>
          <a:xfrm>
            <a:off x="5831599"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Remember</a:t>
            </a:r>
            <a:endParaRPr lang="en-US" sz="1200" dirty="0"/>
          </a:p>
        </p:txBody>
      </p:sp>
      <p:sp>
        <p:nvSpPr>
          <p:cNvPr id="19" name="Text 13"/>
          <p:cNvSpPr txBox="1"/>
          <p:nvPr/>
        </p:nvSpPr>
        <p:spPr>
          <a:xfrm>
            <a:off x="5566423"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It offers to keep the constraint for this customer.</a:t>
            </a:r>
            <a:endParaRPr lang="en-US" sz="750" dirty="0"/>
          </a:p>
        </p:txBody>
      </p:sp>
      <p:pic>
        <p:nvPicPr>
          <p:cNvPr id="20" name="Image 4" descr="Reuse: Next order: the rule is applied, and the card says so.">    </p:cNvPr>
          <p:cNvPicPr>
            <a:picLocks noChangeAspect="1"/>
          </p:cNvPicPr>
          <p:nvPr/>
        </p:nvPicPr>
        <p:blipFill>
          <a:blip r:embed="rId5"/>
          <a:stretch>
            <a:fillRect/>
          </a:stretch>
        </p:blipFill>
        <p:spPr>
          <a:xfrm>
            <a:off x="7263402" y="1188720"/>
            <a:ext cx="1331958" cy="2743200"/>
          </a:xfrm>
          <a:prstGeom prst="rect">
            <a:avLst/>
          </a:prstGeom>
          <a:effectLst>
            <a:outerShdw sx="100000" sy="100000" kx="0" ky="0" algn="bl" rotWithShape="0" blurRad="127000" dist="38100" dir="5400000">
              <a:srgbClr val="000000">
                <a:alpha val="18000"/>
              </a:srgbClr>
            </a:outerShdw>
          </a:effectLst>
        </p:spPr>
      </p:pic>
      <p:sp>
        <p:nvSpPr>
          <p:cNvPr id="21" name="Text 14"/>
          <p:cNvSpPr txBox="1"/>
          <p:nvPr/>
        </p:nvSpPr>
        <p:spPr>
          <a:xfrm>
            <a:off x="7245114"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5</a:t>
            </a:r>
            <a:endParaRPr lang="en-US" sz="1800" dirty="0"/>
          </a:p>
        </p:txBody>
      </p:sp>
      <p:sp>
        <p:nvSpPr>
          <p:cNvPr id="22" name="Text 15"/>
          <p:cNvSpPr txBox="1"/>
          <p:nvPr/>
        </p:nvSpPr>
        <p:spPr>
          <a:xfrm>
            <a:off x="7510290"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Reuse</a:t>
            </a:r>
            <a:endParaRPr lang="en-US" sz="1200" dirty="0"/>
          </a:p>
        </p:txBody>
      </p:sp>
      <p:sp>
        <p:nvSpPr>
          <p:cNvPr id="23" name="Text 16"/>
          <p:cNvSpPr txBox="1"/>
          <p:nvPr/>
        </p:nvSpPr>
        <p:spPr>
          <a:xfrm>
            <a:off x="7245114"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Next order: the rule is applied, and the card says so.</a:t>
            </a:r>
            <a:endParaRPr lang="en-US" sz="750" dirty="0"/>
          </a:p>
        </p:txBody>
      </p:sp>
      <p:sp>
        <p:nvSpPr>
          <p:cNvPr id="24" name="Text 1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Live screenshots of the running app (local plan, model: the one set in .env). Voice proposes; only the slide commits.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04   </a:t>
            </a:r>
            <a:r>
              <a:rPr lang="en-US" sz="850" b="1" spc="300" kern="0" dirty="0">
                <a:solidFill>
                  <a:srgbClr val="7D5E30"/>
                </a:solidFill>
                <a:latin typeface="Arial" pitchFamily="34" charset="0"/>
                <a:ea typeface="Arial" pitchFamily="34" charset="-122"/>
                <a:cs typeface="Arial" pitchFamily="34" charset="-120"/>
              </a:rPr>
              <a:t>ARCHITECTURE AS BUILT</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model reads, Python computes, a person commits</a:t>
            </a:r>
            <a:endParaRPr lang="en-US" sz="2300" dirty="0"/>
          </a:p>
        </p:txBody>
      </p:sp>
      <p:pic>
        <p:nvPicPr>
          <p:cNvPr id="4" name="Image 0" descr="Architecture: phone app and router, LLM intake and quote check, deterministic tools, reply card, slide to confirm, plan ledger, memory store and course data, with the simulator and inbox evaluation">    </p:cNvPr>
          <p:cNvPicPr>
            <a:picLocks noChangeAspect="1"/>
          </p:cNvPicPr>
          <p:nvPr/>
        </p:nvPicPr>
        <p:blipFill>
          <a:blip r:embed="rId1"/>
          <a:stretch>
            <a:fillRect/>
          </a:stretch>
        </p:blipFill>
        <p:spPr>
          <a:xfrm>
            <a:off x="592658" y="1097280"/>
            <a:ext cx="7958683" cy="3611880"/>
          </a:xfrm>
          <a:prstGeom prst="rect">
            <a:avLst/>
          </a:prstGeom>
        </p:spPr>
      </p:pic>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05   </a:t>
            </a:r>
            <a:r>
              <a:rPr lang="en-US" sz="850" b="1" spc="300" kern="0" dirty="0">
                <a:solidFill>
                  <a:srgbClr val="7D5E30"/>
                </a:solidFill>
                <a:latin typeface="Arial" pitchFamily="34" charset="0"/>
                <a:ea typeface="Arial" pitchFamily="34" charset="-122"/>
                <a:cs typeface="Arial" pitchFamily="34" charset="-120"/>
              </a:rPr>
              <a:t>KEY CHOICES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Each choice, against the alternative we considered</a:t>
            </a:r>
            <a:endParaRPr lang="en-US" sz="2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243584"/>
          <a:ext cx="8046720" cy="914400"/>
        </p:xfrm>
        <a:graphic>
          <a:graphicData uri="http://schemas.openxmlformats.org/drawingml/2006/table">
            <a:tbl>
              <a:tblPr/>
              <a:tblGrid>
                <a:gridCol w="1143000"/>
                <a:gridCol w="2148840"/>
                <a:gridCol w="1691640"/>
                <a:gridCol w="3063240"/>
              </a:tblGrid>
              <a:tr h="237744">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FOR</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WE CHOSE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OVER</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BECAUSE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MODEL</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One hosted model, named in .env</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A fine-tuned or local model</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It only extracts quoted fields, so no training is needed; swapping it is one line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ORCHESTRATION</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One fixed workflow</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A ReAct agent loop</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Every request needs the same checks in order: testable, cheaper, no tool-choice errors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RETRIEVAL</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Exact lookup by order ID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Embedding retrieval (RAG)</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Orders have keys; an exact match cannot fetch the wrong order</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DATA STORE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SQLite for records and memory</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A vector store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A rule must apply exactly, with who said it, and be auditable in one local file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TOOLS</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The course's eligible_workshops()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Our own eligibility rule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Our checks and the course simulator can never disagree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REPLIES</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Python templates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Model-written replies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No model arithmetic: dates and costs are copied from tool outputs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SPEECH</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Browser speech recognition</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Server speech-to-text</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Free, live words while speaking, no extra key; typing always works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COMMIT</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Slide to confirm</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Book on a spoken "yes"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A misheard "yes" on a noisy floor cannot send work out</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5" name="Text 2"/>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Trust boundary: the model call is the only thing that leaves the machine. It never sees costs, queues or defect rates.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06   </a:t>
            </a:r>
            <a:r>
              <a:rPr lang="en-US" sz="850" b="1" spc="300" kern="0" dirty="0">
                <a:solidFill>
                  <a:srgbClr val="7D5E30"/>
                </a:solidFill>
                <a:latin typeface="Arial" pitchFamily="34" charset="0"/>
                <a:ea typeface="Arial" pitchFamily="34" charset="-122"/>
                <a:cs typeface="Arial" pitchFamily="34" charset="-120"/>
              </a:rPr>
              <a:t>PROGRESS SINCE THE SPRINT 1 ROADMAP</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Every feature, its owner and its status</a:t>
            </a:r>
            <a:endParaRPr lang="en-US" sz="2300" dirty="0"/>
          </a:p>
        </p:txBody>
      </p:sp>
      <p:sp>
        <p:nvSpPr>
          <p:cNvPr id="4" name="Text 2"/>
          <p:cNvSpPr txBox="1"/>
          <p:nvPr/>
        </p:nvSpPr>
        <p:spPr>
          <a:xfrm>
            <a:off x="548640" y="1234440"/>
            <a:ext cx="2011680" cy="914400"/>
          </a:xfrm>
          <a:prstGeom prst="rect">
            <a:avLst/>
          </a:prstGeom>
          <a:noFill/>
          <a:ln/>
        </p:spPr>
        <p:txBody>
          <a:bodyPr wrap="square" lIns="0" tIns="0" rIns="0" bIns="0" rtlCol="0" anchor="ctr"/>
          <a:lstStyle/>
          <a:p>
            <a:pPr indent="0" marL="0">
              <a:buNone/>
            </a:pPr>
            <a:r>
              <a:rPr lang="en-US" sz="6000" dirty="0">
                <a:solidFill>
                  <a:srgbClr val="2F5D46"/>
                </a:solidFill>
                <a:latin typeface="Georgia" pitchFamily="34" charset="0"/>
                <a:ea typeface="Georgia" pitchFamily="34" charset="-122"/>
                <a:cs typeface="Georgia" pitchFamily="34" charset="-120"/>
              </a:rPr>
              <a:t>6</a:t>
            </a:r>
            <a:r>
              <a:rPr lang="en-US" sz="6000" dirty="0">
                <a:solidFill>
                  <a:srgbClr val="1D1B18"/>
                </a:solidFill>
                <a:latin typeface="Georgia" pitchFamily="34" charset="0"/>
                <a:ea typeface="Georgia" pitchFamily="34" charset="-122"/>
                <a:cs typeface="Georgia" pitchFamily="34" charset="-120"/>
              </a:rPr>
              <a:t>/11</a:t>
            </a:r>
            <a:endParaRPr lang="en-US" sz="6000" dirty="0"/>
          </a:p>
        </p:txBody>
      </p:sp>
      <p:sp>
        <p:nvSpPr>
          <p:cNvPr id="5" name="Text 3"/>
          <p:cNvSpPr txBox="1"/>
          <p:nvPr/>
        </p:nvSpPr>
        <p:spPr>
          <a:xfrm>
            <a:off x="548640" y="2194560"/>
            <a:ext cx="2011680" cy="256032"/>
          </a:xfrm>
          <a:prstGeom prst="rect">
            <a:avLst/>
          </a:prstGeom>
          <a:noFill/>
          <a:ln/>
        </p:spPr>
        <p:txBody>
          <a:bodyPr wrap="square" lIns="0" tIns="0" rIns="0" bIns="0" rtlCol="0" anchor="t"/>
          <a:lstStyle/>
          <a:p>
            <a:pPr indent="0" marL="0">
              <a:buNone/>
            </a:pPr>
            <a:r>
              <a:rPr lang="en-US" sz="1100" b="1" dirty="0">
                <a:solidFill>
                  <a:srgbClr val="1D1B18"/>
                </a:solidFill>
                <a:latin typeface="Arial" pitchFamily="34" charset="0"/>
                <a:ea typeface="Arial" pitchFamily="34" charset="-122"/>
                <a:cs typeface="Arial" pitchFamily="34" charset="-120"/>
              </a:rPr>
              <a:t>features done this sprint</a:t>
            </a:r>
            <a:endParaRPr lang="en-US" sz="1100" dirty="0"/>
          </a:p>
        </p:txBody>
      </p:sp>
      <p:sp>
        <p:nvSpPr>
          <p:cNvPr id="6" name="Shape 4"/>
          <p:cNvSpPr/>
          <p:nvPr/>
        </p:nvSpPr>
        <p:spPr>
          <a:xfrm>
            <a:off x="548640" y="2615184"/>
            <a:ext cx="1463040" cy="292608"/>
          </a:xfrm>
          <a:prstGeom prst="roundRect">
            <a:avLst>
              <a:gd name="adj" fmla="val 50000"/>
            </a:avLst>
          </a:prstGeom>
          <a:solidFill>
            <a:srgbClr val="9A6A12"/>
          </a:solidFill>
          <a:ln w="12700">
            <a:solidFill>
              <a:srgbClr val="9A6A12"/>
            </a:solidFill>
            <a:prstDash val="solid"/>
          </a:ln>
        </p:spPr>
      </p:sp>
      <p:sp>
        <p:nvSpPr>
          <p:cNvPr id="7" name="Text 5"/>
          <p:cNvSpPr txBox="1"/>
          <p:nvPr/>
        </p:nvSpPr>
        <p:spPr>
          <a:xfrm>
            <a:off x="548640" y="2615184"/>
            <a:ext cx="146304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3 in progress</a:t>
            </a:r>
            <a:endParaRPr lang="en-US" sz="900" dirty="0"/>
          </a:p>
        </p:txBody>
      </p:sp>
      <p:sp>
        <p:nvSpPr>
          <p:cNvPr id="8" name="Shape 6"/>
          <p:cNvSpPr/>
          <p:nvPr/>
        </p:nvSpPr>
        <p:spPr>
          <a:xfrm>
            <a:off x="548640" y="3017520"/>
            <a:ext cx="1463040" cy="292608"/>
          </a:xfrm>
          <a:prstGeom prst="roundRect">
            <a:avLst>
              <a:gd name="adj" fmla="val 50000"/>
            </a:avLst>
          </a:prstGeom>
          <a:solidFill>
            <a:srgbClr val="FAF8F4"/>
          </a:solidFill>
          <a:ln w="12700">
            <a:solidFill>
              <a:srgbClr val="6B665D"/>
            </a:solidFill>
            <a:prstDash val="solid"/>
          </a:ln>
        </p:spPr>
      </p:sp>
      <p:sp>
        <p:nvSpPr>
          <p:cNvPr id="9" name="Text 7"/>
          <p:cNvSpPr txBox="1"/>
          <p:nvPr/>
        </p:nvSpPr>
        <p:spPr>
          <a:xfrm>
            <a:off x="548640" y="3017520"/>
            <a:ext cx="1463040" cy="292608"/>
          </a:xfrm>
          <a:prstGeom prst="rect">
            <a:avLst/>
          </a:prstGeom>
          <a:noFill/>
          <a:ln/>
        </p:spPr>
        <p:txBody>
          <a:bodyPr wrap="square" lIns="0" tIns="0" rIns="0" bIns="0" rtlCol="0" anchor="ctr"/>
          <a:lstStyle/>
          <a:p>
            <a:pPr algn="ctr" indent="0" marL="0">
              <a:buNone/>
            </a:pPr>
            <a:r>
              <a:rPr lang="en-US" sz="900" b="1" dirty="0">
                <a:solidFill>
                  <a:srgbClr val="6B665D"/>
                </a:solidFill>
                <a:latin typeface="Arial" pitchFamily="34" charset="0"/>
                <a:ea typeface="Arial" pitchFamily="34" charset="-122"/>
                <a:cs typeface="Arial" pitchFamily="34" charset="-120"/>
              </a:rPr>
              <a:t>2 planned</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2743200" y="1207008"/>
          <a:ext cx="5852160" cy="914400"/>
        </p:xfrm>
        <a:graphic>
          <a:graphicData uri="http://schemas.openxmlformats.org/drawingml/2006/table">
            <a:tbl>
              <a:tblPr/>
              <a:tblGrid>
                <a:gridCol w="3520440"/>
                <a:gridCol w="1508760"/>
                <a:gridCol w="822960"/>
              </a:tblGrid>
              <a:tr h="219456">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FEATURE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OWNER</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STATUS</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Voice assistant: phone UI, speech in and out, slide to book</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Chen Zepeng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Long-term memory: rules from confirmed bookings, log, profile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Chen Zepeng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Four-objective scorer, frozen presets, objective lab</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Chen Zepeng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Capacity questions and workshop checks from chat</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Chen Zepeng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Chat-first desk redesign</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Duong Thanh Nhan</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AWS deployment behind HTTPS (demo site)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Joshua Wesley Gloor</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Clarification reliability fixes and 247-assertion benchmark</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Tang Zheling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9A6A12"/>
                          </a:solidFill>
                          <a:latin typeface="Arial" pitchFamily="34" charset="0"/>
                          <a:ea typeface="Arial" pitchFamily="34" charset="-122"/>
                          <a:cs typeface="Arial" pitchFamily="34" charset="-120"/>
                        </a:rPr>
                        <a:t>In progress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Evaluation set: 50 new held-out requests, written and labelled</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Saadhvika and Niyanthri</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9A6A12"/>
                          </a:solidFill>
                          <a:latin typeface="Arial" pitchFamily="34" charset="0"/>
                          <a:ea typeface="Arial" pitchFamily="34" charset="-122"/>
                          <a:cs typeface="Arial" pitchFamily="34" charset="-120"/>
                        </a:rPr>
                        <a:t>In progress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Independent labels for the 30 inbox requests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Saadhvika and Niyanthri</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9A6A12"/>
                          </a:solidFill>
                          <a:latin typeface="Arial" pitchFamily="34" charset="0"/>
                          <a:ea typeface="Arial" pitchFamily="34" charset="-122"/>
                          <a:cs typeface="Arial" pitchFamily="34" charset="-120"/>
                        </a:rPr>
                        <a:t>In progress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Live model run on the full evaluation set (30 inbox + 50 new)</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Tang Zheling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6B665D"/>
                          </a:solidFill>
                          <a:latin typeface="Arial" pitchFamily="34" charset="0"/>
                          <a:ea typeface="Arial" pitchFamily="34" charset="-122"/>
                          <a:cs typeface="Arial" pitchFamily="34" charset="-120"/>
                        </a:rPr>
                        <a:t>Planned</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Usability test: two people acting as dispatchers, four tasks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8A2C35"/>
                          </a:solidFill>
                          <a:latin typeface="Arial" pitchFamily="34" charset="0"/>
                          <a:ea typeface="Arial" pitchFamily="34" charset="-122"/>
                          <a:cs typeface="Arial" pitchFamily="34" charset="-120"/>
                        </a:rPr>
                        <a:t>[TBD]</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6B665D"/>
                          </a:solidFill>
                          <a:latin typeface="Arial" pitchFamily="34" charset="0"/>
                          <a:ea typeface="Arial" pitchFamily="34" charset="-122"/>
                          <a:cs typeface="Arial" pitchFamily="34" charset="-120"/>
                        </a:rPr>
                        <a:t>Planned</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11" name="Text 8"/>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Code: github.com/JoshuaGloor/dss5105-capstone-project (PRs #15 and #18 for this sprint, PR #14 for clarification reliability).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07   </a:t>
            </a:r>
            <a:r>
              <a:rPr lang="en-US" sz="850" b="1" spc="300" kern="0" dirty="0">
                <a:solidFill>
                  <a:srgbClr val="7D5E30"/>
                </a:solidFill>
                <a:latin typeface="Arial" pitchFamily="34" charset="0"/>
                <a:ea typeface="Arial" pitchFamily="34" charset="-122"/>
                <a:cs typeface="Arial" pitchFamily="34" charset="-120"/>
              </a:rPr>
              <a:t>VALIDATION PLAN</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What we measure, against what, and the hard cases</a:t>
            </a:r>
            <a:endParaRPr lang="en-US" sz="2300" dirty="0"/>
          </a:p>
        </p:txBody>
      </p:sp>
      <p:sp>
        <p:nvSpPr>
          <p:cNvPr id="4" name="Text 2"/>
          <p:cNvSpPr txBox="1"/>
          <p:nvPr/>
        </p:nvSpPr>
        <p:spPr>
          <a:xfrm>
            <a:off x="548640" y="1207008"/>
            <a:ext cx="38404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WHAT WE MEASURE, AND WHY</a:t>
            </a:r>
            <a:endParaRPr lang="en-US" sz="750" dirty="0"/>
          </a:p>
        </p:txBody>
      </p:sp>
      <p:sp>
        <p:nvSpPr>
          <p:cNvPr id="5" name="Text 3"/>
          <p:cNvSpPr txBox="1"/>
          <p:nvPr/>
        </p:nvSpPr>
        <p:spPr>
          <a:xfrm>
            <a:off x="548640" y="1389888"/>
            <a:ext cx="3840480" cy="566928"/>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Late batches and late days (our objective), defective pieces, largest share, change under a closure: the course simulator's own metrics. For language: the right behaviour on each request, and every number traced to a tool.</a:t>
            </a:r>
            <a:endParaRPr lang="en-US" sz="850" dirty="0"/>
          </a:p>
        </p:txBody>
      </p:sp>
      <p:sp>
        <p:nvSpPr>
          <p:cNvPr id="6" name="Text 4"/>
          <p:cNvSpPr txBox="1"/>
          <p:nvPr/>
        </p:nvSpPr>
        <p:spPr>
          <a:xfrm>
            <a:off x="548640" y="1993392"/>
            <a:ext cx="38404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HOW THE EVALUATION SET IS BUILT</a:t>
            </a:r>
            <a:endParaRPr lang="en-US" sz="750" dirty="0"/>
          </a:p>
        </p:txBody>
      </p:sp>
      <p:sp>
        <p:nvSpPr>
          <p:cNvPr id="7" name="Text 5"/>
          <p:cNvSpPr txBox="1"/>
          <p:nvPr/>
        </p:nvSpPr>
        <p:spPr>
          <a:xfrm>
            <a:off x="548640" y="2176272"/>
            <a:ext cx="3840480" cy="566928"/>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All 30 inbox requests, grouped by the 7 kinds in the data dictionary, plus 50 new held-out requests (rewordings, bait items) written and labelled by Saadhvika and Niyanthri. Labels are made separately, then agreed; a model judge counts only where it matches them.</a:t>
            </a:r>
            <a:endParaRPr lang="en-US" sz="850" dirty="0"/>
          </a:p>
        </p:txBody>
      </p:sp>
      <p:sp>
        <p:nvSpPr>
          <p:cNvPr id="8" name="Text 6"/>
          <p:cNvSpPr txBox="1"/>
          <p:nvPr/>
        </p:nvSpPr>
        <p:spPr>
          <a:xfrm>
            <a:off x="548640" y="2779776"/>
            <a:ext cx="38404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BASELINE AND TRACK MINIMUM</a:t>
            </a:r>
            <a:endParaRPr lang="en-US" sz="750" dirty="0"/>
          </a:p>
        </p:txBody>
      </p:sp>
      <p:sp>
        <p:nvSpPr>
          <p:cNvPr id="9" name="Text 7"/>
          <p:cNvSpPr txBox="1"/>
          <p:nvPr/>
        </p:nvSpPr>
        <p:spPr>
          <a:xfrm>
            <a:off x="548640" y="2962656"/>
            <a:ext cx="3840480" cy="566928"/>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Random, biggest capacity and cheapest, plus the earliest-finish rule. Minimum: beat all three baselines on late batches and late days, and handle all 30 requests by kind.</a:t>
            </a:r>
            <a:endParaRPr lang="en-US" sz="850" dirty="0"/>
          </a:p>
        </p:txBody>
      </p:sp>
      <p:sp>
        <p:nvSpPr>
          <p:cNvPr id="10" name="Text 8"/>
          <p:cNvSpPr txBox="1"/>
          <p:nvPr/>
        </p:nvSpPr>
        <p:spPr>
          <a:xfrm>
            <a:off x="4663440" y="1207008"/>
            <a:ext cx="39319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TODAY, COURSE SEEDS 5105-5114, NORMAL RUNS</a:t>
            </a:r>
            <a:endParaRPr lang="en-US" sz="7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663440" y="1389888"/>
          <a:ext cx="3931920" cy="914400"/>
        </p:xfrm>
        <a:graphic>
          <a:graphicData uri="http://schemas.openxmlformats.org/drawingml/2006/table">
            <a:tbl>
              <a:tblPr/>
              <a:tblGrid>
                <a:gridCol w="960120"/>
                <a:gridCol w="1325880"/>
                <a:gridCol w="1005840"/>
                <a:gridCol w="640080"/>
              </a:tblGrid>
              <a:tr h="201168">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OBJECTIVE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OURS</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BEST REFERENCE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Lateness (primary)</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1.42% late, 0.057 late days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earliest finish 1.67%, 0.178</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Beats all</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Defects</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4.90% defective pieces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biggest capacity 5.28%</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Beats all</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Fairness</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largest share 19.2%</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random 22.6%</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Beats random</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Robustness</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+0.083 pts late under closure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random +4.000</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Steadier</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12" name="Text 9"/>
          <p:cNvSpPr txBox="1"/>
          <p:nvPr/>
        </p:nvSpPr>
        <p:spPr>
          <a:xfrm>
            <a:off x="4663440" y="3182112"/>
            <a:ext cx="39319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HARD CASES AND HOW WE HANDLE THEM</a:t>
            </a:r>
            <a:endParaRPr lang="en-US" sz="750" dirty="0"/>
          </a:p>
        </p:txBody>
      </p:sp>
      <p:sp>
        <p:nvSpPr>
          <p:cNvPr id="13" name="Text 10"/>
          <p:cNvSpPr txBox="1"/>
          <p:nvPr/>
        </p:nvSpPr>
        <p:spPr>
          <a:xfrm>
            <a:off x="4663440" y="3383280"/>
            <a:ext cx="228600" cy="274320"/>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14" name="Text 11"/>
          <p:cNvSpPr txBox="1"/>
          <p:nvPr/>
        </p:nvSpPr>
        <p:spPr>
          <a:xfrm>
            <a:off x="4919472" y="3383280"/>
            <a:ext cx="3657600" cy="164592"/>
          </a:xfrm>
          <a:prstGeom prst="rect">
            <a:avLst/>
          </a:prstGeom>
          <a:noFill/>
          <a:ln/>
        </p:spPr>
        <p:txBody>
          <a:bodyPr wrap="square" lIns="0" tIns="0" rIns="0" bIns="0" rtlCol="0" anchor="t"/>
          <a:lstStyle/>
          <a:p>
            <a:pPr indent="0" marL="0">
              <a:buNone/>
            </a:pPr>
            <a:r>
              <a:rPr lang="en-US" sz="900" b="1" dirty="0">
                <a:solidFill>
                  <a:srgbClr val="1D1B18"/>
                </a:solidFill>
                <a:latin typeface="Arial" pitchFamily="34" charset="0"/>
                <a:ea typeface="Arial" pitchFamily="34" charset="-122"/>
                <a:cs typeface="Arial" pitchFamily="34" charset="-120"/>
              </a:rPr>
              <a:t>Impossible date</a:t>
            </a:r>
            <a:endParaRPr lang="en-US" sz="900" dirty="0"/>
          </a:p>
        </p:txBody>
      </p:sp>
      <p:sp>
        <p:nvSpPr>
          <p:cNvPr id="15" name="Text 12"/>
          <p:cNvSpPr txBox="1"/>
          <p:nvPr/>
        </p:nvSpPr>
        <p:spPr>
          <a:xfrm>
            <a:off x="4919472" y="3538728"/>
            <a:ext cx="3657600" cy="18288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Earliest date, days late, a two-shop split; no booking</a:t>
            </a:r>
            <a:endParaRPr lang="en-US" sz="800" dirty="0"/>
          </a:p>
        </p:txBody>
      </p:sp>
      <p:sp>
        <p:nvSpPr>
          <p:cNvPr id="16" name="Text 13"/>
          <p:cNvSpPr txBox="1"/>
          <p:nvPr/>
        </p:nvSpPr>
        <p:spPr>
          <a:xfrm>
            <a:off x="4663440" y="3749040"/>
            <a:ext cx="228600" cy="274320"/>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17" name="Text 14"/>
          <p:cNvSpPr txBox="1"/>
          <p:nvPr/>
        </p:nvSpPr>
        <p:spPr>
          <a:xfrm>
            <a:off x="4919472" y="3749040"/>
            <a:ext cx="3657600" cy="164592"/>
          </a:xfrm>
          <a:prstGeom prst="rect">
            <a:avLst/>
          </a:prstGeom>
          <a:noFill/>
          <a:ln/>
        </p:spPr>
        <p:txBody>
          <a:bodyPr wrap="square" lIns="0" tIns="0" rIns="0" bIns="0" rtlCol="0" anchor="t"/>
          <a:lstStyle/>
          <a:p>
            <a:pPr indent="0" marL="0">
              <a:buNone/>
            </a:pPr>
            <a:r>
              <a:rPr lang="en-US" sz="900" b="1" dirty="0">
                <a:solidFill>
                  <a:srgbClr val="1D1B18"/>
                </a:solidFill>
                <a:latin typeface="Arial" pitchFamily="34" charset="0"/>
                <a:ea typeface="Arial" pitchFamily="34" charset="-122"/>
                <a:cs typeface="Arial" pitchFamily="34" charset="-120"/>
              </a:rPr>
              <a:t>Workshop that cannot take it</a:t>
            </a:r>
            <a:endParaRPr lang="en-US" sz="900" dirty="0"/>
          </a:p>
        </p:txBody>
      </p:sp>
      <p:sp>
        <p:nvSpPr>
          <p:cNvPr id="18" name="Text 15"/>
          <p:cNvSpPr txBox="1"/>
          <p:nvPr/>
        </p:nvSpPr>
        <p:spPr>
          <a:xfrm>
            <a:off x="4919472" y="3904488"/>
            <a:ext cx="3657600" cy="18288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Refused with the reason, plus the best alternative</a:t>
            </a:r>
            <a:endParaRPr lang="en-US" sz="800" dirty="0"/>
          </a:p>
        </p:txBody>
      </p:sp>
      <p:sp>
        <p:nvSpPr>
          <p:cNvPr id="19" name="Text 16"/>
          <p:cNvSpPr txBox="1"/>
          <p:nvPr/>
        </p:nvSpPr>
        <p:spPr>
          <a:xfrm>
            <a:off x="4663440" y="4114800"/>
            <a:ext cx="228600" cy="274320"/>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20" name="Text 17"/>
          <p:cNvSpPr txBox="1"/>
          <p:nvPr/>
        </p:nvSpPr>
        <p:spPr>
          <a:xfrm>
            <a:off x="4919472" y="4114800"/>
            <a:ext cx="3657600" cy="164592"/>
          </a:xfrm>
          <a:prstGeom prst="rect">
            <a:avLst/>
          </a:prstGeom>
          <a:noFill/>
          <a:ln/>
        </p:spPr>
        <p:txBody>
          <a:bodyPr wrap="square" lIns="0" tIns="0" rIns="0" bIns="0" rtlCol="0" anchor="t"/>
          <a:lstStyle/>
          <a:p>
            <a:pPr indent="0" marL="0">
              <a:buNone/>
            </a:pPr>
            <a:r>
              <a:rPr lang="en-US" sz="900" b="1" dirty="0">
                <a:solidFill>
                  <a:srgbClr val="1D1B18"/>
                </a:solidFill>
                <a:latin typeface="Arial" pitchFamily="34" charset="0"/>
                <a:ea typeface="Arial" pitchFamily="34" charset="-122"/>
                <a:cs typeface="Arial" pitchFamily="34" charset="-120"/>
              </a:rPr>
              <a:t>Misheard order on the floor</a:t>
            </a:r>
            <a:endParaRPr lang="en-US" sz="900" dirty="0"/>
          </a:p>
        </p:txBody>
      </p:sp>
      <p:sp>
        <p:nvSpPr>
          <p:cNvPr id="21" name="Text 18"/>
          <p:cNvSpPr txBox="1"/>
          <p:nvPr/>
        </p:nvSpPr>
        <p:spPr>
          <a:xfrm>
            <a:off x="4919472" y="4270248"/>
            <a:ext cx="3657600" cy="18288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 customer, pieces read back from orders.csv; slide to commit</a:t>
            </a:r>
            <a:endParaRPr lang="en-US" sz="800" dirty="0"/>
          </a:p>
        </p:txBody>
      </p:sp>
      <p:sp>
        <p:nvSpPr>
          <p:cNvPr id="22" name="Text 19"/>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Presets chosen on development seeds 6000-6029; the course seeds were run twice, as disclosed in docs/OBJECTIVE_STUDY.md.</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502920"/>
            <a:ext cx="3657600" cy="201168"/>
          </a:xfrm>
          <a:prstGeom prst="rect">
            <a:avLst/>
          </a:prstGeom>
          <a:noFill/>
          <a:ln/>
        </p:spPr>
        <p:txBody>
          <a:bodyPr wrap="square" lIns="0" tIns="0" rIns="0" bIns="0" rtlCol="0" anchor="t"/>
          <a:lstStyle/>
          <a:p>
            <a:pPr indent="0" marL="0">
              <a:buNone/>
            </a:pPr>
            <a:r>
              <a:rPr lang="en-US" sz="850" b="1" spc="300" kern="0" dirty="0">
                <a:solidFill>
                  <a:srgbClr val="F4EFE6"/>
                </a:solidFill>
                <a:latin typeface="Arial" pitchFamily="34" charset="0"/>
                <a:ea typeface="Arial" pitchFamily="34" charset="-122"/>
                <a:cs typeface="Arial" pitchFamily="34" charset="-120"/>
              </a:rPr>
              <a:t>08   </a:t>
            </a:r>
            <a:r>
              <a:rPr lang="en-US" sz="850" b="1" spc="300" kern="0" dirty="0">
                <a:solidFill>
                  <a:srgbClr val="A3804C"/>
                </a:solidFill>
                <a:latin typeface="Arial" pitchFamily="34" charset="0"/>
                <a:ea typeface="Arial" pitchFamily="34" charset="-122"/>
                <a:cs typeface="Arial" pitchFamily="34" charset="-120"/>
              </a:rPr>
              <a:t>DEMO</a:t>
            </a:r>
            <a:endParaRPr lang="en-US" sz="850" dirty="0"/>
          </a:p>
        </p:txBody>
      </p:sp>
      <p:sp>
        <p:nvSpPr>
          <p:cNvPr id="3" name="Text 1"/>
          <p:cNvSpPr txBox="1"/>
          <p:nvPr/>
        </p:nvSpPr>
        <p:spPr>
          <a:xfrm>
            <a:off x="548640" y="731520"/>
            <a:ext cx="4572000" cy="548640"/>
          </a:xfrm>
          <a:prstGeom prst="rect">
            <a:avLst/>
          </a:prstGeom>
          <a:noFill/>
          <a:ln/>
        </p:spPr>
        <p:txBody>
          <a:bodyPr wrap="square" lIns="0" tIns="0" rIns="0" bIns="0" rtlCol="0" anchor="t"/>
          <a:lstStyle/>
          <a:p>
            <a:pPr indent="0" marL="0">
              <a:buNone/>
            </a:pPr>
            <a:r>
              <a:rPr lang="en-US" sz="2800" dirty="0">
                <a:solidFill>
                  <a:srgbClr val="F4EFE6"/>
                </a:solidFill>
                <a:latin typeface="Georgia" pitchFamily="34" charset="0"/>
                <a:ea typeface="Georgia" pitchFamily="34" charset="-122"/>
                <a:cs typeface="Georgia" pitchFamily="34" charset="-120"/>
              </a:rPr>
              <a:t>Charles, as the dispatcher</a:t>
            </a:r>
            <a:endParaRPr lang="en-US" sz="2800" dirty="0"/>
          </a:p>
        </p:txBody>
      </p:sp>
      <p:sp>
        <p:nvSpPr>
          <p:cNvPr id="4" name="Text 2"/>
          <p:cNvSpPr txBox="1"/>
          <p:nvPr/>
        </p:nvSpPr>
        <p:spPr>
          <a:xfrm>
            <a:off x="548640" y="150876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5" name="Text 3"/>
          <p:cNvSpPr txBox="1"/>
          <p:nvPr/>
        </p:nvSpPr>
        <p:spPr>
          <a:xfrm>
            <a:off x="896112" y="154533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a real inbox request out loud</a:t>
            </a:r>
            <a:endParaRPr lang="en-US" sz="1050" dirty="0"/>
          </a:p>
        </p:txBody>
      </p:sp>
      <p:sp>
        <p:nvSpPr>
          <p:cNvPr id="6" name="Text 4"/>
          <p:cNvSpPr txBox="1"/>
          <p:nvPr/>
        </p:nvSpPr>
        <p:spPr>
          <a:xfrm>
            <a:off x="548640" y="191109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7" name="Text 5"/>
          <p:cNvSpPr txBox="1"/>
          <p:nvPr/>
        </p:nvSpPr>
        <p:spPr>
          <a:xfrm>
            <a:off x="896112" y="194767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Hears the best workshop and why</a:t>
            </a:r>
            <a:endParaRPr lang="en-US" sz="1050" dirty="0"/>
          </a:p>
        </p:txBody>
      </p:sp>
      <p:sp>
        <p:nvSpPr>
          <p:cNvPr id="8" name="Text 6"/>
          <p:cNvSpPr txBox="1"/>
          <p:nvPr/>
        </p:nvSpPr>
        <p:spPr>
          <a:xfrm>
            <a:off x="548640" y="2313432"/>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9" name="Text 7"/>
          <p:cNvSpPr txBox="1"/>
          <p:nvPr/>
        </p:nvSpPr>
        <p:spPr>
          <a:xfrm>
            <a:off x="896112" y="2350008"/>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"book it" and slides to confirm</a:t>
            </a:r>
            <a:endParaRPr lang="en-US" sz="1050" dirty="0"/>
          </a:p>
        </p:txBody>
      </p:sp>
      <p:sp>
        <p:nvSpPr>
          <p:cNvPr id="10" name="Text 8"/>
          <p:cNvSpPr txBox="1"/>
          <p:nvPr/>
        </p:nvSpPr>
        <p:spPr>
          <a:xfrm>
            <a:off x="548640" y="2715768"/>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4</a:t>
            </a:r>
            <a:endParaRPr lang="en-US" sz="1500" dirty="0"/>
          </a:p>
        </p:txBody>
      </p:sp>
      <p:sp>
        <p:nvSpPr>
          <p:cNvPr id="11" name="Text 9"/>
          <p:cNvSpPr txBox="1"/>
          <p:nvPr/>
        </p:nvSpPr>
        <p:spPr>
          <a:xfrm>
            <a:off x="896112" y="2752344"/>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Lets it remember the constraint</a:t>
            </a:r>
            <a:endParaRPr lang="en-US" sz="1050" dirty="0"/>
          </a:p>
        </p:txBody>
      </p:sp>
      <p:sp>
        <p:nvSpPr>
          <p:cNvPr id="12" name="Text 10"/>
          <p:cNvSpPr txBox="1"/>
          <p:nvPr/>
        </p:nvSpPr>
        <p:spPr>
          <a:xfrm>
            <a:off x="548640" y="3118104"/>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5</a:t>
            </a:r>
            <a:endParaRPr lang="en-US" sz="1500" dirty="0"/>
          </a:p>
        </p:txBody>
      </p:sp>
      <p:sp>
        <p:nvSpPr>
          <p:cNvPr id="13" name="Text 11"/>
          <p:cNvSpPr txBox="1"/>
          <p:nvPr/>
        </p:nvSpPr>
        <p:spPr>
          <a:xfrm>
            <a:off x="896112" y="3154680"/>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A new order: the rule is applied</a:t>
            </a:r>
            <a:endParaRPr lang="en-US" sz="1050" dirty="0"/>
          </a:p>
        </p:txBody>
      </p:sp>
      <p:sp>
        <p:nvSpPr>
          <p:cNvPr id="14" name="Text 12"/>
          <p:cNvSpPr txBox="1"/>
          <p:nvPr/>
        </p:nvSpPr>
        <p:spPr>
          <a:xfrm>
            <a:off x="548640" y="352044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6</a:t>
            </a:r>
            <a:endParaRPr lang="en-US" sz="1500" dirty="0"/>
          </a:p>
        </p:txBody>
      </p:sp>
      <p:sp>
        <p:nvSpPr>
          <p:cNvPr id="15" name="Text 13"/>
          <p:cNvSpPr txBox="1"/>
          <p:nvPr/>
        </p:nvSpPr>
        <p:spPr>
          <a:xfrm>
            <a:off x="896112" y="355701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Hard case: a workshop that cannot take it, and an impossible date</a:t>
            </a:r>
            <a:endParaRPr lang="en-US" sz="1050" dirty="0"/>
          </a:p>
        </p:txBody>
      </p:sp>
      <p:sp>
        <p:nvSpPr>
          <p:cNvPr id="16" name="Text 14"/>
          <p:cNvSpPr txBox="1"/>
          <p:nvPr/>
        </p:nvSpPr>
        <p:spPr>
          <a:xfrm>
            <a:off x="548640" y="392277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7</a:t>
            </a:r>
            <a:endParaRPr lang="en-US" sz="1500" dirty="0"/>
          </a:p>
        </p:txBody>
      </p:sp>
      <p:sp>
        <p:nvSpPr>
          <p:cNvPr id="17" name="Text 15"/>
          <p:cNvSpPr txBox="1"/>
          <p:nvPr/>
        </p:nvSpPr>
        <p:spPr>
          <a:xfrm>
            <a:off x="896112" y="395935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Behind the answer: what the model read, what Python computed</a:t>
            </a:r>
            <a:endParaRPr lang="en-US" sz="1050" dirty="0"/>
          </a:p>
        </p:txBody>
      </p:sp>
      <p:pic>
        <p:nvPicPr>
          <p:cNvPr id="18" name="Image 0" descr="The assistant beside its Behind the answer panel, showing a remembered rule applied to a new order">    </p:cNvPr>
          <p:cNvPicPr>
            <a:picLocks noChangeAspect="1"/>
          </p:cNvPicPr>
          <p:nvPr/>
        </p:nvPicPr>
        <p:blipFill>
          <a:blip r:embed="rId1"/>
          <a:stretch>
            <a:fillRect/>
          </a:stretch>
        </p:blipFill>
        <p:spPr>
          <a:xfrm>
            <a:off x="5029200" y="658368"/>
            <a:ext cx="3802598" cy="374904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57200"/>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STITCHFLOW</a:t>
            </a:r>
            <a:endParaRPr lang="en-US" sz="1300" dirty="0"/>
          </a:p>
        </p:txBody>
      </p:sp>
      <p:sp>
        <p:nvSpPr>
          <p:cNvPr id="3" name="Text 1"/>
          <p:cNvSpPr txBox="1"/>
          <p:nvPr/>
        </p:nvSpPr>
        <p:spPr>
          <a:xfrm>
            <a:off x="548640" y="1463040"/>
            <a:ext cx="8046720" cy="822960"/>
          </a:xfrm>
          <a:prstGeom prst="rect">
            <a:avLst/>
          </a:prstGeom>
          <a:noFill/>
          <a:ln/>
        </p:spPr>
        <p:txBody>
          <a:bodyPr wrap="square" lIns="0" tIns="0" rIns="0" bIns="0" rtlCol="0" anchor="t"/>
          <a:lstStyle/>
          <a:p>
            <a:pPr indent="0" marL="0">
              <a:buNone/>
            </a:pPr>
            <a:r>
              <a:rPr lang="en-US" sz="4000" dirty="0">
                <a:solidFill>
                  <a:srgbClr val="F4EFE6"/>
                </a:solidFill>
                <a:latin typeface="Georgia" pitchFamily="34" charset="0"/>
                <a:ea typeface="Georgia" pitchFamily="34" charset="-122"/>
                <a:cs typeface="Georgia" pitchFamily="34" charset="-120"/>
              </a:rPr>
              <a:t>Thank you.</a:t>
            </a:r>
            <a:endParaRPr lang="en-US" sz="4000" dirty="0"/>
          </a:p>
        </p:txBody>
      </p:sp>
      <p:sp>
        <p:nvSpPr>
          <p:cNvPr id="4" name="Text 2"/>
          <p:cNvSpPr txBox="1"/>
          <p:nvPr/>
        </p:nvSpPr>
        <p:spPr>
          <a:xfrm>
            <a:off x="548640" y="2286000"/>
            <a:ext cx="8046720" cy="457200"/>
          </a:xfrm>
          <a:prstGeom prst="rect">
            <a:avLst/>
          </a:prstGeom>
          <a:noFill/>
          <a:ln/>
        </p:spPr>
        <p:txBody>
          <a:bodyPr wrap="square" lIns="0" tIns="0" rIns="0" bIns="0" rtlCol="0" anchor="t"/>
          <a:lstStyle/>
          <a:p>
            <a:pPr indent="0" marL="0">
              <a:buNone/>
            </a:pPr>
            <a:r>
              <a:rPr lang="en-US" sz="1800" i="1" dirty="0">
                <a:solidFill>
                  <a:srgbClr val="B9AF9F"/>
                </a:solidFill>
                <a:latin typeface="Georgia" pitchFamily="34" charset="0"/>
                <a:ea typeface="Georgia" pitchFamily="34" charset="-122"/>
                <a:cs typeface="Georgia" pitchFamily="34" charset="-120"/>
              </a:rPr>
              <a:t>Questions are welcome.</a:t>
            </a:r>
            <a:endParaRPr lang="en-US" sz="1800" dirty="0"/>
          </a:p>
        </p:txBody>
      </p:sp>
      <p:sp>
        <p:nvSpPr>
          <p:cNvPr id="5" name="Text 3"/>
          <p:cNvSpPr txBox="1"/>
          <p:nvPr/>
        </p:nvSpPr>
        <p:spPr>
          <a:xfrm>
            <a:off x="548640" y="3246120"/>
            <a:ext cx="8046720" cy="201168"/>
          </a:xfrm>
          <a:prstGeom prst="rect">
            <a:avLst/>
          </a:prstGeom>
          <a:noFill/>
          <a:ln/>
        </p:spPr>
        <p:txBody>
          <a:bodyPr wrap="square" lIns="0" tIns="0" rIns="0" bIns="0" rtlCol="0" anchor="t"/>
          <a:lstStyle/>
          <a:p>
            <a:pPr indent="0" marL="0">
              <a:buNone/>
            </a:pPr>
            <a:r>
              <a:rPr lang="en-US" sz="1000" b="1" dirty="0">
                <a:solidFill>
                  <a:srgbClr val="A3804C"/>
                </a:solidFill>
                <a:latin typeface="Arial" pitchFamily="34" charset="0"/>
                <a:ea typeface="Arial" pitchFamily="34" charset="-122"/>
                <a:cs typeface="Arial" pitchFamily="34" charset="-120"/>
              </a:rPr>
              <a:t>GITHUB  </a:t>
            </a:r>
            <a:r>
              <a:rPr lang="en-US" sz="1000" dirty="0">
                <a:solidFill>
                  <a:srgbClr val="F4EFE6"/>
                </a:solidFill>
                <a:latin typeface="Arial" pitchFamily="34" charset="0"/>
                <a:ea typeface="Arial" pitchFamily="34" charset="-122"/>
                <a:cs typeface="Arial" pitchFamily="34" charset="-120"/>
              </a:rPr>
              <a:t>github.com/JoshuaGloor/dss5105-capstone-project</a:t>
            </a:r>
            <a:endParaRPr lang="en-US" sz="1000" dirty="0"/>
          </a:p>
        </p:txBody>
      </p:sp>
      <p:sp>
        <p:nvSpPr>
          <p:cNvPr id="6" name="Text 4"/>
          <p:cNvSpPr txBox="1"/>
          <p:nvPr/>
        </p:nvSpPr>
        <p:spPr>
          <a:xfrm>
            <a:off x="548640" y="3520440"/>
            <a:ext cx="8046720" cy="201168"/>
          </a:xfrm>
          <a:prstGeom prst="rect">
            <a:avLst/>
          </a:prstGeom>
          <a:noFill/>
          <a:ln/>
        </p:spPr>
        <p:txBody>
          <a:bodyPr wrap="square" lIns="0" tIns="0" rIns="0" bIns="0" rtlCol="0" anchor="t"/>
          <a:lstStyle/>
          <a:p>
            <a:pPr indent="0" marL="0">
              <a:buNone/>
            </a:pPr>
            <a:r>
              <a:rPr lang="en-US" sz="1000" b="1" dirty="0">
                <a:solidFill>
                  <a:srgbClr val="A3804C"/>
                </a:solidFill>
                <a:latin typeface="Arial" pitchFamily="34" charset="0"/>
                <a:ea typeface="Arial" pitchFamily="34" charset="-122"/>
                <a:cs typeface="Arial" pitchFamily="34" charset="-120"/>
              </a:rPr>
              <a:t>DEMO VIDEO  </a:t>
            </a:r>
            <a:r>
              <a:rPr lang="en-US" sz="1000" dirty="0">
                <a:solidFill>
                  <a:srgbClr val="F4EFE6"/>
                </a:solidFill>
                <a:latin typeface="Arial" pitchFamily="34" charset="0"/>
                <a:ea typeface="Arial" pitchFamily="34" charset="-122"/>
                <a:cs typeface="Arial" pitchFamily="34" charset="-120"/>
              </a:rPr>
              <a:t>[YouTube link: add after upload]</a:t>
            </a:r>
            <a:endParaRPr lang="en-US" sz="1000" dirty="0"/>
          </a:p>
        </p:txBody>
      </p:sp>
      <p:sp>
        <p:nvSpPr>
          <p:cNvPr id="7" name="Text 5"/>
          <p:cNvSpPr txBox="1"/>
          <p:nvPr/>
        </p:nvSpPr>
        <p:spPr>
          <a:xfrm>
            <a:off x="548640" y="4114800"/>
            <a:ext cx="804672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SAY THE ORDER  /  PYTHON CHECKS  /  A PERSON COMMITS</a:t>
            </a:r>
            <a:endParaRPr lang="en-US" sz="850" dirty="0"/>
          </a:p>
        </p:txBody>
      </p:sp>
      <p:sp>
        <p:nvSpPr>
          <p:cNvPr id="8" name="Text 6"/>
          <p:cNvSpPr txBox="1"/>
          <p:nvPr/>
        </p:nvSpPr>
        <p:spPr>
          <a:xfrm>
            <a:off x="548640" y="4709160"/>
            <a:ext cx="8046720" cy="182880"/>
          </a:xfrm>
          <a:prstGeom prst="rect">
            <a:avLst/>
          </a:prstGeom>
          <a:noFill/>
          <a:ln/>
        </p:spPr>
        <p:txBody>
          <a:bodyPr wrap="square" lIns="0" tIns="0" rIns="0" bIns="0" rtlCol="0" anchor="t"/>
          <a:lstStyle/>
          <a:p>
            <a:pPr indent="0" marL="0">
              <a:buNone/>
            </a:pPr>
            <a:r>
              <a:rPr lang="en-US" sz="750" spc="200" kern="0" dirty="0">
                <a:solidFill>
                  <a:srgbClr val="B9AF9F"/>
                </a:solidFill>
                <a:latin typeface="Arial" pitchFamily="34" charset="0"/>
                <a:ea typeface="Arial" pitchFamily="34" charset="-122"/>
                <a:cs typeface="Arial" pitchFamily="34" charset="-120"/>
              </a:rPr>
              <a:t>GROUP 11  /  DSS5105 CAPSTONE  /  30 OCTOBER 2026</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StitchFlow: Quick-Response Subcontracting Desk - Sprint 2</dc:title>
  <dc:subject>PptxGenJS Presentation</dc:subject>
  <dc:creator>Group 11</dc:creator>
  <cp:lastModifiedBy>Group 11</cp:lastModifiedBy>
  <cp:revision>1</cp:revision>
  <dcterms:created xsi:type="dcterms:W3CDTF">2026-10-29T11:49:25Z</dcterms:created>
  <dcterms:modified xsi:type="dcterms:W3CDTF">2026-10-29T11:49:25Z</dcterms:modified>
</cp:coreProperties>
</file>