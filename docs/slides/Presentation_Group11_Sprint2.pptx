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Take B starts on this slide for two seconds:
  Charles: "Now the demo."
Then the app. Times are from the start of the app part. Speak only when the app is quiet.
[0:00] Charles: "I'm Chen Zepeng, Charles in the app, playing the dispatcher. The rings show how
       busy each workshop is, and OldMill is grey because it's suspended."
[0:08] Hold the mic and say: "ORD-109, 500 vests for Harbor Knits, due April 13. Keep it away
       from BudgetWorks."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"Book it." The sheet opens.
       Charles: "Nothing is saved until I slide." Slide to confirm.
[0:52] On the receipt, tap "Remember".
       Charles: "And it offers to remember that rule."
[0:58] Hold the mic and say: "ORD-081 for Harbor Knits needs to go out, due April 20."
       Let the answer play, then point at the memory note on the card.
       Charles: "Same customer, so the rule is applied, and the card says it came from memory."
[1:22] Charles: "Now a hard case, straight from the inbox."
       Hold the mic and say: "QuickStitch for the scarves on ORD-103?"
       Let the answer play: QuickStitch cannot make scarves, no workshop meets 4 April, and the
       best alternative is 13.44 days late.
[1:45] Charles: "It refuses, gives the earliest option and a two-shop split, and books nothing."
[1:52] Open "Behind the answer". (optional)
       Charles: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B9AF9F"/>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1D1B18"/>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1D1B18"/>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B9AF9F"/>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1D1B18"/>
          </a:solidFill>
          <a:ln w="9525">
            <a:solidFill>
              <a:srgbClr val="1D1B18"/>
            </a:solidFill>
            <a:prstDash val="solid"/>
          </a:ln>
        </p:spPr>
      </p:sp>
      <p:sp>
        <p:nvSpPr>
          <p:cNvPr id="5" name="Text 3"/>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CDB78F"/>
                </a:solidFill>
                <a:latin typeface="Arial" pitchFamily="34" charset="0"/>
                <a:ea typeface="Arial" pitchFamily="34" charset="-122"/>
                <a:cs typeface="Arial" pitchFamily="34" charset="-120"/>
              </a:rPr>
              <a:t>A REAL REQUEST FROM THE INBOX</a:t>
            </a:r>
            <a:endParaRPr lang="en-US" sz="750" dirty="0"/>
          </a:p>
        </p:txBody>
      </p:sp>
      <p:sp>
        <p:nvSpPr>
          <p:cNvPr id="6" name="Text 4"/>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F4EFE6"/>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7" name="Text 5"/>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B9AF9F"/>
                </a:solidFill>
                <a:latin typeface="Arial" pitchFamily="34" charset="0"/>
                <a:ea typeface="Arial" pitchFamily="34" charset="-122"/>
                <a:cs typeface="Arial" pitchFamily="34" charset="-120"/>
              </a:rPr>
              <a:t>Mei, 09:53, request R25</a:t>
            </a:r>
            <a:endParaRPr lang="en-US" sz="800" dirty="0"/>
          </a:p>
        </p:txBody>
      </p:sp>
      <p:sp>
        <p:nvSpPr>
          <p:cNvPr id="8" name="Text 6"/>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9" name="Text 7"/>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0" name="Text 8"/>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1" name="Shape 9"/>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2" name="Text 10"/>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3" name="Text 11"/>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4" name="Shape 12"/>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5" name="Text 13"/>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6" name="Text 14"/>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7" name="Shape 15"/>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8" name="Text 16"/>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19" name="Text 17"/>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0" name="Text 18"/>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1" name="Shape 19"/>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2" name="Text 20"/>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3" name="Text 21"/>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4" name="Shape 22"/>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5" name="Text 23"/>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6" name="Text 24"/>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7" name="Shape 25"/>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8" name="Text 26"/>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29" name="Text 27"/>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0" name="Shape 28"/>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1" name="Shape 29"/>
          <p:cNvSpPr/>
          <p:nvPr/>
        </p:nvSpPr>
        <p:spPr>
          <a:xfrm>
            <a:off x="4434840" y="2990088"/>
            <a:ext cx="54864" cy="512064"/>
          </a:xfrm>
          <a:prstGeom prst="rect">
            <a:avLst/>
          </a:prstGeom>
          <a:solidFill>
            <a:srgbClr val="2F5D46"/>
          </a:solidFill>
          <a:ln w="12700">
            <a:solidFill>
              <a:srgbClr val="2F5D46"/>
            </a:solidFill>
            <a:prstDash val="solid"/>
          </a:ln>
        </p:spPr>
      </p:sp>
      <p:sp>
        <p:nvSpPr>
          <p:cNvPr id="32" name="Text 30"/>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3" name="Text 31"/>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4" name="Shape 32"/>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5" name="Shape 33"/>
          <p:cNvSpPr/>
          <p:nvPr/>
        </p:nvSpPr>
        <p:spPr>
          <a:xfrm>
            <a:off x="4434840" y="3593592"/>
            <a:ext cx="54864" cy="512064"/>
          </a:xfrm>
          <a:prstGeom prst="rect">
            <a:avLst/>
          </a:prstGeom>
          <a:solidFill>
            <a:srgbClr val="2F5D46"/>
          </a:solidFill>
          <a:ln w="12700">
            <a:solidFill>
              <a:srgbClr val="2F5D46"/>
            </a:solidFill>
            <a:prstDash val="solid"/>
          </a:ln>
        </p:spPr>
      </p:sp>
      <p:sp>
        <p:nvSpPr>
          <p:cNvPr id="36" name="Text 34"/>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7" name="Text 35"/>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8" name="Text 3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1D1B18"/>
          </a:solidFill>
          <a:ln w="9525">
            <a:solidFill>
              <a:srgbClr val="1D1B18"/>
            </a:solidFill>
            <a:prstDash val="solid"/>
          </a:ln>
        </p:spPr>
      </p:sp>
      <p:sp>
        <p:nvSpPr>
          <p:cNvPr id="5" name="Text 3"/>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CDB78F"/>
                </a:solidFill>
                <a:latin typeface="Arial" pitchFamily="34" charset="0"/>
                <a:ea typeface="Arial" pitchFamily="34" charset="-122"/>
                <a:cs typeface="Arial" pitchFamily="34" charset="-120"/>
              </a:rPr>
              <a:t>MODEL</a:t>
            </a:r>
            <a:endParaRPr lang="en-US" sz="750" dirty="0"/>
          </a:p>
        </p:txBody>
      </p:sp>
      <p:sp>
        <p:nvSpPr>
          <p:cNvPr id="6" name="Text 4"/>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F4EFE6"/>
                </a:solidFill>
                <a:latin typeface="Georgia" pitchFamily="34" charset="0"/>
                <a:ea typeface="Georgia" pitchFamily="34" charset="-122"/>
                <a:cs typeface="Georgia" pitchFamily="34" charset="-120"/>
              </a:rPr>
              <a:t>One hosted model, named in .env</a:t>
            </a:r>
            <a:endParaRPr lang="en-US" sz="1250" dirty="0"/>
          </a:p>
        </p:txBody>
      </p:sp>
      <p:sp>
        <p:nvSpPr>
          <p:cNvPr id="7" name="Text 5"/>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B9AF9F"/>
                </a:solidFill>
                <a:latin typeface="Arial" pitchFamily="34" charset="0"/>
                <a:ea typeface="Arial" pitchFamily="34" charset="-122"/>
                <a:cs typeface="Arial" pitchFamily="34" charset="-120"/>
              </a:rPr>
              <a:t>over a fine-tuned or local model</a:t>
            </a:r>
            <a:endParaRPr lang="en-US" sz="800" dirty="0"/>
          </a:p>
        </p:txBody>
      </p:sp>
      <p:sp>
        <p:nvSpPr>
          <p:cNvPr id="8" name="Text 6"/>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9" name="Shape 7"/>
          <p:cNvSpPr/>
          <p:nvPr/>
        </p:nvSpPr>
        <p:spPr>
          <a:xfrm>
            <a:off x="2587752" y="1188720"/>
            <a:ext cx="1929384" cy="1536192"/>
          </a:xfrm>
          <a:prstGeom prst="roundRect">
            <a:avLst>
              <a:gd name="adj" fmla="val 4762"/>
            </a:avLst>
          </a:prstGeom>
          <a:solidFill>
            <a:srgbClr val="1D1B18"/>
          </a:solidFill>
          <a:ln w="9525">
            <a:solidFill>
              <a:srgbClr val="1D1B18"/>
            </a:solidFill>
            <a:prstDash val="solid"/>
          </a:ln>
        </p:spPr>
      </p:sp>
      <p:sp>
        <p:nvSpPr>
          <p:cNvPr id="10" name="Text 8"/>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CDB78F"/>
                </a:solidFill>
                <a:latin typeface="Arial" pitchFamily="34" charset="0"/>
                <a:ea typeface="Arial" pitchFamily="34" charset="-122"/>
                <a:cs typeface="Arial" pitchFamily="34" charset="-120"/>
              </a:rPr>
              <a:t>RETRIEVAL</a:t>
            </a:r>
            <a:endParaRPr lang="en-US" sz="750" dirty="0"/>
          </a:p>
        </p:txBody>
      </p:sp>
      <p:sp>
        <p:nvSpPr>
          <p:cNvPr id="11" name="Text 9"/>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F4EFE6"/>
                </a:solidFill>
                <a:latin typeface="Georgia" pitchFamily="34" charset="0"/>
                <a:ea typeface="Georgia" pitchFamily="34" charset="-122"/>
                <a:cs typeface="Georgia" pitchFamily="34" charset="-120"/>
              </a:rPr>
              <a:t>Exact lookup by order ID</a:t>
            </a:r>
            <a:endParaRPr lang="en-US" sz="1250" dirty="0"/>
          </a:p>
        </p:txBody>
      </p:sp>
      <p:sp>
        <p:nvSpPr>
          <p:cNvPr id="12" name="Text 10"/>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B9AF9F"/>
                </a:solidFill>
                <a:latin typeface="Arial" pitchFamily="34" charset="0"/>
                <a:ea typeface="Arial" pitchFamily="34" charset="-122"/>
                <a:cs typeface="Arial" pitchFamily="34" charset="-120"/>
              </a:rPr>
              <a:t>over embedding retrieval (RAG)</a:t>
            </a:r>
            <a:endParaRPr lang="en-US" sz="800" dirty="0"/>
          </a:p>
        </p:txBody>
      </p:sp>
      <p:sp>
        <p:nvSpPr>
          <p:cNvPr id="13" name="Text 11"/>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4" name="Shape 12"/>
          <p:cNvSpPr/>
          <p:nvPr/>
        </p:nvSpPr>
        <p:spPr>
          <a:xfrm>
            <a:off x="4626864" y="1188720"/>
            <a:ext cx="1929384" cy="1536192"/>
          </a:xfrm>
          <a:prstGeom prst="roundRect">
            <a:avLst>
              <a:gd name="adj" fmla="val 4762"/>
            </a:avLst>
          </a:prstGeom>
          <a:solidFill>
            <a:srgbClr val="1D1B18"/>
          </a:solidFill>
          <a:ln w="9525">
            <a:solidFill>
              <a:srgbClr val="1D1B18"/>
            </a:solidFill>
            <a:prstDash val="solid"/>
          </a:ln>
        </p:spPr>
      </p:sp>
      <p:sp>
        <p:nvSpPr>
          <p:cNvPr id="15" name="Text 13"/>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CDB78F"/>
                </a:solidFill>
                <a:latin typeface="Arial" pitchFamily="34" charset="0"/>
                <a:ea typeface="Arial" pitchFamily="34" charset="-122"/>
                <a:cs typeface="Arial" pitchFamily="34" charset="-120"/>
              </a:rPr>
              <a:t>DATA STORE</a:t>
            </a:r>
            <a:endParaRPr lang="en-US" sz="750" dirty="0"/>
          </a:p>
        </p:txBody>
      </p:sp>
      <p:sp>
        <p:nvSpPr>
          <p:cNvPr id="16" name="Text 14"/>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F4EFE6"/>
                </a:solidFill>
                <a:latin typeface="Georgia" pitchFamily="34" charset="0"/>
                <a:ea typeface="Georgia" pitchFamily="34" charset="-122"/>
                <a:cs typeface="Georgia" pitchFamily="34" charset="-120"/>
              </a:rPr>
              <a:t>SQLite for records and memory</a:t>
            </a:r>
            <a:endParaRPr lang="en-US" sz="1250" dirty="0"/>
          </a:p>
        </p:txBody>
      </p:sp>
      <p:sp>
        <p:nvSpPr>
          <p:cNvPr id="17" name="Text 15"/>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B9AF9F"/>
                </a:solidFill>
                <a:latin typeface="Arial" pitchFamily="34" charset="0"/>
                <a:ea typeface="Arial" pitchFamily="34" charset="-122"/>
                <a:cs typeface="Arial" pitchFamily="34" charset="-120"/>
              </a:rPr>
              <a:t>over a vector store</a:t>
            </a:r>
            <a:endParaRPr lang="en-US" sz="800" dirty="0"/>
          </a:p>
        </p:txBody>
      </p:sp>
      <p:sp>
        <p:nvSpPr>
          <p:cNvPr id="18" name="Text 16"/>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19" name="Shape 17"/>
          <p:cNvSpPr/>
          <p:nvPr/>
        </p:nvSpPr>
        <p:spPr>
          <a:xfrm>
            <a:off x="6665976" y="1188720"/>
            <a:ext cx="1929384" cy="1536192"/>
          </a:xfrm>
          <a:prstGeom prst="roundRect">
            <a:avLst>
              <a:gd name="adj" fmla="val 4762"/>
            </a:avLst>
          </a:prstGeom>
          <a:solidFill>
            <a:srgbClr val="1D1B18"/>
          </a:solidFill>
          <a:ln w="9525">
            <a:solidFill>
              <a:srgbClr val="1D1B18"/>
            </a:solidFill>
            <a:prstDash val="solid"/>
          </a:ln>
        </p:spPr>
      </p:sp>
      <p:sp>
        <p:nvSpPr>
          <p:cNvPr id="20" name="Text 18"/>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CDB78F"/>
                </a:solidFill>
                <a:latin typeface="Arial" pitchFamily="34" charset="0"/>
                <a:ea typeface="Arial" pitchFamily="34" charset="-122"/>
                <a:cs typeface="Arial" pitchFamily="34" charset="-120"/>
              </a:rPr>
              <a:t>TOOLS</a:t>
            </a:r>
            <a:endParaRPr lang="en-US" sz="750" dirty="0"/>
          </a:p>
        </p:txBody>
      </p:sp>
      <p:sp>
        <p:nvSpPr>
          <p:cNvPr id="21" name="Text 19"/>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F4EFE6"/>
                </a:solidFill>
                <a:latin typeface="Georgia" pitchFamily="34" charset="0"/>
                <a:ea typeface="Georgia" pitchFamily="34" charset="-122"/>
                <a:cs typeface="Georgia" pitchFamily="34" charset="-120"/>
              </a:rPr>
              <a:t>The course's eligible_workshops()</a:t>
            </a:r>
            <a:endParaRPr lang="en-US" sz="1250" dirty="0"/>
          </a:p>
        </p:txBody>
      </p:sp>
      <p:sp>
        <p:nvSpPr>
          <p:cNvPr id="22" name="Text 20"/>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B9AF9F"/>
                </a:solidFill>
                <a:latin typeface="Arial" pitchFamily="34" charset="0"/>
                <a:ea typeface="Arial" pitchFamily="34" charset="-122"/>
                <a:cs typeface="Arial" pitchFamily="34" charset="-120"/>
              </a:rPr>
              <a:t>over our own eligibility rule</a:t>
            </a:r>
            <a:endParaRPr lang="en-US" sz="800" dirty="0"/>
          </a:p>
        </p:txBody>
      </p:sp>
      <p:sp>
        <p:nvSpPr>
          <p:cNvPr id="23" name="Text 21"/>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4" name="Shape 22"/>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5" name="Text 23"/>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26" name="Text 24"/>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27" name="Text 25"/>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28" name="Text 26"/>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29" name="Shape 27"/>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0" name="Text 28"/>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1" name="Text 29"/>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2" name="Text 30"/>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3" name="Text 31"/>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4" name="Shape 32"/>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5" name="Text 33"/>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36" name="Text 34"/>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37" name="Text 35"/>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38" name="Text 36"/>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39" name="Shape 37"/>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0" name="Text 38"/>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1" name="Text 39"/>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2" name="Text 40"/>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3" name="Text 41"/>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4" name="Text 42"/>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Dark: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1D1B18"/>
          </a:solidFill>
          <a:ln w="9525">
            <a:solidFill>
              <a:srgbClr val="1D1B18"/>
            </a:solidFill>
            <a:prstDash val="solid"/>
          </a:ln>
        </p:spPr>
      </p:sp>
      <p:sp>
        <p:nvSpPr>
          <p:cNvPr id="14" name="Text 12"/>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F4EFE6"/>
                </a:solidFill>
                <a:latin typeface="Georgia" pitchFamily="34" charset="0"/>
                <a:ea typeface="Georgia" pitchFamily="34" charset="-122"/>
                <a:cs typeface="Georgia" pitchFamily="34" charset="-120"/>
              </a:rPr>
              <a:t>96.9%</a:t>
            </a:r>
            <a:endParaRPr lang="en-US" sz="2800" dirty="0"/>
          </a:p>
        </p:txBody>
      </p:sp>
      <p:sp>
        <p:nvSpPr>
          <p:cNvPr id="15" name="Text 13"/>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B9AF9F"/>
                </a:solidFill>
                <a:latin typeface="Arial" pitchFamily="34" charset="0"/>
                <a:ea typeface="Arial" pitchFamily="34" charset="-122"/>
                <a:cs typeface="Arial" pitchFamily="34" charset="-120"/>
              </a:rPr>
              <a:t>of 65 held-out requests passed (63/65); train 95.7%</a:t>
            </a:r>
            <a:endParaRPr lang="en-US" sz="850" dirty="0"/>
          </a:p>
        </p:txBody>
      </p:sp>
      <p:sp>
        <p:nvSpPr>
          <p:cNvPr id="16" name="Shape 14"/>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7" name="Text 15"/>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8" name="Text 16"/>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19" name="Shape 17"/>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0" name="Text 18"/>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1" name="Text 19"/>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2" name="Shape 20"/>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3" name="Text 21"/>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4" name="Text 22"/>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5" name="Text 23"/>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6" name="Shape 24"/>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7" name="Text 25"/>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8" name="Text 26"/>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29" name="Text 27"/>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0" name="Shape 28"/>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1" name="Text 29"/>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2" name="Text 30"/>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3" name="Text 31"/>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4" name="Shape 32"/>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5" name="Text 33"/>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6" name="Text 34"/>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7" name="Text 35"/>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8" name="Text 3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B9AF9F"/>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2026-10-29T13:31:10Z</dcterms:created>
  <dcterms:modified xsi:type="dcterms:W3CDTF">2026-10-29T13:31:10Z</dcterms:modified>
</cp:coreProperties>
</file>