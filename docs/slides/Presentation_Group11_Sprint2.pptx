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Charles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Charles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Charles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(1:53-2:13)  Saadhvika
"Every feature has an owner. Six of eleven are done: the voice assistant, memory, capacity
questions, the four-objective scorer, the desk redesign and the AWS deployment. In progress:
clarification fixes, and our evaluation set. Planned: Lynn's live run on the full set,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(2:13-2:55)  Niyanthri
"We measure late batches and late days, our primary objective, in the course simulator, with and
without a closure. Baselines are random, biggest capacity and cheapest, plus earliest finish.
The minimum is to beat all three baselines, and handle all 30 inbox requests. Today: 1.4 percent
late against 1.7, and 68 percent fewer late days. For language, the 30 inbox requests plus 50 new held-out ones, labelled
separately, then agreed.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then Lynn
Take A ends here:
  Charles: "Now the demo."
Take B, in the app. Times are from the start of Take B. Speak only when the app is quiet.
[0:00] Charles: "I'm Charles,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Lynn: "Now a hard case, straight from the inbox."
       Charles holds the mic and says: "QuickStitch for the scarves on ORD-103?"
       Let the answer play: QuickStitch cannot make scarves, no workshop meets 4 April, and the
       best alternative is 13.44 days late.
[1:45] Lynn: "It refuses, gives the earliest option and a two-shop split, and books nothing."
[1:52] Open "Behind the answer". (optional)
       Lynn: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Put the link on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5" name="Text 23"/>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6"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43584"/>
          <a:ext cx="8046720" cy="914400"/>
        </p:xfrm>
        <a:graphic>
          <a:graphicData uri="http://schemas.openxmlformats.org/drawingml/2006/table">
            <a:tbl>
              <a:tblPr/>
              <a:tblGrid>
                <a:gridCol w="1143000"/>
                <a:gridCol w="2148840"/>
                <a:gridCol w="1691640"/>
                <a:gridCol w="306324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FOR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MODEL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hosted model, named in .env</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fine-tuned or local model</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ORCHESTRATION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fixed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RETRIEVAL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lookup by order ID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Embedding retrieval (RAG)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Orders have keys; an exact match cannot fetch the wrong order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DATA STORE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SQLite for records and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 store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rule must apply exactly, with who said it, and be auditable in one local 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TOOLS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The course's eligible_workshops()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Our own eligibility rule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Our checks and the course simulator can never disagree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REPLIES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SPEECH</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COMMIT</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2011680" cy="914400"/>
          </a:xfrm>
          <a:prstGeom prst="rect">
            <a:avLst/>
          </a:prstGeom>
          <a:noFill/>
          <a:ln/>
        </p:spPr>
        <p:txBody>
          <a:bodyPr wrap="square" lIns="0" tIns="0" rIns="0" bIns="0" rtlCol="0" anchor="ctr"/>
          <a:lstStyle/>
          <a:p>
            <a:pPr indent="0" marL="0">
              <a:buNone/>
            </a:pPr>
            <a:r>
              <a:rPr lang="en-US" sz="6000" dirty="0">
                <a:solidFill>
                  <a:srgbClr val="2F5D46"/>
                </a:solidFill>
                <a:latin typeface="Georgia" pitchFamily="34" charset="0"/>
                <a:ea typeface="Georgia" pitchFamily="34" charset="-122"/>
                <a:cs typeface="Georgia" pitchFamily="34" charset="-120"/>
              </a:rPr>
              <a:t>6</a:t>
            </a:r>
            <a:r>
              <a:rPr lang="en-US" sz="6000" dirty="0">
                <a:solidFill>
                  <a:srgbClr val="1D1B18"/>
                </a:solidFill>
                <a:latin typeface="Georgia" pitchFamily="34" charset="0"/>
                <a:ea typeface="Georgia" pitchFamily="34" charset="-122"/>
                <a:cs typeface="Georgia" pitchFamily="34" charset="-120"/>
              </a:rPr>
              <a:t>/11</a:t>
            </a:r>
            <a:endParaRPr lang="en-US" sz="6000" dirty="0"/>
          </a:p>
        </p:txBody>
      </p:sp>
      <p:sp>
        <p:nvSpPr>
          <p:cNvPr id="5" name="Text 3"/>
          <p:cNvSpPr txBox="1"/>
          <p:nvPr/>
        </p:nvSpPr>
        <p:spPr>
          <a:xfrm>
            <a:off x="548640" y="2194560"/>
            <a:ext cx="2011680" cy="256032"/>
          </a:xfrm>
          <a:prstGeom prst="rect">
            <a:avLst/>
          </a:prstGeom>
          <a:noFill/>
          <a:ln/>
        </p:spPr>
        <p:txBody>
          <a:bodyPr wrap="square" lIns="0" tIns="0" rIns="0" bIns="0" rtlCol="0" anchor="t"/>
          <a:lstStyle/>
          <a:p>
            <a:pPr indent="0" marL="0">
              <a:buNone/>
            </a:pPr>
            <a:r>
              <a:rPr lang="en-US" sz="1100" b="1" dirty="0">
                <a:solidFill>
                  <a:srgbClr val="1D1B18"/>
                </a:solidFill>
                <a:latin typeface="Arial" pitchFamily="34" charset="0"/>
                <a:ea typeface="Arial" pitchFamily="34" charset="-122"/>
                <a:cs typeface="Arial" pitchFamily="34" charset="-120"/>
              </a:rPr>
              <a:t>features done this sprint</a:t>
            </a:r>
            <a:endParaRPr lang="en-US" sz="1100" dirty="0"/>
          </a:p>
        </p:txBody>
      </p:sp>
      <p:sp>
        <p:nvSpPr>
          <p:cNvPr id="6" name="Shape 4"/>
          <p:cNvSpPr/>
          <p:nvPr/>
        </p:nvSpPr>
        <p:spPr>
          <a:xfrm>
            <a:off x="548640" y="2615184"/>
            <a:ext cx="1463040" cy="292608"/>
          </a:xfrm>
          <a:prstGeom prst="roundRect">
            <a:avLst>
              <a:gd name="adj" fmla="val 50000"/>
            </a:avLst>
          </a:prstGeom>
          <a:solidFill>
            <a:srgbClr val="9A6A12"/>
          </a:solidFill>
          <a:ln w="12700">
            <a:solidFill>
              <a:srgbClr val="9A6A12"/>
            </a:solidFill>
            <a:prstDash val="solid"/>
          </a:ln>
        </p:spPr>
      </p:sp>
      <p:sp>
        <p:nvSpPr>
          <p:cNvPr id="7" name="Text 5"/>
          <p:cNvSpPr txBox="1"/>
          <p:nvPr/>
        </p:nvSpPr>
        <p:spPr>
          <a:xfrm>
            <a:off x="548640" y="2615184"/>
            <a:ext cx="14630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 in progress</a:t>
            </a:r>
            <a:endParaRPr lang="en-US" sz="900" dirty="0"/>
          </a:p>
        </p:txBody>
      </p:sp>
      <p:sp>
        <p:nvSpPr>
          <p:cNvPr id="8" name="Shape 6"/>
          <p:cNvSpPr/>
          <p:nvPr/>
        </p:nvSpPr>
        <p:spPr>
          <a:xfrm>
            <a:off x="548640" y="3017520"/>
            <a:ext cx="1463040" cy="292608"/>
          </a:xfrm>
          <a:prstGeom prst="roundRect">
            <a:avLst>
              <a:gd name="adj" fmla="val 50000"/>
            </a:avLst>
          </a:prstGeom>
          <a:solidFill>
            <a:srgbClr val="FAF8F4"/>
          </a:solidFill>
          <a:ln w="12700">
            <a:solidFill>
              <a:srgbClr val="6B665D"/>
            </a:solidFill>
            <a:prstDash val="solid"/>
          </a:ln>
        </p:spPr>
      </p:sp>
      <p:sp>
        <p:nvSpPr>
          <p:cNvPr id="9" name="Text 7"/>
          <p:cNvSpPr txBox="1"/>
          <p:nvPr/>
        </p:nvSpPr>
        <p:spPr>
          <a:xfrm>
            <a:off x="548640" y="3017520"/>
            <a:ext cx="1463040" cy="292608"/>
          </a:xfrm>
          <a:prstGeom prst="rect">
            <a:avLst/>
          </a:prstGeom>
          <a:noFill/>
          <a:ln/>
        </p:spPr>
        <p:txBody>
          <a:bodyPr wrap="square" lIns="0" tIns="0" rIns="0" bIns="0" rtlCol="0" anchor="ctr"/>
          <a:lstStyle/>
          <a:p>
            <a:pPr algn="ctr" indent="0" marL="0">
              <a:buNone/>
            </a:pPr>
            <a:r>
              <a:rPr lang="en-US" sz="900" b="1" dirty="0">
                <a:solidFill>
                  <a:srgbClr val="6B665D"/>
                </a:solidFill>
                <a:latin typeface="Arial" pitchFamily="34" charset="0"/>
                <a:ea typeface="Arial" pitchFamily="34" charset="-122"/>
                <a:cs typeface="Arial" pitchFamily="34" charset="-120"/>
              </a:rPr>
              <a:t>2 planned</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0" y="1207008"/>
          <a:ext cx="5852160" cy="914400"/>
        </p:xfrm>
        <a:graphic>
          <a:graphicData uri="http://schemas.openxmlformats.org/drawingml/2006/table">
            <a:tbl>
              <a:tblPr/>
              <a:tblGrid>
                <a:gridCol w="3520440"/>
                <a:gridCol w="1508760"/>
                <a:gridCol w="82296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Voice assistant: phone UI, speech in and out, slide to book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Long-term memory: rules from confirmed bookings, log, profile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Four-objective scorer, frozen presets, objective lab</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Capacity questions and workshop checks from chat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Chat-first desk redesign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Duong Thanh Nhan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AWS deployment behind HTTPS (demo site)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Clarification reliability fixes and 247-assertion benchmark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Evaluation set: 50 new held-out requests, written and labelled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Independent labels for the 30 inbox requests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Live model run on the full evaluation set (30 inbox + 50 new)</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Usability test: two people acting as dispatchers, four tasks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8A2C35"/>
                          </a:solidFill>
                          <a:latin typeface="Arial" pitchFamily="34" charset="0"/>
                          <a:ea typeface="Arial" pitchFamily="34" charset="-122"/>
                          <a:cs typeface="Arial" pitchFamily="34" charset="-120"/>
                        </a:rPr>
                        <a:t>[TBD]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1" name="Text 8"/>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plus 50 new held-out requests (rewordings, bait items) written and labelled by Saadhvika and Niyanthri. Labels are made separately, then agreed; a model judge counts only where it matches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2026-10-29T11:57:25Z</dcterms:created>
  <dcterms:modified xsi:type="dcterms:W3CDTF">2026-10-29T11:57:25Z</dcterms:modified>
</cp:coreProperties>
</file>