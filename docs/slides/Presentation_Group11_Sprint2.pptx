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Cover (0:00-0:13)  Joshua
"Hi, we're Group 11, Track 2. This is StitchFlow: say an order, and it finds the right workshop.
Our primary objective is minimising lateness, and our secondary is minimising defects."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Objective and focus (0:13-0:45)  Joshua
"Our user is SweaterCo's dispatcher, out on the factory floor. Requests arrive in a group chat.
A wrong pick means a late order or a bad batch, so the dispatcher needs a safe answer in
seconds, with a record of why. That one job is our scope.
Since Sprint 1, we beat earliest finish, which tied us, our defects and fairness settings beat
their baselines, and the dispatcher can now talk to the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The user journey (0:45-1:08)  Saadhvika
"We designed the journey for the floor. The dispatcher holds the mic and says the order. The
desk answers on screen and out loud: the best workshop, when it arrives, and why. 'Book it' opens
a sheet, and a slide confirms. It offers to remember the constraint, and uses it on the next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Architecture (1:08-1:35)  Joshua
"This is what we built. Speech becomes text in the browser, and Python answers commands like
'book it' itself. Everything else is one structured-output call, and every field must quote the
message. Deterministic tools then look up the order, apply remembered rules, check eligibility
and rank, so the model never does arithmetic. A slide confirms, and SQLite keeps the booking and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Key choices (1:35-1:53)  Niyanthri
"We chose a fixed workflow over a ReAct agent, because every request needs the same checks;
exact lookups over embeddings, so we never fetch the wrong order; exact rules in SQLite over a
vector store; and a slide, never a spoken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Progress (1:53-2:11)  Saadhvika
"Every feature has an owner. Seven of eleven are done, including the voice assistant, memory,
the four-objective scorer and 205 generated evaluation requests. In progress: clarification
fixes and independent inbox labels. Planned: Lynn's re-run of the test set, and Joshua's
usability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Validation plan (2:11-2:55)  Niyanthri
"We measure late batches and late days, our primary objective, in the course simulator, with and
without a closure, against random, biggest capacity, cheapest and earliest finish. The minimum
is to beat all three baselines and handle all 30 inbox requests. Today: 1.4 percent late against
1.7, and 68 percent fewer late days. For language: the inbox plus 205 generated requests, 65 held
out with new wording; 96.9 percent passed on the first live run. Hard cases: an
impossible date, a workshop that can't take it, and a misheard order. We give options, refuse
with a reason, and read the order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Demo (2:55-4:50)  Charles
Take B starts on this slide for two seconds:
  Charles: "Now the demo."
Then the app. Times are from the start of the app part. Speak only when the app is quiet.
[0:00] Charles: "I'm Charles, playing the dispatcher. The rings show how busy each workshop is,
       and OldMill is grey because it's suspended."
[0:08] Hold the mic and say: "ORD-109, 500 vests for Harbor Knits, due April 13. Keep it away
       from BudgetWorks."
       Let the answer play: "GiantWeave can deliver order 109 by Thursday 9 April, 3.71 days
       early. Cost 550, defect risk 6.0%. Say book it, or tap book, to confirm."
[0:30] Tap "Compare 4 workshops", then "Can't take it", then close them. (optional)
       Charles: "Here are the other options, and why the rest can't take it. BudgetWorks is out
       because I asked."
[0:40] Hold the mic and say: "Book it." The sheet opens.
       Charles: "Nothing is saved until I slide." Slide to confirm.
[0:52] On the receipt, tap "Remember".
       Charles: "And it offers to remember that rule."
[0:58] Hold the mic and say: "ORD-081 for Harbor Knits needs to go out, due April 20."
       Let the answer play, then point at the memory note on the card.
       Charles: "Same customer, so the rule is applied, and the card says it came from memory."
[1:22] Charles: "Now a hard case, straight from the inbox."
       Hold the mic and say: "QuickStitch for the scarves on ORD-103?"
       Let the answer play: QuickStitch cannot make scarves, no workshop meets 4 April, and the
       best alternative is 13.44 days late.
[1:45] Charles: "It refuses, gives the earliest option and a two-shop split, and books nothing."
[1:52] Open "Behind the answer". (optional)
       Charles: "This panel shows what the model read, with quotes, and what Python computed."
[1:59] Stop recording.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Thank you (not recorded)
The video ends on the demo, so this slide stays in the deck for the Q&amp;A only.
AFTER RECORDING
- Upload the .mp4 to YouTube as unlisted, then open the link in a private window.
- Put the link on slides 1 and 9:
    DEMO_LINK=https://youtu.be/... node scripts/build_sprint2_deck.mjs
  then export the PDF again, and open the GitHub link in a private window too.
- One member uploads the .mp4 and the .pptx (or .pdf) to Canvas by 15:00.
Q&amp;A PREPARATION (not read aloud)
- Ruby (Duong Thanh Nhan) cannot attend: Ruby emails Salman and Jack with the reason before the
  session, and slide 1 shows "Absent" with that reason. Any member may be asked about Ruby's desk
  redesign: one answer at a time, objective panel, saved plan, Show working.
- Who is the user? SweaterCo's dispatcher, the person who handles the dispatch chat. Five
  people post requests there (Ravi, Priya, Mei, Chen and the boss). In the demo Charles plays
  the dispatcher and says requests from the chat out loud: Mei's R25 and the boss's R14.
- Why "StitchFlow"? Stitch for garments, flow for orders moving to the right workshop.
  QuickStitch is one of the eight workshops, not us.
- How was the evaluation set built? 205 requests generated from templates with fixed seeds,
  across the seven request kinds: 140 train, 65 test, and the test wording never appears in
  train. Labels come from construction (the generator knows the order, date and constraint it
  wrote) plus the deterministic dispatch preview, so no model labels them. Results are
  behaviour-rubric pass rates from one gpt-5.6 run on intake-v2: train 134/140 (95.7%), test
  63/65 (96.9%). They are not model accuracy. The three original train failures (TR053,
  TR056, TR059) were an unneeded quantity question blocking a refusal, fixed in intake-v3.
- Is the demo real time? Yes. It is one take with no cuts; only the start and end are trimmed.
- Why voice? The track's bonus asks how a dispatcher would really use it: on the floor, on a
  phone. Typing still works everywhere, and the course inbox is still evaluated as text.
- Can a misheard "yes" book something? No. "Book it" only opens the sheet. Saving needs a
  name and the slide, and the preview is recomputed and checked for changes first.
- Does the model see costs or queues? No. It sees the message, the conversation, and the
  workshop, customer and product names. Python computes every number.
- What does memory store? Constraints from confirmed bookings, with who said them and their
  words; a log of answers and bookings; the dispatcher's name and priorities. Nothing is
  learned from the model alone, and a rule can be paused.
- Did you tune on the course seeds? Presets were chosen on development seeds 6000-6029. The
  course seeds were run twice: after the first run a desk case (R12) showed reservation could
  prefer a slightly late shop, so we added an on-time-first charge and re-ran everything. It is
  disclosed in docs/OBJECTIVE_STUDY.md; the default's numbers did not change.
- Where do baselines still win? Under the closure our default is 0.17 points worse on late
  batches than earliest finish. The Sprint 1 lateness preset moves fewer late days under the
  closure than our robustness preset. We do not claim a universal robustness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AF8F4"/>
        </a:solidFill>
      </p:bgPr>
    </p:bg>
    <p:spTree>
      <p:nvGrpSpPr>
        <p:cNvPr id="1" name=""/>
        <p:cNvGrpSpPr/>
        <p:nvPr/>
      </p:nvGrpSpPr>
      <p:grpSpPr>
        <a:xfrm>
          <a:off x="0" y="0"/>
          <a:ext cx="0" cy="0"/>
          <a:chOff x="0" y="0"/>
          <a:chExt cx="0" cy="0"/>
        </a:xfrm>
      </p:grpSpPr>
      <p:sp>
        <p:nvSpPr>
          <p:cNvPr id="2" name="Text 0"/>
          <p:cNvSpPr/>
          <p:nvPr/>
        </p:nvSpPr>
        <p:spPr>
          <a:xfrm>
            <a:off x="548640" y="4800600"/>
            <a:ext cx="6400800" cy="201168"/>
          </a:xfrm>
          <a:prstGeom prst="rect">
            <a:avLst/>
          </a:prstGeom>
          <a:noFill/>
          <a:ln/>
        </p:spPr>
        <p:txBody>
          <a:bodyPr wrap="square" lIns="0" tIns="0" rIns="0" bIns="0" rtlCol="0" anchor="ctr"/>
          <a:lstStyle/>
          <a:p>
            <a:pPr indent="0" marL="0">
              <a:buNone/>
            </a:pPr>
            <a:r>
              <a:rPr lang="en-US" sz="700" spc="150" kern="0" dirty="0">
                <a:solidFill>
                  <a:srgbClr val="6B665D"/>
                </a:solidFill>
                <a:latin typeface="Arial" pitchFamily="34" charset="0"/>
                <a:ea typeface="Arial" pitchFamily="34" charset="-122"/>
                <a:cs typeface="Arial" pitchFamily="34" charset="-120"/>
              </a:rPr>
              <a:t>STITCHFLOW  /  QUICK-RESPONSE SUBCONTRACTING DESK  /  GROUP 11  /  SPRINT 2</a:t>
            </a:r>
            <a:endParaRPr lang="en-US" sz="700" dirty="0"/>
          </a:p>
        </p:txBody>
      </p:sp>
      <p:sp>
        <p:nvSpPr>
          <p:cNvPr id="25" name="Slide Number Placeholder 0"/>
          <p:cNvSpPr>
            <a:spLocks noGrp="1"/>
          </p:cNvSpPr>
          <p:nvPr>
            <p:ph type="sldNum" sz="quarter" idx="4294967295"/>
          </p:nvPr>
        </p:nvSpPr>
        <p:spPr>
          <a:xfrm>
            <a:off x="8138160" y="4800600"/>
            <a:ext cx="457200" cy="201168"/>
          </a:xfrm>
          <a:prstGeom prst="rect">
            <a:avLst/>
          </a:prstGeom>
          <a:extLst>
            <a:ext uri="{C572A759-6A51-4108-AA02-DFA0A04FC94B}">
              <ma14:wrappingTextBoxFlag xmlns:ma14="http://schemas.microsoft.com/office/mac/drawingml/2011/main" val="0"/>
            </a:ext>
          </a:extLst>
        </p:spPr>
        <p:txBody>
          <a:bodyPr/>
          <a:lstStyle>
            <a:lvl1pPr>
              <a:defRPr sz="700">
                <a:solidFill>
                  <a:srgbClr val="6B665D"/>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D1B1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800600"/>
            <a:ext cx="457200" cy="201168"/>
          </a:xfrm>
          <a:prstGeom prst="rect">
            <a:avLst/>
          </a:prstGeom>
          <a:extLst>
            <a:ext uri="{C572A759-6A51-4108-AA02-DFA0A04FC94B}">
              <ma14:wrappingTextBoxFlag xmlns:ma14="http://schemas.microsoft.com/office/mac/drawingml/2011/main" val="0"/>
            </a:ext>
          </a:extLst>
        </p:spPr>
        <p:txBody>
          <a:bodyPr/>
          <a:lstStyle>
            <a:lvl1pPr>
              <a:defRPr sz="700">
                <a:solidFill>
                  <a:srgbClr val="6B665D"/>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384048"/>
            <a:ext cx="3657600" cy="274320"/>
          </a:xfrm>
          <a:prstGeom prst="rect">
            <a:avLst/>
          </a:prstGeom>
          <a:noFill/>
          <a:ln/>
        </p:spPr>
        <p:txBody>
          <a:bodyPr wrap="square" lIns="0" tIns="0" rIns="0" bIns="0" rtlCol="0" anchor="t"/>
          <a:lstStyle/>
          <a:p>
            <a:pPr indent="0" marL="0">
              <a:buNone/>
            </a:pPr>
            <a:r>
              <a:rPr lang="en-US" sz="1300" spc="900" kern="0" dirty="0">
                <a:solidFill>
                  <a:srgbClr val="F4EFE6"/>
                </a:solidFill>
                <a:latin typeface="Georgia" pitchFamily="34" charset="0"/>
                <a:ea typeface="Georgia" pitchFamily="34" charset="-122"/>
                <a:cs typeface="Georgia" pitchFamily="34" charset="-120"/>
              </a:rPr>
              <a:t>SWEATERCO</a:t>
            </a:r>
            <a:endParaRPr lang="en-US" sz="1300" dirty="0"/>
          </a:p>
        </p:txBody>
      </p:sp>
      <p:sp>
        <p:nvSpPr>
          <p:cNvPr id="3" name="Text 1"/>
          <p:cNvSpPr txBox="1"/>
          <p:nvPr/>
        </p:nvSpPr>
        <p:spPr>
          <a:xfrm>
            <a:off x="548640" y="914400"/>
            <a:ext cx="5486400" cy="201168"/>
          </a:xfrm>
          <a:prstGeom prst="rect">
            <a:avLst/>
          </a:prstGeom>
          <a:noFill/>
          <a:ln/>
        </p:spPr>
        <p:txBody>
          <a:bodyPr wrap="square" lIns="0" tIns="0" rIns="0" bIns="0" rtlCol="0" anchor="t"/>
          <a:lstStyle/>
          <a:p>
            <a:pPr indent="0" marL="0">
              <a:buNone/>
            </a:pPr>
            <a:r>
              <a:rPr lang="en-US" sz="850" b="1" spc="300" kern="0" dirty="0">
                <a:solidFill>
                  <a:srgbClr val="A3804C"/>
                </a:solidFill>
                <a:latin typeface="Arial" pitchFamily="34" charset="0"/>
                <a:ea typeface="Arial" pitchFamily="34" charset="-122"/>
                <a:cs typeface="Arial" pitchFamily="34" charset="-120"/>
              </a:rPr>
              <a:t>GROUP 11  /  TRACK 2  /  SPRINT 2 REVIEW</a:t>
            </a:r>
            <a:endParaRPr lang="en-US" sz="850" dirty="0"/>
          </a:p>
        </p:txBody>
      </p:sp>
      <p:sp>
        <p:nvSpPr>
          <p:cNvPr id="4" name="Text 2"/>
          <p:cNvSpPr txBox="1"/>
          <p:nvPr/>
        </p:nvSpPr>
        <p:spPr>
          <a:xfrm>
            <a:off x="548640" y="1143000"/>
            <a:ext cx="5669280" cy="731520"/>
          </a:xfrm>
          <a:prstGeom prst="rect">
            <a:avLst/>
          </a:prstGeom>
          <a:noFill/>
          <a:ln/>
        </p:spPr>
        <p:txBody>
          <a:bodyPr wrap="square" lIns="0" tIns="0" rIns="0" bIns="0" rtlCol="0" anchor="ctr"/>
          <a:lstStyle/>
          <a:p>
            <a:pPr indent="0" marL="0">
              <a:buNone/>
            </a:pPr>
            <a:r>
              <a:rPr lang="en-US" sz="4400" dirty="0">
                <a:solidFill>
                  <a:srgbClr val="F4EFE6"/>
                </a:solidFill>
                <a:latin typeface="Georgia" pitchFamily="34" charset="0"/>
                <a:ea typeface="Georgia" pitchFamily="34" charset="-122"/>
                <a:cs typeface="Georgia" pitchFamily="34" charset="-120"/>
              </a:rPr>
              <a:t>StitchFlow</a:t>
            </a:r>
            <a:endParaRPr lang="en-US" sz="4400" dirty="0"/>
          </a:p>
        </p:txBody>
      </p:sp>
      <p:sp>
        <p:nvSpPr>
          <p:cNvPr id="5" name="Text 3"/>
          <p:cNvSpPr txBox="1"/>
          <p:nvPr/>
        </p:nvSpPr>
        <p:spPr>
          <a:xfrm>
            <a:off x="548640" y="1874520"/>
            <a:ext cx="5669280" cy="329184"/>
          </a:xfrm>
          <a:prstGeom prst="rect">
            <a:avLst/>
          </a:prstGeom>
          <a:noFill/>
          <a:ln/>
        </p:spPr>
        <p:txBody>
          <a:bodyPr wrap="square" lIns="0" tIns="0" rIns="0" bIns="0" rtlCol="0" anchor="ctr"/>
          <a:lstStyle/>
          <a:p>
            <a:pPr indent="0" marL="0">
              <a:buNone/>
            </a:pPr>
            <a:r>
              <a:rPr lang="en-US" sz="1700" dirty="0">
                <a:solidFill>
                  <a:srgbClr val="F4EFE6"/>
                </a:solidFill>
                <a:latin typeface="Georgia" pitchFamily="34" charset="0"/>
                <a:ea typeface="Georgia" pitchFamily="34" charset="-122"/>
                <a:cs typeface="Georgia" pitchFamily="34" charset="-120"/>
              </a:rPr>
              <a:t>The Quick-Response Subcontracting Desk</a:t>
            </a:r>
            <a:endParaRPr lang="en-US" sz="1700" dirty="0"/>
          </a:p>
        </p:txBody>
      </p:sp>
      <p:sp>
        <p:nvSpPr>
          <p:cNvPr id="6" name="Text 4"/>
          <p:cNvSpPr txBox="1"/>
          <p:nvPr/>
        </p:nvSpPr>
        <p:spPr>
          <a:xfrm>
            <a:off x="548640" y="2231136"/>
            <a:ext cx="5669280" cy="329184"/>
          </a:xfrm>
          <a:prstGeom prst="rect">
            <a:avLst/>
          </a:prstGeom>
          <a:noFill/>
          <a:ln/>
        </p:spPr>
        <p:txBody>
          <a:bodyPr wrap="square" lIns="0" tIns="0" rIns="0" bIns="0" rtlCol="0" anchor="ctr"/>
          <a:lstStyle/>
          <a:p>
            <a:pPr indent="0" marL="0">
              <a:buNone/>
            </a:pPr>
            <a:r>
              <a:rPr lang="en-US" sz="1300" i="1" dirty="0">
                <a:solidFill>
                  <a:srgbClr val="B9AF9F"/>
                </a:solidFill>
                <a:latin typeface="Georgia" pitchFamily="34" charset="0"/>
                <a:ea typeface="Georgia" pitchFamily="34" charset="-122"/>
                <a:cs typeface="Georgia" pitchFamily="34" charset="-120"/>
              </a:rPr>
              <a:t>Say the order. StitchFlow finds the right workshop.</a:t>
            </a:r>
            <a:endParaRPr lang="en-US" sz="1300" dirty="0"/>
          </a:p>
        </p:txBody>
      </p:sp>
      <p:sp>
        <p:nvSpPr>
          <p:cNvPr id="7" name="Shape 5"/>
          <p:cNvSpPr/>
          <p:nvPr/>
        </p:nvSpPr>
        <p:spPr>
          <a:xfrm>
            <a:off x="548640" y="2779776"/>
            <a:ext cx="2377440" cy="329184"/>
          </a:xfrm>
          <a:prstGeom prst="roundRect">
            <a:avLst>
              <a:gd name="adj" fmla="val 50000"/>
            </a:avLst>
          </a:prstGeom>
          <a:solidFill>
            <a:srgbClr val="1D1B18"/>
          </a:solidFill>
          <a:ln w="12700">
            <a:solidFill>
              <a:srgbClr val="A3804C"/>
            </a:solidFill>
            <a:prstDash val="solid"/>
          </a:ln>
        </p:spPr>
      </p:sp>
      <p:sp>
        <p:nvSpPr>
          <p:cNvPr id="8" name="Text 6"/>
          <p:cNvSpPr txBox="1"/>
          <p:nvPr/>
        </p:nvSpPr>
        <p:spPr>
          <a:xfrm>
            <a:off x="548640" y="2779776"/>
            <a:ext cx="2377440" cy="329184"/>
          </a:xfrm>
          <a:prstGeom prst="rect">
            <a:avLst/>
          </a:prstGeom>
          <a:noFill/>
          <a:ln/>
        </p:spPr>
        <p:txBody>
          <a:bodyPr wrap="square" lIns="0" tIns="0" rIns="0" bIns="0" rtlCol="0" anchor="ctr"/>
          <a:lstStyle/>
          <a:p>
            <a:pPr algn="ctr" indent="0" marL="0">
              <a:buNone/>
            </a:pPr>
            <a:r>
              <a:rPr lang="en-US" sz="850" b="1" spc="120" kern="0" dirty="0">
                <a:solidFill>
                  <a:srgbClr val="A3804C"/>
                </a:solidFill>
                <a:latin typeface="Arial" pitchFamily="34" charset="0"/>
                <a:ea typeface="Arial" pitchFamily="34" charset="-122"/>
                <a:cs typeface="Arial" pitchFamily="34" charset="-120"/>
              </a:rPr>
              <a:t>PRIMARY  </a:t>
            </a:r>
            <a:r>
              <a:rPr lang="en-US" sz="850" b="1" spc="120" kern="0" dirty="0">
                <a:solidFill>
                  <a:srgbClr val="F4EFE6"/>
                </a:solidFill>
                <a:latin typeface="Arial" pitchFamily="34" charset="0"/>
                <a:ea typeface="Arial" pitchFamily="34" charset="-122"/>
                <a:cs typeface="Arial" pitchFamily="34" charset="-120"/>
              </a:rPr>
              <a:t>MINIMISE LATENESS</a:t>
            </a:r>
            <a:endParaRPr lang="en-US" sz="850" dirty="0"/>
          </a:p>
        </p:txBody>
      </p:sp>
      <p:sp>
        <p:nvSpPr>
          <p:cNvPr id="9" name="Shape 7"/>
          <p:cNvSpPr/>
          <p:nvPr/>
        </p:nvSpPr>
        <p:spPr>
          <a:xfrm>
            <a:off x="3063240" y="2779776"/>
            <a:ext cx="2377440" cy="329184"/>
          </a:xfrm>
          <a:prstGeom prst="roundRect">
            <a:avLst>
              <a:gd name="adj" fmla="val 50000"/>
            </a:avLst>
          </a:prstGeom>
          <a:solidFill>
            <a:srgbClr val="1D1B18"/>
          </a:solidFill>
          <a:ln w="12700">
            <a:solidFill>
              <a:srgbClr val="A3804C"/>
            </a:solidFill>
            <a:prstDash val="solid"/>
          </a:ln>
        </p:spPr>
      </p:sp>
      <p:sp>
        <p:nvSpPr>
          <p:cNvPr id="10" name="Text 8"/>
          <p:cNvSpPr txBox="1"/>
          <p:nvPr/>
        </p:nvSpPr>
        <p:spPr>
          <a:xfrm>
            <a:off x="3063240" y="2779776"/>
            <a:ext cx="2377440" cy="329184"/>
          </a:xfrm>
          <a:prstGeom prst="rect">
            <a:avLst/>
          </a:prstGeom>
          <a:noFill/>
          <a:ln/>
        </p:spPr>
        <p:txBody>
          <a:bodyPr wrap="square" lIns="0" tIns="0" rIns="0" bIns="0" rtlCol="0" anchor="ctr"/>
          <a:lstStyle/>
          <a:p>
            <a:pPr algn="ctr" indent="0" marL="0">
              <a:buNone/>
            </a:pPr>
            <a:r>
              <a:rPr lang="en-US" sz="850" b="1" spc="120" kern="0" dirty="0">
                <a:solidFill>
                  <a:srgbClr val="A3804C"/>
                </a:solidFill>
                <a:latin typeface="Arial" pitchFamily="34" charset="0"/>
                <a:ea typeface="Arial" pitchFamily="34" charset="-122"/>
                <a:cs typeface="Arial" pitchFamily="34" charset="-120"/>
              </a:rPr>
              <a:t>SECONDARY  </a:t>
            </a:r>
            <a:r>
              <a:rPr lang="en-US" sz="850" b="1" spc="120" kern="0" dirty="0">
                <a:solidFill>
                  <a:srgbClr val="F4EFE6"/>
                </a:solidFill>
                <a:latin typeface="Arial" pitchFamily="34" charset="0"/>
                <a:ea typeface="Arial" pitchFamily="34" charset="-122"/>
                <a:cs typeface="Arial" pitchFamily="34" charset="-120"/>
              </a:rPr>
              <a:t>MINIMISE DEFECTS</a:t>
            </a:r>
            <a:endParaRPr lang="en-US" sz="850" dirty="0"/>
          </a:p>
        </p:txBody>
      </p:sp>
      <p:sp>
        <p:nvSpPr>
          <p:cNvPr id="11" name="Text 9"/>
          <p:cNvSpPr txBox="1"/>
          <p:nvPr/>
        </p:nvSpPr>
        <p:spPr>
          <a:xfrm>
            <a:off x="548640" y="3255264"/>
            <a:ext cx="2651760" cy="155448"/>
          </a:xfrm>
          <a:prstGeom prst="rect">
            <a:avLst/>
          </a:prstGeom>
          <a:noFill/>
          <a:ln/>
        </p:spPr>
        <p:txBody>
          <a:bodyPr wrap="square" lIns="0" tIns="0" rIns="0" bIns="0" rtlCol="0" anchor="t"/>
          <a:lstStyle/>
          <a:p>
            <a:pPr indent="0" marL="0">
              <a:buNone/>
            </a:pPr>
            <a:r>
              <a:rPr lang="en-US" sz="800" dirty="0">
                <a:solidFill>
                  <a:srgbClr val="F4EFE6"/>
                </a:solidFill>
                <a:latin typeface="Arial" pitchFamily="34" charset="0"/>
                <a:ea typeface="Arial" pitchFamily="34" charset="-122"/>
                <a:cs typeface="Arial" pitchFamily="34" charset="-120"/>
              </a:rPr>
              <a:t>Chen Zepeng (A0156784N)</a:t>
            </a:r>
            <a:endParaRPr lang="en-US" sz="800" dirty="0"/>
          </a:p>
        </p:txBody>
      </p:sp>
      <p:sp>
        <p:nvSpPr>
          <p:cNvPr id="12" name="Text 10"/>
          <p:cNvSpPr txBox="1"/>
          <p:nvPr/>
        </p:nvSpPr>
        <p:spPr>
          <a:xfrm>
            <a:off x="548640" y="3392424"/>
            <a:ext cx="2651760" cy="137160"/>
          </a:xfrm>
          <a:prstGeom prst="rect">
            <a:avLst/>
          </a:prstGeom>
          <a:noFill/>
          <a:ln/>
        </p:spPr>
        <p:txBody>
          <a:bodyPr wrap="square" lIns="0" tIns="0" rIns="0" bIns="0" rtlCol="0" anchor="t"/>
          <a:lstStyle/>
          <a:p>
            <a:pPr indent="0" marL="0">
              <a:buNone/>
            </a:pPr>
            <a:r>
              <a:rPr lang="en-US" sz="700" dirty="0">
                <a:solidFill>
                  <a:srgbClr val="B9AF9F"/>
                </a:solidFill>
                <a:latin typeface="Arial" pitchFamily="34" charset="0"/>
                <a:ea typeface="Arial" pitchFamily="34" charset="-122"/>
                <a:cs typeface="Arial" pitchFamily="34" charset="-120"/>
              </a:rPr>
              <a:t>Present (in person)</a:t>
            </a:r>
            <a:endParaRPr lang="en-US" sz="700" dirty="0"/>
          </a:p>
        </p:txBody>
      </p:sp>
      <p:sp>
        <p:nvSpPr>
          <p:cNvPr id="13" name="Text 11"/>
          <p:cNvSpPr txBox="1"/>
          <p:nvPr/>
        </p:nvSpPr>
        <p:spPr>
          <a:xfrm>
            <a:off x="548640" y="3566160"/>
            <a:ext cx="2651760" cy="155448"/>
          </a:xfrm>
          <a:prstGeom prst="rect">
            <a:avLst/>
          </a:prstGeom>
          <a:noFill/>
          <a:ln/>
        </p:spPr>
        <p:txBody>
          <a:bodyPr wrap="square" lIns="0" tIns="0" rIns="0" bIns="0" rtlCol="0" anchor="t"/>
          <a:lstStyle/>
          <a:p>
            <a:pPr indent="0" marL="0">
              <a:buNone/>
            </a:pPr>
            <a:r>
              <a:rPr lang="en-US" sz="800" dirty="0">
                <a:solidFill>
                  <a:srgbClr val="F4EFE6"/>
                </a:solidFill>
                <a:latin typeface="Arial" pitchFamily="34" charset="0"/>
                <a:ea typeface="Arial" pitchFamily="34" charset="-122"/>
                <a:cs typeface="Arial" pitchFamily="34" charset="-120"/>
              </a:rPr>
              <a:t>Duong Thanh Nhan (A0296326W)</a:t>
            </a:r>
            <a:endParaRPr lang="en-US" sz="800" dirty="0"/>
          </a:p>
        </p:txBody>
      </p:sp>
      <p:sp>
        <p:nvSpPr>
          <p:cNvPr id="14" name="Text 12"/>
          <p:cNvSpPr txBox="1"/>
          <p:nvPr/>
        </p:nvSpPr>
        <p:spPr>
          <a:xfrm>
            <a:off x="548640" y="3703320"/>
            <a:ext cx="2651760" cy="137160"/>
          </a:xfrm>
          <a:prstGeom prst="rect">
            <a:avLst/>
          </a:prstGeom>
          <a:noFill/>
          <a:ln/>
        </p:spPr>
        <p:txBody>
          <a:bodyPr wrap="square" lIns="0" tIns="0" rIns="0" bIns="0" rtlCol="0" anchor="t"/>
          <a:lstStyle/>
          <a:p>
            <a:pPr indent="0" marL="0">
              <a:buNone/>
            </a:pPr>
            <a:r>
              <a:rPr lang="en-US" sz="700" dirty="0">
                <a:solidFill>
                  <a:srgbClr val="B9AF9F"/>
                </a:solidFill>
                <a:latin typeface="Arial" pitchFamily="34" charset="0"/>
                <a:ea typeface="Arial" pitchFamily="34" charset="-122"/>
                <a:cs typeface="Arial" pitchFamily="34" charset="-120"/>
              </a:rPr>
              <a:t>Absent: business trip to China</a:t>
            </a:r>
            <a:endParaRPr lang="en-US" sz="700" dirty="0"/>
          </a:p>
        </p:txBody>
      </p:sp>
      <p:sp>
        <p:nvSpPr>
          <p:cNvPr id="15" name="Text 13"/>
          <p:cNvSpPr txBox="1"/>
          <p:nvPr/>
        </p:nvSpPr>
        <p:spPr>
          <a:xfrm>
            <a:off x="548640" y="3877056"/>
            <a:ext cx="2651760" cy="155448"/>
          </a:xfrm>
          <a:prstGeom prst="rect">
            <a:avLst/>
          </a:prstGeom>
          <a:noFill/>
          <a:ln/>
        </p:spPr>
        <p:txBody>
          <a:bodyPr wrap="square" lIns="0" tIns="0" rIns="0" bIns="0" rtlCol="0" anchor="t"/>
          <a:lstStyle/>
          <a:p>
            <a:pPr indent="0" marL="0">
              <a:buNone/>
            </a:pPr>
            <a:r>
              <a:rPr lang="en-US" sz="800" dirty="0">
                <a:solidFill>
                  <a:srgbClr val="F4EFE6"/>
                </a:solidFill>
                <a:latin typeface="Arial" pitchFamily="34" charset="0"/>
                <a:ea typeface="Arial" pitchFamily="34" charset="-122"/>
                <a:cs typeface="Arial" pitchFamily="34" charset="-120"/>
              </a:rPr>
              <a:t>Joshua Wesley Gloor (A0296944J)</a:t>
            </a:r>
            <a:endParaRPr lang="en-US" sz="800" dirty="0"/>
          </a:p>
        </p:txBody>
      </p:sp>
      <p:sp>
        <p:nvSpPr>
          <p:cNvPr id="16" name="Text 14"/>
          <p:cNvSpPr txBox="1"/>
          <p:nvPr/>
        </p:nvSpPr>
        <p:spPr>
          <a:xfrm>
            <a:off x="548640" y="4014216"/>
            <a:ext cx="2651760" cy="137160"/>
          </a:xfrm>
          <a:prstGeom prst="rect">
            <a:avLst/>
          </a:prstGeom>
          <a:noFill/>
          <a:ln/>
        </p:spPr>
        <p:txBody>
          <a:bodyPr wrap="square" lIns="0" tIns="0" rIns="0" bIns="0" rtlCol="0" anchor="t"/>
          <a:lstStyle/>
          <a:p>
            <a:pPr indent="0" marL="0">
              <a:buNone/>
            </a:pPr>
            <a:r>
              <a:rPr lang="en-US" sz="700" dirty="0">
                <a:solidFill>
                  <a:srgbClr val="B9AF9F"/>
                </a:solidFill>
                <a:latin typeface="Arial" pitchFamily="34" charset="0"/>
                <a:ea typeface="Arial" pitchFamily="34" charset="-122"/>
                <a:cs typeface="Arial" pitchFamily="34" charset="-120"/>
              </a:rPr>
              <a:t>Present (in person)</a:t>
            </a:r>
            <a:endParaRPr lang="en-US" sz="700" dirty="0"/>
          </a:p>
        </p:txBody>
      </p:sp>
      <p:sp>
        <p:nvSpPr>
          <p:cNvPr id="17" name="Text 15"/>
          <p:cNvSpPr txBox="1"/>
          <p:nvPr/>
        </p:nvSpPr>
        <p:spPr>
          <a:xfrm>
            <a:off x="3246120" y="3255264"/>
            <a:ext cx="2651760" cy="155448"/>
          </a:xfrm>
          <a:prstGeom prst="rect">
            <a:avLst/>
          </a:prstGeom>
          <a:noFill/>
          <a:ln/>
        </p:spPr>
        <p:txBody>
          <a:bodyPr wrap="square" lIns="0" tIns="0" rIns="0" bIns="0" rtlCol="0" anchor="t"/>
          <a:lstStyle/>
          <a:p>
            <a:pPr indent="0" marL="0">
              <a:buNone/>
            </a:pPr>
            <a:r>
              <a:rPr lang="en-US" sz="800" dirty="0">
                <a:solidFill>
                  <a:srgbClr val="F4EFE6"/>
                </a:solidFill>
                <a:latin typeface="Arial" pitchFamily="34" charset="0"/>
                <a:ea typeface="Arial" pitchFamily="34" charset="-122"/>
                <a:cs typeface="Arial" pitchFamily="34" charset="-120"/>
              </a:rPr>
              <a:t>Sridhar Niyanthri Rajeswari (A0351151U)</a:t>
            </a:r>
            <a:endParaRPr lang="en-US" sz="800" dirty="0"/>
          </a:p>
        </p:txBody>
      </p:sp>
      <p:sp>
        <p:nvSpPr>
          <p:cNvPr id="18" name="Text 16"/>
          <p:cNvSpPr txBox="1"/>
          <p:nvPr/>
        </p:nvSpPr>
        <p:spPr>
          <a:xfrm>
            <a:off x="3246120" y="3392424"/>
            <a:ext cx="2651760" cy="137160"/>
          </a:xfrm>
          <a:prstGeom prst="rect">
            <a:avLst/>
          </a:prstGeom>
          <a:noFill/>
          <a:ln/>
        </p:spPr>
        <p:txBody>
          <a:bodyPr wrap="square" lIns="0" tIns="0" rIns="0" bIns="0" rtlCol="0" anchor="t"/>
          <a:lstStyle/>
          <a:p>
            <a:pPr indent="0" marL="0">
              <a:buNone/>
            </a:pPr>
            <a:r>
              <a:rPr lang="en-US" sz="700" dirty="0">
                <a:solidFill>
                  <a:srgbClr val="B9AF9F"/>
                </a:solidFill>
                <a:latin typeface="Arial" pitchFamily="34" charset="0"/>
                <a:ea typeface="Arial" pitchFamily="34" charset="-122"/>
                <a:cs typeface="Arial" pitchFamily="34" charset="-120"/>
              </a:rPr>
              <a:t>Present (in person)</a:t>
            </a:r>
            <a:endParaRPr lang="en-US" sz="700" dirty="0"/>
          </a:p>
        </p:txBody>
      </p:sp>
      <p:sp>
        <p:nvSpPr>
          <p:cNvPr id="19" name="Text 17"/>
          <p:cNvSpPr txBox="1"/>
          <p:nvPr/>
        </p:nvSpPr>
        <p:spPr>
          <a:xfrm>
            <a:off x="3246120" y="3566160"/>
            <a:ext cx="2651760" cy="155448"/>
          </a:xfrm>
          <a:prstGeom prst="rect">
            <a:avLst/>
          </a:prstGeom>
          <a:noFill/>
          <a:ln/>
        </p:spPr>
        <p:txBody>
          <a:bodyPr wrap="square" lIns="0" tIns="0" rIns="0" bIns="0" rtlCol="0" anchor="t"/>
          <a:lstStyle/>
          <a:p>
            <a:pPr indent="0" marL="0">
              <a:buNone/>
            </a:pPr>
            <a:r>
              <a:rPr lang="en-US" sz="800" dirty="0">
                <a:solidFill>
                  <a:srgbClr val="F4EFE6"/>
                </a:solidFill>
                <a:latin typeface="Arial" pitchFamily="34" charset="0"/>
                <a:ea typeface="Arial" pitchFamily="34" charset="-122"/>
                <a:cs typeface="Arial" pitchFamily="34" charset="-120"/>
              </a:rPr>
              <a:t>Sundara Rajan Saadhvika (A0352594W)</a:t>
            </a:r>
            <a:endParaRPr lang="en-US" sz="800" dirty="0"/>
          </a:p>
        </p:txBody>
      </p:sp>
      <p:sp>
        <p:nvSpPr>
          <p:cNvPr id="20" name="Text 18"/>
          <p:cNvSpPr txBox="1"/>
          <p:nvPr/>
        </p:nvSpPr>
        <p:spPr>
          <a:xfrm>
            <a:off x="3246120" y="3703320"/>
            <a:ext cx="2651760" cy="137160"/>
          </a:xfrm>
          <a:prstGeom prst="rect">
            <a:avLst/>
          </a:prstGeom>
          <a:noFill/>
          <a:ln/>
        </p:spPr>
        <p:txBody>
          <a:bodyPr wrap="square" lIns="0" tIns="0" rIns="0" bIns="0" rtlCol="0" anchor="t"/>
          <a:lstStyle/>
          <a:p>
            <a:pPr indent="0" marL="0">
              <a:buNone/>
            </a:pPr>
            <a:r>
              <a:rPr lang="en-US" sz="700" dirty="0">
                <a:solidFill>
                  <a:srgbClr val="B9AF9F"/>
                </a:solidFill>
                <a:latin typeface="Arial" pitchFamily="34" charset="0"/>
                <a:ea typeface="Arial" pitchFamily="34" charset="-122"/>
                <a:cs typeface="Arial" pitchFamily="34" charset="-120"/>
              </a:rPr>
              <a:t>Present (in person)</a:t>
            </a:r>
            <a:endParaRPr lang="en-US" sz="700" dirty="0"/>
          </a:p>
        </p:txBody>
      </p:sp>
      <p:sp>
        <p:nvSpPr>
          <p:cNvPr id="21" name="Text 19"/>
          <p:cNvSpPr txBox="1"/>
          <p:nvPr/>
        </p:nvSpPr>
        <p:spPr>
          <a:xfrm>
            <a:off x="3246120" y="3877056"/>
            <a:ext cx="2651760" cy="155448"/>
          </a:xfrm>
          <a:prstGeom prst="rect">
            <a:avLst/>
          </a:prstGeom>
          <a:noFill/>
          <a:ln/>
        </p:spPr>
        <p:txBody>
          <a:bodyPr wrap="square" lIns="0" tIns="0" rIns="0" bIns="0" rtlCol="0" anchor="t"/>
          <a:lstStyle/>
          <a:p>
            <a:pPr indent="0" marL="0">
              <a:buNone/>
            </a:pPr>
            <a:r>
              <a:rPr lang="en-US" sz="800" dirty="0">
                <a:solidFill>
                  <a:srgbClr val="F4EFE6"/>
                </a:solidFill>
                <a:latin typeface="Arial" pitchFamily="34" charset="0"/>
                <a:ea typeface="Arial" pitchFamily="34" charset="-122"/>
                <a:cs typeface="Arial" pitchFamily="34" charset="-120"/>
              </a:rPr>
              <a:t>Tang Zheling (A0352177B)</a:t>
            </a:r>
            <a:endParaRPr lang="en-US" sz="800" dirty="0"/>
          </a:p>
        </p:txBody>
      </p:sp>
      <p:sp>
        <p:nvSpPr>
          <p:cNvPr id="22" name="Text 20"/>
          <p:cNvSpPr txBox="1"/>
          <p:nvPr/>
        </p:nvSpPr>
        <p:spPr>
          <a:xfrm>
            <a:off x="3246120" y="4014216"/>
            <a:ext cx="2651760" cy="137160"/>
          </a:xfrm>
          <a:prstGeom prst="rect">
            <a:avLst/>
          </a:prstGeom>
          <a:noFill/>
          <a:ln/>
        </p:spPr>
        <p:txBody>
          <a:bodyPr wrap="square" lIns="0" tIns="0" rIns="0" bIns="0" rtlCol="0" anchor="t"/>
          <a:lstStyle/>
          <a:p>
            <a:pPr indent="0" marL="0">
              <a:buNone/>
            </a:pPr>
            <a:r>
              <a:rPr lang="en-US" sz="700" dirty="0">
                <a:solidFill>
                  <a:srgbClr val="B9AF9F"/>
                </a:solidFill>
                <a:latin typeface="Arial" pitchFamily="34" charset="0"/>
                <a:ea typeface="Arial" pitchFamily="34" charset="-122"/>
                <a:cs typeface="Arial" pitchFamily="34" charset="-120"/>
              </a:rPr>
              <a:t>Present (in person)</a:t>
            </a:r>
            <a:endParaRPr lang="en-US" sz="700" dirty="0"/>
          </a:p>
        </p:txBody>
      </p:sp>
      <p:sp>
        <p:nvSpPr>
          <p:cNvPr id="23" name="Text 21"/>
          <p:cNvSpPr txBox="1"/>
          <p:nvPr/>
        </p:nvSpPr>
        <p:spPr>
          <a:xfrm>
            <a:off x="548640" y="4206240"/>
            <a:ext cx="5669280" cy="182880"/>
          </a:xfrm>
          <a:prstGeom prst="rect">
            <a:avLst/>
          </a:prstGeom>
          <a:noFill/>
          <a:ln/>
        </p:spPr>
        <p:txBody>
          <a:bodyPr wrap="square" lIns="0" tIns="0" rIns="0" bIns="0" rtlCol="0" anchor="t"/>
          <a:lstStyle/>
          <a:p>
            <a:pPr indent="0" marL="0">
              <a:buNone/>
            </a:pPr>
            <a:r>
              <a:rPr lang="en-US" sz="850" b="1" spc="50" kern="0" dirty="0">
                <a:solidFill>
                  <a:srgbClr val="A3804C"/>
                </a:solidFill>
                <a:latin typeface="Arial" pitchFamily="34" charset="0"/>
                <a:ea typeface="Arial" pitchFamily="34" charset="-122"/>
                <a:cs typeface="Arial" pitchFamily="34" charset="-120"/>
              </a:rPr>
              <a:t>GITHUB  </a:t>
            </a:r>
            <a:r>
              <a:rPr lang="en-US" sz="850" spc="50" kern="0" dirty="0">
                <a:solidFill>
                  <a:srgbClr val="F4EFE6"/>
                </a:solidFill>
                <a:latin typeface="Arial" pitchFamily="34" charset="0"/>
                <a:ea typeface="Arial" pitchFamily="34" charset="-122"/>
                <a:cs typeface="Arial" pitchFamily="34" charset="-120"/>
              </a:rPr>
              <a:t>github.com/JoshuaGloor/dss5105-capstone-project</a:t>
            </a:r>
            <a:endParaRPr lang="en-US" sz="850" dirty="0"/>
          </a:p>
        </p:txBody>
      </p:sp>
      <p:sp>
        <p:nvSpPr>
          <p:cNvPr id="24" name="Text 22"/>
          <p:cNvSpPr txBox="1"/>
          <p:nvPr/>
        </p:nvSpPr>
        <p:spPr>
          <a:xfrm>
            <a:off x="548640" y="4425696"/>
            <a:ext cx="5669280" cy="182880"/>
          </a:xfrm>
          <a:prstGeom prst="rect">
            <a:avLst/>
          </a:prstGeom>
          <a:noFill/>
          <a:ln/>
        </p:spPr>
        <p:txBody>
          <a:bodyPr wrap="square" lIns="0" tIns="0" rIns="0" bIns="0" rtlCol="0" anchor="t"/>
          <a:lstStyle/>
          <a:p>
            <a:pPr indent="0" marL="0">
              <a:buNone/>
            </a:pPr>
            <a:r>
              <a:rPr lang="en-US" sz="850" b="1" spc="50" kern="0" dirty="0">
                <a:solidFill>
                  <a:srgbClr val="A3804C"/>
                </a:solidFill>
                <a:latin typeface="Arial" pitchFamily="34" charset="0"/>
                <a:ea typeface="Arial" pitchFamily="34" charset="-122"/>
                <a:cs typeface="Arial" pitchFamily="34" charset="-120"/>
              </a:rPr>
              <a:t>DEMO VIDEO  </a:t>
            </a:r>
            <a:r>
              <a:rPr lang="en-US" sz="850" spc="50" kern="0" dirty="0">
                <a:solidFill>
                  <a:srgbClr val="F4EFE6"/>
                </a:solidFill>
                <a:latin typeface="Arial" pitchFamily="34" charset="0"/>
                <a:ea typeface="Arial" pitchFamily="34" charset="-122"/>
                <a:cs typeface="Arial" pitchFamily="34" charset="-120"/>
              </a:rPr>
              <a:t>[YouTube link: add after upload]</a:t>
            </a:r>
            <a:endParaRPr lang="en-US" sz="850" dirty="0"/>
          </a:p>
        </p:txBody>
      </p:sp>
      <p:sp>
        <p:nvSpPr>
          <p:cNvPr id="25" name="Text 23"/>
          <p:cNvSpPr txBox="1"/>
          <p:nvPr/>
        </p:nvSpPr>
        <p:spPr>
          <a:xfrm>
            <a:off x="548640" y="4754880"/>
            <a:ext cx="5486400" cy="182880"/>
          </a:xfrm>
          <a:prstGeom prst="rect">
            <a:avLst/>
          </a:prstGeom>
          <a:noFill/>
          <a:ln/>
        </p:spPr>
        <p:txBody>
          <a:bodyPr wrap="square" lIns="0" tIns="0" rIns="0" bIns="0" rtlCol="0" anchor="t"/>
          <a:lstStyle/>
          <a:p>
            <a:pPr indent="0" marL="0">
              <a:buNone/>
            </a:pPr>
            <a:r>
              <a:rPr lang="en-US" sz="700" spc="200" kern="0" dirty="0">
                <a:solidFill>
                  <a:srgbClr val="B9AF9F"/>
                </a:solidFill>
                <a:latin typeface="Arial" pitchFamily="34" charset="0"/>
                <a:ea typeface="Arial" pitchFamily="34" charset="-122"/>
                <a:cs typeface="Arial" pitchFamily="34" charset="-120"/>
              </a:rPr>
              <a:t>DSS5105 CAPSTONE  /  30 OCTOBER 2026</a:t>
            </a:r>
            <a:endParaRPr lang="en-US" sz="700" dirty="0"/>
          </a:p>
        </p:txBody>
      </p:sp>
      <p:pic>
        <p:nvPicPr>
          <p:cNvPr id="26" name="Image 0" descr="The dispatch assistant on a phone: a greeting, the eight workshops with their queue rings, and example requests">    </p:cNvPr>
          <p:cNvPicPr>
            <a:picLocks noChangeAspect="1"/>
          </p:cNvPicPr>
          <p:nvPr/>
        </p:nvPicPr>
        <p:blipFill>
          <a:blip r:embed="rId1"/>
          <a:stretch>
            <a:fillRect/>
          </a:stretch>
        </p:blipFill>
        <p:spPr>
          <a:xfrm>
            <a:off x="6537960" y="411480"/>
            <a:ext cx="2108934" cy="4343400"/>
          </a:xfrm>
          <a:prstGeom prst="rect">
            <a:avLst/>
          </a:prstGeom>
          <a:effectLst>
            <a:outerShdw sx="100000" sy="100000" kx="0" ky="0" algn="bl" rotWithShape="0" blurRad="127000" dist="38100" dir="54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t"/>
          <a:lstStyle/>
          <a:p>
            <a:pPr indent="0" marL="0">
              <a:buNone/>
            </a:pPr>
            <a:r>
              <a:rPr lang="en-US" sz="850" b="1" spc="300" kern="0" dirty="0">
                <a:solidFill>
                  <a:srgbClr val="1D1B18"/>
                </a:solidFill>
                <a:latin typeface="Arial" pitchFamily="34" charset="0"/>
                <a:ea typeface="Arial" pitchFamily="34" charset="-122"/>
                <a:cs typeface="Arial" pitchFamily="34" charset="-120"/>
              </a:rPr>
              <a:t>02   </a:t>
            </a:r>
            <a:r>
              <a:rPr lang="en-US" sz="850" b="1" spc="300" kern="0" dirty="0">
                <a:solidFill>
                  <a:srgbClr val="7D5E30"/>
                </a:solidFill>
                <a:latin typeface="Arial" pitchFamily="34" charset="0"/>
                <a:ea typeface="Arial" pitchFamily="34" charset="-122"/>
                <a:cs typeface="Arial" pitchFamily="34" charset="-120"/>
              </a:rPr>
              <a:t>OBJECTIVE AND FOCUS</a:t>
            </a:r>
            <a:endParaRPr lang="en-US" sz="850" dirty="0"/>
          </a:p>
        </p:txBody>
      </p:sp>
      <p:sp>
        <p:nvSpPr>
          <p:cNvPr id="3" name="Text 1"/>
          <p:cNvSpPr txBox="1"/>
          <p:nvPr/>
        </p:nvSpPr>
        <p:spPr>
          <a:xfrm>
            <a:off x="548640" y="530352"/>
            <a:ext cx="8046720" cy="548640"/>
          </a:xfrm>
          <a:prstGeom prst="rect">
            <a:avLst/>
          </a:prstGeom>
          <a:noFill/>
          <a:ln/>
        </p:spPr>
        <p:txBody>
          <a:bodyPr wrap="square" lIns="0" tIns="0" rIns="0" bIns="0" rtlCol="0" anchor="ctr"/>
          <a:lstStyle/>
          <a:p>
            <a:pPr indent="0" marL="0">
              <a:buNone/>
            </a:pPr>
            <a:r>
              <a:rPr lang="en-US" sz="2300" dirty="0">
                <a:solidFill>
                  <a:srgbClr val="1D1B18"/>
                </a:solidFill>
                <a:latin typeface="Georgia" pitchFamily="34" charset="0"/>
                <a:ea typeface="Georgia" pitchFamily="34" charset="-122"/>
                <a:cs typeface="Georgia" pitchFamily="34" charset="-120"/>
              </a:rPr>
              <a:t>The dispatcher decides on the factory floor, in seconds</a:t>
            </a:r>
            <a:endParaRPr lang="en-US" sz="2300" dirty="0"/>
          </a:p>
        </p:txBody>
      </p:sp>
      <p:sp>
        <p:nvSpPr>
          <p:cNvPr id="4" name="Shape 2"/>
          <p:cNvSpPr/>
          <p:nvPr/>
        </p:nvSpPr>
        <p:spPr>
          <a:xfrm>
            <a:off x="548640" y="1234440"/>
            <a:ext cx="3520440" cy="1051560"/>
          </a:xfrm>
          <a:prstGeom prst="rect">
            <a:avLst/>
          </a:prstGeom>
          <a:solidFill>
            <a:srgbClr val="FFFFFF"/>
          </a:solidFill>
          <a:ln w="9525">
            <a:solidFill>
              <a:srgbClr val="E4DDD0"/>
            </a:solidFill>
            <a:prstDash val="solid"/>
          </a:ln>
        </p:spPr>
      </p:sp>
      <p:sp>
        <p:nvSpPr>
          <p:cNvPr id="5" name="Text 3"/>
          <p:cNvSpPr txBox="1"/>
          <p:nvPr/>
        </p:nvSpPr>
        <p:spPr>
          <a:xfrm>
            <a:off x="731520" y="1344168"/>
            <a:ext cx="3108960" cy="164592"/>
          </a:xfrm>
          <a:prstGeom prst="rect">
            <a:avLst/>
          </a:prstGeom>
          <a:noFill/>
          <a:ln/>
        </p:spPr>
        <p:txBody>
          <a:bodyPr wrap="square" lIns="0" tIns="0" rIns="0" bIns="0" rtlCol="0" anchor="t"/>
          <a:lstStyle/>
          <a:p>
            <a:pPr indent="0" marL="0">
              <a:buNone/>
            </a:pPr>
            <a:r>
              <a:rPr lang="en-US" sz="750" b="1" spc="180" kern="0" dirty="0">
                <a:solidFill>
                  <a:srgbClr val="7D5E30"/>
                </a:solidFill>
                <a:latin typeface="Arial" pitchFamily="34" charset="0"/>
                <a:ea typeface="Arial" pitchFamily="34" charset="-122"/>
                <a:cs typeface="Arial" pitchFamily="34" charset="-120"/>
              </a:rPr>
              <a:t>THE USER</a:t>
            </a:r>
            <a:endParaRPr lang="en-US" sz="750" dirty="0"/>
          </a:p>
        </p:txBody>
      </p:sp>
      <p:sp>
        <p:nvSpPr>
          <p:cNvPr id="6" name="Text 4"/>
          <p:cNvSpPr txBox="1"/>
          <p:nvPr/>
        </p:nvSpPr>
        <p:spPr>
          <a:xfrm>
            <a:off x="731520" y="1536192"/>
            <a:ext cx="3200400" cy="274320"/>
          </a:xfrm>
          <a:prstGeom prst="rect">
            <a:avLst/>
          </a:prstGeom>
          <a:noFill/>
          <a:ln/>
        </p:spPr>
        <p:txBody>
          <a:bodyPr wrap="square" lIns="0" tIns="0" rIns="0" bIns="0" rtlCol="0" anchor="t"/>
          <a:lstStyle/>
          <a:p>
            <a:pPr indent="0" marL="0">
              <a:buNone/>
            </a:pPr>
            <a:r>
              <a:rPr lang="en-US" sz="1350" dirty="0">
                <a:solidFill>
                  <a:srgbClr val="1D1B18"/>
                </a:solidFill>
                <a:latin typeface="Georgia" pitchFamily="34" charset="0"/>
                <a:ea typeface="Georgia" pitchFamily="34" charset="-122"/>
                <a:cs typeface="Georgia" pitchFamily="34" charset="-120"/>
              </a:rPr>
              <a:t>The production dispatcher at SweaterCo</a:t>
            </a:r>
            <a:endParaRPr lang="en-US" sz="1350" dirty="0"/>
          </a:p>
        </p:txBody>
      </p:sp>
      <p:sp>
        <p:nvSpPr>
          <p:cNvPr id="7" name="Text 5"/>
          <p:cNvSpPr txBox="1"/>
          <p:nvPr/>
        </p:nvSpPr>
        <p:spPr>
          <a:xfrm>
            <a:off x="731520" y="1810512"/>
            <a:ext cx="3200400" cy="457200"/>
          </a:xfrm>
          <a:prstGeom prst="rect">
            <a:avLst/>
          </a:prstGeom>
          <a:noFill/>
          <a:ln/>
        </p:spPr>
        <p:txBody>
          <a:bodyPr wrap="square" lIns="0" tIns="0" rIns="0" bIns="0" rtlCol="0" anchor="t"/>
          <a:lstStyle/>
          <a:p>
            <a:pPr indent="0" marL="0">
              <a:buNone/>
            </a:pPr>
            <a:r>
              <a:rPr lang="en-US" sz="900" dirty="0">
                <a:solidFill>
                  <a:srgbClr val="4A463F"/>
                </a:solidFill>
                <a:latin typeface="Arial" pitchFamily="34" charset="0"/>
                <a:ea typeface="Arial" pitchFamily="34" charset="-122"/>
                <a:cs typeface="Arial" pitchFamily="34" charset="-120"/>
              </a:rPr>
              <a:t>On the floor with a phone, not at a desk. Requests arrive in a group chat, and most are messy: missing dates, vague orders, banned workshops.</a:t>
            </a:r>
            <a:endParaRPr lang="en-US" sz="900" dirty="0"/>
          </a:p>
        </p:txBody>
      </p:sp>
      <p:sp>
        <p:nvSpPr>
          <p:cNvPr id="8" name="Text 6"/>
          <p:cNvSpPr txBox="1"/>
          <p:nvPr/>
        </p:nvSpPr>
        <p:spPr>
          <a:xfrm>
            <a:off x="548640" y="2450592"/>
            <a:ext cx="3520440" cy="164592"/>
          </a:xfrm>
          <a:prstGeom prst="rect">
            <a:avLst/>
          </a:prstGeom>
          <a:noFill/>
          <a:ln/>
        </p:spPr>
        <p:txBody>
          <a:bodyPr wrap="square" lIns="0" tIns="0" rIns="0" bIns="0" rtlCol="0" anchor="t"/>
          <a:lstStyle/>
          <a:p>
            <a:pPr indent="0" marL="0">
              <a:buNone/>
            </a:pPr>
            <a:r>
              <a:rPr lang="en-US" sz="750" b="1" spc="180" kern="0" dirty="0">
                <a:solidFill>
                  <a:srgbClr val="6B665D"/>
                </a:solidFill>
                <a:latin typeface="Arial" pitchFamily="34" charset="0"/>
                <a:ea typeface="Arial" pitchFamily="34" charset="-122"/>
                <a:cs typeface="Arial" pitchFamily="34" charset="-120"/>
              </a:rPr>
              <a:t>A REAL REQUEST FROM THE INBOX</a:t>
            </a:r>
            <a:endParaRPr lang="en-US" sz="750" dirty="0"/>
          </a:p>
        </p:txBody>
      </p:sp>
      <p:sp>
        <p:nvSpPr>
          <p:cNvPr id="9" name="Text 7"/>
          <p:cNvSpPr txBox="1"/>
          <p:nvPr/>
        </p:nvSpPr>
        <p:spPr>
          <a:xfrm>
            <a:off x="548640" y="2651760"/>
            <a:ext cx="3520440" cy="594360"/>
          </a:xfrm>
          <a:prstGeom prst="rect">
            <a:avLst/>
          </a:prstGeom>
          <a:noFill/>
          <a:ln/>
        </p:spPr>
        <p:txBody>
          <a:bodyPr wrap="square" lIns="0" tIns="0" rIns="0" bIns="0" rtlCol="0" anchor="t"/>
          <a:lstStyle/>
          <a:p>
            <a:pPr indent="0" marL="0">
              <a:buNone/>
            </a:pPr>
            <a:r>
              <a:rPr lang="en-US" sz="1200" i="1" dirty="0">
                <a:solidFill>
                  <a:srgbClr val="1D1B18"/>
                </a:solidFill>
                <a:latin typeface="Georgia" pitchFamily="34" charset="0"/>
                <a:ea typeface="Georgia" pitchFamily="34" charset="-122"/>
                <a:cs typeface="Georgia" pitchFamily="34" charset="-120"/>
              </a:rPr>
              <a:t>"ORD-109, 500 vests for Harbor Knits, due Apr 13. ...and keep it away from BudgetWorks, the last batch came back rough."</a:t>
            </a:r>
            <a:endParaRPr lang="en-US" sz="1200" dirty="0"/>
          </a:p>
        </p:txBody>
      </p:sp>
      <p:sp>
        <p:nvSpPr>
          <p:cNvPr id="10" name="Text 8"/>
          <p:cNvSpPr txBox="1"/>
          <p:nvPr/>
        </p:nvSpPr>
        <p:spPr>
          <a:xfrm>
            <a:off x="548640" y="3364992"/>
            <a:ext cx="3520440" cy="164592"/>
          </a:xfrm>
          <a:prstGeom prst="rect">
            <a:avLst/>
          </a:prstGeom>
          <a:noFill/>
          <a:ln/>
        </p:spPr>
        <p:txBody>
          <a:bodyPr wrap="square" lIns="0" tIns="0" rIns="0" bIns="0" rtlCol="0" anchor="t"/>
          <a:lstStyle/>
          <a:p>
            <a:pPr indent="0" marL="0">
              <a:buNone/>
            </a:pPr>
            <a:r>
              <a:rPr lang="en-US" sz="750" b="1" spc="180" kern="0" dirty="0">
                <a:solidFill>
                  <a:srgbClr val="6B665D"/>
                </a:solidFill>
                <a:latin typeface="Arial" pitchFamily="34" charset="0"/>
                <a:ea typeface="Arial" pitchFamily="34" charset="-122"/>
                <a:cs typeface="Arial" pitchFamily="34" charset="-120"/>
              </a:rPr>
              <a:t>WHAT THE DISPATCHER NEEDS</a:t>
            </a:r>
            <a:endParaRPr lang="en-US" sz="750" dirty="0"/>
          </a:p>
        </p:txBody>
      </p:sp>
      <p:sp>
        <p:nvSpPr>
          <p:cNvPr id="11" name="Text 9"/>
          <p:cNvSpPr txBox="1"/>
          <p:nvPr/>
        </p:nvSpPr>
        <p:spPr>
          <a:xfrm>
            <a:off x="548640" y="3566160"/>
            <a:ext cx="3520440" cy="228600"/>
          </a:xfrm>
          <a:prstGeom prst="rect">
            <a:avLst/>
          </a:prstGeom>
          <a:noFill/>
          <a:ln/>
        </p:spPr>
        <p:txBody>
          <a:bodyPr wrap="square" lIns="0" tIns="0" rIns="0" bIns="0" rtlCol="0" anchor="t"/>
          <a:lstStyle/>
          <a:p>
            <a:pPr indent="0" marL="0">
              <a:buNone/>
            </a:pPr>
            <a:r>
              <a:rPr lang="en-US" sz="950" dirty="0">
                <a:solidFill>
                  <a:srgbClr val="1D1B18"/>
                </a:solidFill>
                <a:latin typeface="Arial" pitchFamily="34" charset="0"/>
                <a:ea typeface="Arial" pitchFamily="34" charset="-122"/>
                <a:cs typeface="Arial" pitchFamily="34" charset="-120"/>
              </a:rPr>
              <a:t>1   A safe workshop, its arrival date and why, in seconds</a:t>
            </a:r>
            <a:endParaRPr lang="en-US" sz="950" dirty="0"/>
          </a:p>
        </p:txBody>
      </p:sp>
      <p:sp>
        <p:nvSpPr>
          <p:cNvPr id="12" name="Text 10"/>
          <p:cNvSpPr txBox="1"/>
          <p:nvPr/>
        </p:nvSpPr>
        <p:spPr>
          <a:xfrm>
            <a:off x="548640" y="3813048"/>
            <a:ext cx="3520440" cy="228600"/>
          </a:xfrm>
          <a:prstGeom prst="rect">
            <a:avLst/>
          </a:prstGeom>
          <a:noFill/>
          <a:ln/>
        </p:spPr>
        <p:txBody>
          <a:bodyPr wrap="square" lIns="0" tIns="0" rIns="0" bIns="0" rtlCol="0" anchor="t"/>
          <a:lstStyle/>
          <a:p>
            <a:pPr indent="0" marL="0">
              <a:buNone/>
            </a:pPr>
            <a:r>
              <a:rPr lang="en-US" sz="950" dirty="0">
                <a:solidFill>
                  <a:srgbClr val="1D1B18"/>
                </a:solidFill>
                <a:latin typeface="Arial" pitchFamily="34" charset="0"/>
                <a:ea typeface="Arial" pitchFamily="34" charset="-122"/>
                <a:cs typeface="Arial" pitchFamily="34" charset="-120"/>
              </a:rPr>
              <a:t>2   The constraint honoured, and who asked recorded</a:t>
            </a:r>
            <a:endParaRPr lang="en-US" sz="950" dirty="0"/>
          </a:p>
        </p:txBody>
      </p:sp>
      <p:sp>
        <p:nvSpPr>
          <p:cNvPr id="13" name="Text 11"/>
          <p:cNvSpPr txBox="1"/>
          <p:nvPr/>
        </p:nvSpPr>
        <p:spPr>
          <a:xfrm>
            <a:off x="548640" y="4059936"/>
            <a:ext cx="3520440" cy="228600"/>
          </a:xfrm>
          <a:prstGeom prst="rect">
            <a:avLst/>
          </a:prstGeom>
          <a:noFill/>
          <a:ln/>
        </p:spPr>
        <p:txBody>
          <a:bodyPr wrap="square" lIns="0" tIns="0" rIns="0" bIns="0" rtlCol="0" anchor="t"/>
          <a:lstStyle/>
          <a:p>
            <a:pPr indent="0" marL="0">
              <a:buNone/>
            </a:pPr>
            <a:r>
              <a:rPr lang="en-US" sz="950" dirty="0">
                <a:solidFill>
                  <a:srgbClr val="1D1B18"/>
                </a:solidFill>
                <a:latin typeface="Arial" pitchFamily="34" charset="0"/>
                <a:ea typeface="Arial" pitchFamily="34" charset="-122"/>
                <a:cs typeface="Arial" pitchFamily="34" charset="-120"/>
              </a:rPr>
              <a:t>3   One deliberate step to commit; a record afterwards</a:t>
            </a:r>
            <a:endParaRPr lang="en-US" sz="950" dirty="0"/>
          </a:p>
        </p:txBody>
      </p:sp>
      <p:sp>
        <p:nvSpPr>
          <p:cNvPr id="14" name="Text 12"/>
          <p:cNvSpPr txBox="1"/>
          <p:nvPr/>
        </p:nvSpPr>
        <p:spPr>
          <a:xfrm>
            <a:off x="4434840" y="1234440"/>
            <a:ext cx="4160520" cy="164592"/>
          </a:xfrm>
          <a:prstGeom prst="rect">
            <a:avLst/>
          </a:prstGeom>
          <a:noFill/>
          <a:ln/>
        </p:spPr>
        <p:txBody>
          <a:bodyPr wrap="square" lIns="0" tIns="0" rIns="0" bIns="0" rtlCol="0" anchor="t"/>
          <a:lstStyle/>
          <a:p>
            <a:pPr indent="0" marL="0">
              <a:buNone/>
            </a:pPr>
            <a:r>
              <a:rPr lang="en-US" sz="750" b="1" spc="180" kern="0" dirty="0">
                <a:solidFill>
                  <a:srgbClr val="6B665D"/>
                </a:solidFill>
                <a:latin typeface="Arial" pitchFamily="34" charset="0"/>
                <a:ea typeface="Arial" pitchFamily="34" charset="-122"/>
                <a:cs typeface="Arial" pitchFamily="34" charset="-120"/>
              </a:rPr>
              <a:t>WHAT CHANGED SINCE SPRINT 1</a:t>
            </a:r>
            <a:endParaRPr lang="en-US" sz="7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434840" y="1463040"/>
          <a:ext cx="4160520" cy="914400"/>
        </p:xfrm>
        <a:graphic>
          <a:graphicData uri="http://schemas.openxmlformats.org/drawingml/2006/table">
            <a:tbl>
              <a:tblPr/>
              <a:tblGrid>
                <a:gridCol w="1600200"/>
                <a:gridCol w="2560320"/>
              </a:tblGrid>
              <a:tr h="237744">
                <a:tc>
                  <a:txBody>
                    <a:bodyPr/>
                    <a:lstStyle/>
                    <a:p>
                      <a:pPr indent="0" marL="0">
                        <a:buNone/>
                      </a:pPr>
                      <a:r>
                        <a:rPr lang="en-US" sz="700" b="1" spc="150" kern="0" dirty="0">
                          <a:solidFill>
                            <a:srgbClr val="6B665D"/>
                          </a:solidFill>
                          <a:latin typeface="Arial" pitchFamily="34" charset="0"/>
                          <a:ea typeface="Arial" pitchFamily="34" charset="-122"/>
                          <a:cs typeface="Arial" pitchFamily="34" charset="-120"/>
                        </a:rPr>
                        <a:t>SPRINT 1</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c>
                  <a:txBody>
                    <a:bodyPr/>
                    <a:lstStyle/>
                    <a:p>
                      <a:pPr indent="0" marL="0">
                        <a:buNone/>
                      </a:pPr>
                      <a:r>
                        <a:rPr lang="en-US" sz="700" b="1" spc="150" kern="0" dirty="0">
                          <a:solidFill>
                            <a:srgbClr val="6B665D"/>
                          </a:solidFill>
                          <a:latin typeface="Arial" pitchFamily="34" charset="0"/>
                          <a:ea typeface="Arial" pitchFamily="34" charset="-122"/>
                          <a:cs typeface="Arial" pitchFamily="34" charset="-120"/>
                        </a:rPr>
                        <a:t>SPRINT 2</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r>
              <a:tr h="457200">
                <a:tc>
                  <a:txBody>
                    <a:bodyPr/>
                    <a:lstStyle/>
                    <a:p>
                      <a:pPr indent="0" marL="0">
                        <a:buNone/>
                      </a:pPr>
                      <a:r>
                        <a:rPr lang="en-US" sz="900" dirty="0">
                          <a:solidFill>
                            <a:srgbClr val="6B665D"/>
                          </a:solidFill>
                          <a:latin typeface="Arial" pitchFamily="34" charset="0"/>
                          <a:ea typeface="Arial" pitchFamily="34" charset="-122"/>
                          <a:cs typeface="Arial" pitchFamily="34" charset="-120"/>
                        </a:rPr>
                        <a:t>Earliest finish tied us on lateness</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b="1" dirty="0">
                          <a:solidFill>
                            <a:srgbClr val="2F5D46"/>
                          </a:solidFill>
                          <a:latin typeface="Arial" pitchFamily="34" charset="0"/>
                          <a:ea typeface="Arial" pitchFamily="34" charset="-122"/>
                          <a:cs typeface="Arial" pitchFamily="34" charset="-120"/>
                        </a:rPr>
                        <a:t>Default beats it: 1.42% late vs 1.67%, 68% fewer late days</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457200">
                <a:tc>
                  <a:txBody>
                    <a:bodyPr/>
                    <a:lstStyle/>
                    <a:p>
                      <a:pPr indent="0" marL="0">
                        <a:buNone/>
                      </a:pPr>
                      <a:r>
                        <a:rPr lang="en-US" sz="900" dirty="0">
                          <a:solidFill>
                            <a:srgbClr val="6B665D"/>
                          </a:solidFill>
                          <a:latin typeface="Arial" pitchFamily="34" charset="0"/>
                          <a:ea typeface="Arial" pitchFamily="34" charset="-122"/>
                          <a:cs typeface="Arial" pitchFamily="34" charset="-120"/>
                        </a:rPr>
                        <a:t>Biggest capacity won on defects</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b="1" dirty="0">
                          <a:solidFill>
                            <a:srgbClr val="2F5D46"/>
                          </a:solidFill>
                          <a:latin typeface="Arial" pitchFamily="34" charset="0"/>
                          <a:ea typeface="Arial" pitchFamily="34" charset="-122"/>
                          <a:cs typeface="Arial" pitchFamily="34" charset="-120"/>
                        </a:rPr>
                        <a:t>Defects setting wins: 4.90% defective pieces vs 5.28%</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457200">
                <a:tc>
                  <a:txBody>
                    <a:bodyPr/>
                    <a:lstStyle/>
                    <a:p>
                      <a:pPr indent="0" marL="0">
                        <a:buNone/>
                      </a:pPr>
                      <a:r>
                        <a:rPr lang="en-US" sz="900" dirty="0">
                          <a:solidFill>
                            <a:srgbClr val="6B665D"/>
                          </a:solidFill>
                          <a:latin typeface="Arial" pitchFamily="34" charset="0"/>
                          <a:ea typeface="Arial" pitchFamily="34" charset="-122"/>
                          <a:cs typeface="Arial" pitchFamily="34" charset="-120"/>
                        </a:rPr>
                        <a:t>Fairness not tuned</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b="1" dirty="0">
                          <a:solidFill>
                            <a:srgbClr val="2F5D46"/>
                          </a:solidFill>
                          <a:latin typeface="Arial" pitchFamily="34" charset="0"/>
                          <a:ea typeface="Arial" pitchFamily="34" charset="-122"/>
                          <a:cs typeface="Arial" pitchFamily="34" charset="-120"/>
                        </a:rPr>
                        <a:t>Fairness setting: largest share 19.2% vs random 22.6%</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457200">
                <a:tc>
                  <a:txBody>
                    <a:bodyPr/>
                    <a:lstStyle/>
                    <a:p>
                      <a:pPr indent="0" marL="0">
                        <a:buNone/>
                      </a:pPr>
                      <a:r>
                        <a:rPr lang="en-US" sz="900" dirty="0">
                          <a:solidFill>
                            <a:srgbClr val="6B665D"/>
                          </a:solidFill>
                          <a:latin typeface="Arial" pitchFamily="34" charset="0"/>
                          <a:ea typeface="Arial" pitchFamily="34" charset="-122"/>
                          <a:cs typeface="Arial" pitchFamily="34" charset="-120"/>
                        </a:rPr>
                        <a:t>Typing at a desk only</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b="1" dirty="0">
                          <a:solidFill>
                            <a:srgbClr val="2F5D46"/>
                          </a:solidFill>
                          <a:latin typeface="Arial" pitchFamily="34" charset="0"/>
                          <a:ea typeface="Arial" pitchFamily="34" charset="-122"/>
                          <a:cs typeface="Arial" pitchFamily="34" charset="-120"/>
                        </a:rPr>
                        <a:t>Voice on the phone, read aloud, slide to book</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457200">
                <a:tc>
                  <a:txBody>
                    <a:bodyPr/>
                    <a:lstStyle/>
                    <a:p>
                      <a:pPr indent="0" marL="0">
                        <a:buNone/>
                      </a:pPr>
                      <a:r>
                        <a:rPr lang="en-US" sz="900" dirty="0">
                          <a:solidFill>
                            <a:srgbClr val="6B665D"/>
                          </a:solidFill>
                          <a:latin typeface="Arial" pitchFamily="34" charset="0"/>
                          <a:ea typeface="Arial" pitchFamily="34" charset="-122"/>
                          <a:cs typeface="Arial" pitchFamily="34" charset="-120"/>
                        </a:rPr>
                        <a:t>No memory between requests</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b="1" dirty="0">
                          <a:solidFill>
                            <a:srgbClr val="2F5D46"/>
                          </a:solidFill>
                          <a:latin typeface="Arial" pitchFamily="34" charset="0"/>
                          <a:ea typeface="Arial" pitchFamily="34" charset="-122"/>
                          <a:cs typeface="Arial" pitchFamily="34" charset="-120"/>
                        </a:rPr>
                        <a:t>Remembers confirmed constraints, and says when it applies one</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bl>
          </a:graphicData>
        </a:graphic>
      </p:graphicFrame>
      <p:sp>
        <p:nvSpPr>
          <p:cNvPr id="16" name="Text 13"/>
          <p:cNvSpPr txBox="1"/>
          <p:nvPr/>
        </p:nvSpPr>
        <p:spPr>
          <a:xfrm>
            <a:off x="548640" y="4572000"/>
            <a:ext cx="8046720" cy="182880"/>
          </a:xfrm>
          <a:prstGeom prst="rect">
            <a:avLst/>
          </a:prstGeom>
          <a:noFill/>
          <a:ln/>
        </p:spPr>
        <p:txBody>
          <a:bodyPr wrap="square" lIns="0" tIns="0" rIns="0" bIns="0" rtlCol="0" anchor="t"/>
          <a:lstStyle/>
          <a:p>
            <a:pPr indent="0" marL="0">
              <a:buNone/>
            </a:pPr>
            <a:r>
              <a:rPr lang="en-US" sz="700" i="1" dirty="0">
                <a:solidFill>
                  <a:srgbClr val="6B665D"/>
                </a:solidFill>
                <a:latin typeface="Arial" pitchFamily="34" charset="0"/>
                <a:ea typeface="Arial" pitchFamily="34" charset="-122"/>
                <a:cs typeface="Arial" pitchFamily="34" charset="-120"/>
              </a:rPr>
              <a:t>Course simulator, mean of 10 normal runs (seeds 5105-5114); presets chosen on development seeds first. docs/OBJECTIVE_STUDY.md</a:t>
            </a:r>
            <a:endParaRPr lang="en-US" sz="700" dirty="0"/>
          </a:p>
        </p:txBody>
      </p:sp>
      <p:sp>
        <p:nvSpPr>
          <p:cNvPr id="25" name="Slide Number Placeholder 0"/>
          <p:cNvSpPr>
            <a:spLocks noGrp="1"/>
          </p:cNvSpPr>
          <p:nvPr>
            <p:ph type="sldNum" sz="quarter" idx="4294967295"/>
          </p:nvPr>
        </p:nvSpPr>
        <p:spPr>
          <a:xfrm>
            <a:off x="8138160" y="4800600"/>
            <a:ext cx="457200" cy="201168"/>
          </a:xfrm>
          <a:prstGeom prst="rect">
            <a:avLst/>
          </a:prstGeom>
          <a:extLst>
            <a:ext uri="{C572A759-6A51-4108-AA02-DFA0A04FC94B}">
              <ma14:wrappingTextBoxFlag xmlns:ma14="http://schemas.microsoft.com/office/mac/drawingml/2011/main" val="0"/>
            </a:ext>
          </a:extLst>
        </p:spPr>
        <p:txBody>
          <a:bodyPr/>
          <a:lstStyle>
            <a:lvl1pPr>
              <a:defRPr sz="700">
                <a:solidFill>
                  <a:srgbClr val="6B665D"/>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t"/>
          <a:lstStyle/>
          <a:p>
            <a:pPr indent="0" marL="0">
              <a:buNone/>
            </a:pPr>
            <a:r>
              <a:rPr lang="en-US" sz="850" b="1" spc="300" kern="0" dirty="0">
                <a:solidFill>
                  <a:srgbClr val="1D1B18"/>
                </a:solidFill>
                <a:latin typeface="Arial" pitchFamily="34" charset="0"/>
                <a:ea typeface="Arial" pitchFamily="34" charset="-122"/>
                <a:cs typeface="Arial" pitchFamily="34" charset="-120"/>
              </a:rPr>
              <a:t>03   </a:t>
            </a:r>
            <a:r>
              <a:rPr lang="en-US" sz="850" b="1" spc="300" kern="0" dirty="0">
                <a:solidFill>
                  <a:srgbClr val="7D5E30"/>
                </a:solidFill>
                <a:latin typeface="Arial" pitchFamily="34" charset="0"/>
                <a:ea typeface="Arial" pitchFamily="34" charset="-122"/>
                <a:cs typeface="Arial" pitchFamily="34" charset="-120"/>
              </a:rPr>
              <a:t>THE USER JOURNEY  /  THINK LIKE THE USER</a:t>
            </a:r>
            <a:endParaRPr lang="en-US" sz="850" dirty="0"/>
          </a:p>
        </p:txBody>
      </p:sp>
      <p:sp>
        <p:nvSpPr>
          <p:cNvPr id="3" name="Text 1"/>
          <p:cNvSpPr txBox="1"/>
          <p:nvPr/>
        </p:nvSpPr>
        <p:spPr>
          <a:xfrm>
            <a:off x="548640" y="530352"/>
            <a:ext cx="8046720" cy="548640"/>
          </a:xfrm>
          <a:prstGeom prst="rect">
            <a:avLst/>
          </a:prstGeom>
          <a:noFill/>
          <a:ln/>
        </p:spPr>
        <p:txBody>
          <a:bodyPr wrap="square" lIns="0" tIns="0" rIns="0" bIns="0" rtlCol="0" anchor="ctr"/>
          <a:lstStyle/>
          <a:p>
            <a:pPr indent="0" marL="0">
              <a:buNone/>
            </a:pPr>
            <a:r>
              <a:rPr lang="en-US" sz="2300" dirty="0">
                <a:solidFill>
                  <a:srgbClr val="1D1B18"/>
                </a:solidFill>
                <a:latin typeface="Georgia" pitchFamily="34" charset="0"/>
                <a:ea typeface="Georgia" pitchFamily="34" charset="-122"/>
                <a:cs typeface="Georgia" pitchFamily="34" charset="-120"/>
              </a:rPr>
              <a:t>Say it, check it, slide to book, and it remembers</a:t>
            </a:r>
            <a:endParaRPr lang="en-US" sz="2300" dirty="0"/>
          </a:p>
        </p:txBody>
      </p:sp>
      <p:pic>
        <p:nvPicPr>
          <p:cNvPr id="4" name="Image 0" descr="Ask: Hold the mic: order, date and any constraint, in plain words.">    </p:cNvPr>
          <p:cNvPicPr>
            <a:picLocks noChangeAspect="1"/>
          </p:cNvPicPr>
          <p:nvPr/>
        </p:nvPicPr>
        <p:blipFill>
          <a:blip r:embed="rId1"/>
          <a:stretch>
            <a:fillRect/>
          </a:stretch>
        </p:blipFill>
        <p:spPr>
          <a:xfrm>
            <a:off x="548640" y="1188720"/>
            <a:ext cx="1331958" cy="2743200"/>
          </a:xfrm>
          <a:prstGeom prst="rect">
            <a:avLst/>
          </a:prstGeom>
          <a:effectLst>
            <a:outerShdw sx="100000" sy="100000" kx="0" ky="0" algn="bl" rotWithShape="0" blurRad="127000" dist="38100" dir="5400000">
              <a:srgbClr val="000000">
                <a:alpha val="18000"/>
              </a:srgbClr>
            </a:outerShdw>
          </a:effectLst>
        </p:spPr>
      </p:pic>
      <p:sp>
        <p:nvSpPr>
          <p:cNvPr id="5" name="Text 2"/>
          <p:cNvSpPr txBox="1"/>
          <p:nvPr/>
        </p:nvSpPr>
        <p:spPr>
          <a:xfrm>
            <a:off x="530352" y="3986784"/>
            <a:ext cx="274320" cy="292608"/>
          </a:xfrm>
          <a:prstGeom prst="rect">
            <a:avLst/>
          </a:prstGeom>
          <a:noFill/>
          <a:ln/>
        </p:spPr>
        <p:txBody>
          <a:bodyPr wrap="square" lIns="0" tIns="0" rIns="0" bIns="0" rtlCol="0" anchor="t"/>
          <a:lstStyle/>
          <a:p>
            <a:pPr indent="0" marL="0">
              <a:buNone/>
            </a:pPr>
            <a:r>
              <a:rPr lang="en-US" sz="1800" dirty="0">
                <a:solidFill>
                  <a:srgbClr val="A3804C"/>
                </a:solidFill>
                <a:latin typeface="Georgia" pitchFamily="34" charset="0"/>
                <a:ea typeface="Georgia" pitchFamily="34" charset="-122"/>
                <a:cs typeface="Georgia" pitchFamily="34" charset="-120"/>
              </a:rPr>
              <a:t>1</a:t>
            </a:r>
            <a:endParaRPr lang="en-US" sz="1800" dirty="0"/>
          </a:p>
        </p:txBody>
      </p:sp>
      <p:sp>
        <p:nvSpPr>
          <p:cNvPr id="6" name="Text 3"/>
          <p:cNvSpPr txBox="1"/>
          <p:nvPr/>
        </p:nvSpPr>
        <p:spPr>
          <a:xfrm>
            <a:off x="795528" y="4005072"/>
            <a:ext cx="1331958" cy="219456"/>
          </a:xfrm>
          <a:prstGeom prst="rect">
            <a:avLst/>
          </a:prstGeom>
          <a:noFill/>
          <a:ln/>
        </p:spPr>
        <p:txBody>
          <a:bodyPr wrap="square" lIns="0" tIns="0" rIns="0" bIns="0" rtlCol="0" anchor="t"/>
          <a:lstStyle/>
          <a:p>
            <a:pPr indent="0" marL="0">
              <a:buNone/>
            </a:pPr>
            <a:r>
              <a:rPr lang="en-US" sz="1200" dirty="0">
                <a:solidFill>
                  <a:srgbClr val="1D1B18"/>
                </a:solidFill>
                <a:latin typeface="Georgia" pitchFamily="34" charset="0"/>
                <a:ea typeface="Georgia" pitchFamily="34" charset="-122"/>
                <a:cs typeface="Georgia" pitchFamily="34" charset="-120"/>
              </a:rPr>
              <a:t>Ask</a:t>
            </a:r>
            <a:endParaRPr lang="en-US" sz="1200" dirty="0"/>
          </a:p>
        </p:txBody>
      </p:sp>
      <p:sp>
        <p:nvSpPr>
          <p:cNvPr id="7" name="Text 4"/>
          <p:cNvSpPr txBox="1"/>
          <p:nvPr/>
        </p:nvSpPr>
        <p:spPr>
          <a:xfrm>
            <a:off x="530352" y="4261104"/>
            <a:ext cx="1514838" cy="329184"/>
          </a:xfrm>
          <a:prstGeom prst="rect">
            <a:avLst/>
          </a:prstGeom>
          <a:noFill/>
          <a:ln/>
        </p:spPr>
        <p:txBody>
          <a:bodyPr wrap="square" lIns="0" tIns="0" rIns="0" bIns="0" rtlCol="0" anchor="t"/>
          <a:lstStyle/>
          <a:p>
            <a:pPr indent="0" marL="0">
              <a:buNone/>
            </a:pPr>
            <a:r>
              <a:rPr lang="en-US" sz="750" dirty="0">
                <a:solidFill>
                  <a:srgbClr val="4A463F"/>
                </a:solidFill>
                <a:latin typeface="Arial" pitchFamily="34" charset="0"/>
                <a:ea typeface="Arial" pitchFamily="34" charset="-122"/>
                <a:cs typeface="Arial" pitchFamily="34" charset="-120"/>
              </a:rPr>
              <a:t>Hold the mic: order, date and any constraint, in plain words.</a:t>
            </a:r>
            <a:endParaRPr lang="en-US" sz="750" dirty="0"/>
          </a:p>
        </p:txBody>
      </p:sp>
      <p:pic>
        <p:nvPicPr>
          <p:cNvPr id="8" name="Image 1" descr="Answer: Best workshop, arrival and spare days, and why. Read aloud.">    </p:cNvPr>
          <p:cNvPicPr>
            <a:picLocks noChangeAspect="1"/>
          </p:cNvPicPr>
          <p:nvPr/>
        </p:nvPicPr>
        <p:blipFill>
          <a:blip r:embed="rId2"/>
          <a:stretch>
            <a:fillRect/>
          </a:stretch>
        </p:blipFill>
        <p:spPr>
          <a:xfrm>
            <a:off x="2227330" y="1188720"/>
            <a:ext cx="1331958" cy="2743200"/>
          </a:xfrm>
          <a:prstGeom prst="rect">
            <a:avLst/>
          </a:prstGeom>
          <a:effectLst>
            <a:outerShdw sx="100000" sy="100000" kx="0" ky="0" algn="bl" rotWithShape="0" blurRad="127000" dist="38100" dir="5400000">
              <a:srgbClr val="000000">
                <a:alpha val="18000"/>
              </a:srgbClr>
            </a:outerShdw>
          </a:effectLst>
        </p:spPr>
      </p:pic>
      <p:sp>
        <p:nvSpPr>
          <p:cNvPr id="9" name="Text 5"/>
          <p:cNvSpPr txBox="1"/>
          <p:nvPr/>
        </p:nvSpPr>
        <p:spPr>
          <a:xfrm>
            <a:off x="2209042" y="3986784"/>
            <a:ext cx="274320" cy="292608"/>
          </a:xfrm>
          <a:prstGeom prst="rect">
            <a:avLst/>
          </a:prstGeom>
          <a:noFill/>
          <a:ln/>
        </p:spPr>
        <p:txBody>
          <a:bodyPr wrap="square" lIns="0" tIns="0" rIns="0" bIns="0" rtlCol="0" anchor="t"/>
          <a:lstStyle/>
          <a:p>
            <a:pPr indent="0" marL="0">
              <a:buNone/>
            </a:pPr>
            <a:r>
              <a:rPr lang="en-US" sz="1800" dirty="0">
                <a:solidFill>
                  <a:srgbClr val="A3804C"/>
                </a:solidFill>
                <a:latin typeface="Georgia" pitchFamily="34" charset="0"/>
                <a:ea typeface="Georgia" pitchFamily="34" charset="-122"/>
                <a:cs typeface="Georgia" pitchFamily="34" charset="-120"/>
              </a:rPr>
              <a:t>2</a:t>
            </a:r>
            <a:endParaRPr lang="en-US" sz="1800" dirty="0"/>
          </a:p>
        </p:txBody>
      </p:sp>
      <p:sp>
        <p:nvSpPr>
          <p:cNvPr id="10" name="Text 6"/>
          <p:cNvSpPr txBox="1"/>
          <p:nvPr/>
        </p:nvSpPr>
        <p:spPr>
          <a:xfrm>
            <a:off x="2474218" y="4005072"/>
            <a:ext cx="1331958" cy="219456"/>
          </a:xfrm>
          <a:prstGeom prst="rect">
            <a:avLst/>
          </a:prstGeom>
          <a:noFill/>
          <a:ln/>
        </p:spPr>
        <p:txBody>
          <a:bodyPr wrap="square" lIns="0" tIns="0" rIns="0" bIns="0" rtlCol="0" anchor="t"/>
          <a:lstStyle/>
          <a:p>
            <a:pPr indent="0" marL="0">
              <a:buNone/>
            </a:pPr>
            <a:r>
              <a:rPr lang="en-US" sz="1200" dirty="0">
                <a:solidFill>
                  <a:srgbClr val="1D1B18"/>
                </a:solidFill>
                <a:latin typeface="Georgia" pitchFamily="34" charset="0"/>
                <a:ea typeface="Georgia" pitchFamily="34" charset="-122"/>
                <a:cs typeface="Georgia" pitchFamily="34" charset="-120"/>
              </a:rPr>
              <a:t>Answer</a:t>
            </a:r>
            <a:endParaRPr lang="en-US" sz="1200" dirty="0"/>
          </a:p>
        </p:txBody>
      </p:sp>
      <p:sp>
        <p:nvSpPr>
          <p:cNvPr id="11" name="Text 7"/>
          <p:cNvSpPr txBox="1"/>
          <p:nvPr/>
        </p:nvSpPr>
        <p:spPr>
          <a:xfrm>
            <a:off x="2209042" y="4261104"/>
            <a:ext cx="1514838" cy="329184"/>
          </a:xfrm>
          <a:prstGeom prst="rect">
            <a:avLst/>
          </a:prstGeom>
          <a:noFill/>
          <a:ln/>
        </p:spPr>
        <p:txBody>
          <a:bodyPr wrap="square" lIns="0" tIns="0" rIns="0" bIns="0" rtlCol="0" anchor="t"/>
          <a:lstStyle/>
          <a:p>
            <a:pPr indent="0" marL="0">
              <a:buNone/>
            </a:pPr>
            <a:r>
              <a:rPr lang="en-US" sz="750" dirty="0">
                <a:solidFill>
                  <a:srgbClr val="4A463F"/>
                </a:solidFill>
                <a:latin typeface="Arial" pitchFamily="34" charset="0"/>
                <a:ea typeface="Arial" pitchFamily="34" charset="-122"/>
                <a:cs typeface="Arial" pitchFamily="34" charset="-120"/>
              </a:rPr>
              <a:t>Best workshop, arrival and spare days, and why. Read aloud.</a:t>
            </a:r>
            <a:endParaRPr lang="en-US" sz="750" dirty="0"/>
          </a:p>
        </p:txBody>
      </p:sp>
      <p:pic>
        <p:nvPicPr>
          <p:cNvPr id="12" name="Image 2" descr="Confirm: &quot;Book it&quot; opens one sheet. One slide books it, with a name on it.">    </p:cNvPr>
          <p:cNvPicPr>
            <a:picLocks noChangeAspect="1"/>
          </p:cNvPicPr>
          <p:nvPr/>
        </p:nvPicPr>
        <p:blipFill>
          <a:blip r:embed="rId3"/>
          <a:stretch>
            <a:fillRect/>
          </a:stretch>
        </p:blipFill>
        <p:spPr>
          <a:xfrm>
            <a:off x="3906021" y="1188720"/>
            <a:ext cx="1331958" cy="2743200"/>
          </a:xfrm>
          <a:prstGeom prst="rect">
            <a:avLst/>
          </a:prstGeom>
          <a:effectLst>
            <a:outerShdw sx="100000" sy="100000" kx="0" ky="0" algn="bl" rotWithShape="0" blurRad="127000" dist="38100" dir="5400000">
              <a:srgbClr val="000000">
                <a:alpha val="18000"/>
              </a:srgbClr>
            </a:outerShdw>
          </a:effectLst>
        </p:spPr>
      </p:pic>
      <p:sp>
        <p:nvSpPr>
          <p:cNvPr id="13" name="Text 8"/>
          <p:cNvSpPr txBox="1"/>
          <p:nvPr/>
        </p:nvSpPr>
        <p:spPr>
          <a:xfrm>
            <a:off x="3887733" y="3986784"/>
            <a:ext cx="274320" cy="292608"/>
          </a:xfrm>
          <a:prstGeom prst="rect">
            <a:avLst/>
          </a:prstGeom>
          <a:noFill/>
          <a:ln/>
        </p:spPr>
        <p:txBody>
          <a:bodyPr wrap="square" lIns="0" tIns="0" rIns="0" bIns="0" rtlCol="0" anchor="t"/>
          <a:lstStyle/>
          <a:p>
            <a:pPr indent="0" marL="0">
              <a:buNone/>
            </a:pPr>
            <a:r>
              <a:rPr lang="en-US" sz="1800" dirty="0">
                <a:solidFill>
                  <a:srgbClr val="A3804C"/>
                </a:solidFill>
                <a:latin typeface="Georgia" pitchFamily="34" charset="0"/>
                <a:ea typeface="Georgia" pitchFamily="34" charset="-122"/>
                <a:cs typeface="Georgia" pitchFamily="34" charset="-120"/>
              </a:rPr>
              <a:t>3</a:t>
            </a:r>
            <a:endParaRPr lang="en-US" sz="1800" dirty="0"/>
          </a:p>
        </p:txBody>
      </p:sp>
      <p:sp>
        <p:nvSpPr>
          <p:cNvPr id="14" name="Text 9"/>
          <p:cNvSpPr txBox="1"/>
          <p:nvPr/>
        </p:nvSpPr>
        <p:spPr>
          <a:xfrm>
            <a:off x="4152909" y="4005072"/>
            <a:ext cx="1331958" cy="219456"/>
          </a:xfrm>
          <a:prstGeom prst="rect">
            <a:avLst/>
          </a:prstGeom>
          <a:noFill/>
          <a:ln/>
        </p:spPr>
        <p:txBody>
          <a:bodyPr wrap="square" lIns="0" tIns="0" rIns="0" bIns="0" rtlCol="0" anchor="t"/>
          <a:lstStyle/>
          <a:p>
            <a:pPr indent="0" marL="0">
              <a:buNone/>
            </a:pPr>
            <a:r>
              <a:rPr lang="en-US" sz="1200" dirty="0">
                <a:solidFill>
                  <a:srgbClr val="1D1B18"/>
                </a:solidFill>
                <a:latin typeface="Georgia" pitchFamily="34" charset="0"/>
                <a:ea typeface="Georgia" pitchFamily="34" charset="-122"/>
                <a:cs typeface="Georgia" pitchFamily="34" charset="-120"/>
              </a:rPr>
              <a:t>Confirm</a:t>
            </a:r>
            <a:endParaRPr lang="en-US" sz="1200" dirty="0"/>
          </a:p>
        </p:txBody>
      </p:sp>
      <p:sp>
        <p:nvSpPr>
          <p:cNvPr id="15" name="Text 10"/>
          <p:cNvSpPr txBox="1"/>
          <p:nvPr/>
        </p:nvSpPr>
        <p:spPr>
          <a:xfrm>
            <a:off x="3887733" y="4261104"/>
            <a:ext cx="1514838" cy="329184"/>
          </a:xfrm>
          <a:prstGeom prst="rect">
            <a:avLst/>
          </a:prstGeom>
          <a:noFill/>
          <a:ln/>
        </p:spPr>
        <p:txBody>
          <a:bodyPr wrap="square" lIns="0" tIns="0" rIns="0" bIns="0" rtlCol="0" anchor="t"/>
          <a:lstStyle/>
          <a:p>
            <a:pPr indent="0" marL="0">
              <a:buNone/>
            </a:pPr>
            <a:r>
              <a:rPr lang="en-US" sz="750" dirty="0">
                <a:solidFill>
                  <a:srgbClr val="4A463F"/>
                </a:solidFill>
                <a:latin typeface="Arial" pitchFamily="34" charset="0"/>
                <a:ea typeface="Arial" pitchFamily="34" charset="-122"/>
                <a:cs typeface="Arial" pitchFamily="34" charset="-120"/>
              </a:rPr>
              <a:t>"Book it" opens one sheet. One slide books it, with a name on it.</a:t>
            </a:r>
            <a:endParaRPr lang="en-US" sz="750" dirty="0"/>
          </a:p>
        </p:txBody>
      </p:sp>
      <p:pic>
        <p:nvPicPr>
          <p:cNvPr id="16" name="Image 3" descr="Remember: It offers to keep the constraint for this customer.">    </p:cNvPr>
          <p:cNvPicPr>
            <a:picLocks noChangeAspect="1"/>
          </p:cNvPicPr>
          <p:nvPr/>
        </p:nvPicPr>
        <p:blipFill>
          <a:blip r:embed="rId4"/>
          <a:stretch>
            <a:fillRect/>
          </a:stretch>
        </p:blipFill>
        <p:spPr>
          <a:xfrm>
            <a:off x="5584711" y="1188720"/>
            <a:ext cx="1331958" cy="2743200"/>
          </a:xfrm>
          <a:prstGeom prst="rect">
            <a:avLst/>
          </a:prstGeom>
          <a:effectLst>
            <a:outerShdw sx="100000" sy="100000" kx="0" ky="0" algn="bl" rotWithShape="0" blurRad="127000" dist="38100" dir="5400000">
              <a:srgbClr val="000000">
                <a:alpha val="18000"/>
              </a:srgbClr>
            </a:outerShdw>
          </a:effectLst>
        </p:spPr>
      </p:pic>
      <p:sp>
        <p:nvSpPr>
          <p:cNvPr id="17" name="Text 11"/>
          <p:cNvSpPr txBox="1"/>
          <p:nvPr/>
        </p:nvSpPr>
        <p:spPr>
          <a:xfrm>
            <a:off x="5566423" y="3986784"/>
            <a:ext cx="274320" cy="292608"/>
          </a:xfrm>
          <a:prstGeom prst="rect">
            <a:avLst/>
          </a:prstGeom>
          <a:noFill/>
          <a:ln/>
        </p:spPr>
        <p:txBody>
          <a:bodyPr wrap="square" lIns="0" tIns="0" rIns="0" bIns="0" rtlCol="0" anchor="t"/>
          <a:lstStyle/>
          <a:p>
            <a:pPr indent="0" marL="0">
              <a:buNone/>
            </a:pPr>
            <a:r>
              <a:rPr lang="en-US" sz="1800" dirty="0">
                <a:solidFill>
                  <a:srgbClr val="A3804C"/>
                </a:solidFill>
                <a:latin typeface="Georgia" pitchFamily="34" charset="0"/>
                <a:ea typeface="Georgia" pitchFamily="34" charset="-122"/>
                <a:cs typeface="Georgia" pitchFamily="34" charset="-120"/>
              </a:rPr>
              <a:t>4</a:t>
            </a:r>
            <a:endParaRPr lang="en-US" sz="1800" dirty="0"/>
          </a:p>
        </p:txBody>
      </p:sp>
      <p:sp>
        <p:nvSpPr>
          <p:cNvPr id="18" name="Text 12"/>
          <p:cNvSpPr txBox="1"/>
          <p:nvPr/>
        </p:nvSpPr>
        <p:spPr>
          <a:xfrm>
            <a:off x="5831599" y="4005072"/>
            <a:ext cx="1331958" cy="219456"/>
          </a:xfrm>
          <a:prstGeom prst="rect">
            <a:avLst/>
          </a:prstGeom>
          <a:noFill/>
          <a:ln/>
        </p:spPr>
        <p:txBody>
          <a:bodyPr wrap="square" lIns="0" tIns="0" rIns="0" bIns="0" rtlCol="0" anchor="t"/>
          <a:lstStyle/>
          <a:p>
            <a:pPr indent="0" marL="0">
              <a:buNone/>
            </a:pPr>
            <a:r>
              <a:rPr lang="en-US" sz="1200" dirty="0">
                <a:solidFill>
                  <a:srgbClr val="1D1B18"/>
                </a:solidFill>
                <a:latin typeface="Georgia" pitchFamily="34" charset="0"/>
                <a:ea typeface="Georgia" pitchFamily="34" charset="-122"/>
                <a:cs typeface="Georgia" pitchFamily="34" charset="-120"/>
              </a:rPr>
              <a:t>Remember</a:t>
            </a:r>
            <a:endParaRPr lang="en-US" sz="1200" dirty="0"/>
          </a:p>
        </p:txBody>
      </p:sp>
      <p:sp>
        <p:nvSpPr>
          <p:cNvPr id="19" name="Text 13"/>
          <p:cNvSpPr txBox="1"/>
          <p:nvPr/>
        </p:nvSpPr>
        <p:spPr>
          <a:xfrm>
            <a:off x="5566423" y="4261104"/>
            <a:ext cx="1514838" cy="329184"/>
          </a:xfrm>
          <a:prstGeom prst="rect">
            <a:avLst/>
          </a:prstGeom>
          <a:noFill/>
          <a:ln/>
        </p:spPr>
        <p:txBody>
          <a:bodyPr wrap="square" lIns="0" tIns="0" rIns="0" bIns="0" rtlCol="0" anchor="t"/>
          <a:lstStyle/>
          <a:p>
            <a:pPr indent="0" marL="0">
              <a:buNone/>
            </a:pPr>
            <a:r>
              <a:rPr lang="en-US" sz="750" dirty="0">
                <a:solidFill>
                  <a:srgbClr val="4A463F"/>
                </a:solidFill>
                <a:latin typeface="Arial" pitchFamily="34" charset="0"/>
                <a:ea typeface="Arial" pitchFamily="34" charset="-122"/>
                <a:cs typeface="Arial" pitchFamily="34" charset="-120"/>
              </a:rPr>
              <a:t>It offers to keep the constraint for this customer.</a:t>
            </a:r>
            <a:endParaRPr lang="en-US" sz="750" dirty="0"/>
          </a:p>
        </p:txBody>
      </p:sp>
      <p:pic>
        <p:nvPicPr>
          <p:cNvPr id="20" name="Image 4" descr="Reuse: Next order: the rule is applied, and the card says so.">    </p:cNvPr>
          <p:cNvPicPr>
            <a:picLocks noChangeAspect="1"/>
          </p:cNvPicPr>
          <p:nvPr/>
        </p:nvPicPr>
        <p:blipFill>
          <a:blip r:embed="rId5"/>
          <a:stretch>
            <a:fillRect/>
          </a:stretch>
        </p:blipFill>
        <p:spPr>
          <a:xfrm>
            <a:off x="7263402" y="1188720"/>
            <a:ext cx="1331958" cy="2743200"/>
          </a:xfrm>
          <a:prstGeom prst="rect">
            <a:avLst/>
          </a:prstGeom>
          <a:effectLst>
            <a:outerShdw sx="100000" sy="100000" kx="0" ky="0" algn="bl" rotWithShape="0" blurRad="127000" dist="38100" dir="5400000">
              <a:srgbClr val="000000">
                <a:alpha val="18000"/>
              </a:srgbClr>
            </a:outerShdw>
          </a:effectLst>
        </p:spPr>
      </p:pic>
      <p:sp>
        <p:nvSpPr>
          <p:cNvPr id="21" name="Text 14"/>
          <p:cNvSpPr txBox="1"/>
          <p:nvPr/>
        </p:nvSpPr>
        <p:spPr>
          <a:xfrm>
            <a:off x="7245114" y="3986784"/>
            <a:ext cx="274320" cy="292608"/>
          </a:xfrm>
          <a:prstGeom prst="rect">
            <a:avLst/>
          </a:prstGeom>
          <a:noFill/>
          <a:ln/>
        </p:spPr>
        <p:txBody>
          <a:bodyPr wrap="square" lIns="0" tIns="0" rIns="0" bIns="0" rtlCol="0" anchor="t"/>
          <a:lstStyle/>
          <a:p>
            <a:pPr indent="0" marL="0">
              <a:buNone/>
            </a:pPr>
            <a:r>
              <a:rPr lang="en-US" sz="1800" dirty="0">
                <a:solidFill>
                  <a:srgbClr val="A3804C"/>
                </a:solidFill>
                <a:latin typeface="Georgia" pitchFamily="34" charset="0"/>
                <a:ea typeface="Georgia" pitchFamily="34" charset="-122"/>
                <a:cs typeface="Georgia" pitchFamily="34" charset="-120"/>
              </a:rPr>
              <a:t>5</a:t>
            </a:r>
            <a:endParaRPr lang="en-US" sz="1800" dirty="0"/>
          </a:p>
        </p:txBody>
      </p:sp>
      <p:sp>
        <p:nvSpPr>
          <p:cNvPr id="22" name="Text 15"/>
          <p:cNvSpPr txBox="1"/>
          <p:nvPr/>
        </p:nvSpPr>
        <p:spPr>
          <a:xfrm>
            <a:off x="7510290" y="4005072"/>
            <a:ext cx="1331958" cy="219456"/>
          </a:xfrm>
          <a:prstGeom prst="rect">
            <a:avLst/>
          </a:prstGeom>
          <a:noFill/>
          <a:ln/>
        </p:spPr>
        <p:txBody>
          <a:bodyPr wrap="square" lIns="0" tIns="0" rIns="0" bIns="0" rtlCol="0" anchor="t"/>
          <a:lstStyle/>
          <a:p>
            <a:pPr indent="0" marL="0">
              <a:buNone/>
            </a:pPr>
            <a:r>
              <a:rPr lang="en-US" sz="1200" dirty="0">
                <a:solidFill>
                  <a:srgbClr val="1D1B18"/>
                </a:solidFill>
                <a:latin typeface="Georgia" pitchFamily="34" charset="0"/>
                <a:ea typeface="Georgia" pitchFamily="34" charset="-122"/>
                <a:cs typeface="Georgia" pitchFamily="34" charset="-120"/>
              </a:rPr>
              <a:t>Reuse</a:t>
            </a:r>
            <a:endParaRPr lang="en-US" sz="1200" dirty="0"/>
          </a:p>
        </p:txBody>
      </p:sp>
      <p:sp>
        <p:nvSpPr>
          <p:cNvPr id="23" name="Text 16"/>
          <p:cNvSpPr txBox="1"/>
          <p:nvPr/>
        </p:nvSpPr>
        <p:spPr>
          <a:xfrm>
            <a:off x="7245114" y="4261104"/>
            <a:ext cx="1514838" cy="329184"/>
          </a:xfrm>
          <a:prstGeom prst="rect">
            <a:avLst/>
          </a:prstGeom>
          <a:noFill/>
          <a:ln/>
        </p:spPr>
        <p:txBody>
          <a:bodyPr wrap="square" lIns="0" tIns="0" rIns="0" bIns="0" rtlCol="0" anchor="t"/>
          <a:lstStyle/>
          <a:p>
            <a:pPr indent="0" marL="0">
              <a:buNone/>
            </a:pPr>
            <a:r>
              <a:rPr lang="en-US" sz="750" dirty="0">
                <a:solidFill>
                  <a:srgbClr val="4A463F"/>
                </a:solidFill>
                <a:latin typeface="Arial" pitchFamily="34" charset="0"/>
                <a:ea typeface="Arial" pitchFamily="34" charset="-122"/>
                <a:cs typeface="Arial" pitchFamily="34" charset="-120"/>
              </a:rPr>
              <a:t>Next order: the rule is applied, and the card says so.</a:t>
            </a:r>
            <a:endParaRPr lang="en-US" sz="750" dirty="0"/>
          </a:p>
        </p:txBody>
      </p:sp>
      <p:sp>
        <p:nvSpPr>
          <p:cNvPr id="24" name="Text 17"/>
          <p:cNvSpPr txBox="1"/>
          <p:nvPr/>
        </p:nvSpPr>
        <p:spPr>
          <a:xfrm>
            <a:off x="548640" y="4572000"/>
            <a:ext cx="8046720" cy="182880"/>
          </a:xfrm>
          <a:prstGeom prst="rect">
            <a:avLst/>
          </a:prstGeom>
          <a:noFill/>
          <a:ln/>
        </p:spPr>
        <p:txBody>
          <a:bodyPr wrap="square" lIns="0" tIns="0" rIns="0" bIns="0" rtlCol="0" anchor="t"/>
          <a:lstStyle/>
          <a:p>
            <a:pPr indent="0" marL="0">
              <a:buNone/>
            </a:pPr>
            <a:r>
              <a:rPr lang="en-US" sz="700" i="1" dirty="0">
                <a:solidFill>
                  <a:srgbClr val="6B665D"/>
                </a:solidFill>
                <a:latin typeface="Arial" pitchFamily="34" charset="0"/>
                <a:ea typeface="Arial" pitchFamily="34" charset="-122"/>
                <a:cs typeface="Arial" pitchFamily="34" charset="-120"/>
              </a:rPr>
              <a:t>Live screenshots of the running app (local plan, model: the one set in .env). Voice proposes; only the slide commits.</a:t>
            </a:r>
            <a:endParaRPr lang="en-US" sz="700" dirty="0"/>
          </a:p>
        </p:txBody>
      </p:sp>
      <p:sp>
        <p:nvSpPr>
          <p:cNvPr id="25" name="Slide Number Placeholder 0"/>
          <p:cNvSpPr>
            <a:spLocks noGrp="1"/>
          </p:cNvSpPr>
          <p:nvPr>
            <p:ph type="sldNum" sz="quarter" idx="4294967295"/>
          </p:nvPr>
        </p:nvSpPr>
        <p:spPr>
          <a:xfrm>
            <a:off x="8138160" y="4800600"/>
            <a:ext cx="457200" cy="201168"/>
          </a:xfrm>
          <a:prstGeom prst="rect">
            <a:avLst/>
          </a:prstGeom>
          <a:extLst>
            <a:ext uri="{C572A759-6A51-4108-AA02-DFA0A04FC94B}">
              <ma14:wrappingTextBoxFlag xmlns:ma14="http://schemas.microsoft.com/office/mac/drawingml/2011/main" val="0"/>
            </a:ext>
          </a:extLst>
        </p:spPr>
        <p:txBody>
          <a:bodyPr/>
          <a:lstStyle>
            <a:lvl1pPr>
              <a:defRPr sz="700">
                <a:solidFill>
                  <a:srgbClr val="6B665D"/>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t"/>
          <a:lstStyle/>
          <a:p>
            <a:pPr indent="0" marL="0">
              <a:buNone/>
            </a:pPr>
            <a:r>
              <a:rPr lang="en-US" sz="850" b="1" spc="300" kern="0" dirty="0">
                <a:solidFill>
                  <a:srgbClr val="1D1B18"/>
                </a:solidFill>
                <a:latin typeface="Arial" pitchFamily="34" charset="0"/>
                <a:ea typeface="Arial" pitchFamily="34" charset="-122"/>
                <a:cs typeface="Arial" pitchFamily="34" charset="-120"/>
              </a:rPr>
              <a:t>04   </a:t>
            </a:r>
            <a:r>
              <a:rPr lang="en-US" sz="850" b="1" spc="300" kern="0" dirty="0">
                <a:solidFill>
                  <a:srgbClr val="7D5E30"/>
                </a:solidFill>
                <a:latin typeface="Arial" pitchFamily="34" charset="0"/>
                <a:ea typeface="Arial" pitchFamily="34" charset="-122"/>
                <a:cs typeface="Arial" pitchFamily="34" charset="-120"/>
              </a:rPr>
              <a:t>ARCHITECTURE AS BUILT</a:t>
            </a:r>
            <a:endParaRPr lang="en-US" sz="850" dirty="0"/>
          </a:p>
        </p:txBody>
      </p:sp>
      <p:sp>
        <p:nvSpPr>
          <p:cNvPr id="3" name="Text 1"/>
          <p:cNvSpPr txBox="1"/>
          <p:nvPr/>
        </p:nvSpPr>
        <p:spPr>
          <a:xfrm>
            <a:off x="548640" y="530352"/>
            <a:ext cx="8046720" cy="548640"/>
          </a:xfrm>
          <a:prstGeom prst="rect">
            <a:avLst/>
          </a:prstGeom>
          <a:noFill/>
          <a:ln/>
        </p:spPr>
        <p:txBody>
          <a:bodyPr wrap="square" lIns="0" tIns="0" rIns="0" bIns="0" rtlCol="0" anchor="ctr"/>
          <a:lstStyle/>
          <a:p>
            <a:pPr indent="0" marL="0">
              <a:buNone/>
            </a:pPr>
            <a:r>
              <a:rPr lang="en-US" sz="2300" dirty="0">
                <a:solidFill>
                  <a:srgbClr val="1D1B18"/>
                </a:solidFill>
                <a:latin typeface="Georgia" pitchFamily="34" charset="0"/>
                <a:ea typeface="Georgia" pitchFamily="34" charset="-122"/>
                <a:cs typeface="Georgia" pitchFamily="34" charset="-120"/>
              </a:rPr>
              <a:t>The model reads, Python computes, a person commits</a:t>
            </a:r>
            <a:endParaRPr lang="en-US" sz="2300" dirty="0"/>
          </a:p>
        </p:txBody>
      </p:sp>
      <p:pic>
        <p:nvPicPr>
          <p:cNvPr id="4" name="Image 0" descr="Architecture: phone app and router, LLM intake and quote check, deterministic tools, reply card, slide to confirm, plan ledger, memory store and course data, with the simulator and inbox evaluation">    </p:cNvPr>
          <p:cNvPicPr>
            <a:picLocks noChangeAspect="1"/>
          </p:cNvPicPr>
          <p:nvPr/>
        </p:nvPicPr>
        <p:blipFill>
          <a:blip r:embed="rId1"/>
          <a:stretch>
            <a:fillRect/>
          </a:stretch>
        </p:blipFill>
        <p:spPr>
          <a:xfrm>
            <a:off x="592658" y="1097280"/>
            <a:ext cx="7958683" cy="3611880"/>
          </a:xfrm>
          <a:prstGeom prst="rect">
            <a:avLst/>
          </a:prstGeom>
        </p:spPr>
      </p:pic>
      <p:sp>
        <p:nvSpPr>
          <p:cNvPr id="25" name="Slide Number Placeholder 0"/>
          <p:cNvSpPr>
            <a:spLocks noGrp="1"/>
          </p:cNvSpPr>
          <p:nvPr>
            <p:ph type="sldNum" sz="quarter" idx="4294967295"/>
          </p:nvPr>
        </p:nvSpPr>
        <p:spPr>
          <a:xfrm>
            <a:off x="8138160" y="4800600"/>
            <a:ext cx="457200" cy="201168"/>
          </a:xfrm>
          <a:prstGeom prst="rect">
            <a:avLst/>
          </a:prstGeom>
          <a:extLst>
            <a:ext uri="{C572A759-6A51-4108-AA02-DFA0A04FC94B}">
              <ma14:wrappingTextBoxFlag xmlns:ma14="http://schemas.microsoft.com/office/mac/drawingml/2011/main" val="0"/>
            </a:ext>
          </a:extLst>
        </p:spPr>
        <p:txBody>
          <a:bodyPr/>
          <a:lstStyle>
            <a:lvl1pPr>
              <a:defRPr sz="700">
                <a:solidFill>
                  <a:srgbClr val="6B665D"/>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t"/>
          <a:lstStyle/>
          <a:p>
            <a:pPr indent="0" marL="0">
              <a:buNone/>
            </a:pPr>
            <a:r>
              <a:rPr lang="en-US" sz="850" b="1" spc="300" kern="0" dirty="0">
                <a:solidFill>
                  <a:srgbClr val="1D1B18"/>
                </a:solidFill>
                <a:latin typeface="Arial" pitchFamily="34" charset="0"/>
                <a:ea typeface="Arial" pitchFamily="34" charset="-122"/>
                <a:cs typeface="Arial" pitchFamily="34" charset="-120"/>
              </a:rPr>
              <a:t>05   </a:t>
            </a:r>
            <a:r>
              <a:rPr lang="en-US" sz="850" b="1" spc="300" kern="0" dirty="0">
                <a:solidFill>
                  <a:srgbClr val="7D5E30"/>
                </a:solidFill>
                <a:latin typeface="Arial" pitchFamily="34" charset="0"/>
                <a:ea typeface="Arial" pitchFamily="34" charset="-122"/>
                <a:cs typeface="Arial" pitchFamily="34" charset="-120"/>
              </a:rPr>
              <a:t>KEY CHOICES</a:t>
            </a:r>
            <a:endParaRPr lang="en-US" sz="850" dirty="0"/>
          </a:p>
        </p:txBody>
      </p:sp>
      <p:sp>
        <p:nvSpPr>
          <p:cNvPr id="3" name="Text 1"/>
          <p:cNvSpPr txBox="1"/>
          <p:nvPr/>
        </p:nvSpPr>
        <p:spPr>
          <a:xfrm>
            <a:off x="548640" y="530352"/>
            <a:ext cx="8046720" cy="548640"/>
          </a:xfrm>
          <a:prstGeom prst="rect">
            <a:avLst/>
          </a:prstGeom>
          <a:noFill/>
          <a:ln/>
        </p:spPr>
        <p:txBody>
          <a:bodyPr wrap="square" lIns="0" tIns="0" rIns="0" bIns="0" rtlCol="0" anchor="ctr"/>
          <a:lstStyle/>
          <a:p>
            <a:pPr indent="0" marL="0">
              <a:buNone/>
            </a:pPr>
            <a:r>
              <a:rPr lang="en-US" sz="2300" dirty="0">
                <a:solidFill>
                  <a:srgbClr val="1D1B18"/>
                </a:solidFill>
                <a:latin typeface="Georgia" pitchFamily="34" charset="0"/>
                <a:ea typeface="Georgia" pitchFamily="34" charset="-122"/>
                <a:cs typeface="Georgia" pitchFamily="34" charset="-120"/>
              </a:rPr>
              <a:t>Each choice, against the alternative we considered</a:t>
            </a:r>
            <a:endParaRPr lang="en-US" sz="2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43584"/>
          <a:ext cx="8046720" cy="914400"/>
        </p:xfrm>
        <a:graphic>
          <a:graphicData uri="http://schemas.openxmlformats.org/drawingml/2006/table">
            <a:tbl>
              <a:tblPr/>
              <a:tblGrid>
                <a:gridCol w="1143000"/>
                <a:gridCol w="2148840"/>
                <a:gridCol w="1691640"/>
                <a:gridCol w="3063240"/>
              </a:tblGrid>
              <a:tr h="237744">
                <a:tc>
                  <a:txBody>
                    <a:bodyPr/>
                    <a:lstStyle/>
                    <a:p>
                      <a:pPr indent="0" marL="0">
                        <a:buNone/>
                      </a:pPr>
                      <a:r>
                        <a:rPr lang="en-US" sz="700" b="1" spc="150" kern="0" dirty="0">
                          <a:solidFill>
                            <a:srgbClr val="6B665D"/>
                          </a:solidFill>
                          <a:latin typeface="Arial" pitchFamily="34" charset="0"/>
                          <a:ea typeface="Arial" pitchFamily="34" charset="-122"/>
                          <a:cs typeface="Arial" pitchFamily="34" charset="-120"/>
                        </a:rPr>
                        <a:t>FOR</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c>
                  <a:txBody>
                    <a:bodyPr/>
                    <a:lstStyle/>
                    <a:p>
                      <a:pPr indent="0" marL="0">
                        <a:buNone/>
                      </a:pPr>
                      <a:r>
                        <a:rPr lang="en-US" sz="700" b="1" spc="150" kern="0" dirty="0">
                          <a:solidFill>
                            <a:srgbClr val="6B665D"/>
                          </a:solidFill>
                          <a:latin typeface="Arial" pitchFamily="34" charset="0"/>
                          <a:ea typeface="Arial" pitchFamily="34" charset="-122"/>
                          <a:cs typeface="Arial" pitchFamily="34" charset="-120"/>
                        </a:rPr>
                        <a:t>WE CHOSE</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c>
                  <a:txBody>
                    <a:bodyPr/>
                    <a:lstStyle/>
                    <a:p>
                      <a:pPr indent="0" marL="0">
                        <a:buNone/>
                      </a:pPr>
                      <a:r>
                        <a:rPr lang="en-US" sz="700" b="1" spc="150" kern="0" dirty="0">
                          <a:solidFill>
                            <a:srgbClr val="6B665D"/>
                          </a:solidFill>
                          <a:latin typeface="Arial" pitchFamily="34" charset="0"/>
                          <a:ea typeface="Arial" pitchFamily="34" charset="-122"/>
                          <a:cs typeface="Arial" pitchFamily="34" charset="-120"/>
                        </a:rPr>
                        <a:t>OVER</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c>
                  <a:txBody>
                    <a:bodyPr/>
                    <a:lstStyle/>
                    <a:p>
                      <a:pPr indent="0" marL="0">
                        <a:buNone/>
                      </a:pPr>
                      <a:r>
                        <a:rPr lang="en-US" sz="700" b="1" spc="150" kern="0" dirty="0">
                          <a:solidFill>
                            <a:srgbClr val="6B665D"/>
                          </a:solidFill>
                          <a:latin typeface="Arial" pitchFamily="34" charset="0"/>
                          <a:ea typeface="Arial" pitchFamily="34" charset="-122"/>
                          <a:cs typeface="Arial" pitchFamily="34" charset="-120"/>
                        </a:rPr>
                        <a:t>BECAUSE</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r>
              <a:tr h="365760">
                <a:tc>
                  <a:txBody>
                    <a:bodyPr/>
                    <a:lstStyle/>
                    <a:p>
                      <a:pPr indent="0" marL="0">
                        <a:buNone/>
                      </a:pPr>
                      <a:r>
                        <a:rPr lang="en-US" sz="700" b="1" spc="150" kern="0" dirty="0">
                          <a:solidFill>
                            <a:srgbClr val="7D5E30"/>
                          </a:solidFill>
                          <a:latin typeface="Arial" pitchFamily="34" charset="0"/>
                          <a:ea typeface="Arial" pitchFamily="34" charset="-122"/>
                          <a:cs typeface="Arial" pitchFamily="34" charset="-120"/>
                        </a:rPr>
                        <a:t>MODEL</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b="1" dirty="0">
                          <a:solidFill>
                            <a:srgbClr val="1D1B18"/>
                          </a:solidFill>
                          <a:latin typeface="Arial" pitchFamily="34" charset="0"/>
                          <a:ea typeface="Arial" pitchFamily="34" charset="-122"/>
                          <a:cs typeface="Arial" pitchFamily="34" charset="-120"/>
                        </a:rPr>
                        <a:t>One hosted model, named in .env</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dirty="0">
                          <a:solidFill>
                            <a:srgbClr val="6B665D"/>
                          </a:solidFill>
                          <a:latin typeface="Arial" pitchFamily="34" charset="0"/>
                          <a:ea typeface="Arial" pitchFamily="34" charset="-122"/>
                          <a:cs typeface="Arial" pitchFamily="34" charset="-120"/>
                        </a:rPr>
                        <a:t>A fine-tuned or local model</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dirty="0">
                          <a:solidFill>
                            <a:srgbClr val="4A463F"/>
                          </a:solidFill>
                          <a:latin typeface="Arial" pitchFamily="34" charset="0"/>
                          <a:ea typeface="Arial" pitchFamily="34" charset="-122"/>
                          <a:cs typeface="Arial" pitchFamily="34" charset="-120"/>
                        </a:rPr>
                        <a:t>It only extracts quoted fields, so no training is needed; swapping it is one line</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365760">
                <a:tc>
                  <a:txBody>
                    <a:bodyPr/>
                    <a:lstStyle/>
                    <a:p>
                      <a:pPr indent="0" marL="0">
                        <a:buNone/>
                      </a:pPr>
                      <a:r>
                        <a:rPr lang="en-US" sz="700" b="1" spc="150" kern="0" dirty="0">
                          <a:solidFill>
                            <a:srgbClr val="7D5E30"/>
                          </a:solidFill>
                          <a:latin typeface="Arial" pitchFamily="34" charset="0"/>
                          <a:ea typeface="Arial" pitchFamily="34" charset="-122"/>
                          <a:cs typeface="Arial" pitchFamily="34" charset="-120"/>
                        </a:rPr>
                        <a:t>ORCHESTRATION</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b="1" dirty="0">
                          <a:solidFill>
                            <a:srgbClr val="1D1B18"/>
                          </a:solidFill>
                          <a:latin typeface="Arial" pitchFamily="34" charset="0"/>
                          <a:ea typeface="Arial" pitchFamily="34" charset="-122"/>
                          <a:cs typeface="Arial" pitchFamily="34" charset="-120"/>
                        </a:rPr>
                        <a:t>One fixed workflow</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dirty="0">
                          <a:solidFill>
                            <a:srgbClr val="6B665D"/>
                          </a:solidFill>
                          <a:latin typeface="Arial" pitchFamily="34" charset="0"/>
                          <a:ea typeface="Arial" pitchFamily="34" charset="-122"/>
                          <a:cs typeface="Arial" pitchFamily="34" charset="-120"/>
                        </a:rPr>
                        <a:t>A ReAct agent loop</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dirty="0">
                          <a:solidFill>
                            <a:srgbClr val="4A463F"/>
                          </a:solidFill>
                          <a:latin typeface="Arial" pitchFamily="34" charset="0"/>
                          <a:ea typeface="Arial" pitchFamily="34" charset="-122"/>
                          <a:cs typeface="Arial" pitchFamily="34" charset="-120"/>
                        </a:rPr>
                        <a:t>Every request needs the same checks in order: testable, cheaper, no tool-choice errors</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365760">
                <a:tc>
                  <a:txBody>
                    <a:bodyPr/>
                    <a:lstStyle/>
                    <a:p>
                      <a:pPr indent="0" marL="0">
                        <a:buNone/>
                      </a:pPr>
                      <a:r>
                        <a:rPr lang="en-US" sz="700" b="1" spc="150" kern="0" dirty="0">
                          <a:solidFill>
                            <a:srgbClr val="7D5E30"/>
                          </a:solidFill>
                          <a:latin typeface="Arial" pitchFamily="34" charset="0"/>
                          <a:ea typeface="Arial" pitchFamily="34" charset="-122"/>
                          <a:cs typeface="Arial" pitchFamily="34" charset="-120"/>
                        </a:rPr>
                        <a:t>RETRIEVAL</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b="1" dirty="0">
                          <a:solidFill>
                            <a:srgbClr val="1D1B18"/>
                          </a:solidFill>
                          <a:latin typeface="Arial" pitchFamily="34" charset="0"/>
                          <a:ea typeface="Arial" pitchFamily="34" charset="-122"/>
                          <a:cs typeface="Arial" pitchFamily="34" charset="-120"/>
                        </a:rPr>
                        <a:t>Exact lookup by order ID</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dirty="0">
                          <a:solidFill>
                            <a:srgbClr val="6B665D"/>
                          </a:solidFill>
                          <a:latin typeface="Arial" pitchFamily="34" charset="0"/>
                          <a:ea typeface="Arial" pitchFamily="34" charset="-122"/>
                          <a:cs typeface="Arial" pitchFamily="34" charset="-120"/>
                        </a:rPr>
                        <a:t>Embedding retrieval (RAG)</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dirty="0">
                          <a:solidFill>
                            <a:srgbClr val="4A463F"/>
                          </a:solidFill>
                          <a:latin typeface="Arial" pitchFamily="34" charset="0"/>
                          <a:ea typeface="Arial" pitchFamily="34" charset="-122"/>
                          <a:cs typeface="Arial" pitchFamily="34" charset="-120"/>
                        </a:rPr>
                        <a:t>Orders have keys; an exact match cannot fetch the wrong order</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365760">
                <a:tc>
                  <a:txBody>
                    <a:bodyPr/>
                    <a:lstStyle/>
                    <a:p>
                      <a:pPr indent="0" marL="0">
                        <a:buNone/>
                      </a:pPr>
                      <a:r>
                        <a:rPr lang="en-US" sz="700" b="1" spc="150" kern="0" dirty="0">
                          <a:solidFill>
                            <a:srgbClr val="7D5E30"/>
                          </a:solidFill>
                          <a:latin typeface="Arial" pitchFamily="34" charset="0"/>
                          <a:ea typeface="Arial" pitchFamily="34" charset="-122"/>
                          <a:cs typeface="Arial" pitchFamily="34" charset="-120"/>
                        </a:rPr>
                        <a:t>DATA STORE</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b="1" dirty="0">
                          <a:solidFill>
                            <a:srgbClr val="1D1B18"/>
                          </a:solidFill>
                          <a:latin typeface="Arial" pitchFamily="34" charset="0"/>
                          <a:ea typeface="Arial" pitchFamily="34" charset="-122"/>
                          <a:cs typeface="Arial" pitchFamily="34" charset="-120"/>
                        </a:rPr>
                        <a:t>SQLite for records and memory</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dirty="0">
                          <a:solidFill>
                            <a:srgbClr val="6B665D"/>
                          </a:solidFill>
                          <a:latin typeface="Arial" pitchFamily="34" charset="0"/>
                          <a:ea typeface="Arial" pitchFamily="34" charset="-122"/>
                          <a:cs typeface="Arial" pitchFamily="34" charset="-120"/>
                        </a:rPr>
                        <a:t>A vector store</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dirty="0">
                          <a:solidFill>
                            <a:srgbClr val="4A463F"/>
                          </a:solidFill>
                          <a:latin typeface="Arial" pitchFamily="34" charset="0"/>
                          <a:ea typeface="Arial" pitchFamily="34" charset="-122"/>
                          <a:cs typeface="Arial" pitchFamily="34" charset="-120"/>
                        </a:rPr>
                        <a:t>A rule must apply exactly, with who said it, and be auditable in one local file</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365760">
                <a:tc>
                  <a:txBody>
                    <a:bodyPr/>
                    <a:lstStyle/>
                    <a:p>
                      <a:pPr indent="0" marL="0">
                        <a:buNone/>
                      </a:pPr>
                      <a:r>
                        <a:rPr lang="en-US" sz="700" b="1" spc="150" kern="0" dirty="0">
                          <a:solidFill>
                            <a:srgbClr val="7D5E30"/>
                          </a:solidFill>
                          <a:latin typeface="Arial" pitchFamily="34" charset="0"/>
                          <a:ea typeface="Arial" pitchFamily="34" charset="-122"/>
                          <a:cs typeface="Arial" pitchFamily="34" charset="-120"/>
                        </a:rPr>
                        <a:t>TOOLS</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b="1" dirty="0">
                          <a:solidFill>
                            <a:srgbClr val="1D1B18"/>
                          </a:solidFill>
                          <a:latin typeface="Arial" pitchFamily="34" charset="0"/>
                          <a:ea typeface="Arial" pitchFamily="34" charset="-122"/>
                          <a:cs typeface="Arial" pitchFamily="34" charset="-120"/>
                        </a:rPr>
                        <a:t>The course's eligible_workshops()</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dirty="0">
                          <a:solidFill>
                            <a:srgbClr val="6B665D"/>
                          </a:solidFill>
                          <a:latin typeface="Arial" pitchFamily="34" charset="0"/>
                          <a:ea typeface="Arial" pitchFamily="34" charset="-122"/>
                          <a:cs typeface="Arial" pitchFamily="34" charset="-120"/>
                        </a:rPr>
                        <a:t>Our own eligibility rule</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dirty="0">
                          <a:solidFill>
                            <a:srgbClr val="4A463F"/>
                          </a:solidFill>
                          <a:latin typeface="Arial" pitchFamily="34" charset="0"/>
                          <a:ea typeface="Arial" pitchFamily="34" charset="-122"/>
                          <a:cs typeface="Arial" pitchFamily="34" charset="-120"/>
                        </a:rPr>
                        <a:t>Our checks and the course simulator can never disagree</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365760">
                <a:tc>
                  <a:txBody>
                    <a:bodyPr/>
                    <a:lstStyle/>
                    <a:p>
                      <a:pPr indent="0" marL="0">
                        <a:buNone/>
                      </a:pPr>
                      <a:r>
                        <a:rPr lang="en-US" sz="700" b="1" spc="150" kern="0" dirty="0">
                          <a:solidFill>
                            <a:srgbClr val="7D5E30"/>
                          </a:solidFill>
                          <a:latin typeface="Arial" pitchFamily="34" charset="0"/>
                          <a:ea typeface="Arial" pitchFamily="34" charset="-122"/>
                          <a:cs typeface="Arial" pitchFamily="34" charset="-120"/>
                        </a:rPr>
                        <a:t>REPLIES</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b="1" dirty="0">
                          <a:solidFill>
                            <a:srgbClr val="1D1B18"/>
                          </a:solidFill>
                          <a:latin typeface="Arial" pitchFamily="34" charset="0"/>
                          <a:ea typeface="Arial" pitchFamily="34" charset="-122"/>
                          <a:cs typeface="Arial" pitchFamily="34" charset="-120"/>
                        </a:rPr>
                        <a:t>Python templates</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dirty="0">
                          <a:solidFill>
                            <a:srgbClr val="6B665D"/>
                          </a:solidFill>
                          <a:latin typeface="Arial" pitchFamily="34" charset="0"/>
                          <a:ea typeface="Arial" pitchFamily="34" charset="-122"/>
                          <a:cs typeface="Arial" pitchFamily="34" charset="-120"/>
                        </a:rPr>
                        <a:t>Model-written replies</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dirty="0">
                          <a:solidFill>
                            <a:srgbClr val="4A463F"/>
                          </a:solidFill>
                          <a:latin typeface="Arial" pitchFamily="34" charset="0"/>
                          <a:ea typeface="Arial" pitchFamily="34" charset="-122"/>
                          <a:cs typeface="Arial" pitchFamily="34" charset="-120"/>
                        </a:rPr>
                        <a:t>No model arithmetic: dates and costs are copied from tool outputs</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365760">
                <a:tc>
                  <a:txBody>
                    <a:bodyPr/>
                    <a:lstStyle/>
                    <a:p>
                      <a:pPr indent="0" marL="0">
                        <a:buNone/>
                      </a:pPr>
                      <a:r>
                        <a:rPr lang="en-US" sz="700" b="1" spc="150" kern="0" dirty="0">
                          <a:solidFill>
                            <a:srgbClr val="7D5E30"/>
                          </a:solidFill>
                          <a:latin typeface="Arial" pitchFamily="34" charset="0"/>
                          <a:ea typeface="Arial" pitchFamily="34" charset="-122"/>
                          <a:cs typeface="Arial" pitchFamily="34" charset="-120"/>
                        </a:rPr>
                        <a:t>SPEECH</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b="1" dirty="0">
                          <a:solidFill>
                            <a:srgbClr val="1D1B18"/>
                          </a:solidFill>
                          <a:latin typeface="Arial" pitchFamily="34" charset="0"/>
                          <a:ea typeface="Arial" pitchFamily="34" charset="-122"/>
                          <a:cs typeface="Arial" pitchFamily="34" charset="-120"/>
                        </a:rPr>
                        <a:t>Browser speech recognition</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dirty="0">
                          <a:solidFill>
                            <a:srgbClr val="6B665D"/>
                          </a:solidFill>
                          <a:latin typeface="Arial" pitchFamily="34" charset="0"/>
                          <a:ea typeface="Arial" pitchFamily="34" charset="-122"/>
                          <a:cs typeface="Arial" pitchFamily="34" charset="-120"/>
                        </a:rPr>
                        <a:t>Server speech-to-text</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dirty="0">
                          <a:solidFill>
                            <a:srgbClr val="4A463F"/>
                          </a:solidFill>
                          <a:latin typeface="Arial" pitchFamily="34" charset="0"/>
                          <a:ea typeface="Arial" pitchFamily="34" charset="-122"/>
                          <a:cs typeface="Arial" pitchFamily="34" charset="-120"/>
                        </a:rPr>
                        <a:t>Free, live words while speaking, no extra key; typing always works</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365760">
                <a:tc>
                  <a:txBody>
                    <a:bodyPr/>
                    <a:lstStyle/>
                    <a:p>
                      <a:pPr indent="0" marL="0">
                        <a:buNone/>
                      </a:pPr>
                      <a:r>
                        <a:rPr lang="en-US" sz="700" b="1" spc="150" kern="0" dirty="0">
                          <a:solidFill>
                            <a:srgbClr val="7D5E30"/>
                          </a:solidFill>
                          <a:latin typeface="Arial" pitchFamily="34" charset="0"/>
                          <a:ea typeface="Arial" pitchFamily="34" charset="-122"/>
                          <a:cs typeface="Arial" pitchFamily="34" charset="-120"/>
                        </a:rPr>
                        <a:t>COMMIT</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b="1" dirty="0">
                          <a:solidFill>
                            <a:srgbClr val="1D1B18"/>
                          </a:solidFill>
                          <a:latin typeface="Arial" pitchFamily="34" charset="0"/>
                          <a:ea typeface="Arial" pitchFamily="34" charset="-122"/>
                          <a:cs typeface="Arial" pitchFamily="34" charset="-120"/>
                        </a:rPr>
                        <a:t>Slide to confirm</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dirty="0">
                          <a:solidFill>
                            <a:srgbClr val="6B665D"/>
                          </a:solidFill>
                          <a:latin typeface="Arial" pitchFamily="34" charset="0"/>
                          <a:ea typeface="Arial" pitchFamily="34" charset="-122"/>
                          <a:cs typeface="Arial" pitchFamily="34" charset="-120"/>
                        </a:rPr>
                        <a:t>Book on a spoken "yes"</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900" dirty="0">
                          <a:solidFill>
                            <a:srgbClr val="4A463F"/>
                          </a:solidFill>
                          <a:latin typeface="Arial" pitchFamily="34" charset="0"/>
                          <a:ea typeface="Arial" pitchFamily="34" charset="-122"/>
                          <a:cs typeface="Arial" pitchFamily="34" charset="-120"/>
                        </a:rPr>
                        <a:t>A misheard "yes" on a noisy floor cannot send work out</a:t>
                      </a:r>
                      <a:endParaRPr lang="en-US" sz="9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bl>
          </a:graphicData>
        </a:graphic>
      </p:graphicFrame>
      <p:sp>
        <p:nvSpPr>
          <p:cNvPr id="5" name="Text 2"/>
          <p:cNvSpPr txBox="1"/>
          <p:nvPr/>
        </p:nvSpPr>
        <p:spPr>
          <a:xfrm>
            <a:off x="548640" y="4572000"/>
            <a:ext cx="8046720" cy="182880"/>
          </a:xfrm>
          <a:prstGeom prst="rect">
            <a:avLst/>
          </a:prstGeom>
          <a:noFill/>
          <a:ln/>
        </p:spPr>
        <p:txBody>
          <a:bodyPr wrap="square" lIns="0" tIns="0" rIns="0" bIns="0" rtlCol="0" anchor="t"/>
          <a:lstStyle/>
          <a:p>
            <a:pPr indent="0" marL="0">
              <a:buNone/>
            </a:pPr>
            <a:r>
              <a:rPr lang="en-US" sz="700" i="1" dirty="0">
                <a:solidFill>
                  <a:srgbClr val="6B665D"/>
                </a:solidFill>
                <a:latin typeface="Arial" pitchFamily="34" charset="0"/>
                <a:ea typeface="Arial" pitchFamily="34" charset="-122"/>
                <a:cs typeface="Arial" pitchFamily="34" charset="-120"/>
              </a:rPr>
              <a:t>Trust boundary: the model call is the only thing that leaves the machine. It never sees costs, queues or defect rates.</a:t>
            </a:r>
            <a:endParaRPr lang="en-US" sz="700" dirty="0"/>
          </a:p>
        </p:txBody>
      </p:sp>
      <p:sp>
        <p:nvSpPr>
          <p:cNvPr id="25" name="Slide Number Placeholder 0"/>
          <p:cNvSpPr>
            <a:spLocks noGrp="1"/>
          </p:cNvSpPr>
          <p:nvPr>
            <p:ph type="sldNum" sz="quarter" idx="4294967295"/>
          </p:nvPr>
        </p:nvSpPr>
        <p:spPr>
          <a:xfrm>
            <a:off x="8138160" y="4800600"/>
            <a:ext cx="457200" cy="201168"/>
          </a:xfrm>
          <a:prstGeom prst="rect">
            <a:avLst/>
          </a:prstGeom>
          <a:extLst>
            <a:ext uri="{C572A759-6A51-4108-AA02-DFA0A04FC94B}">
              <ma14:wrappingTextBoxFlag xmlns:ma14="http://schemas.microsoft.com/office/mac/drawingml/2011/main" val="0"/>
            </a:ext>
          </a:extLst>
        </p:spPr>
        <p:txBody>
          <a:bodyPr/>
          <a:lstStyle>
            <a:lvl1pPr>
              <a:defRPr sz="700">
                <a:solidFill>
                  <a:srgbClr val="6B665D"/>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t"/>
          <a:lstStyle/>
          <a:p>
            <a:pPr indent="0" marL="0">
              <a:buNone/>
            </a:pPr>
            <a:r>
              <a:rPr lang="en-US" sz="850" b="1" spc="300" kern="0" dirty="0">
                <a:solidFill>
                  <a:srgbClr val="1D1B18"/>
                </a:solidFill>
                <a:latin typeface="Arial" pitchFamily="34" charset="0"/>
                <a:ea typeface="Arial" pitchFamily="34" charset="-122"/>
                <a:cs typeface="Arial" pitchFamily="34" charset="-120"/>
              </a:rPr>
              <a:t>06   </a:t>
            </a:r>
            <a:r>
              <a:rPr lang="en-US" sz="850" b="1" spc="300" kern="0" dirty="0">
                <a:solidFill>
                  <a:srgbClr val="7D5E30"/>
                </a:solidFill>
                <a:latin typeface="Arial" pitchFamily="34" charset="0"/>
                <a:ea typeface="Arial" pitchFamily="34" charset="-122"/>
                <a:cs typeface="Arial" pitchFamily="34" charset="-120"/>
              </a:rPr>
              <a:t>PROGRESS SINCE THE SPRINT 1 ROADMAP</a:t>
            </a:r>
            <a:endParaRPr lang="en-US" sz="850" dirty="0"/>
          </a:p>
        </p:txBody>
      </p:sp>
      <p:sp>
        <p:nvSpPr>
          <p:cNvPr id="3" name="Text 1"/>
          <p:cNvSpPr txBox="1"/>
          <p:nvPr/>
        </p:nvSpPr>
        <p:spPr>
          <a:xfrm>
            <a:off x="548640" y="530352"/>
            <a:ext cx="8046720" cy="548640"/>
          </a:xfrm>
          <a:prstGeom prst="rect">
            <a:avLst/>
          </a:prstGeom>
          <a:noFill/>
          <a:ln/>
        </p:spPr>
        <p:txBody>
          <a:bodyPr wrap="square" lIns="0" tIns="0" rIns="0" bIns="0" rtlCol="0" anchor="ctr"/>
          <a:lstStyle/>
          <a:p>
            <a:pPr indent="0" marL="0">
              <a:buNone/>
            </a:pPr>
            <a:r>
              <a:rPr lang="en-US" sz="2300" dirty="0">
                <a:solidFill>
                  <a:srgbClr val="1D1B18"/>
                </a:solidFill>
                <a:latin typeface="Georgia" pitchFamily="34" charset="0"/>
                <a:ea typeface="Georgia" pitchFamily="34" charset="-122"/>
                <a:cs typeface="Georgia" pitchFamily="34" charset="-120"/>
              </a:rPr>
              <a:t>Every feature, its owner and its status</a:t>
            </a:r>
            <a:endParaRPr lang="en-US" sz="2300" dirty="0"/>
          </a:p>
        </p:txBody>
      </p:sp>
      <p:sp>
        <p:nvSpPr>
          <p:cNvPr id="4" name="Text 2"/>
          <p:cNvSpPr txBox="1"/>
          <p:nvPr/>
        </p:nvSpPr>
        <p:spPr>
          <a:xfrm>
            <a:off x="548640" y="1234440"/>
            <a:ext cx="2011680" cy="914400"/>
          </a:xfrm>
          <a:prstGeom prst="rect">
            <a:avLst/>
          </a:prstGeom>
          <a:noFill/>
          <a:ln/>
        </p:spPr>
        <p:txBody>
          <a:bodyPr wrap="square" lIns="0" tIns="0" rIns="0" bIns="0" rtlCol="0" anchor="ctr"/>
          <a:lstStyle/>
          <a:p>
            <a:pPr indent="0" marL="0">
              <a:buNone/>
            </a:pPr>
            <a:r>
              <a:rPr lang="en-US" sz="6000" dirty="0">
                <a:solidFill>
                  <a:srgbClr val="2F5D46"/>
                </a:solidFill>
                <a:latin typeface="Georgia" pitchFamily="34" charset="0"/>
                <a:ea typeface="Georgia" pitchFamily="34" charset="-122"/>
                <a:cs typeface="Georgia" pitchFamily="34" charset="-120"/>
              </a:rPr>
              <a:t>7</a:t>
            </a:r>
            <a:r>
              <a:rPr lang="en-US" sz="6000" dirty="0">
                <a:solidFill>
                  <a:srgbClr val="1D1B18"/>
                </a:solidFill>
                <a:latin typeface="Georgia" pitchFamily="34" charset="0"/>
                <a:ea typeface="Georgia" pitchFamily="34" charset="-122"/>
                <a:cs typeface="Georgia" pitchFamily="34" charset="-120"/>
              </a:rPr>
              <a:t>/11</a:t>
            </a:r>
            <a:endParaRPr lang="en-US" sz="6000" dirty="0"/>
          </a:p>
        </p:txBody>
      </p:sp>
      <p:sp>
        <p:nvSpPr>
          <p:cNvPr id="5" name="Text 3"/>
          <p:cNvSpPr txBox="1"/>
          <p:nvPr/>
        </p:nvSpPr>
        <p:spPr>
          <a:xfrm>
            <a:off x="548640" y="2194560"/>
            <a:ext cx="2011680" cy="256032"/>
          </a:xfrm>
          <a:prstGeom prst="rect">
            <a:avLst/>
          </a:prstGeom>
          <a:noFill/>
          <a:ln/>
        </p:spPr>
        <p:txBody>
          <a:bodyPr wrap="square" lIns="0" tIns="0" rIns="0" bIns="0" rtlCol="0" anchor="t"/>
          <a:lstStyle/>
          <a:p>
            <a:pPr indent="0" marL="0">
              <a:buNone/>
            </a:pPr>
            <a:r>
              <a:rPr lang="en-US" sz="1100" b="1" dirty="0">
                <a:solidFill>
                  <a:srgbClr val="1D1B18"/>
                </a:solidFill>
                <a:latin typeface="Arial" pitchFamily="34" charset="0"/>
                <a:ea typeface="Arial" pitchFamily="34" charset="-122"/>
                <a:cs typeface="Arial" pitchFamily="34" charset="-120"/>
              </a:rPr>
              <a:t>features done this sprint</a:t>
            </a:r>
            <a:endParaRPr lang="en-US" sz="1100" dirty="0"/>
          </a:p>
        </p:txBody>
      </p:sp>
      <p:sp>
        <p:nvSpPr>
          <p:cNvPr id="6" name="Shape 4"/>
          <p:cNvSpPr/>
          <p:nvPr/>
        </p:nvSpPr>
        <p:spPr>
          <a:xfrm>
            <a:off x="548640" y="2615184"/>
            <a:ext cx="1463040" cy="292608"/>
          </a:xfrm>
          <a:prstGeom prst="roundRect">
            <a:avLst>
              <a:gd name="adj" fmla="val 50000"/>
            </a:avLst>
          </a:prstGeom>
          <a:solidFill>
            <a:srgbClr val="9A6A12"/>
          </a:solidFill>
          <a:ln w="12700">
            <a:solidFill>
              <a:srgbClr val="9A6A12"/>
            </a:solidFill>
            <a:prstDash val="solid"/>
          </a:ln>
        </p:spPr>
      </p:sp>
      <p:sp>
        <p:nvSpPr>
          <p:cNvPr id="7" name="Text 5"/>
          <p:cNvSpPr txBox="1"/>
          <p:nvPr/>
        </p:nvSpPr>
        <p:spPr>
          <a:xfrm>
            <a:off x="548640" y="2615184"/>
            <a:ext cx="146304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 in progress</a:t>
            </a:r>
            <a:endParaRPr lang="en-US" sz="900" dirty="0"/>
          </a:p>
        </p:txBody>
      </p:sp>
      <p:sp>
        <p:nvSpPr>
          <p:cNvPr id="8" name="Shape 6"/>
          <p:cNvSpPr/>
          <p:nvPr/>
        </p:nvSpPr>
        <p:spPr>
          <a:xfrm>
            <a:off x="548640" y="3017520"/>
            <a:ext cx="1463040" cy="292608"/>
          </a:xfrm>
          <a:prstGeom prst="roundRect">
            <a:avLst>
              <a:gd name="adj" fmla="val 50000"/>
            </a:avLst>
          </a:prstGeom>
          <a:solidFill>
            <a:srgbClr val="FAF8F4"/>
          </a:solidFill>
          <a:ln w="12700">
            <a:solidFill>
              <a:srgbClr val="6B665D"/>
            </a:solidFill>
            <a:prstDash val="solid"/>
          </a:ln>
        </p:spPr>
      </p:sp>
      <p:sp>
        <p:nvSpPr>
          <p:cNvPr id="9" name="Text 7"/>
          <p:cNvSpPr txBox="1"/>
          <p:nvPr/>
        </p:nvSpPr>
        <p:spPr>
          <a:xfrm>
            <a:off x="548640" y="3017520"/>
            <a:ext cx="1463040" cy="292608"/>
          </a:xfrm>
          <a:prstGeom prst="rect">
            <a:avLst/>
          </a:prstGeom>
          <a:noFill/>
          <a:ln/>
        </p:spPr>
        <p:txBody>
          <a:bodyPr wrap="square" lIns="0" tIns="0" rIns="0" bIns="0" rtlCol="0" anchor="ctr"/>
          <a:lstStyle/>
          <a:p>
            <a:pPr algn="ctr" indent="0" marL="0">
              <a:buNone/>
            </a:pPr>
            <a:r>
              <a:rPr lang="en-US" sz="900" b="1" dirty="0">
                <a:solidFill>
                  <a:srgbClr val="6B665D"/>
                </a:solidFill>
                <a:latin typeface="Arial" pitchFamily="34" charset="0"/>
                <a:ea typeface="Arial" pitchFamily="34" charset="-122"/>
                <a:cs typeface="Arial" pitchFamily="34" charset="-120"/>
              </a:rPr>
              <a:t>2 planned</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0" y="1207008"/>
          <a:ext cx="5852160" cy="914400"/>
        </p:xfrm>
        <a:graphic>
          <a:graphicData uri="http://schemas.openxmlformats.org/drawingml/2006/table">
            <a:tbl>
              <a:tblPr/>
              <a:tblGrid>
                <a:gridCol w="3520440"/>
                <a:gridCol w="1508760"/>
                <a:gridCol w="822960"/>
              </a:tblGrid>
              <a:tr h="219456">
                <a:tc>
                  <a:txBody>
                    <a:bodyPr/>
                    <a:lstStyle/>
                    <a:p>
                      <a:pPr indent="0" marL="0">
                        <a:buNone/>
                      </a:pPr>
                      <a:r>
                        <a:rPr lang="en-US" sz="700" b="1" spc="150" kern="0" dirty="0">
                          <a:solidFill>
                            <a:srgbClr val="6B665D"/>
                          </a:solidFill>
                          <a:latin typeface="Arial" pitchFamily="34" charset="0"/>
                          <a:ea typeface="Arial" pitchFamily="34" charset="-122"/>
                          <a:cs typeface="Arial" pitchFamily="34" charset="-120"/>
                        </a:rPr>
                        <a:t>FEATURE</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c>
                  <a:txBody>
                    <a:bodyPr/>
                    <a:lstStyle/>
                    <a:p>
                      <a:pPr indent="0" marL="0">
                        <a:buNone/>
                      </a:pPr>
                      <a:r>
                        <a:rPr lang="en-US" sz="700" b="1" spc="150" kern="0" dirty="0">
                          <a:solidFill>
                            <a:srgbClr val="6B665D"/>
                          </a:solidFill>
                          <a:latin typeface="Arial" pitchFamily="34" charset="0"/>
                          <a:ea typeface="Arial" pitchFamily="34" charset="-122"/>
                          <a:cs typeface="Arial" pitchFamily="34" charset="-120"/>
                        </a:rPr>
                        <a:t>OWNER</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c>
                  <a:txBody>
                    <a:bodyPr/>
                    <a:lstStyle/>
                    <a:p>
                      <a:pPr indent="0" marL="0">
                        <a:buNone/>
                      </a:pPr>
                      <a:r>
                        <a:rPr lang="en-US" sz="700" b="1" spc="150" kern="0" dirty="0">
                          <a:solidFill>
                            <a:srgbClr val="6B665D"/>
                          </a:solidFill>
                          <a:latin typeface="Arial" pitchFamily="34" charset="0"/>
                          <a:ea typeface="Arial" pitchFamily="34" charset="-122"/>
                          <a:cs typeface="Arial" pitchFamily="34" charset="-120"/>
                        </a:rPr>
                        <a:t>STATUS</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r>
              <a:tr h="265176">
                <a:tc>
                  <a:txBody>
                    <a:bodyPr/>
                    <a:lstStyle/>
                    <a:p>
                      <a:pPr indent="0" marL="0">
                        <a:buNone/>
                      </a:pPr>
                      <a:r>
                        <a:rPr lang="en-US" sz="850" dirty="0">
                          <a:solidFill>
                            <a:srgbClr val="1D1B18"/>
                          </a:solidFill>
                          <a:latin typeface="Arial" pitchFamily="34" charset="0"/>
                          <a:ea typeface="Arial" pitchFamily="34" charset="-122"/>
                          <a:cs typeface="Arial" pitchFamily="34" charset="-120"/>
                        </a:rPr>
                        <a:t>Voice assistant: phone UI, speech in and out, slide to book</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4A463F"/>
                          </a:solidFill>
                          <a:latin typeface="Arial" pitchFamily="34" charset="0"/>
                          <a:ea typeface="Arial" pitchFamily="34" charset="-122"/>
                          <a:cs typeface="Arial" pitchFamily="34" charset="-120"/>
                        </a:rPr>
                        <a:t>Chen Zepeng</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b="1" dirty="0">
                          <a:solidFill>
                            <a:srgbClr val="2F5D46"/>
                          </a:solidFill>
                          <a:latin typeface="Arial" pitchFamily="34" charset="0"/>
                          <a:ea typeface="Arial" pitchFamily="34" charset="-122"/>
                          <a:cs typeface="Arial" pitchFamily="34" charset="-120"/>
                        </a:rPr>
                        <a:t>Done</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265176">
                <a:tc>
                  <a:txBody>
                    <a:bodyPr/>
                    <a:lstStyle/>
                    <a:p>
                      <a:pPr indent="0" marL="0">
                        <a:buNone/>
                      </a:pPr>
                      <a:r>
                        <a:rPr lang="en-US" sz="850" dirty="0">
                          <a:solidFill>
                            <a:srgbClr val="1D1B18"/>
                          </a:solidFill>
                          <a:latin typeface="Arial" pitchFamily="34" charset="0"/>
                          <a:ea typeface="Arial" pitchFamily="34" charset="-122"/>
                          <a:cs typeface="Arial" pitchFamily="34" charset="-120"/>
                        </a:rPr>
                        <a:t>Long-term memory: rules from confirmed bookings, log, profile</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4A463F"/>
                          </a:solidFill>
                          <a:latin typeface="Arial" pitchFamily="34" charset="0"/>
                          <a:ea typeface="Arial" pitchFamily="34" charset="-122"/>
                          <a:cs typeface="Arial" pitchFamily="34" charset="-120"/>
                        </a:rPr>
                        <a:t>Chen Zepeng</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b="1" dirty="0">
                          <a:solidFill>
                            <a:srgbClr val="2F5D46"/>
                          </a:solidFill>
                          <a:latin typeface="Arial" pitchFamily="34" charset="0"/>
                          <a:ea typeface="Arial" pitchFamily="34" charset="-122"/>
                          <a:cs typeface="Arial" pitchFamily="34" charset="-120"/>
                        </a:rPr>
                        <a:t>Done</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265176">
                <a:tc>
                  <a:txBody>
                    <a:bodyPr/>
                    <a:lstStyle/>
                    <a:p>
                      <a:pPr indent="0" marL="0">
                        <a:buNone/>
                      </a:pPr>
                      <a:r>
                        <a:rPr lang="en-US" sz="850" dirty="0">
                          <a:solidFill>
                            <a:srgbClr val="1D1B18"/>
                          </a:solidFill>
                          <a:latin typeface="Arial" pitchFamily="34" charset="0"/>
                          <a:ea typeface="Arial" pitchFamily="34" charset="-122"/>
                          <a:cs typeface="Arial" pitchFamily="34" charset="-120"/>
                        </a:rPr>
                        <a:t>Four-objective scorer, frozen presets, objective lab</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4A463F"/>
                          </a:solidFill>
                          <a:latin typeface="Arial" pitchFamily="34" charset="0"/>
                          <a:ea typeface="Arial" pitchFamily="34" charset="-122"/>
                          <a:cs typeface="Arial" pitchFamily="34" charset="-120"/>
                        </a:rPr>
                        <a:t>Chen Zepeng</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b="1" dirty="0">
                          <a:solidFill>
                            <a:srgbClr val="2F5D46"/>
                          </a:solidFill>
                          <a:latin typeface="Arial" pitchFamily="34" charset="0"/>
                          <a:ea typeface="Arial" pitchFamily="34" charset="-122"/>
                          <a:cs typeface="Arial" pitchFamily="34" charset="-120"/>
                        </a:rPr>
                        <a:t>Done</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265176">
                <a:tc>
                  <a:txBody>
                    <a:bodyPr/>
                    <a:lstStyle/>
                    <a:p>
                      <a:pPr indent="0" marL="0">
                        <a:buNone/>
                      </a:pPr>
                      <a:r>
                        <a:rPr lang="en-US" sz="850" dirty="0">
                          <a:solidFill>
                            <a:srgbClr val="1D1B18"/>
                          </a:solidFill>
                          <a:latin typeface="Arial" pitchFamily="34" charset="0"/>
                          <a:ea typeface="Arial" pitchFamily="34" charset="-122"/>
                          <a:cs typeface="Arial" pitchFamily="34" charset="-120"/>
                        </a:rPr>
                        <a:t>Capacity questions and workshop checks from chat</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4A463F"/>
                          </a:solidFill>
                          <a:latin typeface="Arial" pitchFamily="34" charset="0"/>
                          <a:ea typeface="Arial" pitchFamily="34" charset="-122"/>
                          <a:cs typeface="Arial" pitchFamily="34" charset="-120"/>
                        </a:rPr>
                        <a:t>Chen Zepeng</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b="1" dirty="0">
                          <a:solidFill>
                            <a:srgbClr val="2F5D46"/>
                          </a:solidFill>
                          <a:latin typeface="Arial" pitchFamily="34" charset="0"/>
                          <a:ea typeface="Arial" pitchFamily="34" charset="-122"/>
                          <a:cs typeface="Arial" pitchFamily="34" charset="-120"/>
                        </a:rPr>
                        <a:t>Done</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265176">
                <a:tc>
                  <a:txBody>
                    <a:bodyPr/>
                    <a:lstStyle/>
                    <a:p>
                      <a:pPr indent="0" marL="0">
                        <a:buNone/>
                      </a:pPr>
                      <a:r>
                        <a:rPr lang="en-US" sz="850" dirty="0">
                          <a:solidFill>
                            <a:srgbClr val="1D1B18"/>
                          </a:solidFill>
                          <a:latin typeface="Arial" pitchFamily="34" charset="0"/>
                          <a:ea typeface="Arial" pitchFamily="34" charset="-122"/>
                          <a:cs typeface="Arial" pitchFamily="34" charset="-120"/>
                        </a:rPr>
                        <a:t>Chat-first desk redesign</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4A463F"/>
                          </a:solidFill>
                          <a:latin typeface="Arial" pitchFamily="34" charset="0"/>
                          <a:ea typeface="Arial" pitchFamily="34" charset="-122"/>
                          <a:cs typeface="Arial" pitchFamily="34" charset="-120"/>
                        </a:rPr>
                        <a:t>Duong Thanh Nhan</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b="1" dirty="0">
                          <a:solidFill>
                            <a:srgbClr val="2F5D46"/>
                          </a:solidFill>
                          <a:latin typeface="Arial" pitchFamily="34" charset="0"/>
                          <a:ea typeface="Arial" pitchFamily="34" charset="-122"/>
                          <a:cs typeface="Arial" pitchFamily="34" charset="-120"/>
                        </a:rPr>
                        <a:t>Done</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265176">
                <a:tc>
                  <a:txBody>
                    <a:bodyPr/>
                    <a:lstStyle/>
                    <a:p>
                      <a:pPr indent="0" marL="0">
                        <a:buNone/>
                      </a:pPr>
                      <a:r>
                        <a:rPr lang="en-US" sz="850" dirty="0">
                          <a:solidFill>
                            <a:srgbClr val="1D1B18"/>
                          </a:solidFill>
                          <a:latin typeface="Arial" pitchFamily="34" charset="0"/>
                          <a:ea typeface="Arial" pitchFamily="34" charset="-122"/>
                          <a:cs typeface="Arial" pitchFamily="34" charset="-120"/>
                        </a:rPr>
                        <a:t>AWS deployment behind HTTPS (demo site)</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4A463F"/>
                          </a:solidFill>
                          <a:latin typeface="Arial" pitchFamily="34" charset="0"/>
                          <a:ea typeface="Arial" pitchFamily="34" charset="-122"/>
                          <a:cs typeface="Arial" pitchFamily="34" charset="-120"/>
                        </a:rPr>
                        <a:t>Joshua Wesley Gloor</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b="1" dirty="0">
                          <a:solidFill>
                            <a:srgbClr val="2F5D46"/>
                          </a:solidFill>
                          <a:latin typeface="Arial" pitchFamily="34" charset="0"/>
                          <a:ea typeface="Arial" pitchFamily="34" charset="-122"/>
                          <a:cs typeface="Arial" pitchFamily="34" charset="-120"/>
                        </a:rPr>
                        <a:t>Done</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265176">
                <a:tc>
                  <a:txBody>
                    <a:bodyPr/>
                    <a:lstStyle/>
                    <a:p>
                      <a:pPr indent="0" marL="0">
                        <a:buNone/>
                      </a:pPr>
                      <a:r>
                        <a:rPr lang="en-US" sz="850" dirty="0">
                          <a:solidFill>
                            <a:srgbClr val="1D1B18"/>
                          </a:solidFill>
                          <a:latin typeface="Arial" pitchFamily="34" charset="0"/>
                          <a:ea typeface="Arial" pitchFamily="34" charset="-122"/>
                          <a:cs typeface="Arial" pitchFamily="34" charset="-120"/>
                        </a:rPr>
                        <a:t>Clarification reliability fixes and 247-assertion benchmark</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4A463F"/>
                          </a:solidFill>
                          <a:latin typeface="Arial" pitchFamily="34" charset="0"/>
                          <a:ea typeface="Arial" pitchFamily="34" charset="-122"/>
                          <a:cs typeface="Arial" pitchFamily="34" charset="-120"/>
                        </a:rPr>
                        <a:t>Tang Zheling</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b="1" dirty="0">
                          <a:solidFill>
                            <a:srgbClr val="9A6A12"/>
                          </a:solidFill>
                          <a:latin typeface="Arial" pitchFamily="34" charset="0"/>
                          <a:ea typeface="Arial" pitchFamily="34" charset="-122"/>
                          <a:cs typeface="Arial" pitchFamily="34" charset="-120"/>
                        </a:rPr>
                        <a:t>In progress</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265176">
                <a:tc>
                  <a:txBody>
                    <a:bodyPr/>
                    <a:lstStyle/>
                    <a:p>
                      <a:pPr indent="0" marL="0">
                        <a:buNone/>
                      </a:pPr>
                      <a:r>
                        <a:rPr lang="en-US" sz="850" dirty="0">
                          <a:solidFill>
                            <a:srgbClr val="1D1B18"/>
                          </a:solidFill>
                          <a:latin typeface="Arial" pitchFamily="34" charset="0"/>
                          <a:ea typeface="Arial" pitchFamily="34" charset="-122"/>
                          <a:cs typeface="Arial" pitchFamily="34" charset="-120"/>
                        </a:rPr>
                        <a:t>Evaluation sets: 205 generated requests, 140 train and 65 test</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4A463F"/>
                          </a:solidFill>
                          <a:latin typeface="Arial" pitchFamily="34" charset="0"/>
                          <a:ea typeface="Arial" pitchFamily="34" charset="-122"/>
                          <a:cs typeface="Arial" pitchFamily="34" charset="-120"/>
                        </a:rPr>
                        <a:t>Saadhvika and Niyanthri</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b="1" dirty="0">
                          <a:solidFill>
                            <a:srgbClr val="2F5D46"/>
                          </a:solidFill>
                          <a:latin typeface="Arial" pitchFamily="34" charset="0"/>
                          <a:ea typeface="Arial" pitchFamily="34" charset="-122"/>
                          <a:cs typeface="Arial" pitchFamily="34" charset="-120"/>
                        </a:rPr>
                        <a:t>Done</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265176">
                <a:tc>
                  <a:txBody>
                    <a:bodyPr/>
                    <a:lstStyle/>
                    <a:p>
                      <a:pPr indent="0" marL="0">
                        <a:buNone/>
                      </a:pPr>
                      <a:r>
                        <a:rPr lang="en-US" sz="850" dirty="0">
                          <a:solidFill>
                            <a:srgbClr val="1D1B18"/>
                          </a:solidFill>
                          <a:latin typeface="Arial" pitchFamily="34" charset="0"/>
                          <a:ea typeface="Arial" pitchFamily="34" charset="-122"/>
                          <a:cs typeface="Arial" pitchFamily="34" charset="-120"/>
                        </a:rPr>
                        <a:t>Independent labels for the 30 inbox requests</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4A463F"/>
                          </a:solidFill>
                          <a:latin typeface="Arial" pitchFamily="34" charset="0"/>
                          <a:ea typeface="Arial" pitchFamily="34" charset="-122"/>
                          <a:cs typeface="Arial" pitchFamily="34" charset="-120"/>
                        </a:rPr>
                        <a:t>Saadhvika and Niyanthri</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b="1" dirty="0">
                          <a:solidFill>
                            <a:srgbClr val="9A6A12"/>
                          </a:solidFill>
                          <a:latin typeface="Arial" pitchFamily="34" charset="0"/>
                          <a:ea typeface="Arial" pitchFamily="34" charset="-122"/>
                          <a:cs typeface="Arial" pitchFamily="34" charset="-120"/>
                        </a:rPr>
                        <a:t>In progress</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265176">
                <a:tc>
                  <a:txBody>
                    <a:bodyPr/>
                    <a:lstStyle/>
                    <a:p>
                      <a:pPr indent="0" marL="0">
                        <a:buNone/>
                      </a:pPr>
                      <a:r>
                        <a:rPr lang="en-US" sz="850" dirty="0">
                          <a:solidFill>
                            <a:srgbClr val="1D1B18"/>
                          </a:solidFill>
                          <a:latin typeface="Arial" pitchFamily="34" charset="0"/>
                          <a:ea typeface="Arial" pitchFamily="34" charset="-122"/>
                          <a:cs typeface="Arial" pitchFamily="34" charset="-120"/>
                        </a:rPr>
                        <a:t>Re-run the 65 test requests on the current intake (v3)</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4A463F"/>
                          </a:solidFill>
                          <a:latin typeface="Arial" pitchFamily="34" charset="0"/>
                          <a:ea typeface="Arial" pitchFamily="34" charset="-122"/>
                          <a:cs typeface="Arial" pitchFamily="34" charset="-120"/>
                        </a:rPr>
                        <a:t>Tang Zheling</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b="1" dirty="0">
                          <a:solidFill>
                            <a:srgbClr val="6B665D"/>
                          </a:solidFill>
                          <a:latin typeface="Arial" pitchFamily="34" charset="0"/>
                          <a:ea typeface="Arial" pitchFamily="34" charset="-122"/>
                          <a:cs typeface="Arial" pitchFamily="34" charset="-120"/>
                        </a:rPr>
                        <a:t>Planned</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265176">
                <a:tc>
                  <a:txBody>
                    <a:bodyPr/>
                    <a:lstStyle/>
                    <a:p>
                      <a:pPr indent="0" marL="0">
                        <a:buNone/>
                      </a:pPr>
                      <a:r>
                        <a:rPr lang="en-US" sz="850" dirty="0">
                          <a:solidFill>
                            <a:srgbClr val="1D1B18"/>
                          </a:solidFill>
                          <a:latin typeface="Arial" pitchFamily="34" charset="0"/>
                          <a:ea typeface="Arial" pitchFamily="34" charset="-122"/>
                          <a:cs typeface="Arial" pitchFamily="34" charset="-120"/>
                        </a:rPr>
                        <a:t>Usability test: two people acting as dispatchers, four tasks</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4A463F"/>
                          </a:solidFill>
                          <a:latin typeface="Arial" pitchFamily="34" charset="0"/>
                          <a:ea typeface="Arial" pitchFamily="34" charset="-122"/>
                          <a:cs typeface="Arial" pitchFamily="34" charset="-120"/>
                        </a:rPr>
                        <a:t>Joshua Wesley Gloor</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b="1" dirty="0">
                          <a:solidFill>
                            <a:srgbClr val="6B665D"/>
                          </a:solidFill>
                          <a:latin typeface="Arial" pitchFamily="34" charset="0"/>
                          <a:ea typeface="Arial" pitchFamily="34" charset="-122"/>
                          <a:cs typeface="Arial" pitchFamily="34" charset="-120"/>
                        </a:rPr>
                        <a:t>Planned</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bl>
          </a:graphicData>
        </a:graphic>
      </p:graphicFrame>
      <p:sp>
        <p:nvSpPr>
          <p:cNvPr id="11" name="Text 8"/>
          <p:cNvSpPr txBox="1"/>
          <p:nvPr/>
        </p:nvSpPr>
        <p:spPr>
          <a:xfrm>
            <a:off x="548640" y="4572000"/>
            <a:ext cx="8046720" cy="182880"/>
          </a:xfrm>
          <a:prstGeom prst="rect">
            <a:avLst/>
          </a:prstGeom>
          <a:noFill/>
          <a:ln/>
        </p:spPr>
        <p:txBody>
          <a:bodyPr wrap="square" lIns="0" tIns="0" rIns="0" bIns="0" rtlCol="0" anchor="t"/>
          <a:lstStyle/>
          <a:p>
            <a:pPr indent="0" marL="0">
              <a:buNone/>
            </a:pPr>
            <a:r>
              <a:rPr lang="en-US" sz="700" i="1" dirty="0">
                <a:solidFill>
                  <a:srgbClr val="6B665D"/>
                </a:solidFill>
                <a:latin typeface="Arial" pitchFamily="34" charset="0"/>
                <a:ea typeface="Arial" pitchFamily="34" charset="-122"/>
                <a:cs typeface="Arial" pitchFamily="34" charset="-120"/>
              </a:rPr>
              <a:t>Code: github.com/JoshuaGloor/dss5105-capstone-project. PRs: #15 and #18 this sprint, #16 and #17 evaluation sets, #14 clarification reliability.</a:t>
            </a:r>
            <a:endParaRPr lang="en-US" sz="700" dirty="0"/>
          </a:p>
        </p:txBody>
      </p:sp>
      <p:sp>
        <p:nvSpPr>
          <p:cNvPr id="25" name="Slide Number Placeholder 0"/>
          <p:cNvSpPr>
            <a:spLocks noGrp="1"/>
          </p:cNvSpPr>
          <p:nvPr>
            <p:ph type="sldNum" sz="quarter" idx="4294967295"/>
          </p:nvPr>
        </p:nvSpPr>
        <p:spPr>
          <a:xfrm>
            <a:off x="8138160" y="4800600"/>
            <a:ext cx="457200" cy="201168"/>
          </a:xfrm>
          <a:prstGeom prst="rect">
            <a:avLst/>
          </a:prstGeom>
          <a:extLst>
            <a:ext uri="{C572A759-6A51-4108-AA02-DFA0A04FC94B}">
              <ma14:wrappingTextBoxFlag xmlns:ma14="http://schemas.microsoft.com/office/mac/drawingml/2011/main" val="0"/>
            </a:ext>
          </a:extLst>
        </p:spPr>
        <p:txBody>
          <a:bodyPr/>
          <a:lstStyle>
            <a:lvl1pPr>
              <a:defRPr sz="700">
                <a:solidFill>
                  <a:srgbClr val="6B665D"/>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10896"/>
            <a:ext cx="8046720" cy="201168"/>
          </a:xfrm>
          <a:prstGeom prst="rect">
            <a:avLst/>
          </a:prstGeom>
          <a:noFill/>
          <a:ln/>
        </p:spPr>
        <p:txBody>
          <a:bodyPr wrap="square" lIns="0" tIns="0" rIns="0" bIns="0" rtlCol="0" anchor="t"/>
          <a:lstStyle/>
          <a:p>
            <a:pPr indent="0" marL="0">
              <a:buNone/>
            </a:pPr>
            <a:r>
              <a:rPr lang="en-US" sz="850" b="1" spc="300" kern="0" dirty="0">
                <a:solidFill>
                  <a:srgbClr val="1D1B18"/>
                </a:solidFill>
                <a:latin typeface="Arial" pitchFamily="34" charset="0"/>
                <a:ea typeface="Arial" pitchFamily="34" charset="-122"/>
                <a:cs typeface="Arial" pitchFamily="34" charset="-120"/>
              </a:rPr>
              <a:t>07   </a:t>
            </a:r>
            <a:r>
              <a:rPr lang="en-US" sz="850" b="1" spc="300" kern="0" dirty="0">
                <a:solidFill>
                  <a:srgbClr val="7D5E30"/>
                </a:solidFill>
                <a:latin typeface="Arial" pitchFamily="34" charset="0"/>
                <a:ea typeface="Arial" pitchFamily="34" charset="-122"/>
                <a:cs typeface="Arial" pitchFamily="34" charset="-120"/>
              </a:rPr>
              <a:t>VALIDATION PLAN</a:t>
            </a:r>
            <a:endParaRPr lang="en-US" sz="850" dirty="0"/>
          </a:p>
        </p:txBody>
      </p:sp>
      <p:sp>
        <p:nvSpPr>
          <p:cNvPr id="3" name="Text 1"/>
          <p:cNvSpPr txBox="1"/>
          <p:nvPr/>
        </p:nvSpPr>
        <p:spPr>
          <a:xfrm>
            <a:off x="548640" y="530352"/>
            <a:ext cx="8046720" cy="548640"/>
          </a:xfrm>
          <a:prstGeom prst="rect">
            <a:avLst/>
          </a:prstGeom>
          <a:noFill/>
          <a:ln/>
        </p:spPr>
        <p:txBody>
          <a:bodyPr wrap="square" lIns="0" tIns="0" rIns="0" bIns="0" rtlCol="0" anchor="ctr"/>
          <a:lstStyle/>
          <a:p>
            <a:pPr indent="0" marL="0">
              <a:buNone/>
            </a:pPr>
            <a:r>
              <a:rPr lang="en-US" sz="2300" dirty="0">
                <a:solidFill>
                  <a:srgbClr val="1D1B18"/>
                </a:solidFill>
                <a:latin typeface="Georgia" pitchFamily="34" charset="0"/>
                <a:ea typeface="Georgia" pitchFamily="34" charset="-122"/>
                <a:cs typeface="Georgia" pitchFamily="34" charset="-120"/>
              </a:rPr>
              <a:t>What we measure, against what, and the hard cases</a:t>
            </a:r>
            <a:endParaRPr lang="en-US" sz="2300" dirty="0"/>
          </a:p>
        </p:txBody>
      </p:sp>
      <p:sp>
        <p:nvSpPr>
          <p:cNvPr id="4" name="Text 2"/>
          <p:cNvSpPr txBox="1"/>
          <p:nvPr/>
        </p:nvSpPr>
        <p:spPr>
          <a:xfrm>
            <a:off x="548640" y="1207008"/>
            <a:ext cx="3840480" cy="164592"/>
          </a:xfrm>
          <a:prstGeom prst="rect">
            <a:avLst/>
          </a:prstGeom>
          <a:noFill/>
          <a:ln/>
        </p:spPr>
        <p:txBody>
          <a:bodyPr wrap="square" lIns="0" tIns="0" rIns="0" bIns="0" rtlCol="0" anchor="t"/>
          <a:lstStyle/>
          <a:p>
            <a:pPr indent="0" marL="0">
              <a:buNone/>
            </a:pPr>
            <a:r>
              <a:rPr lang="en-US" sz="750" b="1" spc="180" kern="0" dirty="0">
                <a:solidFill>
                  <a:srgbClr val="7D5E30"/>
                </a:solidFill>
                <a:latin typeface="Arial" pitchFamily="34" charset="0"/>
                <a:ea typeface="Arial" pitchFamily="34" charset="-122"/>
                <a:cs typeface="Arial" pitchFamily="34" charset="-120"/>
              </a:rPr>
              <a:t>WHAT WE MEASURE, AND WHY</a:t>
            </a:r>
            <a:endParaRPr lang="en-US" sz="750" dirty="0"/>
          </a:p>
        </p:txBody>
      </p:sp>
      <p:sp>
        <p:nvSpPr>
          <p:cNvPr id="5" name="Text 3"/>
          <p:cNvSpPr txBox="1"/>
          <p:nvPr/>
        </p:nvSpPr>
        <p:spPr>
          <a:xfrm>
            <a:off x="548640" y="1389888"/>
            <a:ext cx="3840480" cy="566928"/>
          </a:xfrm>
          <a:prstGeom prst="rect">
            <a:avLst/>
          </a:prstGeom>
          <a:noFill/>
          <a:ln/>
        </p:spPr>
        <p:txBody>
          <a:bodyPr wrap="square" lIns="0" tIns="0" rIns="0" bIns="0" rtlCol="0" anchor="t"/>
          <a:lstStyle/>
          <a:p>
            <a:pPr indent="0" marL="0">
              <a:buNone/>
            </a:pPr>
            <a:r>
              <a:rPr lang="en-US" sz="850" dirty="0">
                <a:solidFill>
                  <a:srgbClr val="4A463F"/>
                </a:solidFill>
                <a:latin typeface="Arial" pitchFamily="34" charset="0"/>
                <a:ea typeface="Arial" pitchFamily="34" charset="-122"/>
                <a:cs typeface="Arial" pitchFamily="34" charset="-120"/>
              </a:rPr>
              <a:t>Late batches and late days (our objective), defective pieces, largest share, change under a closure: the course simulator's own metrics. For language: the right behaviour on each request, and every number traced to a tool.</a:t>
            </a:r>
            <a:endParaRPr lang="en-US" sz="850" dirty="0"/>
          </a:p>
        </p:txBody>
      </p:sp>
      <p:sp>
        <p:nvSpPr>
          <p:cNvPr id="6" name="Text 4"/>
          <p:cNvSpPr txBox="1"/>
          <p:nvPr/>
        </p:nvSpPr>
        <p:spPr>
          <a:xfrm>
            <a:off x="548640" y="1993392"/>
            <a:ext cx="3840480" cy="164592"/>
          </a:xfrm>
          <a:prstGeom prst="rect">
            <a:avLst/>
          </a:prstGeom>
          <a:noFill/>
          <a:ln/>
        </p:spPr>
        <p:txBody>
          <a:bodyPr wrap="square" lIns="0" tIns="0" rIns="0" bIns="0" rtlCol="0" anchor="t"/>
          <a:lstStyle/>
          <a:p>
            <a:pPr indent="0" marL="0">
              <a:buNone/>
            </a:pPr>
            <a:r>
              <a:rPr lang="en-US" sz="750" b="1" spc="180" kern="0" dirty="0">
                <a:solidFill>
                  <a:srgbClr val="7D5E30"/>
                </a:solidFill>
                <a:latin typeface="Arial" pitchFamily="34" charset="0"/>
                <a:ea typeface="Arial" pitchFamily="34" charset="-122"/>
                <a:cs typeface="Arial" pitchFamily="34" charset="-120"/>
              </a:rPr>
              <a:t>HOW THE EVALUATION SET IS BUILT</a:t>
            </a:r>
            <a:endParaRPr lang="en-US" sz="750" dirty="0"/>
          </a:p>
        </p:txBody>
      </p:sp>
      <p:sp>
        <p:nvSpPr>
          <p:cNvPr id="7" name="Text 5"/>
          <p:cNvSpPr txBox="1"/>
          <p:nvPr/>
        </p:nvSpPr>
        <p:spPr>
          <a:xfrm>
            <a:off x="548640" y="2176272"/>
            <a:ext cx="3840480" cy="566928"/>
          </a:xfrm>
          <a:prstGeom prst="rect">
            <a:avLst/>
          </a:prstGeom>
          <a:noFill/>
          <a:ln/>
        </p:spPr>
        <p:txBody>
          <a:bodyPr wrap="square" lIns="0" tIns="0" rIns="0" bIns="0" rtlCol="0" anchor="t"/>
          <a:lstStyle/>
          <a:p>
            <a:pPr indent="0" marL="0">
              <a:buNone/>
            </a:pPr>
            <a:r>
              <a:rPr lang="en-US" sz="850" dirty="0">
                <a:solidFill>
                  <a:srgbClr val="4A463F"/>
                </a:solidFill>
                <a:latin typeface="Arial" pitchFamily="34" charset="0"/>
                <a:ea typeface="Arial" pitchFamily="34" charset="-122"/>
                <a:cs typeface="Arial" pitchFamily="34" charset="-120"/>
              </a:rPr>
              <a:t>All 30 inbox requests by the 7 kinds in the data dictionary, plus 205 generated by Saadhvika and Niyanthri: 140 to tune on, 65 held out with new wording. Labels come from how each request was built, never from a model. First live run: test 63/65 passed (96.9%), train 134/140 (95.7%).</a:t>
            </a:r>
            <a:endParaRPr lang="en-US" sz="850" dirty="0"/>
          </a:p>
        </p:txBody>
      </p:sp>
      <p:sp>
        <p:nvSpPr>
          <p:cNvPr id="8" name="Text 6"/>
          <p:cNvSpPr txBox="1"/>
          <p:nvPr/>
        </p:nvSpPr>
        <p:spPr>
          <a:xfrm>
            <a:off x="548640" y="2779776"/>
            <a:ext cx="3840480" cy="164592"/>
          </a:xfrm>
          <a:prstGeom prst="rect">
            <a:avLst/>
          </a:prstGeom>
          <a:noFill/>
          <a:ln/>
        </p:spPr>
        <p:txBody>
          <a:bodyPr wrap="square" lIns="0" tIns="0" rIns="0" bIns="0" rtlCol="0" anchor="t"/>
          <a:lstStyle/>
          <a:p>
            <a:pPr indent="0" marL="0">
              <a:buNone/>
            </a:pPr>
            <a:r>
              <a:rPr lang="en-US" sz="750" b="1" spc="180" kern="0" dirty="0">
                <a:solidFill>
                  <a:srgbClr val="7D5E30"/>
                </a:solidFill>
                <a:latin typeface="Arial" pitchFamily="34" charset="0"/>
                <a:ea typeface="Arial" pitchFamily="34" charset="-122"/>
                <a:cs typeface="Arial" pitchFamily="34" charset="-120"/>
              </a:rPr>
              <a:t>BASELINE AND TRACK MINIMUM</a:t>
            </a:r>
            <a:endParaRPr lang="en-US" sz="750" dirty="0"/>
          </a:p>
        </p:txBody>
      </p:sp>
      <p:sp>
        <p:nvSpPr>
          <p:cNvPr id="9" name="Text 7"/>
          <p:cNvSpPr txBox="1"/>
          <p:nvPr/>
        </p:nvSpPr>
        <p:spPr>
          <a:xfrm>
            <a:off x="548640" y="2962656"/>
            <a:ext cx="3840480" cy="566928"/>
          </a:xfrm>
          <a:prstGeom prst="rect">
            <a:avLst/>
          </a:prstGeom>
          <a:noFill/>
          <a:ln/>
        </p:spPr>
        <p:txBody>
          <a:bodyPr wrap="square" lIns="0" tIns="0" rIns="0" bIns="0" rtlCol="0" anchor="t"/>
          <a:lstStyle/>
          <a:p>
            <a:pPr indent="0" marL="0">
              <a:buNone/>
            </a:pPr>
            <a:r>
              <a:rPr lang="en-US" sz="850" dirty="0">
                <a:solidFill>
                  <a:srgbClr val="4A463F"/>
                </a:solidFill>
                <a:latin typeface="Arial" pitchFamily="34" charset="0"/>
                <a:ea typeface="Arial" pitchFamily="34" charset="-122"/>
                <a:cs typeface="Arial" pitchFamily="34" charset="-120"/>
              </a:rPr>
              <a:t>Random, biggest capacity and cheapest, plus the earliest-finish rule. Minimum: beat all three baselines on late batches and late days, and handle all 30 requests by kind.</a:t>
            </a:r>
            <a:endParaRPr lang="en-US" sz="850" dirty="0"/>
          </a:p>
        </p:txBody>
      </p:sp>
      <p:sp>
        <p:nvSpPr>
          <p:cNvPr id="10" name="Text 8"/>
          <p:cNvSpPr txBox="1"/>
          <p:nvPr/>
        </p:nvSpPr>
        <p:spPr>
          <a:xfrm>
            <a:off x="4663440" y="1207008"/>
            <a:ext cx="3931920" cy="164592"/>
          </a:xfrm>
          <a:prstGeom prst="rect">
            <a:avLst/>
          </a:prstGeom>
          <a:noFill/>
          <a:ln/>
        </p:spPr>
        <p:txBody>
          <a:bodyPr wrap="square" lIns="0" tIns="0" rIns="0" bIns="0" rtlCol="0" anchor="t"/>
          <a:lstStyle/>
          <a:p>
            <a:pPr indent="0" marL="0">
              <a:buNone/>
            </a:pPr>
            <a:r>
              <a:rPr lang="en-US" sz="750" b="1" spc="180" kern="0" dirty="0">
                <a:solidFill>
                  <a:srgbClr val="6B665D"/>
                </a:solidFill>
                <a:latin typeface="Arial" pitchFamily="34" charset="0"/>
                <a:ea typeface="Arial" pitchFamily="34" charset="-122"/>
                <a:cs typeface="Arial" pitchFamily="34" charset="-120"/>
              </a:rPr>
              <a:t>TODAY, COURSE SEEDS 5105-5114, NORMAL RUNS</a:t>
            </a:r>
            <a:endParaRPr lang="en-US" sz="7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663440" y="1389888"/>
          <a:ext cx="3931920" cy="914400"/>
        </p:xfrm>
        <a:graphic>
          <a:graphicData uri="http://schemas.openxmlformats.org/drawingml/2006/table">
            <a:tbl>
              <a:tblPr/>
              <a:tblGrid>
                <a:gridCol w="960120"/>
                <a:gridCol w="1325880"/>
                <a:gridCol w="1005840"/>
                <a:gridCol w="640080"/>
              </a:tblGrid>
              <a:tr h="201168">
                <a:tc>
                  <a:txBody>
                    <a:bodyPr/>
                    <a:lstStyle/>
                    <a:p>
                      <a:pPr indent="0" marL="0">
                        <a:buNone/>
                      </a:pPr>
                      <a:r>
                        <a:rPr lang="en-US" sz="700" b="1" spc="150" kern="0" dirty="0">
                          <a:solidFill>
                            <a:srgbClr val="6B665D"/>
                          </a:solidFill>
                          <a:latin typeface="Arial" pitchFamily="34" charset="0"/>
                          <a:ea typeface="Arial" pitchFamily="34" charset="-122"/>
                          <a:cs typeface="Arial" pitchFamily="34" charset="-120"/>
                        </a:rPr>
                        <a:t>OBJECTIVE</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c>
                  <a:txBody>
                    <a:bodyPr/>
                    <a:lstStyle/>
                    <a:p>
                      <a:pPr indent="0" marL="0">
                        <a:buNone/>
                      </a:pPr>
                      <a:r>
                        <a:rPr lang="en-US" sz="700" b="1" spc="150" kern="0" dirty="0">
                          <a:solidFill>
                            <a:srgbClr val="6B665D"/>
                          </a:solidFill>
                          <a:latin typeface="Arial" pitchFamily="34" charset="0"/>
                          <a:ea typeface="Arial" pitchFamily="34" charset="-122"/>
                          <a:cs typeface="Arial" pitchFamily="34" charset="-120"/>
                        </a:rPr>
                        <a:t>OURS</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c>
                  <a:txBody>
                    <a:bodyPr/>
                    <a:lstStyle/>
                    <a:p>
                      <a:pPr indent="0" marL="0">
                        <a:buNone/>
                      </a:pPr>
                      <a:r>
                        <a:rPr lang="en-US" sz="700" b="1" spc="150" kern="0" dirty="0">
                          <a:solidFill>
                            <a:srgbClr val="6B665D"/>
                          </a:solidFill>
                          <a:latin typeface="Arial" pitchFamily="34" charset="0"/>
                          <a:ea typeface="Arial" pitchFamily="34" charset="-122"/>
                          <a:cs typeface="Arial" pitchFamily="34" charset="-120"/>
                        </a:rPr>
                        <a:t>BEST REFERENCE</a:t>
                      </a: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c>
                  <a:txBody>
                    <a:bodyPr/>
                    <a:lstStyle/>
                    <a:p>
                      <a:pPr indent="0" marL="0">
                        <a:buNone/>
                      </a:pPr>
                      <a:endParaRPr lang="en-US" sz="70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12700" cap="flat" cmpd="sng" algn="ctr">
                      <a:solidFill>
                        <a:srgbClr val="1D1B18"/>
                      </a:solidFill>
                      <a:prstDash val="solid"/>
                      <a:round/>
                      <a:headEnd type="none" w="med" len="med"/>
                      <a:tailEnd type="none" w="med" len="med"/>
                    </a:lnB>
                  </a:tcPr>
                </a:tc>
              </a:tr>
              <a:tr h="347472">
                <a:tc>
                  <a:txBody>
                    <a:bodyPr/>
                    <a:lstStyle/>
                    <a:p>
                      <a:pPr indent="0" marL="0">
                        <a:buNone/>
                      </a:pPr>
                      <a:r>
                        <a:rPr lang="en-US" sz="950" dirty="0">
                          <a:solidFill>
                            <a:srgbClr val="1D1B18"/>
                          </a:solidFill>
                          <a:latin typeface="Georgia" pitchFamily="34" charset="0"/>
                          <a:ea typeface="Georgia" pitchFamily="34" charset="-122"/>
                          <a:cs typeface="Georgia" pitchFamily="34" charset="-120"/>
                        </a:rPr>
                        <a:t>Lateness (primary)</a:t>
                      </a:r>
                      <a:endParaRPr lang="en-US" sz="950" dirty="0">
                        <a:latin typeface="Georgia" charset="0"/>
                        <a:ea typeface="Georgia" charset="0"/>
                        <a:cs typeface="Georgia"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1D1B18"/>
                          </a:solidFill>
                          <a:latin typeface="Arial" pitchFamily="34" charset="0"/>
                          <a:ea typeface="Arial" pitchFamily="34" charset="-122"/>
                          <a:cs typeface="Arial" pitchFamily="34" charset="-120"/>
                        </a:rPr>
                        <a:t>1.42% late, 0.057 late days</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6B665D"/>
                          </a:solidFill>
                          <a:latin typeface="Arial" pitchFamily="34" charset="0"/>
                          <a:ea typeface="Arial" pitchFamily="34" charset="-122"/>
                          <a:cs typeface="Arial" pitchFamily="34" charset="-120"/>
                        </a:rPr>
                        <a:t>earliest finish 1.67%, 0.178</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b="1" dirty="0">
                          <a:solidFill>
                            <a:srgbClr val="2F5D46"/>
                          </a:solidFill>
                          <a:latin typeface="Arial" pitchFamily="34" charset="0"/>
                          <a:ea typeface="Arial" pitchFamily="34" charset="-122"/>
                          <a:cs typeface="Arial" pitchFamily="34" charset="-120"/>
                        </a:rPr>
                        <a:t>Beats all</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347472">
                <a:tc>
                  <a:txBody>
                    <a:bodyPr/>
                    <a:lstStyle/>
                    <a:p>
                      <a:pPr indent="0" marL="0">
                        <a:buNone/>
                      </a:pPr>
                      <a:r>
                        <a:rPr lang="en-US" sz="950" dirty="0">
                          <a:solidFill>
                            <a:srgbClr val="1D1B18"/>
                          </a:solidFill>
                          <a:latin typeface="Georgia" pitchFamily="34" charset="0"/>
                          <a:ea typeface="Georgia" pitchFamily="34" charset="-122"/>
                          <a:cs typeface="Georgia" pitchFamily="34" charset="-120"/>
                        </a:rPr>
                        <a:t>Defects</a:t>
                      </a:r>
                      <a:endParaRPr lang="en-US" sz="950" dirty="0">
                        <a:latin typeface="Georgia" charset="0"/>
                        <a:ea typeface="Georgia" charset="0"/>
                        <a:cs typeface="Georgia"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1D1B18"/>
                          </a:solidFill>
                          <a:latin typeface="Arial" pitchFamily="34" charset="0"/>
                          <a:ea typeface="Arial" pitchFamily="34" charset="-122"/>
                          <a:cs typeface="Arial" pitchFamily="34" charset="-120"/>
                        </a:rPr>
                        <a:t>4.90% defective pieces</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6B665D"/>
                          </a:solidFill>
                          <a:latin typeface="Arial" pitchFamily="34" charset="0"/>
                          <a:ea typeface="Arial" pitchFamily="34" charset="-122"/>
                          <a:cs typeface="Arial" pitchFamily="34" charset="-120"/>
                        </a:rPr>
                        <a:t>biggest capacity 5.28%</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b="1" dirty="0">
                          <a:solidFill>
                            <a:srgbClr val="2F5D46"/>
                          </a:solidFill>
                          <a:latin typeface="Arial" pitchFamily="34" charset="0"/>
                          <a:ea typeface="Arial" pitchFamily="34" charset="-122"/>
                          <a:cs typeface="Arial" pitchFamily="34" charset="-120"/>
                        </a:rPr>
                        <a:t>Beats all</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347472">
                <a:tc>
                  <a:txBody>
                    <a:bodyPr/>
                    <a:lstStyle/>
                    <a:p>
                      <a:pPr indent="0" marL="0">
                        <a:buNone/>
                      </a:pPr>
                      <a:r>
                        <a:rPr lang="en-US" sz="950" dirty="0">
                          <a:solidFill>
                            <a:srgbClr val="1D1B18"/>
                          </a:solidFill>
                          <a:latin typeface="Georgia" pitchFamily="34" charset="0"/>
                          <a:ea typeface="Georgia" pitchFamily="34" charset="-122"/>
                          <a:cs typeface="Georgia" pitchFamily="34" charset="-120"/>
                        </a:rPr>
                        <a:t>Fairness</a:t>
                      </a:r>
                      <a:endParaRPr lang="en-US" sz="950" dirty="0">
                        <a:latin typeface="Georgia" charset="0"/>
                        <a:ea typeface="Georgia" charset="0"/>
                        <a:cs typeface="Georgia"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1D1B18"/>
                          </a:solidFill>
                          <a:latin typeface="Arial" pitchFamily="34" charset="0"/>
                          <a:ea typeface="Arial" pitchFamily="34" charset="-122"/>
                          <a:cs typeface="Arial" pitchFamily="34" charset="-120"/>
                        </a:rPr>
                        <a:t>largest share 19.2%</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6B665D"/>
                          </a:solidFill>
                          <a:latin typeface="Arial" pitchFamily="34" charset="0"/>
                          <a:ea typeface="Arial" pitchFamily="34" charset="-122"/>
                          <a:cs typeface="Arial" pitchFamily="34" charset="-120"/>
                        </a:rPr>
                        <a:t>random 22.6%</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b="1" dirty="0">
                          <a:solidFill>
                            <a:srgbClr val="2F5D46"/>
                          </a:solidFill>
                          <a:latin typeface="Arial" pitchFamily="34" charset="0"/>
                          <a:ea typeface="Arial" pitchFamily="34" charset="-122"/>
                          <a:cs typeface="Arial" pitchFamily="34" charset="-120"/>
                        </a:rPr>
                        <a:t>Beats random</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r h="347472">
                <a:tc>
                  <a:txBody>
                    <a:bodyPr/>
                    <a:lstStyle/>
                    <a:p>
                      <a:pPr indent="0" marL="0">
                        <a:buNone/>
                      </a:pPr>
                      <a:r>
                        <a:rPr lang="en-US" sz="950" dirty="0">
                          <a:solidFill>
                            <a:srgbClr val="1D1B18"/>
                          </a:solidFill>
                          <a:latin typeface="Georgia" pitchFamily="34" charset="0"/>
                          <a:ea typeface="Georgia" pitchFamily="34" charset="-122"/>
                          <a:cs typeface="Georgia" pitchFamily="34" charset="-120"/>
                        </a:rPr>
                        <a:t>Robustness</a:t>
                      </a:r>
                      <a:endParaRPr lang="en-US" sz="950" dirty="0">
                        <a:latin typeface="Georgia" charset="0"/>
                        <a:ea typeface="Georgia" charset="0"/>
                        <a:cs typeface="Georgia"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1D1B18"/>
                          </a:solidFill>
                          <a:latin typeface="Arial" pitchFamily="34" charset="0"/>
                          <a:ea typeface="Arial" pitchFamily="34" charset="-122"/>
                          <a:cs typeface="Arial" pitchFamily="34" charset="-120"/>
                        </a:rPr>
                        <a:t>+0.083 pts late under closure</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dirty="0">
                          <a:solidFill>
                            <a:srgbClr val="6B665D"/>
                          </a:solidFill>
                          <a:latin typeface="Arial" pitchFamily="34" charset="0"/>
                          <a:ea typeface="Arial" pitchFamily="34" charset="-122"/>
                          <a:cs typeface="Arial" pitchFamily="34" charset="-120"/>
                        </a:rPr>
                        <a:t>random +4.000</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c>
                  <a:txBody>
                    <a:bodyPr/>
                    <a:lstStyle/>
                    <a:p>
                      <a:pPr indent="0" marL="0">
                        <a:buNone/>
                      </a:pPr>
                      <a:r>
                        <a:rPr lang="en-US" sz="850" b="1" dirty="0">
                          <a:solidFill>
                            <a:srgbClr val="2F5D46"/>
                          </a:solidFill>
                          <a:latin typeface="Arial" pitchFamily="34" charset="0"/>
                          <a:ea typeface="Arial" pitchFamily="34" charset="-122"/>
                          <a:cs typeface="Arial" pitchFamily="34" charset="-120"/>
                        </a:rPr>
                        <a:t>Steadier</a:t>
                      </a:r>
                      <a:endParaRPr lang="en-US" sz="850" dirty="0">
                        <a:latin typeface="Arial" charset="0"/>
                        <a:ea typeface="Arial" charset="0"/>
                        <a:cs typeface="Arial" charset="0"/>
                      </a:endParaRPr>
                    </a:p>
                  </a:txBody>
                  <a:tcPr marL="0" marR="50800" marT="25400" marB="25400" anchor="ctr">
                    <a:lnL w="0" cap="flat" cmpd="sng" algn="ctr">
                      <a:noFill/>
                    </a:lnL>
                    <a:lnR w="0" cap="flat" cmpd="sng" algn="ctr">
                      <a:noFill/>
                    </a:lnR>
                    <a:lnT w="0" cap="flat" cmpd="sng" algn="ctr">
                      <a:noFill/>
                    </a:lnT>
                    <a:lnB w="9525" cap="flat" cmpd="sng" algn="ctr">
                      <a:solidFill>
                        <a:srgbClr val="E4DDD0"/>
                      </a:solidFill>
                      <a:prstDash val="solid"/>
                      <a:round/>
                      <a:headEnd type="none" w="med" len="med"/>
                      <a:tailEnd type="none" w="med" len="med"/>
                    </a:lnB>
                  </a:tcPr>
                </a:tc>
              </a:tr>
            </a:tbl>
          </a:graphicData>
        </a:graphic>
      </p:graphicFrame>
      <p:sp>
        <p:nvSpPr>
          <p:cNvPr id="12" name="Text 9"/>
          <p:cNvSpPr txBox="1"/>
          <p:nvPr/>
        </p:nvSpPr>
        <p:spPr>
          <a:xfrm>
            <a:off x="4663440" y="3182112"/>
            <a:ext cx="3931920" cy="164592"/>
          </a:xfrm>
          <a:prstGeom prst="rect">
            <a:avLst/>
          </a:prstGeom>
          <a:noFill/>
          <a:ln/>
        </p:spPr>
        <p:txBody>
          <a:bodyPr wrap="square" lIns="0" tIns="0" rIns="0" bIns="0" rtlCol="0" anchor="t"/>
          <a:lstStyle/>
          <a:p>
            <a:pPr indent="0" marL="0">
              <a:buNone/>
            </a:pPr>
            <a:r>
              <a:rPr lang="en-US" sz="750" b="1" spc="180" kern="0" dirty="0">
                <a:solidFill>
                  <a:srgbClr val="6B665D"/>
                </a:solidFill>
                <a:latin typeface="Arial" pitchFamily="34" charset="0"/>
                <a:ea typeface="Arial" pitchFamily="34" charset="-122"/>
                <a:cs typeface="Arial" pitchFamily="34" charset="-120"/>
              </a:rPr>
              <a:t>HARD CASES AND HOW WE HANDLE THEM</a:t>
            </a:r>
            <a:endParaRPr lang="en-US" sz="750" dirty="0"/>
          </a:p>
        </p:txBody>
      </p:sp>
      <p:sp>
        <p:nvSpPr>
          <p:cNvPr id="13" name="Text 10"/>
          <p:cNvSpPr txBox="1"/>
          <p:nvPr/>
        </p:nvSpPr>
        <p:spPr>
          <a:xfrm>
            <a:off x="4663440" y="3383280"/>
            <a:ext cx="228600" cy="274320"/>
          </a:xfrm>
          <a:prstGeom prst="rect">
            <a:avLst/>
          </a:prstGeom>
          <a:noFill/>
          <a:ln/>
        </p:spPr>
        <p:txBody>
          <a:bodyPr wrap="square" lIns="0" tIns="0" rIns="0" bIns="0" rtlCol="0" anchor="t"/>
          <a:lstStyle/>
          <a:p>
            <a:pPr indent="0" marL="0">
              <a:buNone/>
            </a:pPr>
            <a:r>
              <a:rPr lang="en-US" sz="1500" dirty="0">
                <a:solidFill>
                  <a:srgbClr val="A3804C"/>
                </a:solidFill>
                <a:latin typeface="Georgia" pitchFamily="34" charset="0"/>
                <a:ea typeface="Georgia" pitchFamily="34" charset="-122"/>
                <a:cs typeface="Georgia" pitchFamily="34" charset="-120"/>
              </a:rPr>
              <a:t>1</a:t>
            </a:r>
            <a:endParaRPr lang="en-US" sz="1500" dirty="0"/>
          </a:p>
        </p:txBody>
      </p:sp>
      <p:sp>
        <p:nvSpPr>
          <p:cNvPr id="14" name="Text 11"/>
          <p:cNvSpPr txBox="1"/>
          <p:nvPr/>
        </p:nvSpPr>
        <p:spPr>
          <a:xfrm>
            <a:off x="4919472" y="3383280"/>
            <a:ext cx="3657600" cy="164592"/>
          </a:xfrm>
          <a:prstGeom prst="rect">
            <a:avLst/>
          </a:prstGeom>
          <a:noFill/>
          <a:ln/>
        </p:spPr>
        <p:txBody>
          <a:bodyPr wrap="square" lIns="0" tIns="0" rIns="0" bIns="0" rtlCol="0" anchor="t"/>
          <a:lstStyle/>
          <a:p>
            <a:pPr indent="0" marL="0">
              <a:buNone/>
            </a:pPr>
            <a:r>
              <a:rPr lang="en-US" sz="900" b="1" dirty="0">
                <a:solidFill>
                  <a:srgbClr val="1D1B18"/>
                </a:solidFill>
                <a:latin typeface="Arial" pitchFamily="34" charset="0"/>
                <a:ea typeface="Arial" pitchFamily="34" charset="-122"/>
                <a:cs typeface="Arial" pitchFamily="34" charset="-120"/>
              </a:rPr>
              <a:t>Impossible date</a:t>
            </a:r>
            <a:endParaRPr lang="en-US" sz="900" dirty="0"/>
          </a:p>
        </p:txBody>
      </p:sp>
      <p:sp>
        <p:nvSpPr>
          <p:cNvPr id="15" name="Text 12"/>
          <p:cNvSpPr txBox="1"/>
          <p:nvPr/>
        </p:nvSpPr>
        <p:spPr>
          <a:xfrm>
            <a:off x="4919472" y="3538728"/>
            <a:ext cx="3657600" cy="182880"/>
          </a:xfrm>
          <a:prstGeom prst="rect">
            <a:avLst/>
          </a:prstGeom>
          <a:noFill/>
          <a:ln/>
        </p:spPr>
        <p:txBody>
          <a:bodyPr wrap="square" lIns="0" tIns="0" rIns="0" bIns="0" rtlCol="0" anchor="t"/>
          <a:lstStyle/>
          <a:p>
            <a:pPr indent="0" marL="0">
              <a:buNone/>
            </a:pPr>
            <a:r>
              <a:rPr lang="en-US" sz="800" dirty="0">
                <a:solidFill>
                  <a:srgbClr val="4A463F"/>
                </a:solidFill>
                <a:latin typeface="Arial" pitchFamily="34" charset="0"/>
                <a:ea typeface="Arial" pitchFamily="34" charset="-122"/>
                <a:cs typeface="Arial" pitchFamily="34" charset="-120"/>
              </a:rPr>
              <a:t>Earliest date, days late, a two-shop split; no booking</a:t>
            </a:r>
            <a:endParaRPr lang="en-US" sz="800" dirty="0"/>
          </a:p>
        </p:txBody>
      </p:sp>
      <p:sp>
        <p:nvSpPr>
          <p:cNvPr id="16" name="Text 13"/>
          <p:cNvSpPr txBox="1"/>
          <p:nvPr/>
        </p:nvSpPr>
        <p:spPr>
          <a:xfrm>
            <a:off x="4663440" y="3749040"/>
            <a:ext cx="228600" cy="274320"/>
          </a:xfrm>
          <a:prstGeom prst="rect">
            <a:avLst/>
          </a:prstGeom>
          <a:noFill/>
          <a:ln/>
        </p:spPr>
        <p:txBody>
          <a:bodyPr wrap="square" lIns="0" tIns="0" rIns="0" bIns="0" rtlCol="0" anchor="t"/>
          <a:lstStyle/>
          <a:p>
            <a:pPr indent="0" marL="0">
              <a:buNone/>
            </a:pPr>
            <a:r>
              <a:rPr lang="en-US" sz="1500" dirty="0">
                <a:solidFill>
                  <a:srgbClr val="A3804C"/>
                </a:solidFill>
                <a:latin typeface="Georgia" pitchFamily="34" charset="0"/>
                <a:ea typeface="Georgia" pitchFamily="34" charset="-122"/>
                <a:cs typeface="Georgia" pitchFamily="34" charset="-120"/>
              </a:rPr>
              <a:t>2</a:t>
            </a:r>
            <a:endParaRPr lang="en-US" sz="1500" dirty="0"/>
          </a:p>
        </p:txBody>
      </p:sp>
      <p:sp>
        <p:nvSpPr>
          <p:cNvPr id="17" name="Text 14"/>
          <p:cNvSpPr txBox="1"/>
          <p:nvPr/>
        </p:nvSpPr>
        <p:spPr>
          <a:xfrm>
            <a:off x="4919472" y="3749040"/>
            <a:ext cx="3657600" cy="164592"/>
          </a:xfrm>
          <a:prstGeom prst="rect">
            <a:avLst/>
          </a:prstGeom>
          <a:noFill/>
          <a:ln/>
        </p:spPr>
        <p:txBody>
          <a:bodyPr wrap="square" lIns="0" tIns="0" rIns="0" bIns="0" rtlCol="0" anchor="t"/>
          <a:lstStyle/>
          <a:p>
            <a:pPr indent="0" marL="0">
              <a:buNone/>
            </a:pPr>
            <a:r>
              <a:rPr lang="en-US" sz="900" b="1" dirty="0">
                <a:solidFill>
                  <a:srgbClr val="1D1B18"/>
                </a:solidFill>
                <a:latin typeface="Arial" pitchFamily="34" charset="0"/>
                <a:ea typeface="Arial" pitchFamily="34" charset="-122"/>
                <a:cs typeface="Arial" pitchFamily="34" charset="-120"/>
              </a:rPr>
              <a:t>Workshop that cannot take it</a:t>
            </a:r>
            <a:endParaRPr lang="en-US" sz="900" dirty="0"/>
          </a:p>
        </p:txBody>
      </p:sp>
      <p:sp>
        <p:nvSpPr>
          <p:cNvPr id="18" name="Text 15"/>
          <p:cNvSpPr txBox="1"/>
          <p:nvPr/>
        </p:nvSpPr>
        <p:spPr>
          <a:xfrm>
            <a:off x="4919472" y="3904488"/>
            <a:ext cx="3657600" cy="182880"/>
          </a:xfrm>
          <a:prstGeom prst="rect">
            <a:avLst/>
          </a:prstGeom>
          <a:noFill/>
          <a:ln/>
        </p:spPr>
        <p:txBody>
          <a:bodyPr wrap="square" lIns="0" tIns="0" rIns="0" bIns="0" rtlCol="0" anchor="t"/>
          <a:lstStyle/>
          <a:p>
            <a:pPr indent="0" marL="0">
              <a:buNone/>
            </a:pPr>
            <a:r>
              <a:rPr lang="en-US" sz="800" dirty="0">
                <a:solidFill>
                  <a:srgbClr val="4A463F"/>
                </a:solidFill>
                <a:latin typeface="Arial" pitchFamily="34" charset="0"/>
                <a:ea typeface="Arial" pitchFamily="34" charset="-122"/>
                <a:cs typeface="Arial" pitchFamily="34" charset="-120"/>
              </a:rPr>
              <a:t>Refused with the reason, plus the best alternative</a:t>
            </a:r>
            <a:endParaRPr lang="en-US" sz="800" dirty="0"/>
          </a:p>
        </p:txBody>
      </p:sp>
      <p:sp>
        <p:nvSpPr>
          <p:cNvPr id="19" name="Text 16"/>
          <p:cNvSpPr txBox="1"/>
          <p:nvPr/>
        </p:nvSpPr>
        <p:spPr>
          <a:xfrm>
            <a:off x="4663440" y="4114800"/>
            <a:ext cx="228600" cy="274320"/>
          </a:xfrm>
          <a:prstGeom prst="rect">
            <a:avLst/>
          </a:prstGeom>
          <a:noFill/>
          <a:ln/>
        </p:spPr>
        <p:txBody>
          <a:bodyPr wrap="square" lIns="0" tIns="0" rIns="0" bIns="0" rtlCol="0" anchor="t"/>
          <a:lstStyle/>
          <a:p>
            <a:pPr indent="0" marL="0">
              <a:buNone/>
            </a:pPr>
            <a:r>
              <a:rPr lang="en-US" sz="1500" dirty="0">
                <a:solidFill>
                  <a:srgbClr val="A3804C"/>
                </a:solidFill>
                <a:latin typeface="Georgia" pitchFamily="34" charset="0"/>
                <a:ea typeface="Georgia" pitchFamily="34" charset="-122"/>
                <a:cs typeface="Georgia" pitchFamily="34" charset="-120"/>
              </a:rPr>
              <a:t>3</a:t>
            </a:r>
            <a:endParaRPr lang="en-US" sz="1500" dirty="0"/>
          </a:p>
        </p:txBody>
      </p:sp>
      <p:sp>
        <p:nvSpPr>
          <p:cNvPr id="20" name="Text 17"/>
          <p:cNvSpPr txBox="1"/>
          <p:nvPr/>
        </p:nvSpPr>
        <p:spPr>
          <a:xfrm>
            <a:off x="4919472" y="4114800"/>
            <a:ext cx="3657600" cy="164592"/>
          </a:xfrm>
          <a:prstGeom prst="rect">
            <a:avLst/>
          </a:prstGeom>
          <a:noFill/>
          <a:ln/>
        </p:spPr>
        <p:txBody>
          <a:bodyPr wrap="square" lIns="0" tIns="0" rIns="0" bIns="0" rtlCol="0" anchor="t"/>
          <a:lstStyle/>
          <a:p>
            <a:pPr indent="0" marL="0">
              <a:buNone/>
            </a:pPr>
            <a:r>
              <a:rPr lang="en-US" sz="900" b="1" dirty="0">
                <a:solidFill>
                  <a:srgbClr val="1D1B18"/>
                </a:solidFill>
                <a:latin typeface="Arial" pitchFamily="34" charset="0"/>
                <a:ea typeface="Arial" pitchFamily="34" charset="-122"/>
                <a:cs typeface="Arial" pitchFamily="34" charset="-120"/>
              </a:rPr>
              <a:t>Misheard order on the floor</a:t>
            </a:r>
            <a:endParaRPr lang="en-US" sz="900" dirty="0"/>
          </a:p>
        </p:txBody>
      </p:sp>
      <p:sp>
        <p:nvSpPr>
          <p:cNvPr id="21" name="Text 18"/>
          <p:cNvSpPr txBox="1"/>
          <p:nvPr/>
        </p:nvSpPr>
        <p:spPr>
          <a:xfrm>
            <a:off x="4919472" y="4270248"/>
            <a:ext cx="3657600" cy="182880"/>
          </a:xfrm>
          <a:prstGeom prst="rect">
            <a:avLst/>
          </a:prstGeom>
          <a:noFill/>
          <a:ln/>
        </p:spPr>
        <p:txBody>
          <a:bodyPr wrap="square" lIns="0" tIns="0" rIns="0" bIns="0" rtlCol="0" anchor="t"/>
          <a:lstStyle/>
          <a:p>
            <a:pPr indent="0" marL="0">
              <a:buNone/>
            </a:pPr>
            <a:r>
              <a:rPr lang="en-US" sz="800" dirty="0">
                <a:solidFill>
                  <a:srgbClr val="4A463F"/>
                </a:solidFill>
                <a:latin typeface="Arial" pitchFamily="34" charset="0"/>
                <a:ea typeface="Arial" pitchFamily="34" charset="-122"/>
                <a:cs typeface="Arial" pitchFamily="34" charset="-120"/>
              </a:rPr>
              <a:t>Order, customer, pieces read back from orders.csv; slide to commit</a:t>
            </a:r>
            <a:endParaRPr lang="en-US" sz="800" dirty="0"/>
          </a:p>
        </p:txBody>
      </p:sp>
      <p:sp>
        <p:nvSpPr>
          <p:cNvPr id="22" name="Text 19"/>
          <p:cNvSpPr txBox="1"/>
          <p:nvPr/>
        </p:nvSpPr>
        <p:spPr>
          <a:xfrm>
            <a:off x="548640" y="4572000"/>
            <a:ext cx="8046720" cy="182880"/>
          </a:xfrm>
          <a:prstGeom prst="rect">
            <a:avLst/>
          </a:prstGeom>
          <a:noFill/>
          <a:ln/>
        </p:spPr>
        <p:txBody>
          <a:bodyPr wrap="square" lIns="0" tIns="0" rIns="0" bIns="0" rtlCol="0" anchor="t"/>
          <a:lstStyle/>
          <a:p>
            <a:pPr indent="0" marL="0">
              <a:buNone/>
            </a:pPr>
            <a:r>
              <a:rPr lang="en-US" sz="700" i="1" dirty="0">
                <a:solidFill>
                  <a:srgbClr val="6B665D"/>
                </a:solidFill>
                <a:latin typeface="Arial" pitchFamily="34" charset="0"/>
                <a:ea typeface="Arial" pitchFamily="34" charset="-122"/>
                <a:cs typeface="Arial" pitchFamily="34" charset="-120"/>
              </a:rPr>
              <a:t>Allocation: presets chosen on seeds 6000-6029, course seeds run twice (OBJECTIVE_STUDY.md). Language: one gpt-5.6 run; a rubric pass rate, not model accuracy.</a:t>
            </a:r>
            <a:endParaRPr lang="en-US" sz="700" dirty="0"/>
          </a:p>
        </p:txBody>
      </p:sp>
      <p:sp>
        <p:nvSpPr>
          <p:cNvPr id="25" name="Slide Number Placeholder 0"/>
          <p:cNvSpPr>
            <a:spLocks noGrp="1"/>
          </p:cNvSpPr>
          <p:nvPr>
            <p:ph type="sldNum" sz="quarter" idx="4294967295"/>
          </p:nvPr>
        </p:nvSpPr>
        <p:spPr>
          <a:xfrm>
            <a:off x="8138160" y="4800600"/>
            <a:ext cx="457200" cy="201168"/>
          </a:xfrm>
          <a:prstGeom prst="rect">
            <a:avLst/>
          </a:prstGeom>
          <a:extLst>
            <a:ext uri="{C572A759-6A51-4108-AA02-DFA0A04FC94B}">
              <ma14:wrappingTextBoxFlag xmlns:ma14="http://schemas.microsoft.com/office/mac/drawingml/2011/main" val="0"/>
            </a:ext>
          </a:extLst>
        </p:spPr>
        <p:txBody>
          <a:bodyPr/>
          <a:lstStyle>
            <a:lvl1pPr>
              <a:defRPr sz="700">
                <a:solidFill>
                  <a:srgbClr val="6B665D"/>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502920"/>
            <a:ext cx="3657600" cy="201168"/>
          </a:xfrm>
          <a:prstGeom prst="rect">
            <a:avLst/>
          </a:prstGeom>
          <a:noFill/>
          <a:ln/>
        </p:spPr>
        <p:txBody>
          <a:bodyPr wrap="square" lIns="0" tIns="0" rIns="0" bIns="0" rtlCol="0" anchor="t"/>
          <a:lstStyle/>
          <a:p>
            <a:pPr indent="0" marL="0">
              <a:buNone/>
            </a:pPr>
            <a:r>
              <a:rPr lang="en-US" sz="850" b="1" spc="300" kern="0" dirty="0">
                <a:solidFill>
                  <a:srgbClr val="F4EFE6"/>
                </a:solidFill>
                <a:latin typeface="Arial" pitchFamily="34" charset="0"/>
                <a:ea typeface="Arial" pitchFamily="34" charset="-122"/>
                <a:cs typeface="Arial" pitchFamily="34" charset="-120"/>
              </a:rPr>
              <a:t>08   </a:t>
            </a:r>
            <a:r>
              <a:rPr lang="en-US" sz="850" b="1" spc="300" kern="0" dirty="0">
                <a:solidFill>
                  <a:srgbClr val="A3804C"/>
                </a:solidFill>
                <a:latin typeface="Arial" pitchFamily="34" charset="0"/>
                <a:ea typeface="Arial" pitchFamily="34" charset="-122"/>
                <a:cs typeface="Arial" pitchFamily="34" charset="-120"/>
              </a:rPr>
              <a:t>DEMO</a:t>
            </a:r>
            <a:endParaRPr lang="en-US" sz="850" dirty="0"/>
          </a:p>
        </p:txBody>
      </p:sp>
      <p:sp>
        <p:nvSpPr>
          <p:cNvPr id="3" name="Text 1"/>
          <p:cNvSpPr txBox="1"/>
          <p:nvPr/>
        </p:nvSpPr>
        <p:spPr>
          <a:xfrm>
            <a:off x="548640" y="731520"/>
            <a:ext cx="4572000" cy="548640"/>
          </a:xfrm>
          <a:prstGeom prst="rect">
            <a:avLst/>
          </a:prstGeom>
          <a:noFill/>
          <a:ln/>
        </p:spPr>
        <p:txBody>
          <a:bodyPr wrap="square" lIns="0" tIns="0" rIns="0" bIns="0" rtlCol="0" anchor="t"/>
          <a:lstStyle/>
          <a:p>
            <a:pPr indent="0" marL="0">
              <a:buNone/>
            </a:pPr>
            <a:r>
              <a:rPr lang="en-US" sz="2800" dirty="0">
                <a:solidFill>
                  <a:srgbClr val="F4EFE6"/>
                </a:solidFill>
                <a:latin typeface="Georgia" pitchFamily="34" charset="0"/>
                <a:ea typeface="Georgia" pitchFamily="34" charset="-122"/>
                <a:cs typeface="Georgia" pitchFamily="34" charset="-120"/>
              </a:rPr>
              <a:t>Charles, as the dispatcher</a:t>
            </a:r>
            <a:endParaRPr lang="en-US" sz="2800" dirty="0"/>
          </a:p>
        </p:txBody>
      </p:sp>
      <p:sp>
        <p:nvSpPr>
          <p:cNvPr id="4" name="Text 2"/>
          <p:cNvSpPr txBox="1"/>
          <p:nvPr/>
        </p:nvSpPr>
        <p:spPr>
          <a:xfrm>
            <a:off x="548640" y="1508760"/>
            <a:ext cx="274320" cy="292608"/>
          </a:xfrm>
          <a:prstGeom prst="rect">
            <a:avLst/>
          </a:prstGeom>
          <a:noFill/>
          <a:ln/>
        </p:spPr>
        <p:txBody>
          <a:bodyPr wrap="square" lIns="0" tIns="0" rIns="0" bIns="0" rtlCol="0" anchor="t"/>
          <a:lstStyle/>
          <a:p>
            <a:pPr indent="0" marL="0">
              <a:buNone/>
            </a:pPr>
            <a:r>
              <a:rPr lang="en-US" sz="1500" dirty="0">
                <a:solidFill>
                  <a:srgbClr val="A3804C"/>
                </a:solidFill>
                <a:latin typeface="Georgia" pitchFamily="34" charset="0"/>
                <a:ea typeface="Georgia" pitchFamily="34" charset="-122"/>
                <a:cs typeface="Georgia" pitchFamily="34" charset="-120"/>
              </a:rPr>
              <a:t>1</a:t>
            </a:r>
            <a:endParaRPr lang="en-US" sz="1500" dirty="0"/>
          </a:p>
        </p:txBody>
      </p:sp>
      <p:sp>
        <p:nvSpPr>
          <p:cNvPr id="5" name="Text 3"/>
          <p:cNvSpPr txBox="1"/>
          <p:nvPr/>
        </p:nvSpPr>
        <p:spPr>
          <a:xfrm>
            <a:off x="896112" y="1545336"/>
            <a:ext cx="3931920" cy="274320"/>
          </a:xfrm>
          <a:prstGeom prst="rect">
            <a:avLst/>
          </a:prstGeom>
          <a:noFill/>
          <a:ln/>
        </p:spPr>
        <p:txBody>
          <a:bodyPr wrap="square" lIns="0" tIns="0" rIns="0" bIns="0" rtlCol="0" anchor="t"/>
          <a:lstStyle/>
          <a:p>
            <a:pPr indent="0" marL="0">
              <a:buNone/>
            </a:pPr>
            <a:r>
              <a:rPr lang="en-US" sz="1050" dirty="0">
                <a:solidFill>
                  <a:srgbClr val="F4EFE6"/>
                </a:solidFill>
                <a:latin typeface="Arial" pitchFamily="34" charset="0"/>
                <a:ea typeface="Arial" pitchFamily="34" charset="-122"/>
                <a:cs typeface="Arial" pitchFamily="34" charset="-120"/>
              </a:rPr>
              <a:t>Says a real inbox request out loud</a:t>
            </a:r>
            <a:endParaRPr lang="en-US" sz="1050" dirty="0"/>
          </a:p>
        </p:txBody>
      </p:sp>
      <p:sp>
        <p:nvSpPr>
          <p:cNvPr id="6" name="Text 4"/>
          <p:cNvSpPr txBox="1"/>
          <p:nvPr/>
        </p:nvSpPr>
        <p:spPr>
          <a:xfrm>
            <a:off x="548640" y="1911096"/>
            <a:ext cx="274320" cy="292608"/>
          </a:xfrm>
          <a:prstGeom prst="rect">
            <a:avLst/>
          </a:prstGeom>
          <a:noFill/>
          <a:ln/>
        </p:spPr>
        <p:txBody>
          <a:bodyPr wrap="square" lIns="0" tIns="0" rIns="0" bIns="0" rtlCol="0" anchor="t"/>
          <a:lstStyle/>
          <a:p>
            <a:pPr indent="0" marL="0">
              <a:buNone/>
            </a:pPr>
            <a:r>
              <a:rPr lang="en-US" sz="1500" dirty="0">
                <a:solidFill>
                  <a:srgbClr val="A3804C"/>
                </a:solidFill>
                <a:latin typeface="Georgia" pitchFamily="34" charset="0"/>
                <a:ea typeface="Georgia" pitchFamily="34" charset="-122"/>
                <a:cs typeface="Georgia" pitchFamily="34" charset="-120"/>
              </a:rPr>
              <a:t>2</a:t>
            </a:r>
            <a:endParaRPr lang="en-US" sz="1500" dirty="0"/>
          </a:p>
        </p:txBody>
      </p:sp>
      <p:sp>
        <p:nvSpPr>
          <p:cNvPr id="7" name="Text 5"/>
          <p:cNvSpPr txBox="1"/>
          <p:nvPr/>
        </p:nvSpPr>
        <p:spPr>
          <a:xfrm>
            <a:off x="896112" y="1947672"/>
            <a:ext cx="3931920" cy="274320"/>
          </a:xfrm>
          <a:prstGeom prst="rect">
            <a:avLst/>
          </a:prstGeom>
          <a:noFill/>
          <a:ln/>
        </p:spPr>
        <p:txBody>
          <a:bodyPr wrap="square" lIns="0" tIns="0" rIns="0" bIns="0" rtlCol="0" anchor="t"/>
          <a:lstStyle/>
          <a:p>
            <a:pPr indent="0" marL="0">
              <a:buNone/>
            </a:pPr>
            <a:r>
              <a:rPr lang="en-US" sz="1050" dirty="0">
                <a:solidFill>
                  <a:srgbClr val="F4EFE6"/>
                </a:solidFill>
                <a:latin typeface="Arial" pitchFamily="34" charset="0"/>
                <a:ea typeface="Arial" pitchFamily="34" charset="-122"/>
                <a:cs typeface="Arial" pitchFamily="34" charset="-120"/>
              </a:rPr>
              <a:t>Hears the best workshop and why</a:t>
            </a:r>
            <a:endParaRPr lang="en-US" sz="1050" dirty="0"/>
          </a:p>
        </p:txBody>
      </p:sp>
      <p:sp>
        <p:nvSpPr>
          <p:cNvPr id="8" name="Text 6"/>
          <p:cNvSpPr txBox="1"/>
          <p:nvPr/>
        </p:nvSpPr>
        <p:spPr>
          <a:xfrm>
            <a:off x="548640" y="2313432"/>
            <a:ext cx="274320" cy="292608"/>
          </a:xfrm>
          <a:prstGeom prst="rect">
            <a:avLst/>
          </a:prstGeom>
          <a:noFill/>
          <a:ln/>
        </p:spPr>
        <p:txBody>
          <a:bodyPr wrap="square" lIns="0" tIns="0" rIns="0" bIns="0" rtlCol="0" anchor="t"/>
          <a:lstStyle/>
          <a:p>
            <a:pPr indent="0" marL="0">
              <a:buNone/>
            </a:pPr>
            <a:r>
              <a:rPr lang="en-US" sz="1500" dirty="0">
                <a:solidFill>
                  <a:srgbClr val="A3804C"/>
                </a:solidFill>
                <a:latin typeface="Georgia" pitchFamily="34" charset="0"/>
                <a:ea typeface="Georgia" pitchFamily="34" charset="-122"/>
                <a:cs typeface="Georgia" pitchFamily="34" charset="-120"/>
              </a:rPr>
              <a:t>3</a:t>
            </a:r>
            <a:endParaRPr lang="en-US" sz="1500" dirty="0"/>
          </a:p>
        </p:txBody>
      </p:sp>
      <p:sp>
        <p:nvSpPr>
          <p:cNvPr id="9" name="Text 7"/>
          <p:cNvSpPr txBox="1"/>
          <p:nvPr/>
        </p:nvSpPr>
        <p:spPr>
          <a:xfrm>
            <a:off x="896112" y="2350008"/>
            <a:ext cx="3931920" cy="274320"/>
          </a:xfrm>
          <a:prstGeom prst="rect">
            <a:avLst/>
          </a:prstGeom>
          <a:noFill/>
          <a:ln/>
        </p:spPr>
        <p:txBody>
          <a:bodyPr wrap="square" lIns="0" tIns="0" rIns="0" bIns="0" rtlCol="0" anchor="t"/>
          <a:lstStyle/>
          <a:p>
            <a:pPr indent="0" marL="0">
              <a:buNone/>
            </a:pPr>
            <a:r>
              <a:rPr lang="en-US" sz="1050" dirty="0">
                <a:solidFill>
                  <a:srgbClr val="F4EFE6"/>
                </a:solidFill>
                <a:latin typeface="Arial" pitchFamily="34" charset="0"/>
                <a:ea typeface="Arial" pitchFamily="34" charset="-122"/>
                <a:cs typeface="Arial" pitchFamily="34" charset="-120"/>
              </a:rPr>
              <a:t>Says "book it" and slides to confirm</a:t>
            </a:r>
            <a:endParaRPr lang="en-US" sz="1050" dirty="0"/>
          </a:p>
        </p:txBody>
      </p:sp>
      <p:sp>
        <p:nvSpPr>
          <p:cNvPr id="10" name="Text 8"/>
          <p:cNvSpPr txBox="1"/>
          <p:nvPr/>
        </p:nvSpPr>
        <p:spPr>
          <a:xfrm>
            <a:off x="548640" y="2715768"/>
            <a:ext cx="274320" cy="292608"/>
          </a:xfrm>
          <a:prstGeom prst="rect">
            <a:avLst/>
          </a:prstGeom>
          <a:noFill/>
          <a:ln/>
        </p:spPr>
        <p:txBody>
          <a:bodyPr wrap="square" lIns="0" tIns="0" rIns="0" bIns="0" rtlCol="0" anchor="t"/>
          <a:lstStyle/>
          <a:p>
            <a:pPr indent="0" marL="0">
              <a:buNone/>
            </a:pPr>
            <a:r>
              <a:rPr lang="en-US" sz="1500" dirty="0">
                <a:solidFill>
                  <a:srgbClr val="A3804C"/>
                </a:solidFill>
                <a:latin typeface="Georgia" pitchFamily="34" charset="0"/>
                <a:ea typeface="Georgia" pitchFamily="34" charset="-122"/>
                <a:cs typeface="Georgia" pitchFamily="34" charset="-120"/>
              </a:rPr>
              <a:t>4</a:t>
            </a:r>
            <a:endParaRPr lang="en-US" sz="1500" dirty="0"/>
          </a:p>
        </p:txBody>
      </p:sp>
      <p:sp>
        <p:nvSpPr>
          <p:cNvPr id="11" name="Text 9"/>
          <p:cNvSpPr txBox="1"/>
          <p:nvPr/>
        </p:nvSpPr>
        <p:spPr>
          <a:xfrm>
            <a:off x="896112" y="2752344"/>
            <a:ext cx="3931920" cy="274320"/>
          </a:xfrm>
          <a:prstGeom prst="rect">
            <a:avLst/>
          </a:prstGeom>
          <a:noFill/>
          <a:ln/>
        </p:spPr>
        <p:txBody>
          <a:bodyPr wrap="square" lIns="0" tIns="0" rIns="0" bIns="0" rtlCol="0" anchor="t"/>
          <a:lstStyle/>
          <a:p>
            <a:pPr indent="0" marL="0">
              <a:buNone/>
            </a:pPr>
            <a:r>
              <a:rPr lang="en-US" sz="1050" dirty="0">
                <a:solidFill>
                  <a:srgbClr val="F4EFE6"/>
                </a:solidFill>
                <a:latin typeface="Arial" pitchFamily="34" charset="0"/>
                <a:ea typeface="Arial" pitchFamily="34" charset="-122"/>
                <a:cs typeface="Arial" pitchFamily="34" charset="-120"/>
              </a:rPr>
              <a:t>Lets it remember the constraint</a:t>
            </a:r>
            <a:endParaRPr lang="en-US" sz="1050" dirty="0"/>
          </a:p>
        </p:txBody>
      </p:sp>
      <p:sp>
        <p:nvSpPr>
          <p:cNvPr id="12" name="Text 10"/>
          <p:cNvSpPr txBox="1"/>
          <p:nvPr/>
        </p:nvSpPr>
        <p:spPr>
          <a:xfrm>
            <a:off x="548640" y="3118104"/>
            <a:ext cx="274320" cy="292608"/>
          </a:xfrm>
          <a:prstGeom prst="rect">
            <a:avLst/>
          </a:prstGeom>
          <a:noFill/>
          <a:ln/>
        </p:spPr>
        <p:txBody>
          <a:bodyPr wrap="square" lIns="0" tIns="0" rIns="0" bIns="0" rtlCol="0" anchor="t"/>
          <a:lstStyle/>
          <a:p>
            <a:pPr indent="0" marL="0">
              <a:buNone/>
            </a:pPr>
            <a:r>
              <a:rPr lang="en-US" sz="1500" dirty="0">
                <a:solidFill>
                  <a:srgbClr val="A3804C"/>
                </a:solidFill>
                <a:latin typeface="Georgia" pitchFamily="34" charset="0"/>
                <a:ea typeface="Georgia" pitchFamily="34" charset="-122"/>
                <a:cs typeface="Georgia" pitchFamily="34" charset="-120"/>
              </a:rPr>
              <a:t>5</a:t>
            </a:r>
            <a:endParaRPr lang="en-US" sz="1500" dirty="0"/>
          </a:p>
        </p:txBody>
      </p:sp>
      <p:sp>
        <p:nvSpPr>
          <p:cNvPr id="13" name="Text 11"/>
          <p:cNvSpPr txBox="1"/>
          <p:nvPr/>
        </p:nvSpPr>
        <p:spPr>
          <a:xfrm>
            <a:off x="896112" y="3154680"/>
            <a:ext cx="3931920" cy="274320"/>
          </a:xfrm>
          <a:prstGeom prst="rect">
            <a:avLst/>
          </a:prstGeom>
          <a:noFill/>
          <a:ln/>
        </p:spPr>
        <p:txBody>
          <a:bodyPr wrap="square" lIns="0" tIns="0" rIns="0" bIns="0" rtlCol="0" anchor="t"/>
          <a:lstStyle/>
          <a:p>
            <a:pPr indent="0" marL="0">
              <a:buNone/>
            </a:pPr>
            <a:r>
              <a:rPr lang="en-US" sz="1050" dirty="0">
                <a:solidFill>
                  <a:srgbClr val="F4EFE6"/>
                </a:solidFill>
                <a:latin typeface="Arial" pitchFamily="34" charset="0"/>
                <a:ea typeface="Arial" pitchFamily="34" charset="-122"/>
                <a:cs typeface="Arial" pitchFamily="34" charset="-120"/>
              </a:rPr>
              <a:t>A new order: the rule is applied</a:t>
            </a:r>
            <a:endParaRPr lang="en-US" sz="1050" dirty="0"/>
          </a:p>
        </p:txBody>
      </p:sp>
      <p:sp>
        <p:nvSpPr>
          <p:cNvPr id="14" name="Text 12"/>
          <p:cNvSpPr txBox="1"/>
          <p:nvPr/>
        </p:nvSpPr>
        <p:spPr>
          <a:xfrm>
            <a:off x="548640" y="3520440"/>
            <a:ext cx="274320" cy="292608"/>
          </a:xfrm>
          <a:prstGeom prst="rect">
            <a:avLst/>
          </a:prstGeom>
          <a:noFill/>
          <a:ln/>
        </p:spPr>
        <p:txBody>
          <a:bodyPr wrap="square" lIns="0" tIns="0" rIns="0" bIns="0" rtlCol="0" anchor="t"/>
          <a:lstStyle/>
          <a:p>
            <a:pPr indent="0" marL="0">
              <a:buNone/>
            </a:pPr>
            <a:r>
              <a:rPr lang="en-US" sz="1500" dirty="0">
                <a:solidFill>
                  <a:srgbClr val="A3804C"/>
                </a:solidFill>
                <a:latin typeface="Georgia" pitchFamily="34" charset="0"/>
                <a:ea typeface="Georgia" pitchFamily="34" charset="-122"/>
                <a:cs typeface="Georgia" pitchFamily="34" charset="-120"/>
              </a:rPr>
              <a:t>6</a:t>
            </a:r>
            <a:endParaRPr lang="en-US" sz="1500" dirty="0"/>
          </a:p>
        </p:txBody>
      </p:sp>
      <p:sp>
        <p:nvSpPr>
          <p:cNvPr id="15" name="Text 13"/>
          <p:cNvSpPr txBox="1"/>
          <p:nvPr/>
        </p:nvSpPr>
        <p:spPr>
          <a:xfrm>
            <a:off x="896112" y="3557016"/>
            <a:ext cx="3931920" cy="274320"/>
          </a:xfrm>
          <a:prstGeom prst="rect">
            <a:avLst/>
          </a:prstGeom>
          <a:noFill/>
          <a:ln/>
        </p:spPr>
        <p:txBody>
          <a:bodyPr wrap="square" lIns="0" tIns="0" rIns="0" bIns="0" rtlCol="0" anchor="t"/>
          <a:lstStyle/>
          <a:p>
            <a:pPr indent="0" marL="0">
              <a:buNone/>
            </a:pPr>
            <a:r>
              <a:rPr lang="en-US" sz="1050" dirty="0">
                <a:solidFill>
                  <a:srgbClr val="F4EFE6"/>
                </a:solidFill>
                <a:latin typeface="Arial" pitchFamily="34" charset="0"/>
                <a:ea typeface="Arial" pitchFamily="34" charset="-122"/>
                <a:cs typeface="Arial" pitchFamily="34" charset="-120"/>
              </a:rPr>
              <a:t>Hard case: a workshop that cannot take it, and an impossible date</a:t>
            </a:r>
            <a:endParaRPr lang="en-US" sz="1050" dirty="0"/>
          </a:p>
        </p:txBody>
      </p:sp>
      <p:sp>
        <p:nvSpPr>
          <p:cNvPr id="16" name="Text 14"/>
          <p:cNvSpPr txBox="1"/>
          <p:nvPr/>
        </p:nvSpPr>
        <p:spPr>
          <a:xfrm>
            <a:off x="548640" y="3922776"/>
            <a:ext cx="274320" cy="292608"/>
          </a:xfrm>
          <a:prstGeom prst="rect">
            <a:avLst/>
          </a:prstGeom>
          <a:noFill/>
          <a:ln/>
        </p:spPr>
        <p:txBody>
          <a:bodyPr wrap="square" lIns="0" tIns="0" rIns="0" bIns="0" rtlCol="0" anchor="t"/>
          <a:lstStyle/>
          <a:p>
            <a:pPr indent="0" marL="0">
              <a:buNone/>
            </a:pPr>
            <a:r>
              <a:rPr lang="en-US" sz="1500" dirty="0">
                <a:solidFill>
                  <a:srgbClr val="A3804C"/>
                </a:solidFill>
                <a:latin typeface="Georgia" pitchFamily="34" charset="0"/>
                <a:ea typeface="Georgia" pitchFamily="34" charset="-122"/>
                <a:cs typeface="Georgia" pitchFamily="34" charset="-120"/>
              </a:rPr>
              <a:t>7</a:t>
            </a:r>
            <a:endParaRPr lang="en-US" sz="1500" dirty="0"/>
          </a:p>
        </p:txBody>
      </p:sp>
      <p:sp>
        <p:nvSpPr>
          <p:cNvPr id="17" name="Text 15"/>
          <p:cNvSpPr txBox="1"/>
          <p:nvPr/>
        </p:nvSpPr>
        <p:spPr>
          <a:xfrm>
            <a:off x="896112" y="3959352"/>
            <a:ext cx="3931920" cy="274320"/>
          </a:xfrm>
          <a:prstGeom prst="rect">
            <a:avLst/>
          </a:prstGeom>
          <a:noFill/>
          <a:ln/>
        </p:spPr>
        <p:txBody>
          <a:bodyPr wrap="square" lIns="0" tIns="0" rIns="0" bIns="0" rtlCol="0" anchor="t"/>
          <a:lstStyle/>
          <a:p>
            <a:pPr indent="0" marL="0">
              <a:buNone/>
            </a:pPr>
            <a:r>
              <a:rPr lang="en-US" sz="1050" dirty="0">
                <a:solidFill>
                  <a:srgbClr val="F4EFE6"/>
                </a:solidFill>
                <a:latin typeface="Arial" pitchFamily="34" charset="0"/>
                <a:ea typeface="Arial" pitchFamily="34" charset="-122"/>
                <a:cs typeface="Arial" pitchFamily="34" charset="-120"/>
              </a:rPr>
              <a:t>Behind the answer: what the model read, what Python computed</a:t>
            </a:r>
            <a:endParaRPr lang="en-US" sz="1050" dirty="0"/>
          </a:p>
        </p:txBody>
      </p:sp>
      <p:pic>
        <p:nvPicPr>
          <p:cNvPr id="18" name="Image 0" descr="The assistant beside its Behind the answer panel, showing a remembered rule applied to a new order">    </p:cNvPr>
          <p:cNvPicPr>
            <a:picLocks noChangeAspect="1"/>
          </p:cNvPicPr>
          <p:nvPr/>
        </p:nvPicPr>
        <p:blipFill>
          <a:blip r:embed="rId1"/>
          <a:stretch>
            <a:fillRect/>
          </a:stretch>
        </p:blipFill>
        <p:spPr>
          <a:xfrm>
            <a:off x="5029200" y="658368"/>
            <a:ext cx="3802598" cy="3749040"/>
          </a:xfrm>
          <a:prstGeom prst="rect">
            <a:avLst/>
          </a:prstGeom>
          <a:effectLst>
            <a:outerShdw sx="100000" sy="100000" kx="0" ky="0" algn="bl" rotWithShape="0" blurRad="127000" dist="38100" dir="5400000">
              <a:srgbClr val="000000">
                <a:alpha val="18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57200"/>
            <a:ext cx="3657600" cy="274320"/>
          </a:xfrm>
          <a:prstGeom prst="rect">
            <a:avLst/>
          </a:prstGeom>
          <a:noFill/>
          <a:ln/>
        </p:spPr>
        <p:txBody>
          <a:bodyPr wrap="square" lIns="0" tIns="0" rIns="0" bIns="0" rtlCol="0" anchor="t"/>
          <a:lstStyle/>
          <a:p>
            <a:pPr indent="0" marL="0">
              <a:buNone/>
            </a:pPr>
            <a:r>
              <a:rPr lang="en-US" sz="1300" spc="900" kern="0" dirty="0">
                <a:solidFill>
                  <a:srgbClr val="F4EFE6"/>
                </a:solidFill>
                <a:latin typeface="Georgia" pitchFamily="34" charset="0"/>
                <a:ea typeface="Georgia" pitchFamily="34" charset="-122"/>
                <a:cs typeface="Georgia" pitchFamily="34" charset="-120"/>
              </a:rPr>
              <a:t>STITCHFLOW</a:t>
            </a:r>
            <a:endParaRPr lang="en-US" sz="1300" dirty="0"/>
          </a:p>
        </p:txBody>
      </p:sp>
      <p:sp>
        <p:nvSpPr>
          <p:cNvPr id="3" name="Text 1"/>
          <p:cNvSpPr txBox="1"/>
          <p:nvPr/>
        </p:nvSpPr>
        <p:spPr>
          <a:xfrm>
            <a:off x="548640" y="1463040"/>
            <a:ext cx="8046720" cy="822960"/>
          </a:xfrm>
          <a:prstGeom prst="rect">
            <a:avLst/>
          </a:prstGeom>
          <a:noFill/>
          <a:ln/>
        </p:spPr>
        <p:txBody>
          <a:bodyPr wrap="square" lIns="0" tIns="0" rIns="0" bIns="0" rtlCol="0" anchor="t"/>
          <a:lstStyle/>
          <a:p>
            <a:pPr indent="0" marL="0">
              <a:buNone/>
            </a:pPr>
            <a:r>
              <a:rPr lang="en-US" sz="4000" dirty="0">
                <a:solidFill>
                  <a:srgbClr val="F4EFE6"/>
                </a:solidFill>
                <a:latin typeface="Georgia" pitchFamily="34" charset="0"/>
                <a:ea typeface="Georgia" pitchFamily="34" charset="-122"/>
                <a:cs typeface="Georgia" pitchFamily="34" charset="-120"/>
              </a:rPr>
              <a:t>Thank you.</a:t>
            </a:r>
            <a:endParaRPr lang="en-US" sz="4000" dirty="0"/>
          </a:p>
        </p:txBody>
      </p:sp>
      <p:sp>
        <p:nvSpPr>
          <p:cNvPr id="4" name="Text 2"/>
          <p:cNvSpPr txBox="1"/>
          <p:nvPr/>
        </p:nvSpPr>
        <p:spPr>
          <a:xfrm>
            <a:off x="548640" y="2286000"/>
            <a:ext cx="8046720" cy="457200"/>
          </a:xfrm>
          <a:prstGeom prst="rect">
            <a:avLst/>
          </a:prstGeom>
          <a:noFill/>
          <a:ln/>
        </p:spPr>
        <p:txBody>
          <a:bodyPr wrap="square" lIns="0" tIns="0" rIns="0" bIns="0" rtlCol="0" anchor="t"/>
          <a:lstStyle/>
          <a:p>
            <a:pPr indent="0" marL="0">
              <a:buNone/>
            </a:pPr>
            <a:r>
              <a:rPr lang="en-US" sz="1800" i="1" dirty="0">
                <a:solidFill>
                  <a:srgbClr val="B9AF9F"/>
                </a:solidFill>
                <a:latin typeface="Georgia" pitchFamily="34" charset="0"/>
                <a:ea typeface="Georgia" pitchFamily="34" charset="-122"/>
                <a:cs typeface="Georgia" pitchFamily="34" charset="-120"/>
              </a:rPr>
              <a:t>Questions are welcome.</a:t>
            </a:r>
            <a:endParaRPr lang="en-US" sz="1800" dirty="0"/>
          </a:p>
        </p:txBody>
      </p:sp>
      <p:sp>
        <p:nvSpPr>
          <p:cNvPr id="5" name="Text 3"/>
          <p:cNvSpPr txBox="1"/>
          <p:nvPr/>
        </p:nvSpPr>
        <p:spPr>
          <a:xfrm>
            <a:off x="548640" y="3246120"/>
            <a:ext cx="8046720" cy="201168"/>
          </a:xfrm>
          <a:prstGeom prst="rect">
            <a:avLst/>
          </a:prstGeom>
          <a:noFill/>
          <a:ln/>
        </p:spPr>
        <p:txBody>
          <a:bodyPr wrap="square" lIns="0" tIns="0" rIns="0" bIns="0" rtlCol="0" anchor="t"/>
          <a:lstStyle/>
          <a:p>
            <a:pPr indent="0" marL="0">
              <a:buNone/>
            </a:pPr>
            <a:r>
              <a:rPr lang="en-US" sz="1000" b="1" dirty="0">
                <a:solidFill>
                  <a:srgbClr val="A3804C"/>
                </a:solidFill>
                <a:latin typeface="Arial" pitchFamily="34" charset="0"/>
                <a:ea typeface="Arial" pitchFamily="34" charset="-122"/>
                <a:cs typeface="Arial" pitchFamily="34" charset="-120"/>
              </a:rPr>
              <a:t>GITHUB  </a:t>
            </a:r>
            <a:r>
              <a:rPr lang="en-US" sz="1000" dirty="0">
                <a:solidFill>
                  <a:srgbClr val="F4EFE6"/>
                </a:solidFill>
                <a:latin typeface="Arial" pitchFamily="34" charset="0"/>
                <a:ea typeface="Arial" pitchFamily="34" charset="-122"/>
                <a:cs typeface="Arial" pitchFamily="34" charset="-120"/>
              </a:rPr>
              <a:t>github.com/JoshuaGloor/dss5105-capstone-project</a:t>
            </a:r>
            <a:endParaRPr lang="en-US" sz="1000" dirty="0"/>
          </a:p>
        </p:txBody>
      </p:sp>
      <p:sp>
        <p:nvSpPr>
          <p:cNvPr id="6" name="Text 4"/>
          <p:cNvSpPr txBox="1"/>
          <p:nvPr/>
        </p:nvSpPr>
        <p:spPr>
          <a:xfrm>
            <a:off x="548640" y="3520440"/>
            <a:ext cx="8046720" cy="201168"/>
          </a:xfrm>
          <a:prstGeom prst="rect">
            <a:avLst/>
          </a:prstGeom>
          <a:noFill/>
          <a:ln/>
        </p:spPr>
        <p:txBody>
          <a:bodyPr wrap="square" lIns="0" tIns="0" rIns="0" bIns="0" rtlCol="0" anchor="t"/>
          <a:lstStyle/>
          <a:p>
            <a:pPr indent="0" marL="0">
              <a:buNone/>
            </a:pPr>
            <a:r>
              <a:rPr lang="en-US" sz="1000" b="1" dirty="0">
                <a:solidFill>
                  <a:srgbClr val="A3804C"/>
                </a:solidFill>
                <a:latin typeface="Arial" pitchFamily="34" charset="0"/>
                <a:ea typeface="Arial" pitchFamily="34" charset="-122"/>
                <a:cs typeface="Arial" pitchFamily="34" charset="-120"/>
              </a:rPr>
              <a:t>DEMO VIDEO  </a:t>
            </a:r>
            <a:r>
              <a:rPr lang="en-US" sz="1000" dirty="0">
                <a:solidFill>
                  <a:srgbClr val="F4EFE6"/>
                </a:solidFill>
                <a:latin typeface="Arial" pitchFamily="34" charset="0"/>
                <a:ea typeface="Arial" pitchFamily="34" charset="-122"/>
                <a:cs typeface="Arial" pitchFamily="34" charset="-120"/>
              </a:rPr>
              <a:t>[YouTube link: add after upload]</a:t>
            </a:r>
            <a:endParaRPr lang="en-US" sz="1000" dirty="0"/>
          </a:p>
        </p:txBody>
      </p:sp>
      <p:sp>
        <p:nvSpPr>
          <p:cNvPr id="7" name="Text 5"/>
          <p:cNvSpPr txBox="1"/>
          <p:nvPr/>
        </p:nvSpPr>
        <p:spPr>
          <a:xfrm>
            <a:off x="548640" y="4114800"/>
            <a:ext cx="8046720" cy="201168"/>
          </a:xfrm>
          <a:prstGeom prst="rect">
            <a:avLst/>
          </a:prstGeom>
          <a:noFill/>
          <a:ln/>
        </p:spPr>
        <p:txBody>
          <a:bodyPr wrap="square" lIns="0" tIns="0" rIns="0" bIns="0" rtlCol="0" anchor="t"/>
          <a:lstStyle/>
          <a:p>
            <a:pPr indent="0" marL="0">
              <a:buNone/>
            </a:pPr>
            <a:r>
              <a:rPr lang="en-US" sz="850" b="1" spc="300" kern="0" dirty="0">
                <a:solidFill>
                  <a:srgbClr val="A3804C"/>
                </a:solidFill>
                <a:latin typeface="Arial" pitchFamily="34" charset="0"/>
                <a:ea typeface="Arial" pitchFamily="34" charset="-122"/>
                <a:cs typeface="Arial" pitchFamily="34" charset="-120"/>
              </a:rPr>
              <a:t>SAY THE ORDER  /  PYTHON CHECKS  /  A PERSON COMMITS</a:t>
            </a:r>
            <a:endParaRPr lang="en-US" sz="850" dirty="0"/>
          </a:p>
        </p:txBody>
      </p:sp>
      <p:sp>
        <p:nvSpPr>
          <p:cNvPr id="8" name="Text 6"/>
          <p:cNvSpPr txBox="1"/>
          <p:nvPr/>
        </p:nvSpPr>
        <p:spPr>
          <a:xfrm>
            <a:off x="548640" y="4709160"/>
            <a:ext cx="8046720" cy="182880"/>
          </a:xfrm>
          <a:prstGeom prst="rect">
            <a:avLst/>
          </a:prstGeom>
          <a:noFill/>
          <a:ln/>
        </p:spPr>
        <p:txBody>
          <a:bodyPr wrap="square" lIns="0" tIns="0" rIns="0" bIns="0" rtlCol="0" anchor="t"/>
          <a:lstStyle/>
          <a:p>
            <a:pPr indent="0" marL="0">
              <a:buNone/>
            </a:pPr>
            <a:r>
              <a:rPr lang="en-US" sz="750" spc="200" kern="0" dirty="0">
                <a:solidFill>
                  <a:srgbClr val="B9AF9F"/>
                </a:solidFill>
                <a:latin typeface="Arial" pitchFamily="34" charset="0"/>
                <a:ea typeface="Arial" pitchFamily="34" charset="-122"/>
                <a:cs typeface="Arial" pitchFamily="34" charset="-120"/>
              </a:rPr>
              <a:t>GROUP 11  /  DSS5105 CAPSTONE  /  30 OCTOBER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StitchFlow: Quick-Response Subcontracting Desk - Sprint 2</dc:title>
  <dc:subject>PptxGenJS Presentation</dc:subject>
  <dc:creator>Group 11</dc:creator>
  <cp:lastModifiedBy>Group 11</cp:lastModifiedBy>
  <cp:revision>1</cp:revision>
  <dcterms:created xsi:type="dcterms:W3CDTF">2026-10-29T13:06:58Z</dcterms:created>
  <dcterms:modified xsi:type="dcterms:W3CDTF">2026-10-29T13:06:58Z</dcterms:modified>
</cp:coreProperties>
</file>