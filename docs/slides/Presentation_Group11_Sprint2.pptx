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1 - Cover (0:12)
Hi, we are Group 11, Track 2: the Quick-Response Subcontracting Desk for SweaterCo.
Our primary objective is to minimise lateness. Our secondary objective is to minimise defects.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2 - The user, and what changed since Sprint 1 (0:24)
Our user is Ravi, the production dispatcher. He is on the factory floor, and requests arrive in
a group chat. He needs a safe answer in seconds, with a record of why.
Since Sprint 1, we beat the earliest-finish rule that tied us, our defects and fairness settings
beat their baselines, and Ravi can now talk to the desk, which remembers what he confirms.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3 - The user journey (0:25)
Here is his journey. He holds the microphone and says the order, the date and any constraint.
The assistant answers on screen and out loud: the best workshop, when it arrives, and why.
He says "book it" and slides to confirm. It offers to remember his constraint, and applies it
to that customer's next order. Voice can propose. Only the slide commits.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4 - Architecture and key choices (0:36)
It is one workflow, not a ReAct loop, because every request needs the same checks in order.
Speech becomes text in the browser. Python handles commands like "book it" itself. Everything
else is one structured-output call, and every field must quote the message or Python rejects it.
Deterministic tools then find the order, apply remembered rules, check eligibility, estimate and
rank. Replies are Python templates, so the model never does arithmetic. A person confirms, and
SQLite keeps the record and the memory, as exact rules rather than a vector store.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5 - Progress (Saadhvika, 0:18)
Here is every feature with its owner. The assistant, memory, the four-objective scorer, the desk
redesign and the AWS deployment are done. In progress: clarification reliability, and our
evaluation set of 50 new requests with independent labels. Next: a live run and a usability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6 - Validation plan (Niyanthri, 0:35)
For allocation we measure late batches and late days in the course simulator, normal and with a
closure, against the three baselines and earliest finish, choosing settings on separate seeds
first. Our default is 1.4 percent late against 1.7, with 68 percent fewer late days. For
language: all 30 inbox requests by kind, plus 50 new held-out requests that we are writing and
labelling separately. Hard cases: impossible dates, ineligible workshops, misheard orders. We give
options, refuse with a reason, and read the order back before booking.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7 - Demo (2:00)
[0:00] Show slide 7 for two seconds, then switch to the app.
Now the demo. This is Ravi's phone. The rings show how busy each workshop is, and OldMill is
greyed out because it is suspended.
[0:10] Hold the microphone and say: "ORD-109, 500 vests for Harbor Knits, due April 13.
Keep it away from BudgetWorks." Let the reply play.
He just says it. GiantWeave delivers on Thursday, 9 April, 3.71 days early. BudgetWorks is
excluded, and the card says Ravi asked.
[0:35] Open "Compare 4 workshops", then "Can't take it". Close them.
[0:45] Say "book it". On the sheet, slide to confirm. Tap "Remember" on the offer.
One slide, and the booking is saved with his name. The rule goes into memory.
[1:05] Say: "ORD-081 for Harbor Knits needs to go out, due April 20."
A new order for the same customer: the rule is applied, and the card says it came from memory.
[1:20] Hard case. Say: "QuickStitch for the scarves on ORD-103?"
QuickStitch cannot make scarves, and no workshop can meet the 4 April date. The desk says so,
gives the earliest option, 13.44 days late, and a two-shop split. Nothing is booked.
[1:40] Point at the "Behind the answer" panel.
Every answer shows what the model extracted, with its quotes, and what Python computed.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8 - Thank you (0:05)
Thank you. The code and the video link are on the first slide.
Q&amp;A PREPARATION (not read aloud)
- Ruby (Duong Thanh Nhan) cannot attend: she emails Salman and Jack with her reason before the
  session, and slide 1 shows "Absent" with that reason. Any member may be asked about her desk
  redesign: one answer at a time, objective panel, saved plan, Show working.
- Why voice? The track's bonus asks how a dispatcher would really use it: on the floor, on a
  phone. Typing still works everywhere, and the course inbox is still evaluated as text.
- Can a misheard "yes" book something? No. "Book it" only opens the sheet. Saving needs a
  name and the slide, and the preview is recomputed and checked for changes first.
- Does the model see costs or queues? No. It sees the message, the conversation, and the
  workshop, customer and product names. Python computes every number.
- What does memory store? Constraints from confirmed bookings, with who said them and their
  words; a log of answers and bookings; the dispatcher's name and priorities. Nothing is
  learned from the model alone, and a rule can be paused.
- Did you tune on the course seeds? Presets were chosen on development seeds 6000-6029. The
  course seeds were run twice: after the first run a desk case (R12) showed reservation could
  prefer a slightly late shop, so we added an on-time-first charge and re-ran everything. It is
  disclosed in docs/OBJECTIVE_STUDY.md; the default's numbers did not change.
- Where do baselines still win? Under the closure our default is 0.17 points worse on late
  batches than earliest finish. The Sprint 1 lateness preset moves fewer late days under the
  closure than our robustness preset. We do not claim a universal robustness win.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AF8F4"/>
        </a:solidFill>
      </p:bgPr>
    </p:bg>
    <p:spTree>
      <p:nvGrpSpPr>
        <p:cNvPr id="1" name=""/>
        <p:cNvGrpSpPr/>
        <p:nvPr/>
      </p:nvGrpSpPr>
      <p:grpSpPr>
        <a:xfrm>
          <a:off x="0" y="0"/>
          <a:ext cx="0" cy="0"/>
          <a:chOff x="0" y="0"/>
          <a:chExt cx="0" cy="0"/>
        </a:xfrm>
      </p:grpSpPr>
      <p:sp>
        <p:nvSpPr>
          <p:cNvPr id="2" name="Text 0"/>
          <p:cNvSpPr/>
          <p:nvPr/>
        </p:nvSpPr>
        <p:spPr>
          <a:xfrm>
            <a:off x="548640" y="4800600"/>
            <a:ext cx="6400800" cy="201168"/>
          </a:xfrm>
          <a:prstGeom prst="rect">
            <a:avLst/>
          </a:prstGeom>
          <a:noFill/>
          <a:ln/>
        </p:spPr>
        <p:txBody>
          <a:bodyPr wrap="square" lIns="0" tIns="0" rIns="0" bIns="0" rtlCol="0" anchor="ctr"/>
          <a:lstStyle/>
          <a:p>
            <a:pPr indent="0" marL="0">
              <a:buNone/>
            </a:pPr>
            <a:r>
              <a:rPr lang="en-US" sz="700" spc="150" kern="0" dirty="0">
                <a:solidFill>
                  <a:srgbClr val="6B665D"/>
                </a:solidFill>
                <a:latin typeface="Arial" pitchFamily="34" charset="0"/>
                <a:ea typeface="Arial" pitchFamily="34" charset="-122"/>
                <a:cs typeface="Arial" pitchFamily="34" charset="-120"/>
              </a:rPr>
              <a:t>SWEATERCO  /  QUICK-RESPONSE SUBCONTRACTING DESK  /  GROUP 11  /  SPRINT 2</a:t>
            </a:r>
            <a:endParaRPr lang="en-US" sz="700" dirty="0"/>
          </a:p>
        </p:txBody>
      </p:sp>
      <p:sp>
        <p:nvSpPr>
          <p:cNvPr id="25" name="Slide Number Placeholder 0"/>
          <p:cNvSpPr>
            <a:spLocks noGrp="1"/>
          </p:cNvSpPr>
          <p:nvPr>
            <p:ph type="sldNum" sz="quarter" idx="4294967295"/>
          </p:nvPr>
        </p:nvSpPr>
        <p:spPr>
          <a:xfrm>
            <a:off x="8138160" y="4800600"/>
            <a:ext cx="457200" cy="201168"/>
          </a:xfrm>
          <a:prstGeom prst="rect">
            <a:avLst/>
          </a:prstGeom>
          <a:extLst>
            <a:ext uri="{C572A759-6A51-4108-AA02-DFA0A04FC94B}">
              <ma14:wrappingTextBoxFlag xmlns:ma14="http://schemas.microsoft.com/office/mac/drawingml/2011/main" val="0"/>
            </a:ext>
          </a:extLst>
        </p:spPr>
        <p:txBody>
          <a:bodyPr/>
          <a:lstStyle>
            <a:lvl1pPr>
              <a:defRPr sz="700">
                <a:solidFill>
                  <a:srgbClr val="6B665D"/>
                </a:solidFill>
                <a:latin typeface="Arial"/>
                <a:ea typeface="Arial"/>
                <a:cs typeface="Aria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D1B18"/>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138160" y="4800600"/>
            <a:ext cx="457200" cy="201168"/>
          </a:xfrm>
          <a:prstGeom prst="rect">
            <a:avLst/>
          </a:prstGeom>
          <a:extLst>
            <a:ext uri="{C572A759-6A51-4108-AA02-DFA0A04FC94B}">
              <ma14:wrappingTextBoxFlag xmlns:ma14="http://schemas.microsoft.com/office/mac/drawingml/2011/main" val="0"/>
            </a:ext>
          </a:extLst>
        </p:spPr>
        <p:txBody>
          <a:bodyPr/>
          <a:lstStyle>
            <a:lvl1pPr>
              <a:defRPr sz="700">
                <a:solidFill>
                  <a:srgbClr val="6B665D"/>
                </a:solidFill>
                <a:latin typeface="Arial"/>
                <a:ea typeface="Arial"/>
                <a:cs typeface="Aria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2.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48640" y="384048"/>
            <a:ext cx="3657600" cy="274320"/>
          </a:xfrm>
          <a:prstGeom prst="rect">
            <a:avLst/>
          </a:prstGeom>
          <a:noFill/>
          <a:ln/>
        </p:spPr>
        <p:txBody>
          <a:bodyPr wrap="square" lIns="0" tIns="0" rIns="0" bIns="0" rtlCol="0" anchor="t"/>
          <a:lstStyle/>
          <a:p>
            <a:pPr indent="0" marL="0">
              <a:buNone/>
            </a:pPr>
            <a:r>
              <a:rPr lang="en-US" sz="1300" spc="900" kern="0" dirty="0">
                <a:solidFill>
                  <a:srgbClr val="F4EFE6"/>
                </a:solidFill>
                <a:latin typeface="Georgia" pitchFamily="34" charset="0"/>
                <a:ea typeface="Georgia" pitchFamily="34" charset="-122"/>
                <a:cs typeface="Georgia" pitchFamily="34" charset="-120"/>
              </a:rPr>
              <a:t>SWEATERCO</a:t>
            </a:r>
            <a:endParaRPr lang="en-US" sz="1300" dirty="0"/>
          </a:p>
        </p:txBody>
      </p:sp>
      <p:sp>
        <p:nvSpPr>
          <p:cNvPr id="3" name="Text 1"/>
          <p:cNvSpPr txBox="1"/>
          <p:nvPr/>
        </p:nvSpPr>
        <p:spPr>
          <a:xfrm>
            <a:off x="548640" y="914400"/>
            <a:ext cx="5486400" cy="201168"/>
          </a:xfrm>
          <a:prstGeom prst="rect">
            <a:avLst/>
          </a:prstGeom>
          <a:noFill/>
          <a:ln/>
        </p:spPr>
        <p:txBody>
          <a:bodyPr wrap="square" lIns="0" tIns="0" rIns="0" bIns="0" rtlCol="0" anchor="t"/>
          <a:lstStyle/>
          <a:p>
            <a:pPr indent="0" marL="0">
              <a:buNone/>
            </a:pPr>
            <a:r>
              <a:rPr lang="en-US" sz="850" b="1" spc="300" kern="0" dirty="0">
                <a:solidFill>
                  <a:srgbClr val="A3804C"/>
                </a:solidFill>
                <a:latin typeface="Arial" pitchFamily="34" charset="0"/>
                <a:ea typeface="Arial" pitchFamily="34" charset="-122"/>
                <a:cs typeface="Arial" pitchFamily="34" charset="-120"/>
              </a:rPr>
              <a:t>GROUP 11  /  TRACK 2  /  SPRINT 2 REVIEW</a:t>
            </a:r>
            <a:endParaRPr lang="en-US" sz="850" dirty="0"/>
          </a:p>
        </p:txBody>
      </p:sp>
      <p:sp>
        <p:nvSpPr>
          <p:cNvPr id="4" name="Text 2"/>
          <p:cNvSpPr txBox="1"/>
          <p:nvPr/>
        </p:nvSpPr>
        <p:spPr>
          <a:xfrm>
            <a:off x="548640" y="1143000"/>
            <a:ext cx="5669280" cy="1143000"/>
          </a:xfrm>
          <a:prstGeom prst="rect">
            <a:avLst/>
          </a:prstGeom>
          <a:noFill/>
          <a:ln/>
        </p:spPr>
        <p:txBody>
          <a:bodyPr wrap="square" lIns="0" tIns="0" rIns="0" bIns="0" rtlCol="0" anchor="ctr"/>
          <a:lstStyle/>
          <a:p>
            <a:pPr indent="0" marL="0">
              <a:buNone/>
            </a:pPr>
            <a:r>
              <a:rPr lang="en-US" sz="3400" dirty="0">
                <a:solidFill>
                  <a:srgbClr val="F4EFE6"/>
                </a:solidFill>
                <a:latin typeface="Georgia" pitchFamily="34" charset="0"/>
                <a:ea typeface="Georgia" pitchFamily="34" charset="-122"/>
                <a:cs typeface="Georgia" pitchFamily="34" charset="-120"/>
              </a:rPr>
              <a:t>The Quick-Response</a:t>
            </a:r>
            <a:endParaRPr lang="en-US" sz="3400" dirty="0"/>
          </a:p>
          <a:p>
            <a:pPr indent="0" marL="0">
              <a:buNone/>
            </a:pPr>
            <a:r>
              <a:rPr lang="en-US" sz="3400" dirty="0">
                <a:solidFill>
                  <a:srgbClr val="F4EFE6"/>
                </a:solidFill>
                <a:latin typeface="Georgia" pitchFamily="34" charset="0"/>
                <a:ea typeface="Georgia" pitchFamily="34" charset="-122"/>
                <a:cs typeface="Georgia" pitchFamily="34" charset="-120"/>
              </a:rPr>
              <a:t>Subcontracting Desk</a:t>
            </a:r>
            <a:endParaRPr lang="en-US" sz="3400" dirty="0"/>
          </a:p>
        </p:txBody>
      </p:sp>
      <p:sp>
        <p:nvSpPr>
          <p:cNvPr id="5" name="Text 3"/>
          <p:cNvSpPr txBox="1"/>
          <p:nvPr/>
        </p:nvSpPr>
        <p:spPr>
          <a:xfrm>
            <a:off x="548640" y="2304288"/>
            <a:ext cx="5486400" cy="365760"/>
          </a:xfrm>
          <a:prstGeom prst="rect">
            <a:avLst/>
          </a:prstGeom>
          <a:noFill/>
          <a:ln/>
        </p:spPr>
        <p:txBody>
          <a:bodyPr wrap="square" lIns="0" tIns="0" rIns="0" bIns="0" rtlCol="0" anchor="t"/>
          <a:lstStyle/>
          <a:p>
            <a:pPr indent="0" marL="0">
              <a:buNone/>
            </a:pPr>
            <a:r>
              <a:rPr lang="en-US" sz="1500" i="1" dirty="0">
                <a:solidFill>
                  <a:srgbClr val="B9AF9F"/>
                </a:solidFill>
                <a:latin typeface="Georgia" pitchFamily="34" charset="0"/>
                <a:ea typeface="Georgia" pitchFamily="34" charset="-122"/>
                <a:cs typeface="Georgia" pitchFamily="34" charset="-120"/>
              </a:rPr>
              <a:t>Ravi talks. Python checks. A person commits.</a:t>
            </a:r>
            <a:endParaRPr lang="en-US" sz="1500" dirty="0"/>
          </a:p>
        </p:txBody>
      </p:sp>
      <p:sp>
        <p:nvSpPr>
          <p:cNvPr id="6" name="Shape 4"/>
          <p:cNvSpPr/>
          <p:nvPr/>
        </p:nvSpPr>
        <p:spPr>
          <a:xfrm>
            <a:off x="548640" y="2779776"/>
            <a:ext cx="2377440" cy="329184"/>
          </a:xfrm>
          <a:prstGeom prst="roundRect">
            <a:avLst>
              <a:gd name="adj" fmla="val 50000"/>
            </a:avLst>
          </a:prstGeom>
          <a:solidFill>
            <a:srgbClr val="1D1B18"/>
          </a:solidFill>
          <a:ln w="12700">
            <a:solidFill>
              <a:srgbClr val="A3804C"/>
            </a:solidFill>
            <a:prstDash val="solid"/>
          </a:ln>
        </p:spPr>
      </p:sp>
      <p:sp>
        <p:nvSpPr>
          <p:cNvPr id="7" name="Text 5"/>
          <p:cNvSpPr txBox="1"/>
          <p:nvPr/>
        </p:nvSpPr>
        <p:spPr>
          <a:xfrm>
            <a:off x="548640" y="2779776"/>
            <a:ext cx="2377440" cy="329184"/>
          </a:xfrm>
          <a:prstGeom prst="rect">
            <a:avLst/>
          </a:prstGeom>
          <a:noFill/>
          <a:ln/>
        </p:spPr>
        <p:txBody>
          <a:bodyPr wrap="square" lIns="0" tIns="0" rIns="0" bIns="0" rtlCol="0" anchor="ctr"/>
          <a:lstStyle/>
          <a:p>
            <a:pPr algn="ctr" indent="0" marL="0">
              <a:buNone/>
            </a:pPr>
            <a:r>
              <a:rPr lang="en-US" sz="850" b="1" spc="120" kern="0" dirty="0">
                <a:solidFill>
                  <a:srgbClr val="A3804C"/>
                </a:solidFill>
                <a:latin typeface="Arial" pitchFamily="34" charset="0"/>
                <a:ea typeface="Arial" pitchFamily="34" charset="-122"/>
                <a:cs typeface="Arial" pitchFamily="34" charset="-120"/>
              </a:rPr>
              <a:t>PRIMARY  </a:t>
            </a:r>
            <a:r>
              <a:rPr lang="en-US" sz="850" b="1" spc="120" kern="0" dirty="0">
                <a:solidFill>
                  <a:srgbClr val="F4EFE6"/>
                </a:solidFill>
                <a:latin typeface="Arial" pitchFamily="34" charset="0"/>
                <a:ea typeface="Arial" pitchFamily="34" charset="-122"/>
                <a:cs typeface="Arial" pitchFamily="34" charset="-120"/>
              </a:rPr>
              <a:t>MINIMISE LATENESS</a:t>
            </a:r>
            <a:endParaRPr lang="en-US" sz="850" dirty="0"/>
          </a:p>
        </p:txBody>
      </p:sp>
      <p:sp>
        <p:nvSpPr>
          <p:cNvPr id="8" name="Shape 6"/>
          <p:cNvSpPr/>
          <p:nvPr/>
        </p:nvSpPr>
        <p:spPr>
          <a:xfrm>
            <a:off x="3063240" y="2779776"/>
            <a:ext cx="2377440" cy="329184"/>
          </a:xfrm>
          <a:prstGeom prst="roundRect">
            <a:avLst>
              <a:gd name="adj" fmla="val 50000"/>
            </a:avLst>
          </a:prstGeom>
          <a:solidFill>
            <a:srgbClr val="1D1B18"/>
          </a:solidFill>
          <a:ln w="12700">
            <a:solidFill>
              <a:srgbClr val="A3804C"/>
            </a:solidFill>
            <a:prstDash val="solid"/>
          </a:ln>
        </p:spPr>
      </p:sp>
      <p:sp>
        <p:nvSpPr>
          <p:cNvPr id="9" name="Text 7"/>
          <p:cNvSpPr txBox="1"/>
          <p:nvPr/>
        </p:nvSpPr>
        <p:spPr>
          <a:xfrm>
            <a:off x="3063240" y="2779776"/>
            <a:ext cx="2377440" cy="329184"/>
          </a:xfrm>
          <a:prstGeom prst="rect">
            <a:avLst/>
          </a:prstGeom>
          <a:noFill/>
          <a:ln/>
        </p:spPr>
        <p:txBody>
          <a:bodyPr wrap="square" lIns="0" tIns="0" rIns="0" bIns="0" rtlCol="0" anchor="ctr"/>
          <a:lstStyle/>
          <a:p>
            <a:pPr algn="ctr" indent="0" marL="0">
              <a:buNone/>
            </a:pPr>
            <a:r>
              <a:rPr lang="en-US" sz="850" b="1" spc="120" kern="0" dirty="0">
                <a:solidFill>
                  <a:srgbClr val="A3804C"/>
                </a:solidFill>
                <a:latin typeface="Arial" pitchFamily="34" charset="0"/>
                <a:ea typeface="Arial" pitchFamily="34" charset="-122"/>
                <a:cs typeface="Arial" pitchFamily="34" charset="-120"/>
              </a:rPr>
              <a:t>SECONDARY  </a:t>
            </a:r>
            <a:r>
              <a:rPr lang="en-US" sz="850" b="1" spc="120" kern="0" dirty="0">
                <a:solidFill>
                  <a:srgbClr val="F4EFE6"/>
                </a:solidFill>
                <a:latin typeface="Arial" pitchFamily="34" charset="0"/>
                <a:ea typeface="Arial" pitchFamily="34" charset="-122"/>
                <a:cs typeface="Arial" pitchFamily="34" charset="-120"/>
              </a:rPr>
              <a:t>MINIMISE DEFECTS</a:t>
            </a:r>
            <a:endParaRPr lang="en-US" sz="850" dirty="0"/>
          </a:p>
        </p:txBody>
      </p:sp>
      <p:sp>
        <p:nvSpPr>
          <p:cNvPr id="10" name="Text 8"/>
          <p:cNvSpPr txBox="1"/>
          <p:nvPr/>
        </p:nvSpPr>
        <p:spPr>
          <a:xfrm>
            <a:off x="548640" y="3255264"/>
            <a:ext cx="2651760" cy="155448"/>
          </a:xfrm>
          <a:prstGeom prst="rect">
            <a:avLst/>
          </a:prstGeom>
          <a:noFill/>
          <a:ln/>
        </p:spPr>
        <p:txBody>
          <a:bodyPr wrap="square" lIns="0" tIns="0" rIns="0" bIns="0" rtlCol="0" anchor="t"/>
          <a:lstStyle/>
          <a:p>
            <a:pPr indent="0" marL="0">
              <a:buNone/>
            </a:pPr>
            <a:r>
              <a:rPr lang="en-US" sz="800" dirty="0">
                <a:solidFill>
                  <a:srgbClr val="F4EFE6"/>
                </a:solidFill>
                <a:latin typeface="Arial" pitchFamily="34" charset="0"/>
                <a:ea typeface="Arial" pitchFamily="34" charset="-122"/>
                <a:cs typeface="Arial" pitchFamily="34" charset="-120"/>
              </a:rPr>
              <a:t>Chen Zepeng (A0156784N)</a:t>
            </a:r>
            <a:endParaRPr lang="en-US" sz="800" dirty="0"/>
          </a:p>
        </p:txBody>
      </p:sp>
      <p:sp>
        <p:nvSpPr>
          <p:cNvPr id="11" name="Text 9"/>
          <p:cNvSpPr txBox="1"/>
          <p:nvPr/>
        </p:nvSpPr>
        <p:spPr>
          <a:xfrm>
            <a:off x="548640" y="3392424"/>
            <a:ext cx="2651760" cy="137160"/>
          </a:xfrm>
          <a:prstGeom prst="rect">
            <a:avLst/>
          </a:prstGeom>
          <a:noFill/>
          <a:ln/>
        </p:spPr>
        <p:txBody>
          <a:bodyPr wrap="square" lIns="0" tIns="0" rIns="0" bIns="0" rtlCol="0" anchor="t"/>
          <a:lstStyle/>
          <a:p>
            <a:pPr indent="0" marL="0">
              <a:buNone/>
            </a:pPr>
            <a:r>
              <a:rPr lang="en-US" sz="700" dirty="0">
                <a:solidFill>
                  <a:srgbClr val="B9AF9F"/>
                </a:solidFill>
                <a:latin typeface="Arial" pitchFamily="34" charset="0"/>
                <a:ea typeface="Arial" pitchFamily="34" charset="-122"/>
                <a:cs typeface="Arial" pitchFamily="34" charset="-120"/>
              </a:rPr>
              <a:t>Present (in person)</a:t>
            </a:r>
            <a:endParaRPr lang="en-US" sz="700" dirty="0"/>
          </a:p>
        </p:txBody>
      </p:sp>
      <p:sp>
        <p:nvSpPr>
          <p:cNvPr id="12" name="Text 10"/>
          <p:cNvSpPr txBox="1"/>
          <p:nvPr/>
        </p:nvSpPr>
        <p:spPr>
          <a:xfrm>
            <a:off x="548640" y="3566160"/>
            <a:ext cx="2651760" cy="155448"/>
          </a:xfrm>
          <a:prstGeom prst="rect">
            <a:avLst/>
          </a:prstGeom>
          <a:noFill/>
          <a:ln/>
        </p:spPr>
        <p:txBody>
          <a:bodyPr wrap="square" lIns="0" tIns="0" rIns="0" bIns="0" rtlCol="0" anchor="t"/>
          <a:lstStyle/>
          <a:p>
            <a:pPr indent="0" marL="0">
              <a:buNone/>
            </a:pPr>
            <a:r>
              <a:rPr lang="en-US" sz="800" dirty="0">
                <a:solidFill>
                  <a:srgbClr val="F4EFE6"/>
                </a:solidFill>
                <a:latin typeface="Arial" pitchFamily="34" charset="0"/>
                <a:ea typeface="Arial" pitchFamily="34" charset="-122"/>
                <a:cs typeface="Arial" pitchFamily="34" charset="-120"/>
              </a:rPr>
              <a:t>Duong Thanh Nhan (A0296326W)</a:t>
            </a:r>
            <a:endParaRPr lang="en-US" sz="800" dirty="0"/>
          </a:p>
        </p:txBody>
      </p:sp>
      <p:sp>
        <p:nvSpPr>
          <p:cNvPr id="13" name="Text 11"/>
          <p:cNvSpPr txBox="1"/>
          <p:nvPr/>
        </p:nvSpPr>
        <p:spPr>
          <a:xfrm>
            <a:off x="548640" y="3703320"/>
            <a:ext cx="2651760" cy="137160"/>
          </a:xfrm>
          <a:prstGeom prst="rect">
            <a:avLst/>
          </a:prstGeom>
          <a:noFill/>
          <a:ln/>
        </p:spPr>
        <p:txBody>
          <a:bodyPr wrap="square" lIns="0" tIns="0" rIns="0" bIns="0" rtlCol="0" anchor="t"/>
          <a:lstStyle/>
          <a:p>
            <a:pPr indent="0" marL="0">
              <a:buNone/>
            </a:pPr>
            <a:r>
              <a:rPr lang="en-US" sz="700" dirty="0">
                <a:solidFill>
                  <a:srgbClr val="B9AF9F"/>
                </a:solidFill>
                <a:latin typeface="Arial" pitchFamily="34" charset="0"/>
                <a:ea typeface="Arial" pitchFamily="34" charset="-122"/>
                <a:cs typeface="Arial" pitchFamily="34" charset="-120"/>
              </a:rPr>
              <a:t>Absent: [reason]</a:t>
            </a:r>
            <a:endParaRPr lang="en-US" sz="700" dirty="0"/>
          </a:p>
        </p:txBody>
      </p:sp>
      <p:sp>
        <p:nvSpPr>
          <p:cNvPr id="14" name="Text 12"/>
          <p:cNvSpPr txBox="1"/>
          <p:nvPr/>
        </p:nvSpPr>
        <p:spPr>
          <a:xfrm>
            <a:off x="548640" y="3877056"/>
            <a:ext cx="2651760" cy="155448"/>
          </a:xfrm>
          <a:prstGeom prst="rect">
            <a:avLst/>
          </a:prstGeom>
          <a:noFill/>
          <a:ln/>
        </p:spPr>
        <p:txBody>
          <a:bodyPr wrap="square" lIns="0" tIns="0" rIns="0" bIns="0" rtlCol="0" anchor="t"/>
          <a:lstStyle/>
          <a:p>
            <a:pPr indent="0" marL="0">
              <a:buNone/>
            </a:pPr>
            <a:r>
              <a:rPr lang="en-US" sz="800" dirty="0">
                <a:solidFill>
                  <a:srgbClr val="F4EFE6"/>
                </a:solidFill>
                <a:latin typeface="Arial" pitchFamily="34" charset="0"/>
                <a:ea typeface="Arial" pitchFamily="34" charset="-122"/>
                <a:cs typeface="Arial" pitchFamily="34" charset="-120"/>
              </a:rPr>
              <a:t>Joshua Wesley Gloor (A0296944J)</a:t>
            </a:r>
            <a:endParaRPr lang="en-US" sz="800" dirty="0"/>
          </a:p>
        </p:txBody>
      </p:sp>
      <p:sp>
        <p:nvSpPr>
          <p:cNvPr id="15" name="Text 13"/>
          <p:cNvSpPr txBox="1"/>
          <p:nvPr/>
        </p:nvSpPr>
        <p:spPr>
          <a:xfrm>
            <a:off x="548640" y="4014216"/>
            <a:ext cx="2651760" cy="137160"/>
          </a:xfrm>
          <a:prstGeom prst="rect">
            <a:avLst/>
          </a:prstGeom>
          <a:noFill/>
          <a:ln/>
        </p:spPr>
        <p:txBody>
          <a:bodyPr wrap="square" lIns="0" tIns="0" rIns="0" bIns="0" rtlCol="0" anchor="t"/>
          <a:lstStyle/>
          <a:p>
            <a:pPr indent="0" marL="0">
              <a:buNone/>
            </a:pPr>
            <a:r>
              <a:rPr lang="en-US" sz="700" dirty="0">
                <a:solidFill>
                  <a:srgbClr val="B9AF9F"/>
                </a:solidFill>
                <a:latin typeface="Arial" pitchFamily="34" charset="0"/>
                <a:ea typeface="Arial" pitchFamily="34" charset="-122"/>
                <a:cs typeface="Arial" pitchFamily="34" charset="-120"/>
              </a:rPr>
              <a:t>Present (in person)</a:t>
            </a:r>
            <a:endParaRPr lang="en-US" sz="700" dirty="0"/>
          </a:p>
        </p:txBody>
      </p:sp>
      <p:sp>
        <p:nvSpPr>
          <p:cNvPr id="16" name="Text 14"/>
          <p:cNvSpPr txBox="1"/>
          <p:nvPr/>
        </p:nvSpPr>
        <p:spPr>
          <a:xfrm>
            <a:off x="3246120" y="3255264"/>
            <a:ext cx="2651760" cy="155448"/>
          </a:xfrm>
          <a:prstGeom prst="rect">
            <a:avLst/>
          </a:prstGeom>
          <a:noFill/>
          <a:ln/>
        </p:spPr>
        <p:txBody>
          <a:bodyPr wrap="square" lIns="0" tIns="0" rIns="0" bIns="0" rtlCol="0" anchor="t"/>
          <a:lstStyle/>
          <a:p>
            <a:pPr indent="0" marL="0">
              <a:buNone/>
            </a:pPr>
            <a:r>
              <a:rPr lang="en-US" sz="800" dirty="0">
                <a:solidFill>
                  <a:srgbClr val="F4EFE6"/>
                </a:solidFill>
                <a:latin typeface="Arial" pitchFamily="34" charset="0"/>
                <a:ea typeface="Arial" pitchFamily="34" charset="-122"/>
                <a:cs typeface="Arial" pitchFamily="34" charset="-120"/>
              </a:rPr>
              <a:t>Sridhar Niyanthri Rajeswari (A0351151U)</a:t>
            </a:r>
            <a:endParaRPr lang="en-US" sz="800" dirty="0"/>
          </a:p>
        </p:txBody>
      </p:sp>
      <p:sp>
        <p:nvSpPr>
          <p:cNvPr id="17" name="Text 15"/>
          <p:cNvSpPr txBox="1"/>
          <p:nvPr/>
        </p:nvSpPr>
        <p:spPr>
          <a:xfrm>
            <a:off x="3246120" y="3392424"/>
            <a:ext cx="2651760" cy="137160"/>
          </a:xfrm>
          <a:prstGeom prst="rect">
            <a:avLst/>
          </a:prstGeom>
          <a:noFill/>
          <a:ln/>
        </p:spPr>
        <p:txBody>
          <a:bodyPr wrap="square" lIns="0" tIns="0" rIns="0" bIns="0" rtlCol="0" anchor="t"/>
          <a:lstStyle/>
          <a:p>
            <a:pPr indent="0" marL="0">
              <a:buNone/>
            </a:pPr>
            <a:r>
              <a:rPr lang="en-US" sz="700" dirty="0">
                <a:solidFill>
                  <a:srgbClr val="B9AF9F"/>
                </a:solidFill>
                <a:latin typeface="Arial" pitchFamily="34" charset="0"/>
                <a:ea typeface="Arial" pitchFamily="34" charset="-122"/>
                <a:cs typeface="Arial" pitchFamily="34" charset="-120"/>
              </a:rPr>
              <a:t>Present (in person)</a:t>
            </a:r>
            <a:endParaRPr lang="en-US" sz="700" dirty="0"/>
          </a:p>
        </p:txBody>
      </p:sp>
      <p:sp>
        <p:nvSpPr>
          <p:cNvPr id="18" name="Text 16"/>
          <p:cNvSpPr txBox="1"/>
          <p:nvPr/>
        </p:nvSpPr>
        <p:spPr>
          <a:xfrm>
            <a:off x="3246120" y="3566160"/>
            <a:ext cx="2651760" cy="155448"/>
          </a:xfrm>
          <a:prstGeom prst="rect">
            <a:avLst/>
          </a:prstGeom>
          <a:noFill/>
          <a:ln/>
        </p:spPr>
        <p:txBody>
          <a:bodyPr wrap="square" lIns="0" tIns="0" rIns="0" bIns="0" rtlCol="0" anchor="t"/>
          <a:lstStyle/>
          <a:p>
            <a:pPr indent="0" marL="0">
              <a:buNone/>
            </a:pPr>
            <a:r>
              <a:rPr lang="en-US" sz="800" dirty="0">
                <a:solidFill>
                  <a:srgbClr val="F4EFE6"/>
                </a:solidFill>
                <a:latin typeface="Arial" pitchFamily="34" charset="0"/>
                <a:ea typeface="Arial" pitchFamily="34" charset="-122"/>
                <a:cs typeface="Arial" pitchFamily="34" charset="-120"/>
              </a:rPr>
              <a:t>Sundara Rajan Saadhvika (A0352594W)</a:t>
            </a:r>
            <a:endParaRPr lang="en-US" sz="800" dirty="0"/>
          </a:p>
        </p:txBody>
      </p:sp>
      <p:sp>
        <p:nvSpPr>
          <p:cNvPr id="19" name="Text 17"/>
          <p:cNvSpPr txBox="1"/>
          <p:nvPr/>
        </p:nvSpPr>
        <p:spPr>
          <a:xfrm>
            <a:off x="3246120" y="3703320"/>
            <a:ext cx="2651760" cy="137160"/>
          </a:xfrm>
          <a:prstGeom prst="rect">
            <a:avLst/>
          </a:prstGeom>
          <a:noFill/>
          <a:ln/>
        </p:spPr>
        <p:txBody>
          <a:bodyPr wrap="square" lIns="0" tIns="0" rIns="0" bIns="0" rtlCol="0" anchor="t"/>
          <a:lstStyle/>
          <a:p>
            <a:pPr indent="0" marL="0">
              <a:buNone/>
            </a:pPr>
            <a:r>
              <a:rPr lang="en-US" sz="700" dirty="0">
                <a:solidFill>
                  <a:srgbClr val="B9AF9F"/>
                </a:solidFill>
                <a:latin typeface="Arial" pitchFamily="34" charset="0"/>
                <a:ea typeface="Arial" pitchFamily="34" charset="-122"/>
                <a:cs typeface="Arial" pitchFamily="34" charset="-120"/>
              </a:rPr>
              <a:t>Present (in person)</a:t>
            </a:r>
            <a:endParaRPr lang="en-US" sz="700" dirty="0"/>
          </a:p>
        </p:txBody>
      </p:sp>
      <p:sp>
        <p:nvSpPr>
          <p:cNvPr id="20" name="Text 18"/>
          <p:cNvSpPr txBox="1"/>
          <p:nvPr/>
        </p:nvSpPr>
        <p:spPr>
          <a:xfrm>
            <a:off x="3246120" y="3877056"/>
            <a:ext cx="2651760" cy="155448"/>
          </a:xfrm>
          <a:prstGeom prst="rect">
            <a:avLst/>
          </a:prstGeom>
          <a:noFill/>
          <a:ln/>
        </p:spPr>
        <p:txBody>
          <a:bodyPr wrap="square" lIns="0" tIns="0" rIns="0" bIns="0" rtlCol="0" anchor="t"/>
          <a:lstStyle/>
          <a:p>
            <a:pPr indent="0" marL="0">
              <a:buNone/>
            </a:pPr>
            <a:r>
              <a:rPr lang="en-US" sz="800" dirty="0">
                <a:solidFill>
                  <a:srgbClr val="F4EFE6"/>
                </a:solidFill>
                <a:latin typeface="Arial" pitchFamily="34" charset="0"/>
                <a:ea typeface="Arial" pitchFamily="34" charset="-122"/>
                <a:cs typeface="Arial" pitchFamily="34" charset="-120"/>
              </a:rPr>
              <a:t>Tang Zheling (A0352177B)</a:t>
            </a:r>
            <a:endParaRPr lang="en-US" sz="800" dirty="0"/>
          </a:p>
        </p:txBody>
      </p:sp>
      <p:sp>
        <p:nvSpPr>
          <p:cNvPr id="21" name="Text 19"/>
          <p:cNvSpPr txBox="1"/>
          <p:nvPr/>
        </p:nvSpPr>
        <p:spPr>
          <a:xfrm>
            <a:off x="3246120" y="4014216"/>
            <a:ext cx="2651760" cy="137160"/>
          </a:xfrm>
          <a:prstGeom prst="rect">
            <a:avLst/>
          </a:prstGeom>
          <a:noFill/>
          <a:ln/>
        </p:spPr>
        <p:txBody>
          <a:bodyPr wrap="square" lIns="0" tIns="0" rIns="0" bIns="0" rtlCol="0" anchor="t"/>
          <a:lstStyle/>
          <a:p>
            <a:pPr indent="0" marL="0">
              <a:buNone/>
            </a:pPr>
            <a:r>
              <a:rPr lang="en-US" sz="700" dirty="0">
                <a:solidFill>
                  <a:srgbClr val="B9AF9F"/>
                </a:solidFill>
                <a:latin typeface="Arial" pitchFamily="34" charset="0"/>
                <a:ea typeface="Arial" pitchFamily="34" charset="-122"/>
                <a:cs typeface="Arial" pitchFamily="34" charset="-120"/>
              </a:rPr>
              <a:t>Present (in person)</a:t>
            </a:r>
            <a:endParaRPr lang="en-US" sz="700" dirty="0"/>
          </a:p>
        </p:txBody>
      </p:sp>
      <p:sp>
        <p:nvSpPr>
          <p:cNvPr id="22" name="Text 20"/>
          <p:cNvSpPr txBox="1"/>
          <p:nvPr/>
        </p:nvSpPr>
        <p:spPr>
          <a:xfrm>
            <a:off x="548640" y="4206240"/>
            <a:ext cx="5669280" cy="182880"/>
          </a:xfrm>
          <a:prstGeom prst="rect">
            <a:avLst/>
          </a:prstGeom>
          <a:noFill/>
          <a:ln/>
        </p:spPr>
        <p:txBody>
          <a:bodyPr wrap="square" lIns="0" tIns="0" rIns="0" bIns="0" rtlCol="0" anchor="t"/>
          <a:lstStyle/>
          <a:p>
            <a:pPr indent="0" marL="0">
              <a:buNone/>
            </a:pPr>
            <a:r>
              <a:rPr lang="en-US" sz="850" b="1" spc="50" kern="0" dirty="0">
                <a:solidFill>
                  <a:srgbClr val="A3804C"/>
                </a:solidFill>
                <a:latin typeface="Arial" pitchFamily="34" charset="0"/>
                <a:ea typeface="Arial" pitchFamily="34" charset="-122"/>
                <a:cs typeface="Arial" pitchFamily="34" charset="-120"/>
              </a:rPr>
              <a:t>GITHUB  </a:t>
            </a:r>
            <a:r>
              <a:rPr lang="en-US" sz="850" spc="50" kern="0" dirty="0">
                <a:solidFill>
                  <a:srgbClr val="F4EFE6"/>
                </a:solidFill>
                <a:latin typeface="Arial" pitchFamily="34" charset="0"/>
                <a:ea typeface="Arial" pitchFamily="34" charset="-122"/>
                <a:cs typeface="Arial" pitchFamily="34" charset="-120"/>
              </a:rPr>
              <a:t>github.com/JoshuaGloor/dss5105-capstone-project</a:t>
            </a:r>
            <a:endParaRPr lang="en-US" sz="850" dirty="0"/>
          </a:p>
        </p:txBody>
      </p:sp>
      <p:sp>
        <p:nvSpPr>
          <p:cNvPr id="23" name="Text 21"/>
          <p:cNvSpPr txBox="1"/>
          <p:nvPr/>
        </p:nvSpPr>
        <p:spPr>
          <a:xfrm>
            <a:off x="548640" y="4425696"/>
            <a:ext cx="5669280" cy="182880"/>
          </a:xfrm>
          <a:prstGeom prst="rect">
            <a:avLst/>
          </a:prstGeom>
          <a:noFill/>
          <a:ln/>
        </p:spPr>
        <p:txBody>
          <a:bodyPr wrap="square" lIns="0" tIns="0" rIns="0" bIns="0" rtlCol="0" anchor="t"/>
          <a:lstStyle/>
          <a:p>
            <a:pPr indent="0" marL="0">
              <a:buNone/>
            </a:pPr>
            <a:r>
              <a:rPr lang="en-US" sz="850" b="1" spc="50" kern="0" dirty="0">
                <a:solidFill>
                  <a:srgbClr val="A3804C"/>
                </a:solidFill>
                <a:latin typeface="Arial" pitchFamily="34" charset="0"/>
                <a:ea typeface="Arial" pitchFamily="34" charset="-122"/>
                <a:cs typeface="Arial" pitchFamily="34" charset="-120"/>
              </a:rPr>
              <a:t>DEMO VIDEO  </a:t>
            </a:r>
            <a:r>
              <a:rPr lang="en-US" sz="850" spc="50" kern="0" dirty="0">
                <a:solidFill>
                  <a:srgbClr val="F4EFE6"/>
                </a:solidFill>
                <a:latin typeface="Arial" pitchFamily="34" charset="0"/>
                <a:ea typeface="Arial" pitchFamily="34" charset="-122"/>
                <a:cs typeface="Arial" pitchFamily="34" charset="-120"/>
              </a:rPr>
              <a:t>[YouTube link: add after upload]</a:t>
            </a:r>
            <a:endParaRPr lang="en-US" sz="850" dirty="0"/>
          </a:p>
        </p:txBody>
      </p:sp>
      <p:sp>
        <p:nvSpPr>
          <p:cNvPr id="24" name="Text 22"/>
          <p:cNvSpPr txBox="1"/>
          <p:nvPr/>
        </p:nvSpPr>
        <p:spPr>
          <a:xfrm>
            <a:off x="548640" y="4754880"/>
            <a:ext cx="5486400" cy="182880"/>
          </a:xfrm>
          <a:prstGeom prst="rect">
            <a:avLst/>
          </a:prstGeom>
          <a:noFill/>
          <a:ln/>
        </p:spPr>
        <p:txBody>
          <a:bodyPr wrap="square" lIns="0" tIns="0" rIns="0" bIns="0" rtlCol="0" anchor="t"/>
          <a:lstStyle/>
          <a:p>
            <a:pPr indent="0" marL="0">
              <a:buNone/>
            </a:pPr>
            <a:r>
              <a:rPr lang="en-US" sz="700" spc="200" kern="0" dirty="0">
                <a:solidFill>
                  <a:srgbClr val="B9AF9F"/>
                </a:solidFill>
                <a:latin typeface="Arial" pitchFamily="34" charset="0"/>
                <a:ea typeface="Arial" pitchFamily="34" charset="-122"/>
                <a:cs typeface="Arial" pitchFamily="34" charset="-120"/>
              </a:rPr>
              <a:t>DSS5105 CAPSTONE  /  30 OCTOBER 2026</a:t>
            </a:r>
            <a:endParaRPr lang="en-US" sz="700" dirty="0"/>
          </a:p>
        </p:txBody>
      </p:sp>
      <p:pic>
        <p:nvPicPr>
          <p:cNvPr id="25" name="Image 0" descr="The dispatch assistant on a phone: a greeting, the eight workshops with their queue rings, and example requests">    </p:cNvPr>
          <p:cNvPicPr>
            <a:picLocks noChangeAspect="1"/>
          </p:cNvPicPr>
          <p:nvPr/>
        </p:nvPicPr>
        <p:blipFill>
          <a:blip r:embed="rId1"/>
          <a:stretch>
            <a:fillRect/>
          </a:stretch>
        </p:blipFill>
        <p:spPr>
          <a:xfrm>
            <a:off x="6537960" y="411480"/>
            <a:ext cx="2108934" cy="4343400"/>
          </a:xfrm>
          <a:prstGeom prst="rect">
            <a:avLst/>
          </a:prstGeom>
          <a:effectLst>
            <a:outerShdw sx="100000" sy="100000" kx="0" ky="0" algn="bl" rotWithShape="0" blurRad="127000" dist="38100" dir="5400000">
              <a:srgbClr val="000000">
                <a:alpha val="18000"/>
              </a:srgbClr>
            </a:outerShdw>
          </a:effec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310896"/>
            <a:ext cx="8046720" cy="201168"/>
          </a:xfrm>
          <a:prstGeom prst="rect">
            <a:avLst/>
          </a:prstGeom>
          <a:noFill/>
          <a:ln/>
        </p:spPr>
        <p:txBody>
          <a:bodyPr wrap="square" lIns="0" tIns="0" rIns="0" bIns="0" rtlCol="0" anchor="t"/>
          <a:lstStyle/>
          <a:p>
            <a:pPr indent="0" marL="0">
              <a:buNone/>
            </a:pPr>
            <a:r>
              <a:rPr lang="en-US" sz="850" b="1" spc="300" kern="0" dirty="0">
                <a:solidFill>
                  <a:srgbClr val="7D5E30"/>
                </a:solidFill>
                <a:latin typeface="Arial" pitchFamily="34" charset="0"/>
                <a:ea typeface="Arial" pitchFamily="34" charset="-122"/>
                <a:cs typeface="Arial" pitchFamily="34" charset="-120"/>
              </a:rPr>
              <a:t>OBJECTIVE AND FOCUS</a:t>
            </a:r>
            <a:endParaRPr lang="en-US" sz="850" dirty="0"/>
          </a:p>
        </p:txBody>
      </p:sp>
      <p:sp>
        <p:nvSpPr>
          <p:cNvPr id="3" name="Text 1"/>
          <p:cNvSpPr txBox="1"/>
          <p:nvPr/>
        </p:nvSpPr>
        <p:spPr>
          <a:xfrm>
            <a:off x="548640" y="530352"/>
            <a:ext cx="8046720" cy="548640"/>
          </a:xfrm>
          <a:prstGeom prst="rect">
            <a:avLst/>
          </a:prstGeom>
          <a:noFill/>
          <a:ln/>
        </p:spPr>
        <p:txBody>
          <a:bodyPr wrap="square" lIns="0" tIns="0" rIns="0" bIns="0" rtlCol="0" anchor="ctr"/>
          <a:lstStyle/>
          <a:p>
            <a:pPr indent="0" marL="0">
              <a:buNone/>
            </a:pPr>
            <a:r>
              <a:rPr lang="en-US" sz="2300" dirty="0">
                <a:solidFill>
                  <a:srgbClr val="1D1B18"/>
                </a:solidFill>
                <a:latin typeface="Georgia" pitchFamily="34" charset="0"/>
                <a:ea typeface="Georgia" pitchFamily="34" charset="-122"/>
                <a:cs typeface="Georgia" pitchFamily="34" charset="-120"/>
              </a:rPr>
              <a:t>Ravi decides on the factory floor, in seconds</a:t>
            </a:r>
            <a:endParaRPr lang="en-US" sz="2300" dirty="0"/>
          </a:p>
        </p:txBody>
      </p:sp>
      <p:sp>
        <p:nvSpPr>
          <p:cNvPr id="4" name="Shape 2"/>
          <p:cNvSpPr/>
          <p:nvPr/>
        </p:nvSpPr>
        <p:spPr>
          <a:xfrm>
            <a:off x="548640" y="1234440"/>
            <a:ext cx="3520440" cy="1051560"/>
          </a:xfrm>
          <a:prstGeom prst="rect">
            <a:avLst/>
          </a:prstGeom>
          <a:solidFill>
            <a:srgbClr val="FFFFFF"/>
          </a:solidFill>
          <a:ln w="9525">
            <a:solidFill>
              <a:srgbClr val="E4DDD0"/>
            </a:solidFill>
            <a:prstDash val="solid"/>
          </a:ln>
        </p:spPr>
      </p:sp>
      <p:sp>
        <p:nvSpPr>
          <p:cNvPr id="5" name="Text 3"/>
          <p:cNvSpPr txBox="1"/>
          <p:nvPr/>
        </p:nvSpPr>
        <p:spPr>
          <a:xfrm>
            <a:off x="731520" y="1344168"/>
            <a:ext cx="3108960" cy="164592"/>
          </a:xfrm>
          <a:prstGeom prst="rect">
            <a:avLst/>
          </a:prstGeom>
          <a:noFill/>
          <a:ln/>
        </p:spPr>
        <p:txBody>
          <a:bodyPr wrap="square" lIns="0" tIns="0" rIns="0" bIns="0" rtlCol="0" anchor="t"/>
          <a:lstStyle/>
          <a:p>
            <a:pPr indent="0" marL="0">
              <a:buNone/>
            </a:pPr>
            <a:r>
              <a:rPr lang="en-US" sz="750" b="1" spc="180" kern="0" dirty="0">
                <a:solidFill>
                  <a:srgbClr val="7D5E30"/>
                </a:solidFill>
                <a:latin typeface="Arial" pitchFamily="34" charset="0"/>
                <a:ea typeface="Arial" pitchFamily="34" charset="-122"/>
                <a:cs typeface="Arial" pitchFamily="34" charset="-120"/>
              </a:rPr>
              <a:t>THE USER</a:t>
            </a:r>
            <a:endParaRPr lang="en-US" sz="750" dirty="0"/>
          </a:p>
        </p:txBody>
      </p:sp>
      <p:sp>
        <p:nvSpPr>
          <p:cNvPr id="6" name="Text 4"/>
          <p:cNvSpPr txBox="1"/>
          <p:nvPr/>
        </p:nvSpPr>
        <p:spPr>
          <a:xfrm>
            <a:off x="731520" y="1536192"/>
            <a:ext cx="3200400" cy="274320"/>
          </a:xfrm>
          <a:prstGeom prst="rect">
            <a:avLst/>
          </a:prstGeom>
          <a:noFill/>
          <a:ln/>
        </p:spPr>
        <p:txBody>
          <a:bodyPr wrap="square" lIns="0" tIns="0" rIns="0" bIns="0" rtlCol="0" anchor="t"/>
          <a:lstStyle/>
          <a:p>
            <a:pPr indent="0" marL="0">
              <a:buNone/>
            </a:pPr>
            <a:r>
              <a:rPr lang="en-US" sz="1350" dirty="0">
                <a:solidFill>
                  <a:srgbClr val="1D1B18"/>
                </a:solidFill>
                <a:latin typeface="Georgia" pitchFamily="34" charset="0"/>
                <a:ea typeface="Georgia" pitchFamily="34" charset="-122"/>
                <a:cs typeface="Georgia" pitchFamily="34" charset="-120"/>
              </a:rPr>
              <a:t>Ravi, production dispatcher at SweaterCo</a:t>
            </a:r>
            <a:endParaRPr lang="en-US" sz="1350" dirty="0"/>
          </a:p>
        </p:txBody>
      </p:sp>
      <p:sp>
        <p:nvSpPr>
          <p:cNvPr id="7" name="Text 5"/>
          <p:cNvSpPr txBox="1"/>
          <p:nvPr/>
        </p:nvSpPr>
        <p:spPr>
          <a:xfrm>
            <a:off x="731520" y="1810512"/>
            <a:ext cx="3200400" cy="457200"/>
          </a:xfrm>
          <a:prstGeom prst="rect">
            <a:avLst/>
          </a:prstGeom>
          <a:noFill/>
          <a:ln/>
        </p:spPr>
        <p:txBody>
          <a:bodyPr wrap="square" lIns="0" tIns="0" rIns="0" bIns="0" rtlCol="0" anchor="t"/>
          <a:lstStyle/>
          <a:p>
            <a:pPr indent="0" marL="0">
              <a:buNone/>
            </a:pPr>
            <a:r>
              <a:rPr lang="en-US" sz="900" dirty="0">
                <a:solidFill>
                  <a:srgbClr val="4A463F"/>
                </a:solidFill>
                <a:latin typeface="Arial" pitchFamily="34" charset="0"/>
                <a:ea typeface="Arial" pitchFamily="34" charset="-122"/>
                <a:cs typeface="Arial" pitchFamily="34" charset="-120"/>
              </a:rPr>
              <a:t>On the floor with a phone, not at a desk. Requests arrive in a group chat, and most are messy: missing dates, vague orders, banned workshops.</a:t>
            </a:r>
            <a:endParaRPr lang="en-US" sz="900" dirty="0"/>
          </a:p>
        </p:txBody>
      </p:sp>
      <p:sp>
        <p:nvSpPr>
          <p:cNvPr id="8" name="Text 6"/>
          <p:cNvSpPr txBox="1"/>
          <p:nvPr/>
        </p:nvSpPr>
        <p:spPr>
          <a:xfrm>
            <a:off x="548640" y="2450592"/>
            <a:ext cx="3520440" cy="164592"/>
          </a:xfrm>
          <a:prstGeom prst="rect">
            <a:avLst/>
          </a:prstGeom>
          <a:noFill/>
          <a:ln/>
        </p:spPr>
        <p:txBody>
          <a:bodyPr wrap="square" lIns="0" tIns="0" rIns="0" bIns="0" rtlCol="0" anchor="t"/>
          <a:lstStyle/>
          <a:p>
            <a:pPr indent="0" marL="0">
              <a:buNone/>
            </a:pPr>
            <a:r>
              <a:rPr lang="en-US" sz="750" b="1" spc="180" kern="0" dirty="0">
                <a:solidFill>
                  <a:srgbClr val="6B665D"/>
                </a:solidFill>
                <a:latin typeface="Arial" pitchFamily="34" charset="0"/>
                <a:ea typeface="Arial" pitchFamily="34" charset="-122"/>
                <a:cs typeface="Arial" pitchFamily="34" charset="-120"/>
              </a:rPr>
              <a:t>A REAL REQUEST FROM THE INBOX</a:t>
            </a:r>
            <a:endParaRPr lang="en-US" sz="750" dirty="0"/>
          </a:p>
        </p:txBody>
      </p:sp>
      <p:sp>
        <p:nvSpPr>
          <p:cNvPr id="9" name="Text 7"/>
          <p:cNvSpPr txBox="1"/>
          <p:nvPr/>
        </p:nvSpPr>
        <p:spPr>
          <a:xfrm>
            <a:off x="548640" y="2651760"/>
            <a:ext cx="3520440" cy="594360"/>
          </a:xfrm>
          <a:prstGeom prst="rect">
            <a:avLst/>
          </a:prstGeom>
          <a:noFill/>
          <a:ln/>
        </p:spPr>
        <p:txBody>
          <a:bodyPr wrap="square" lIns="0" tIns="0" rIns="0" bIns="0" rtlCol="0" anchor="t"/>
          <a:lstStyle/>
          <a:p>
            <a:pPr indent="0" marL="0">
              <a:buNone/>
            </a:pPr>
            <a:r>
              <a:rPr lang="en-US" sz="1200" i="1" dirty="0">
                <a:solidFill>
                  <a:srgbClr val="1D1B18"/>
                </a:solidFill>
                <a:latin typeface="Georgia" pitchFamily="34" charset="0"/>
                <a:ea typeface="Georgia" pitchFamily="34" charset="-122"/>
                <a:cs typeface="Georgia" pitchFamily="34" charset="-120"/>
              </a:rPr>
              <a:t>"ORD-109, 500 vests for Harbor Knits, due Apr 13. ...and keep it away from BudgetWorks, the last batch came back rough."</a:t>
            </a:r>
            <a:endParaRPr lang="en-US" sz="1200" dirty="0"/>
          </a:p>
        </p:txBody>
      </p:sp>
      <p:sp>
        <p:nvSpPr>
          <p:cNvPr id="10" name="Text 8"/>
          <p:cNvSpPr txBox="1"/>
          <p:nvPr/>
        </p:nvSpPr>
        <p:spPr>
          <a:xfrm>
            <a:off x="548640" y="3364992"/>
            <a:ext cx="3520440" cy="164592"/>
          </a:xfrm>
          <a:prstGeom prst="rect">
            <a:avLst/>
          </a:prstGeom>
          <a:noFill/>
          <a:ln/>
        </p:spPr>
        <p:txBody>
          <a:bodyPr wrap="square" lIns="0" tIns="0" rIns="0" bIns="0" rtlCol="0" anchor="t"/>
          <a:lstStyle/>
          <a:p>
            <a:pPr indent="0" marL="0">
              <a:buNone/>
            </a:pPr>
            <a:r>
              <a:rPr lang="en-US" sz="750" b="1" spc="180" kern="0" dirty="0">
                <a:solidFill>
                  <a:srgbClr val="6B665D"/>
                </a:solidFill>
                <a:latin typeface="Arial" pitchFamily="34" charset="0"/>
                <a:ea typeface="Arial" pitchFamily="34" charset="-122"/>
                <a:cs typeface="Arial" pitchFamily="34" charset="-120"/>
              </a:rPr>
              <a:t>WHAT HE NEEDS</a:t>
            </a:r>
            <a:endParaRPr lang="en-US" sz="750" dirty="0"/>
          </a:p>
        </p:txBody>
      </p:sp>
      <p:sp>
        <p:nvSpPr>
          <p:cNvPr id="11" name="Text 9"/>
          <p:cNvSpPr txBox="1"/>
          <p:nvPr/>
        </p:nvSpPr>
        <p:spPr>
          <a:xfrm>
            <a:off x="548640" y="3566160"/>
            <a:ext cx="3520440" cy="228600"/>
          </a:xfrm>
          <a:prstGeom prst="rect">
            <a:avLst/>
          </a:prstGeom>
          <a:noFill/>
          <a:ln/>
        </p:spPr>
        <p:txBody>
          <a:bodyPr wrap="square" lIns="0" tIns="0" rIns="0" bIns="0" rtlCol="0" anchor="t"/>
          <a:lstStyle/>
          <a:p>
            <a:pPr indent="0" marL="0">
              <a:buNone/>
            </a:pPr>
            <a:r>
              <a:rPr lang="en-US" sz="950" dirty="0">
                <a:solidFill>
                  <a:srgbClr val="1D1B18"/>
                </a:solidFill>
                <a:latin typeface="Arial" pitchFamily="34" charset="0"/>
                <a:ea typeface="Arial" pitchFamily="34" charset="-122"/>
                <a:cs typeface="Arial" pitchFamily="34" charset="-120"/>
              </a:rPr>
              <a:t>1   A safe workshop, its arrival date and why, in seconds</a:t>
            </a:r>
            <a:endParaRPr lang="en-US" sz="950" dirty="0"/>
          </a:p>
        </p:txBody>
      </p:sp>
      <p:sp>
        <p:nvSpPr>
          <p:cNvPr id="12" name="Text 10"/>
          <p:cNvSpPr txBox="1"/>
          <p:nvPr/>
        </p:nvSpPr>
        <p:spPr>
          <a:xfrm>
            <a:off x="548640" y="3813048"/>
            <a:ext cx="3520440" cy="228600"/>
          </a:xfrm>
          <a:prstGeom prst="rect">
            <a:avLst/>
          </a:prstGeom>
          <a:noFill/>
          <a:ln/>
        </p:spPr>
        <p:txBody>
          <a:bodyPr wrap="square" lIns="0" tIns="0" rIns="0" bIns="0" rtlCol="0" anchor="t"/>
          <a:lstStyle/>
          <a:p>
            <a:pPr indent="0" marL="0">
              <a:buNone/>
            </a:pPr>
            <a:r>
              <a:rPr lang="en-US" sz="950" dirty="0">
                <a:solidFill>
                  <a:srgbClr val="1D1B18"/>
                </a:solidFill>
                <a:latin typeface="Arial" pitchFamily="34" charset="0"/>
                <a:ea typeface="Arial" pitchFamily="34" charset="-122"/>
                <a:cs typeface="Arial" pitchFamily="34" charset="-120"/>
              </a:rPr>
              <a:t>2   The constraint honoured, and who asked recorded</a:t>
            </a:r>
            <a:endParaRPr lang="en-US" sz="950" dirty="0"/>
          </a:p>
        </p:txBody>
      </p:sp>
      <p:sp>
        <p:nvSpPr>
          <p:cNvPr id="13" name="Text 11"/>
          <p:cNvSpPr txBox="1"/>
          <p:nvPr/>
        </p:nvSpPr>
        <p:spPr>
          <a:xfrm>
            <a:off x="548640" y="4059936"/>
            <a:ext cx="3520440" cy="228600"/>
          </a:xfrm>
          <a:prstGeom prst="rect">
            <a:avLst/>
          </a:prstGeom>
          <a:noFill/>
          <a:ln/>
        </p:spPr>
        <p:txBody>
          <a:bodyPr wrap="square" lIns="0" tIns="0" rIns="0" bIns="0" rtlCol="0" anchor="t"/>
          <a:lstStyle/>
          <a:p>
            <a:pPr indent="0" marL="0">
              <a:buNone/>
            </a:pPr>
            <a:r>
              <a:rPr lang="en-US" sz="950" dirty="0">
                <a:solidFill>
                  <a:srgbClr val="1D1B18"/>
                </a:solidFill>
                <a:latin typeface="Arial" pitchFamily="34" charset="0"/>
                <a:ea typeface="Arial" pitchFamily="34" charset="-122"/>
                <a:cs typeface="Arial" pitchFamily="34" charset="-120"/>
              </a:rPr>
              <a:t>3   One deliberate step to commit; a record afterwards</a:t>
            </a:r>
            <a:endParaRPr lang="en-US" sz="950" dirty="0"/>
          </a:p>
        </p:txBody>
      </p:sp>
      <p:sp>
        <p:nvSpPr>
          <p:cNvPr id="14" name="Text 12"/>
          <p:cNvSpPr txBox="1"/>
          <p:nvPr/>
        </p:nvSpPr>
        <p:spPr>
          <a:xfrm>
            <a:off x="4434840" y="1234440"/>
            <a:ext cx="4160520" cy="164592"/>
          </a:xfrm>
          <a:prstGeom prst="rect">
            <a:avLst/>
          </a:prstGeom>
          <a:noFill/>
          <a:ln/>
        </p:spPr>
        <p:txBody>
          <a:bodyPr wrap="square" lIns="0" tIns="0" rIns="0" bIns="0" rtlCol="0" anchor="t"/>
          <a:lstStyle/>
          <a:p>
            <a:pPr indent="0" marL="0">
              <a:buNone/>
            </a:pPr>
            <a:r>
              <a:rPr lang="en-US" sz="750" b="1" spc="180" kern="0" dirty="0">
                <a:solidFill>
                  <a:srgbClr val="6B665D"/>
                </a:solidFill>
                <a:latin typeface="Arial" pitchFamily="34" charset="0"/>
                <a:ea typeface="Arial" pitchFamily="34" charset="-122"/>
                <a:cs typeface="Arial" pitchFamily="34" charset="-120"/>
              </a:rPr>
              <a:t>WHAT CHANGED SINCE SPRINT 1</a:t>
            </a:r>
            <a:endParaRPr lang="en-US" sz="75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434840" y="1463040"/>
          <a:ext cx="4160520" cy="914400"/>
        </p:xfrm>
        <a:graphic>
          <a:graphicData uri="http://schemas.openxmlformats.org/drawingml/2006/table">
            <a:tbl>
              <a:tblPr/>
              <a:tblGrid>
                <a:gridCol w="1600200"/>
                <a:gridCol w="2560320"/>
              </a:tblGrid>
              <a:tr h="237744">
                <a:tc>
                  <a:txBody>
                    <a:bodyPr/>
                    <a:lstStyle/>
                    <a:p>
                      <a:pPr indent="0" marL="0">
                        <a:buNone/>
                      </a:pPr>
                      <a:r>
                        <a:rPr lang="en-US" sz="700" b="1" spc="150" kern="0" dirty="0">
                          <a:solidFill>
                            <a:srgbClr val="6B665D"/>
                          </a:solidFill>
                          <a:latin typeface="Arial" pitchFamily="34" charset="0"/>
                          <a:ea typeface="Arial" pitchFamily="34" charset="-122"/>
                          <a:cs typeface="Arial" pitchFamily="34" charset="-120"/>
                        </a:rPr>
                        <a:t>SPRINT 1</a:t>
                      </a:r>
                      <a:endParaRPr lang="en-US" sz="7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12700" cap="flat" cmpd="sng" algn="ctr">
                      <a:solidFill>
                        <a:srgbClr val="1D1B18"/>
                      </a:solidFill>
                      <a:prstDash val="solid"/>
                      <a:round/>
                      <a:headEnd type="none" w="med" len="med"/>
                      <a:tailEnd type="none" w="med" len="med"/>
                    </a:lnB>
                  </a:tcPr>
                </a:tc>
                <a:tc>
                  <a:txBody>
                    <a:bodyPr/>
                    <a:lstStyle/>
                    <a:p>
                      <a:pPr indent="0" marL="0">
                        <a:buNone/>
                      </a:pPr>
                      <a:r>
                        <a:rPr lang="en-US" sz="700" b="1" spc="150" kern="0" dirty="0">
                          <a:solidFill>
                            <a:srgbClr val="6B665D"/>
                          </a:solidFill>
                          <a:latin typeface="Arial" pitchFamily="34" charset="0"/>
                          <a:ea typeface="Arial" pitchFamily="34" charset="-122"/>
                          <a:cs typeface="Arial" pitchFamily="34" charset="-120"/>
                        </a:rPr>
                        <a:t>SPRINT 2</a:t>
                      </a:r>
                      <a:endParaRPr lang="en-US" sz="7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12700" cap="flat" cmpd="sng" algn="ctr">
                      <a:solidFill>
                        <a:srgbClr val="1D1B18"/>
                      </a:solidFill>
                      <a:prstDash val="solid"/>
                      <a:round/>
                      <a:headEnd type="none" w="med" len="med"/>
                      <a:tailEnd type="none" w="med" len="med"/>
                    </a:lnB>
                  </a:tcPr>
                </a:tc>
              </a:tr>
              <a:tr h="457200">
                <a:tc>
                  <a:txBody>
                    <a:bodyPr/>
                    <a:lstStyle/>
                    <a:p>
                      <a:pPr indent="0" marL="0">
                        <a:buNone/>
                      </a:pPr>
                      <a:r>
                        <a:rPr lang="en-US" sz="900" dirty="0">
                          <a:solidFill>
                            <a:srgbClr val="6B665D"/>
                          </a:solidFill>
                          <a:latin typeface="Arial" pitchFamily="34" charset="0"/>
                          <a:ea typeface="Arial" pitchFamily="34" charset="-122"/>
                          <a:cs typeface="Arial" pitchFamily="34" charset="-120"/>
                        </a:rPr>
                        <a:t>Earliest finish tied us on lateness</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b="1" dirty="0">
                          <a:solidFill>
                            <a:srgbClr val="2F5D46"/>
                          </a:solidFill>
                          <a:latin typeface="Arial" pitchFamily="34" charset="0"/>
                          <a:ea typeface="Arial" pitchFamily="34" charset="-122"/>
                          <a:cs typeface="Arial" pitchFamily="34" charset="-120"/>
                        </a:rPr>
                        <a:t>Default beats it: 1.42% late vs 1.67%, 68% fewer late days</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457200">
                <a:tc>
                  <a:txBody>
                    <a:bodyPr/>
                    <a:lstStyle/>
                    <a:p>
                      <a:pPr indent="0" marL="0">
                        <a:buNone/>
                      </a:pPr>
                      <a:r>
                        <a:rPr lang="en-US" sz="900" dirty="0">
                          <a:solidFill>
                            <a:srgbClr val="6B665D"/>
                          </a:solidFill>
                          <a:latin typeface="Arial" pitchFamily="34" charset="0"/>
                          <a:ea typeface="Arial" pitchFamily="34" charset="-122"/>
                          <a:cs typeface="Arial" pitchFamily="34" charset="-120"/>
                        </a:rPr>
                        <a:t>Biggest capacity won on defects</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b="1" dirty="0">
                          <a:solidFill>
                            <a:srgbClr val="2F5D46"/>
                          </a:solidFill>
                          <a:latin typeface="Arial" pitchFamily="34" charset="0"/>
                          <a:ea typeface="Arial" pitchFamily="34" charset="-122"/>
                          <a:cs typeface="Arial" pitchFamily="34" charset="-120"/>
                        </a:rPr>
                        <a:t>Defects setting wins: 4.90% defective pieces vs 5.28%</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457200">
                <a:tc>
                  <a:txBody>
                    <a:bodyPr/>
                    <a:lstStyle/>
                    <a:p>
                      <a:pPr indent="0" marL="0">
                        <a:buNone/>
                      </a:pPr>
                      <a:r>
                        <a:rPr lang="en-US" sz="900" dirty="0">
                          <a:solidFill>
                            <a:srgbClr val="6B665D"/>
                          </a:solidFill>
                          <a:latin typeface="Arial" pitchFamily="34" charset="0"/>
                          <a:ea typeface="Arial" pitchFamily="34" charset="-122"/>
                          <a:cs typeface="Arial" pitchFamily="34" charset="-120"/>
                        </a:rPr>
                        <a:t>Fairness not tuned</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b="1" dirty="0">
                          <a:solidFill>
                            <a:srgbClr val="2F5D46"/>
                          </a:solidFill>
                          <a:latin typeface="Arial" pitchFamily="34" charset="0"/>
                          <a:ea typeface="Arial" pitchFamily="34" charset="-122"/>
                          <a:cs typeface="Arial" pitchFamily="34" charset="-120"/>
                        </a:rPr>
                        <a:t>Fairness setting: largest share 19.2% vs random 22.6%</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457200">
                <a:tc>
                  <a:txBody>
                    <a:bodyPr/>
                    <a:lstStyle/>
                    <a:p>
                      <a:pPr indent="0" marL="0">
                        <a:buNone/>
                      </a:pPr>
                      <a:r>
                        <a:rPr lang="en-US" sz="900" dirty="0">
                          <a:solidFill>
                            <a:srgbClr val="6B665D"/>
                          </a:solidFill>
                          <a:latin typeface="Arial" pitchFamily="34" charset="0"/>
                          <a:ea typeface="Arial" pitchFamily="34" charset="-122"/>
                          <a:cs typeface="Arial" pitchFamily="34" charset="-120"/>
                        </a:rPr>
                        <a:t>Typing at a desk only</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b="1" dirty="0">
                          <a:solidFill>
                            <a:srgbClr val="2F5D46"/>
                          </a:solidFill>
                          <a:latin typeface="Arial" pitchFamily="34" charset="0"/>
                          <a:ea typeface="Arial" pitchFamily="34" charset="-122"/>
                          <a:cs typeface="Arial" pitchFamily="34" charset="-120"/>
                        </a:rPr>
                        <a:t>Voice on the phone, read aloud, slide to book</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457200">
                <a:tc>
                  <a:txBody>
                    <a:bodyPr/>
                    <a:lstStyle/>
                    <a:p>
                      <a:pPr indent="0" marL="0">
                        <a:buNone/>
                      </a:pPr>
                      <a:r>
                        <a:rPr lang="en-US" sz="900" dirty="0">
                          <a:solidFill>
                            <a:srgbClr val="6B665D"/>
                          </a:solidFill>
                          <a:latin typeface="Arial" pitchFamily="34" charset="0"/>
                          <a:ea typeface="Arial" pitchFamily="34" charset="-122"/>
                          <a:cs typeface="Arial" pitchFamily="34" charset="-120"/>
                        </a:rPr>
                        <a:t>No memory between requests</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b="1" dirty="0">
                          <a:solidFill>
                            <a:srgbClr val="2F5D46"/>
                          </a:solidFill>
                          <a:latin typeface="Arial" pitchFamily="34" charset="0"/>
                          <a:ea typeface="Arial" pitchFamily="34" charset="-122"/>
                          <a:cs typeface="Arial" pitchFamily="34" charset="-120"/>
                        </a:rPr>
                        <a:t>Remembers confirmed constraints, and says when it applies one</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bl>
          </a:graphicData>
        </a:graphic>
      </p:graphicFrame>
      <p:sp>
        <p:nvSpPr>
          <p:cNvPr id="16" name="Text 13"/>
          <p:cNvSpPr txBox="1"/>
          <p:nvPr/>
        </p:nvSpPr>
        <p:spPr>
          <a:xfrm>
            <a:off x="548640" y="4572000"/>
            <a:ext cx="8046720" cy="182880"/>
          </a:xfrm>
          <a:prstGeom prst="rect">
            <a:avLst/>
          </a:prstGeom>
          <a:noFill/>
          <a:ln/>
        </p:spPr>
        <p:txBody>
          <a:bodyPr wrap="square" lIns="0" tIns="0" rIns="0" bIns="0" rtlCol="0" anchor="t"/>
          <a:lstStyle/>
          <a:p>
            <a:pPr indent="0" marL="0">
              <a:buNone/>
            </a:pPr>
            <a:r>
              <a:rPr lang="en-US" sz="700" i="1" dirty="0">
                <a:solidFill>
                  <a:srgbClr val="6B665D"/>
                </a:solidFill>
                <a:latin typeface="Arial" pitchFamily="34" charset="0"/>
                <a:ea typeface="Arial" pitchFamily="34" charset="-122"/>
                <a:cs typeface="Arial" pitchFamily="34" charset="-120"/>
              </a:rPr>
              <a:t>Course simulator, mean of 10 normal runs (seeds 5105-5114); presets chosen on development seeds first. docs/OBJECTIVE_STUDY.md</a:t>
            </a:r>
            <a:endParaRPr lang="en-US" sz="700" dirty="0"/>
          </a:p>
        </p:txBody>
      </p:sp>
      <p:sp>
        <p:nvSpPr>
          <p:cNvPr id="25" name="Slide Number Placeholder 0"/>
          <p:cNvSpPr>
            <a:spLocks noGrp="1"/>
          </p:cNvSpPr>
          <p:nvPr>
            <p:ph type="sldNum" sz="quarter" idx="4294967295"/>
          </p:nvPr>
        </p:nvSpPr>
        <p:spPr>
          <a:xfrm>
            <a:off x="8138160" y="4800600"/>
            <a:ext cx="457200" cy="201168"/>
          </a:xfrm>
          <a:prstGeom prst="rect">
            <a:avLst/>
          </a:prstGeom>
          <a:extLst>
            <a:ext uri="{C572A759-6A51-4108-AA02-DFA0A04FC94B}">
              <ma14:wrappingTextBoxFlag xmlns:ma14="http://schemas.microsoft.com/office/mac/drawingml/2011/main" val="0"/>
            </a:ext>
          </a:extLst>
        </p:spPr>
        <p:txBody>
          <a:bodyPr/>
          <a:lstStyle>
            <a:lvl1pPr>
              <a:defRPr sz="700">
                <a:solidFill>
                  <a:srgbClr val="6B665D"/>
                </a:solidFill>
                <a:latin typeface="Arial"/>
                <a:ea typeface="Arial"/>
                <a:cs typeface="Aria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310896"/>
            <a:ext cx="8046720" cy="201168"/>
          </a:xfrm>
          <a:prstGeom prst="rect">
            <a:avLst/>
          </a:prstGeom>
          <a:noFill/>
          <a:ln/>
        </p:spPr>
        <p:txBody>
          <a:bodyPr wrap="square" lIns="0" tIns="0" rIns="0" bIns="0" rtlCol="0" anchor="t"/>
          <a:lstStyle/>
          <a:p>
            <a:pPr indent="0" marL="0">
              <a:buNone/>
            </a:pPr>
            <a:r>
              <a:rPr lang="en-US" sz="850" b="1" spc="300" kern="0" dirty="0">
                <a:solidFill>
                  <a:srgbClr val="7D5E30"/>
                </a:solidFill>
                <a:latin typeface="Arial" pitchFamily="34" charset="0"/>
                <a:ea typeface="Arial" pitchFamily="34" charset="-122"/>
                <a:cs typeface="Arial" pitchFamily="34" charset="-120"/>
              </a:rPr>
              <a:t>THE USER JOURNEY  /  THINK LIKE THE USER</a:t>
            </a:r>
            <a:endParaRPr lang="en-US" sz="850" dirty="0"/>
          </a:p>
        </p:txBody>
      </p:sp>
      <p:sp>
        <p:nvSpPr>
          <p:cNvPr id="3" name="Text 1"/>
          <p:cNvSpPr txBox="1"/>
          <p:nvPr/>
        </p:nvSpPr>
        <p:spPr>
          <a:xfrm>
            <a:off x="548640" y="530352"/>
            <a:ext cx="8046720" cy="548640"/>
          </a:xfrm>
          <a:prstGeom prst="rect">
            <a:avLst/>
          </a:prstGeom>
          <a:noFill/>
          <a:ln/>
        </p:spPr>
        <p:txBody>
          <a:bodyPr wrap="square" lIns="0" tIns="0" rIns="0" bIns="0" rtlCol="0" anchor="ctr"/>
          <a:lstStyle/>
          <a:p>
            <a:pPr indent="0" marL="0">
              <a:buNone/>
            </a:pPr>
            <a:r>
              <a:rPr lang="en-US" sz="2300" dirty="0">
                <a:solidFill>
                  <a:srgbClr val="1D1B18"/>
                </a:solidFill>
                <a:latin typeface="Georgia" pitchFamily="34" charset="0"/>
                <a:ea typeface="Georgia" pitchFamily="34" charset="-122"/>
                <a:cs typeface="Georgia" pitchFamily="34" charset="-120"/>
              </a:rPr>
              <a:t>Say it, check it, slide to book, and it remembers</a:t>
            </a:r>
            <a:endParaRPr lang="en-US" sz="2300" dirty="0"/>
          </a:p>
        </p:txBody>
      </p:sp>
      <p:pic>
        <p:nvPicPr>
          <p:cNvPr id="4" name="Image 0" descr="Ask: Hold the mic: order, date and any constraint, in his words.">    </p:cNvPr>
          <p:cNvPicPr>
            <a:picLocks noChangeAspect="1"/>
          </p:cNvPicPr>
          <p:nvPr/>
        </p:nvPicPr>
        <p:blipFill>
          <a:blip r:embed="rId1"/>
          <a:stretch>
            <a:fillRect/>
          </a:stretch>
        </p:blipFill>
        <p:spPr>
          <a:xfrm>
            <a:off x="548640" y="1188720"/>
            <a:ext cx="1331958" cy="2743200"/>
          </a:xfrm>
          <a:prstGeom prst="rect">
            <a:avLst/>
          </a:prstGeom>
          <a:effectLst>
            <a:outerShdw sx="100000" sy="100000" kx="0" ky="0" algn="bl" rotWithShape="0" blurRad="127000" dist="38100" dir="5400000">
              <a:srgbClr val="000000">
                <a:alpha val="18000"/>
              </a:srgbClr>
            </a:outerShdw>
          </a:effectLst>
        </p:spPr>
      </p:pic>
      <p:sp>
        <p:nvSpPr>
          <p:cNvPr id="5" name="Text 2"/>
          <p:cNvSpPr txBox="1"/>
          <p:nvPr/>
        </p:nvSpPr>
        <p:spPr>
          <a:xfrm>
            <a:off x="530352" y="3986784"/>
            <a:ext cx="274320" cy="292608"/>
          </a:xfrm>
          <a:prstGeom prst="rect">
            <a:avLst/>
          </a:prstGeom>
          <a:noFill/>
          <a:ln/>
        </p:spPr>
        <p:txBody>
          <a:bodyPr wrap="square" lIns="0" tIns="0" rIns="0" bIns="0" rtlCol="0" anchor="t"/>
          <a:lstStyle/>
          <a:p>
            <a:pPr indent="0" marL="0">
              <a:buNone/>
            </a:pPr>
            <a:r>
              <a:rPr lang="en-US" sz="1800" dirty="0">
                <a:solidFill>
                  <a:srgbClr val="A3804C"/>
                </a:solidFill>
                <a:latin typeface="Georgia" pitchFamily="34" charset="0"/>
                <a:ea typeface="Georgia" pitchFamily="34" charset="-122"/>
                <a:cs typeface="Georgia" pitchFamily="34" charset="-120"/>
              </a:rPr>
              <a:t>1</a:t>
            </a:r>
            <a:endParaRPr lang="en-US" sz="1800" dirty="0"/>
          </a:p>
        </p:txBody>
      </p:sp>
      <p:sp>
        <p:nvSpPr>
          <p:cNvPr id="6" name="Text 3"/>
          <p:cNvSpPr txBox="1"/>
          <p:nvPr/>
        </p:nvSpPr>
        <p:spPr>
          <a:xfrm>
            <a:off x="795528" y="4005072"/>
            <a:ext cx="1331958" cy="219456"/>
          </a:xfrm>
          <a:prstGeom prst="rect">
            <a:avLst/>
          </a:prstGeom>
          <a:noFill/>
          <a:ln/>
        </p:spPr>
        <p:txBody>
          <a:bodyPr wrap="square" lIns="0" tIns="0" rIns="0" bIns="0" rtlCol="0" anchor="t"/>
          <a:lstStyle/>
          <a:p>
            <a:pPr indent="0" marL="0">
              <a:buNone/>
            </a:pPr>
            <a:r>
              <a:rPr lang="en-US" sz="1200" dirty="0">
                <a:solidFill>
                  <a:srgbClr val="1D1B18"/>
                </a:solidFill>
                <a:latin typeface="Georgia" pitchFamily="34" charset="0"/>
                <a:ea typeface="Georgia" pitchFamily="34" charset="-122"/>
                <a:cs typeface="Georgia" pitchFamily="34" charset="-120"/>
              </a:rPr>
              <a:t>Ask</a:t>
            </a:r>
            <a:endParaRPr lang="en-US" sz="1200" dirty="0"/>
          </a:p>
        </p:txBody>
      </p:sp>
      <p:sp>
        <p:nvSpPr>
          <p:cNvPr id="7" name="Text 4"/>
          <p:cNvSpPr txBox="1"/>
          <p:nvPr/>
        </p:nvSpPr>
        <p:spPr>
          <a:xfrm>
            <a:off x="530352" y="4261104"/>
            <a:ext cx="1514838" cy="329184"/>
          </a:xfrm>
          <a:prstGeom prst="rect">
            <a:avLst/>
          </a:prstGeom>
          <a:noFill/>
          <a:ln/>
        </p:spPr>
        <p:txBody>
          <a:bodyPr wrap="square" lIns="0" tIns="0" rIns="0" bIns="0" rtlCol="0" anchor="t"/>
          <a:lstStyle/>
          <a:p>
            <a:pPr indent="0" marL="0">
              <a:buNone/>
            </a:pPr>
            <a:r>
              <a:rPr lang="en-US" sz="750" dirty="0">
                <a:solidFill>
                  <a:srgbClr val="4A463F"/>
                </a:solidFill>
                <a:latin typeface="Arial" pitchFamily="34" charset="0"/>
                <a:ea typeface="Arial" pitchFamily="34" charset="-122"/>
                <a:cs typeface="Arial" pitchFamily="34" charset="-120"/>
              </a:rPr>
              <a:t>Hold the mic: order, date and any constraint, in his words.</a:t>
            </a:r>
            <a:endParaRPr lang="en-US" sz="750" dirty="0"/>
          </a:p>
        </p:txBody>
      </p:sp>
      <p:pic>
        <p:nvPicPr>
          <p:cNvPr id="8" name="Image 1" descr="Answer: Best workshop, arrival and spare days, and why. Read aloud.">    </p:cNvPr>
          <p:cNvPicPr>
            <a:picLocks noChangeAspect="1"/>
          </p:cNvPicPr>
          <p:nvPr/>
        </p:nvPicPr>
        <p:blipFill>
          <a:blip r:embed="rId2"/>
          <a:stretch>
            <a:fillRect/>
          </a:stretch>
        </p:blipFill>
        <p:spPr>
          <a:xfrm>
            <a:off x="2227330" y="1188720"/>
            <a:ext cx="1331958" cy="2743200"/>
          </a:xfrm>
          <a:prstGeom prst="rect">
            <a:avLst/>
          </a:prstGeom>
          <a:effectLst>
            <a:outerShdw sx="100000" sy="100000" kx="0" ky="0" algn="bl" rotWithShape="0" blurRad="127000" dist="38100" dir="5400000">
              <a:srgbClr val="000000">
                <a:alpha val="18000"/>
              </a:srgbClr>
            </a:outerShdw>
          </a:effectLst>
        </p:spPr>
      </p:pic>
      <p:sp>
        <p:nvSpPr>
          <p:cNvPr id="9" name="Text 5"/>
          <p:cNvSpPr txBox="1"/>
          <p:nvPr/>
        </p:nvSpPr>
        <p:spPr>
          <a:xfrm>
            <a:off x="2209042" y="3986784"/>
            <a:ext cx="274320" cy="292608"/>
          </a:xfrm>
          <a:prstGeom prst="rect">
            <a:avLst/>
          </a:prstGeom>
          <a:noFill/>
          <a:ln/>
        </p:spPr>
        <p:txBody>
          <a:bodyPr wrap="square" lIns="0" tIns="0" rIns="0" bIns="0" rtlCol="0" anchor="t"/>
          <a:lstStyle/>
          <a:p>
            <a:pPr indent="0" marL="0">
              <a:buNone/>
            </a:pPr>
            <a:r>
              <a:rPr lang="en-US" sz="1800" dirty="0">
                <a:solidFill>
                  <a:srgbClr val="A3804C"/>
                </a:solidFill>
                <a:latin typeface="Georgia" pitchFamily="34" charset="0"/>
                <a:ea typeface="Georgia" pitchFamily="34" charset="-122"/>
                <a:cs typeface="Georgia" pitchFamily="34" charset="-120"/>
              </a:rPr>
              <a:t>2</a:t>
            </a:r>
            <a:endParaRPr lang="en-US" sz="1800" dirty="0"/>
          </a:p>
        </p:txBody>
      </p:sp>
      <p:sp>
        <p:nvSpPr>
          <p:cNvPr id="10" name="Text 6"/>
          <p:cNvSpPr txBox="1"/>
          <p:nvPr/>
        </p:nvSpPr>
        <p:spPr>
          <a:xfrm>
            <a:off x="2474218" y="4005072"/>
            <a:ext cx="1331958" cy="219456"/>
          </a:xfrm>
          <a:prstGeom prst="rect">
            <a:avLst/>
          </a:prstGeom>
          <a:noFill/>
          <a:ln/>
        </p:spPr>
        <p:txBody>
          <a:bodyPr wrap="square" lIns="0" tIns="0" rIns="0" bIns="0" rtlCol="0" anchor="t"/>
          <a:lstStyle/>
          <a:p>
            <a:pPr indent="0" marL="0">
              <a:buNone/>
            </a:pPr>
            <a:r>
              <a:rPr lang="en-US" sz="1200" dirty="0">
                <a:solidFill>
                  <a:srgbClr val="1D1B18"/>
                </a:solidFill>
                <a:latin typeface="Georgia" pitchFamily="34" charset="0"/>
                <a:ea typeface="Georgia" pitchFamily="34" charset="-122"/>
                <a:cs typeface="Georgia" pitchFamily="34" charset="-120"/>
              </a:rPr>
              <a:t>Answer</a:t>
            </a:r>
            <a:endParaRPr lang="en-US" sz="1200" dirty="0"/>
          </a:p>
        </p:txBody>
      </p:sp>
      <p:sp>
        <p:nvSpPr>
          <p:cNvPr id="11" name="Text 7"/>
          <p:cNvSpPr txBox="1"/>
          <p:nvPr/>
        </p:nvSpPr>
        <p:spPr>
          <a:xfrm>
            <a:off x="2209042" y="4261104"/>
            <a:ext cx="1514838" cy="329184"/>
          </a:xfrm>
          <a:prstGeom prst="rect">
            <a:avLst/>
          </a:prstGeom>
          <a:noFill/>
          <a:ln/>
        </p:spPr>
        <p:txBody>
          <a:bodyPr wrap="square" lIns="0" tIns="0" rIns="0" bIns="0" rtlCol="0" anchor="t"/>
          <a:lstStyle/>
          <a:p>
            <a:pPr indent="0" marL="0">
              <a:buNone/>
            </a:pPr>
            <a:r>
              <a:rPr lang="en-US" sz="750" dirty="0">
                <a:solidFill>
                  <a:srgbClr val="4A463F"/>
                </a:solidFill>
                <a:latin typeface="Arial" pitchFamily="34" charset="0"/>
                <a:ea typeface="Arial" pitchFamily="34" charset="-122"/>
                <a:cs typeface="Arial" pitchFamily="34" charset="-120"/>
              </a:rPr>
              <a:t>Best workshop, arrival and spare days, and why. Read aloud.</a:t>
            </a:r>
            <a:endParaRPr lang="en-US" sz="750" dirty="0"/>
          </a:p>
        </p:txBody>
      </p:sp>
      <p:pic>
        <p:nvPicPr>
          <p:cNvPr id="12" name="Image 2" descr="Confirm: &quot;Book it&quot; opens one sheet. He slides, with his name on it.">    </p:cNvPr>
          <p:cNvPicPr>
            <a:picLocks noChangeAspect="1"/>
          </p:cNvPicPr>
          <p:nvPr/>
        </p:nvPicPr>
        <p:blipFill>
          <a:blip r:embed="rId3"/>
          <a:stretch>
            <a:fillRect/>
          </a:stretch>
        </p:blipFill>
        <p:spPr>
          <a:xfrm>
            <a:off x="3906021" y="1188720"/>
            <a:ext cx="1331958" cy="2743200"/>
          </a:xfrm>
          <a:prstGeom prst="rect">
            <a:avLst/>
          </a:prstGeom>
          <a:effectLst>
            <a:outerShdw sx="100000" sy="100000" kx="0" ky="0" algn="bl" rotWithShape="0" blurRad="127000" dist="38100" dir="5400000">
              <a:srgbClr val="000000">
                <a:alpha val="18000"/>
              </a:srgbClr>
            </a:outerShdw>
          </a:effectLst>
        </p:spPr>
      </p:pic>
      <p:sp>
        <p:nvSpPr>
          <p:cNvPr id="13" name="Text 8"/>
          <p:cNvSpPr txBox="1"/>
          <p:nvPr/>
        </p:nvSpPr>
        <p:spPr>
          <a:xfrm>
            <a:off x="3887733" y="3986784"/>
            <a:ext cx="274320" cy="292608"/>
          </a:xfrm>
          <a:prstGeom prst="rect">
            <a:avLst/>
          </a:prstGeom>
          <a:noFill/>
          <a:ln/>
        </p:spPr>
        <p:txBody>
          <a:bodyPr wrap="square" lIns="0" tIns="0" rIns="0" bIns="0" rtlCol="0" anchor="t"/>
          <a:lstStyle/>
          <a:p>
            <a:pPr indent="0" marL="0">
              <a:buNone/>
            </a:pPr>
            <a:r>
              <a:rPr lang="en-US" sz="1800" dirty="0">
                <a:solidFill>
                  <a:srgbClr val="A3804C"/>
                </a:solidFill>
                <a:latin typeface="Georgia" pitchFamily="34" charset="0"/>
                <a:ea typeface="Georgia" pitchFamily="34" charset="-122"/>
                <a:cs typeface="Georgia" pitchFamily="34" charset="-120"/>
              </a:rPr>
              <a:t>3</a:t>
            </a:r>
            <a:endParaRPr lang="en-US" sz="1800" dirty="0"/>
          </a:p>
        </p:txBody>
      </p:sp>
      <p:sp>
        <p:nvSpPr>
          <p:cNvPr id="14" name="Text 9"/>
          <p:cNvSpPr txBox="1"/>
          <p:nvPr/>
        </p:nvSpPr>
        <p:spPr>
          <a:xfrm>
            <a:off x="4152909" y="4005072"/>
            <a:ext cx="1331958" cy="219456"/>
          </a:xfrm>
          <a:prstGeom prst="rect">
            <a:avLst/>
          </a:prstGeom>
          <a:noFill/>
          <a:ln/>
        </p:spPr>
        <p:txBody>
          <a:bodyPr wrap="square" lIns="0" tIns="0" rIns="0" bIns="0" rtlCol="0" anchor="t"/>
          <a:lstStyle/>
          <a:p>
            <a:pPr indent="0" marL="0">
              <a:buNone/>
            </a:pPr>
            <a:r>
              <a:rPr lang="en-US" sz="1200" dirty="0">
                <a:solidFill>
                  <a:srgbClr val="1D1B18"/>
                </a:solidFill>
                <a:latin typeface="Georgia" pitchFamily="34" charset="0"/>
                <a:ea typeface="Georgia" pitchFamily="34" charset="-122"/>
                <a:cs typeface="Georgia" pitchFamily="34" charset="-120"/>
              </a:rPr>
              <a:t>Confirm</a:t>
            </a:r>
            <a:endParaRPr lang="en-US" sz="1200" dirty="0"/>
          </a:p>
        </p:txBody>
      </p:sp>
      <p:sp>
        <p:nvSpPr>
          <p:cNvPr id="15" name="Text 10"/>
          <p:cNvSpPr txBox="1"/>
          <p:nvPr/>
        </p:nvSpPr>
        <p:spPr>
          <a:xfrm>
            <a:off x="3887733" y="4261104"/>
            <a:ext cx="1514838" cy="329184"/>
          </a:xfrm>
          <a:prstGeom prst="rect">
            <a:avLst/>
          </a:prstGeom>
          <a:noFill/>
          <a:ln/>
        </p:spPr>
        <p:txBody>
          <a:bodyPr wrap="square" lIns="0" tIns="0" rIns="0" bIns="0" rtlCol="0" anchor="t"/>
          <a:lstStyle/>
          <a:p>
            <a:pPr indent="0" marL="0">
              <a:buNone/>
            </a:pPr>
            <a:r>
              <a:rPr lang="en-US" sz="750" dirty="0">
                <a:solidFill>
                  <a:srgbClr val="4A463F"/>
                </a:solidFill>
                <a:latin typeface="Arial" pitchFamily="34" charset="0"/>
                <a:ea typeface="Arial" pitchFamily="34" charset="-122"/>
                <a:cs typeface="Arial" pitchFamily="34" charset="-120"/>
              </a:rPr>
              <a:t>"Book it" opens one sheet. He slides, with his name on it.</a:t>
            </a:r>
            <a:endParaRPr lang="en-US" sz="750" dirty="0"/>
          </a:p>
        </p:txBody>
      </p:sp>
      <p:pic>
        <p:nvPicPr>
          <p:cNvPr id="16" name="Image 3" descr="Remember: It offers to keep his constraint for this customer.">    </p:cNvPr>
          <p:cNvPicPr>
            <a:picLocks noChangeAspect="1"/>
          </p:cNvPicPr>
          <p:nvPr/>
        </p:nvPicPr>
        <p:blipFill>
          <a:blip r:embed="rId4"/>
          <a:stretch>
            <a:fillRect/>
          </a:stretch>
        </p:blipFill>
        <p:spPr>
          <a:xfrm>
            <a:off x="5584711" y="1188720"/>
            <a:ext cx="1331958" cy="2743200"/>
          </a:xfrm>
          <a:prstGeom prst="rect">
            <a:avLst/>
          </a:prstGeom>
          <a:effectLst>
            <a:outerShdw sx="100000" sy="100000" kx="0" ky="0" algn="bl" rotWithShape="0" blurRad="127000" dist="38100" dir="5400000">
              <a:srgbClr val="000000">
                <a:alpha val="18000"/>
              </a:srgbClr>
            </a:outerShdw>
          </a:effectLst>
        </p:spPr>
      </p:pic>
      <p:sp>
        <p:nvSpPr>
          <p:cNvPr id="17" name="Text 11"/>
          <p:cNvSpPr txBox="1"/>
          <p:nvPr/>
        </p:nvSpPr>
        <p:spPr>
          <a:xfrm>
            <a:off x="5566423" y="3986784"/>
            <a:ext cx="274320" cy="292608"/>
          </a:xfrm>
          <a:prstGeom prst="rect">
            <a:avLst/>
          </a:prstGeom>
          <a:noFill/>
          <a:ln/>
        </p:spPr>
        <p:txBody>
          <a:bodyPr wrap="square" lIns="0" tIns="0" rIns="0" bIns="0" rtlCol="0" anchor="t"/>
          <a:lstStyle/>
          <a:p>
            <a:pPr indent="0" marL="0">
              <a:buNone/>
            </a:pPr>
            <a:r>
              <a:rPr lang="en-US" sz="1800" dirty="0">
                <a:solidFill>
                  <a:srgbClr val="A3804C"/>
                </a:solidFill>
                <a:latin typeface="Georgia" pitchFamily="34" charset="0"/>
                <a:ea typeface="Georgia" pitchFamily="34" charset="-122"/>
                <a:cs typeface="Georgia" pitchFamily="34" charset="-120"/>
              </a:rPr>
              <a:t>4</a:t>
            </a:r>
            <a:endParaRPr lang="en-US" sz="1800" dirty="0"/>
          </a:p>
        </p:txBody>
      </p:sp>
      <p:sp>
        <p:nvSpPr>
          <p:cNvPr id="18" name="Text 12"/>
          <p:cNvSpPr txBox="1"/>
          <p:nvPr/>
        </p:nvSpPr>
        <p:spPr>
          <a:xfrm>
            <a:off x="5831599" y="4005072"/>
            <a:ext cx="1331958" cy="219456"/>
          </a:xfrm>
          <a:prstGeom prst="rect">
            <a:avLst/>
          </a:prstGeom>
          <a:noFill/>
          <a:ln/>
        </p:spPr>
        <p:txBody>
          <a:bodyPr wrap="square" lIns="0" tIns="0" rIns="0" bIns="0" rtlCol="0" anchor="t"/>
          <a:lstStyle/>
          <a:p>
            <a:pPr indent="0" marL="0">
              <a:buNone/>
            </a:pPr>
            <a:r>
              <a:rPr lang="en-US" sz="1200" dirty="0">
                <a:solidFill>
                  <a:srgbClr val="1D1B18"/>
                </a:solidFill>
                <a:latin typeface="Georgia" pitchFamily="34" charset="0"/>
                <a:ea typeface="Georgia" pitchFamily="34" charset="-122"/>
                <a:cs typeface="Georgia" pitchFamily="34" charset="-120"/>
              </a:rPr>
              <a:t>Remember</a:t>
            </a:r>
            <a:endParaRPr lang="en-US" sz="1200" dirty="0"/>
          </a:p>
        </p:txBody>
      </p:sp>
      <p:sp>
        <p:nvSpPr>
          <p:cNvPr id="19" name="Text 13"/>
          <p:cNvSpPr txBox="1"/>
          <p:nvPr/>
        </p:nvSpPr>
        <p:spPr>
          <a:xfrm>
            <a:off x="5566423" y="4261104"/>
            <a:ext cx="1514838" cy="329184"/>
          </a:xfrm>
          <a:prstGeom prst="rect">
            <a:avLst/>
          </a:prstGeom>
          <a:noFill/>
          <a:ln/>
        </p:spPr>
        <p:txBody>
          <a:bodyPr wrap="square" lIns="0" tIns="0" rIns="0" bIns="0" rtlCol="0" anchor="t"/>
          <a:lstStyle/>
          <a:p>
            <a:pPr indent="0" marL="0">
              <a:buNone/>
            </a:pPr>
            <a:r>
              <a:rPr lang="en-US" sz="750" dirty="0">
                <a:solidFill>
                  <a:srgbClr val="4A463F"/>
                </a:solidFill>
                <a:latin typeface="Arial" pitchFamily="34" charset="0"/>
                <a:ea typeface="Arial" pitchFamily="34" charset="-122"/>
                <a:cs typeface="Arial" pitchFamily="34" charset="-120"/>
              </a:rPr>
              <a:t>It offers to keep his constraint for this customer.</a:t>
            </a:r>
            <a:endParaRPr lang="en-US" sz="750" dirty="0"/>
          </a:p>
        </p:txBody>
      </p:sp>
      <p:pic>
        <p:nvPicPr>
          <p:cNvPr id="20" name="Image 4" descr="Reuse: Next order: the rule is applied, and the card says so.">    </p:cNvPr>
          <p:cNvPicPr>
            <a:picLocks noChangeAspect="1"/>
          </p:cNvPicPr>
          <p:nvPr/>
        </p:nvPicPr>
        <p:blipFill>
          <a:blip r:embed="rId5"/>
          <a:stretch>
            <a:fillRect/>
          </a:stretch>
        </p:blipFill>
        <p:spPr>
          <a:xfrm>
            <a:off x="7263402" y="1188720"/>
            <a:ext cx="1331958" cy="2743200"/>
          </a:xfrm>
          <a:prstGeom prst="rect">
            <a:avLst/>
          </a:prstGeom>
          <a:effectLst>
            <a:outerShdw sx="100000" sy="100000" kx="0" ky="0" algn="bl" rotWithShape="0" blurRad="127000" dist="38100" dir="5400000">
              <a:srgbClr val="000000">
                <a:alpha val="18000"/>
              </a:srgbClr>
            </a:outerShdw>
          </a:effectLst>
        </p:spPr>
      </p:pic>
      <p:sp>
        <p:nvSpPr>
          <p:cNvPr id="21" name="Text 14"/>
          <p:cNvSpPr txBox="1"/>
          <p:nvPr/>
        </p:nvSpPr>
        <p:spPr>
          <a:xfrm>
            <a:off x="7245114" y="3986784"/>
            <a:ext cx="274320" cy="292608"/>
          </a:xfrm>
          <a:prstGeom prst="rect">
            <a:avLst/>
          </a:prstGeom>
          <a:noFill/>
          <a:ln/>
        </p:spPr>
        <p:txBody>
          <a:bodyPr wrap="square" lIns="0" tIns="0" rIns="0" bIns="0" rtlCol="0" anchor="t"/>
          <a:lstStyle/>
          <a:p>
            <a:pPr indent="0" marL="0">
              <a:buNone/>
            </a:pPr>
            <a:r>
              <a:rPr lang="en-US" sz="1800" dirty="0">
                <a:solidFill>
                  <a:srgbClr val="A3804C"/>
                </a:solidFill>
                <a:latin typeface="Georgia" pitchFamily="34" charset="0"/>
                <a:ea typeface="Georgia" pitchFamily="34" charset="-122"/>
                <a:cs typeface="Georgia" pitchFamily="34" charset="-120"/>
              </a:rPr>
              <a:t>5</a:t>
            </a:r>
            <a:endParaRPr lang="en-US" sz="1800" dirty="0"/>
          </a:p>
        </p:txBody>
      </p:sp>
      <p:sp>
        <p:nvSpPr>
          <p:cNvPr id="22" name="Text 15"/>
          <p:cNvSpPr txBox="1"/>
          <p:nvPr/>
        </p:nvSpPr>
        <p:spPr>
          <a:xfrm>
            <a:off x="7510290" y="4005072"/>
            <a:ext cx="1331958" cy="219456"/>
          </a:xfrm>
          <a:prstGeom prst="rect">
            <a:avLst/>
          </a:prstGeom>
          <a:noFill/>
          <a:ln/>
        </p:spPr>
        <p:txBody>
          <a:bodyPr wrap="square" lIns="0" tIns="0" rIns="0" bIns="0" rtlCol="0" anchor="t"/>
          <a:lstStyle/>
          <a:p>
            <a:pPr indent="0" marL="0">
              <a:buNone/>
            </a:pPr>
            <a:r>
              <a:rPr lang="en-US" sz="1200" dirty="0">
                <a:solidFill>
                  <a:srgbClr val="1D1B18"/>
                </a:solidFill>
                <a:latin typeface="Georgia" pitchFamily="34" charset="0"/>
                <a:ea typeface="Georgia" pitchFamily="34" charset="-122"/>
                <a:cs typeface="Georgia" pitchFamily="34" charset="-120"/>
              </a:rPr>
              <a:t>Reuse</a:t>
            </a:r>
            <a:endParaRPr lang="en-US" sz="1200" dirty="0"/>
          </a:p>
        </p:txBody>
      </p:sp>
      <p:sp>
        <p:nvSpPr>
          <p:cNvPr id="23" name="Text 16"/>
          <p:cNvSpPr txBox="1"/>
          <p:nvPr/>
        </p:nvSpPr>
        <p:spPr>
          <a:xfrm>
            <a:off x="7245114" y="4261104"/>
            <a:ext cx="1514838" cy="329184"/>
          </a:xfrm>
          <a:prstGeom prst="rect">
            <a:avLst/>
          </a:prstGeom>
          <a:noFill/>
          <a:ln/>
        </p:spPr>
        <p:txBody>
          <a:bodyPr wrap="square" lIns="0" tIns="0" rIns="0" bIns="0" rtlCol="0" anchor="t"/>
          <a:lstStyle/>
          <a:p>
            <a:pPr indent="0" marL="0">
              <a:buNone/>
            </a:pPr>
            <a:r>
              <a:rPr lang="en-US" sz="750" dirty="0">
                <a:solidFill>
                  <a:srgbClr val="4A463F"/>
                </a:solidFill>
                <a:latin typeface="Arial" pitchFamily="34" charset="0"/>
                <a:ea typeface="Arial" pitchFamily="34" charset="-122"/>
                <a:cs typeface="Arial" pitchFamily="34" charset="-120"/>
              </a:rPr>
              <a:t>Next order: the rule is applied, and the card says so.</a:t>
            </a:r>
            <a:endParaRPr lang="en-US" sz="750" dirty="0"/>
          </a:p>
        </p:txBody>
      </p:sp>
      <p:sp>
        <p:nvSpPr>
          <p:cNvPr id="24" name="Text 17"/>
          <p:cNvSpPr txBox="1"/>
          <p:nvPr/>
        </p:nvSpPr>
        <p:spPr>
          <a:xfrm>
            <a:off x="548640" y="4572000"/>
            <a:ext cx="8046720" cy="182880"/>
          </a:xfrm>
          <a:prstGeom prst="rect">
            <a:avLst/>
          </a:prstGeom>
          <a:noFill/>
          <a:ln/>
        </p:spPr>
        <p:txBody>
          <a:bodyPr wrap="square" lIns="0" tIns="0" rIns="0" bIns="0" rtlCol="0" anchor="t"/>
          <a:lstStyle/>
          <a:p>
            <a:pPr indent="0" marL="0">
              <a:buNone/>
            </a:pPr>
            <a:r>
              <a:rPr lang="en-US" sz="700" i="1" dirty="0">
                <a:solidFill>
                  <a:srgbClr val="6B665D"/>
                </a:solidFill>
                <a:latin typeface="Arial" pitchFamily="34" charset="0"/>
                <a:ea typeface="Arial" pitchFamily="34" charset="-122"/>
                <a:cs typeface="Arial" pitchFamily="34" charset="-120"/>
              </a:rPr>
              <a:t>Live screenshots of the running app (local plan, model: the one set in .env). Voice proposes; only the slide commits.</a:t>
            </a:r>
            <a:endParaRPr lang="en-US" sz="700" dirty="0"/>
          </a:p>
        </p:txBody>
      </p:sp>
      <p:sp>
        <p:nvSpPr>
          <p:cNvPr id="25" name="Slide Number Placeholder 0"/>
          <p:cNvSpPr>
            <a:spLocks noGrp="1"/>
          </p:cNvSpPr>
          <p:nvPr>
            <p:ph type="sldNum" sz="quarter" idx="4294967295"/>
          </p:nvPr>
        </p:nvSpPr>
        <p:spPr>
          <a:xfrm>
            <a:off x="8138160" y="4800600"/>
            <a:ext cx="457200" cy="201168"/>
          </a:xfrm>
          <a:prstGeom prst="rect">
            <a:avLst/>
          </a:prstGeom>
          <a:extLst>
            <a:ext uri="{C572A759-6A51-4108-AA02-DFA0A04FC94B}">
              <ma14:wrappingTextBoxFlag xmlns:ma14="http://schemas.microsoft.com/office/mac/drawingml/2011/main" val="0"/>
            </a:ext>
          </a:extLst>
        </p:spPr>
        <p:txBody>
          <a:bodyPr/>
          <a:lstStyle>
            <a:lvl1pPr>
              <a:defRPr sz="700">
                <a:solidFill>
                  <a:srgbClr val="6B665D"/>
                </a:solidFill>
                <a:latin typeface="Arial"/>
                <a:ea typeface="Arial"/>
                <a:cs typeface="Aria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310896"/>
            <a:ext cx="8046720" cy="201168"/>
          </a:xfrm>
          <a:prstGeom prst="rect">
            <a:avLst/>
          </a:prstGeom>
          <a:noFill/>
          <a:ln/>
        </p:spPr>
        <p:txBody>
          <a:bodyPr wrap="square" lIns="0" tIns="0" rIns="0" bIns="0" rtlCol="0" anchor="t"/>
          <a:lstStyle/>
          <a:p>
            <a:pPr indent="0" marL="0">
              <a:buNone/>
            </a:pPr>
            <a:r>
              <a:rPr lang="en-US" sz="850" b="1" spc="300" kern="0" dirty="0">
                <a:solidFill>
                  <a:srgbClr val="7D5E30"/>
                </a:solidFill>
                <a:latin typeface="Arial" pitchFamily="34" charset="0"/>
                <a:ea typeface="Arial" pitchFamily="34" charset="-122"/>
                <a:cs typeface="Arial" pitchFamily="34" charset="-120"/>
              </a:rPr>
              <a:t>ARCHITECTURE AS BUILT  /  KEY CHOICES</a:t>
            </a:r>
            <a:endParaRPr lang="en-US" sz="850" dirty="0"/>
          </a:p>
        </p:txBody>
      </p:sp>
      <p:sp>
        <p:nvSpPr>
          <p:cNvPr id="3" name="Text 1"/>
          <p:cNvSpPr txBox="1"/>
          <p:nvPr/>
        </p:nvSpPr>
        <p:spPr>
          <a:xfrm>
            <a:off x="548640" y="530352"/>
            <a:ext cx="8046720" cy="548640"/>
          </a:xfrm>
          <a:prstGeom prst="rect">
            <a:avLst/>
          </a:prstGeom>
          <a:noFill/>
          <a:ln/>
        </p:spPr>
        <p:txBody>
          <a:bodyPr wrap="square" lIns="0" tIns="0" rIns="0" bIns="0" rtlCol="0" anchor="ctr"/>
          <a:lstStyle/>
          <a:p>
            <a:pPr indent="0" marL="0">
              <a:buNone/>
            </a:pPr>
            <a:r>
              <a:rPr lang="en-US" sz="2300" dirty="0">
                <a:solidFill>
                  <a:srgbClr val="1D1B18"/>
                </a:solidFill>
                <a:latin typeface="Georgia" pitchFamily="34" charset="0"/>
                <a:ea typeface="Georgia" pitchFamily="34" charset="-122"/>
                <a:cs typeface="Georgia" pitchFamily="34" charset="-120"/>
              </a:rPr>
              <a:t>The model reads, Python computes, a person commits</a:t>
            </a:r>
            <a:endParaRPr lang="en-US" sz="2300" dirty="0"/>
          </a:p>
        </p:txBody>
      </p:sp>
      <p:sp>
        <p:nvSpPr>
          <p:cNvPr id="4" name="Shape 2"/>
          <p:cNvSpPr/>
          <p:nvPr/>
        </p:nvSpPr>
        <p:spPr>
          <a:xfrm>
            <a:off x="548640" y="1298448"/>
            <a:ext cx="1216152" cy="1207008"/>
          </a:xfrm>
          <a:prstGeom prst="rect">
            <a:avLst/>
          </a:prstGeom>
          <a:solidFill>
            <a:srgbClr val="FFFFFF"/>
          </a:solidFill>
          <a:ln w="9525">
            <a:solidFill>
              <a:srgbClr val="E4DDD0"/>
            </a:solidFill>
            <a:prstDash val="solid"/>
          </a:ln>
        </p:spPr>
      </p:sp>
      <p:sp>
        <p:nvSpPr>
          <p:cNvPr id="5" name="Text 3"/>
          <p:cNvSpPr txBox="1"/>
          <p:nvPr/>
        </p:nvSpPr>
        <p:spPr>
          <a:xfrm>
            <a:off x="630936" y="1371600"/>
            <a:ext cx="1051560" cy="146304"/>
          </a:xfrm>
          <a:prstGeom prst="rect">
            <a:avLst/>
          </a:prstGeom>
          <a:noFill/>
          <a:ln/>
        </p:spPr>
        <p:txBody>
          <a:bodyPr wrap="square" lIns="0" tIns="0" rIns="0" bIns="0" rtlCol="0" anchor="t"/>
          <a:lstStyle/>
          <a:p>
            <a:pPr indent="0" marL="0">
              <a:buNone/>
            </a:pPr>
            <a:r>
              <a:rPr lang="en-US" sz="700" b="1" spc="120" kern="0" dirty="0">
                <a:solidFill>
                  <a:srgbClr val="7D5E30"/>
                </a:solidFill>
                <a:latin typeface="Arial" pitchFamily="34" charset="0"/>
                <a:ea typeface="Arial" pitchFamily="34" charset="-122"/>
                <a:cs typeface="Arial" pitchFamily="34" charset="-120"/>
              </a:rPr>
              <a:t>PHONE APP</a:t>
            </a:r>
            <a:endParaRPr lang="en-US" sz="700" dirty="0"/>
          </a:p>
        </p:txBody>
      </p:sp>
      <p:sp>
        <p:nvSpPr>
          <p:cNvPr id="6" name="Text 4"/>
          <p:cNvSpPr txBox="1"/>
          <p:nvPr/>
        </p:nvSpPr>
        <p:spPr>
          <a:xfrm>
            <a:off x="630936" y="1527048"/>
            <a:ext cx="1051560" cy="182880"/>
          </a:xfrm>
          <a:prstGeom prst="rect">
            <a:avLst/>
          </a:prstGeom>
          <a:noFill/>
          <a:ln/>
        </p:spPr>
        <p:txBody>
          <a:bodyPr wrap="square" lIns="0" tIns="0" rIns="0" bIns="0" rtlCol="0" anchor="t"/>
          <a:lstStyle/>
          <a:p>
            <a:pPr indent="0" marL="0">
              <a:buNone/>
            </a:pPr>
            <a:r>
              <a:rPr lang="en-US" sz="1050" dirty="0">
                <a:solidFill>
                  <a:srgbClr val="1D1B18"/>
                </a:solidFill>
                <a:latin typeface="Georgia" pitchFamily="34" charset="0"/>
                <a:ea typeface="Georgia" pitchFamily="34" charset="-122"/>
                <a:cs typeface="Georgia" pitchFamily="34" charset="-120"/>
              </a:rPr>
              <a:t>Browser</a:t>
            </a:r>
            <a:endParaRPr lang="en-US" sz="1050" dirty="0"/>
          </a:p>
        </p:txBody>
      </p:sp>
      <p:sp>
        <p:nvSpPr>
          <p:cNvPr id="7" name="Text 5"/>
          <p:cNvSpPr txBox="1"/>
          <p:nvPr/>
        </p:nvSpPr>
        <p:spPr>
          <a:xfrm>
            <a:off x="630936" y="1737360"/>
            <a:ext cx="1051560" cy="548640"/>
          </a:xfrm>
          <a:prstGeom prst="rect">
            <a:avLst/>
          </a:prstGeom>
          <a:noFill/>
          <a:ln/>
        </p:spPr>
        <p:txBody>
          <a:bodyPr wrap="square" lIns="0" tIns="0" rIns="0" bIns="0" rtlCol="0" anchor="t"/>
          <a:lstStyle/>
          <a:p>
            <a:pPr indent="0" marL="0">
              <a:buNone/>
            </a:pPr>
            <a:r>
              <a:rPr lang="en-US" sz="750" dirty="0">
                <a:solidFill>
                  <a:srgbClr val="4A463F"/>
                </a:solidFill>
                <a:latin typeface="Arial" pitchFamily="34" charset="0"/>
                <a:ea typeface="Arial" pitchFamily="34" charset="-122"/>
                <a:cs typeface="Arial" pitchFamily="34" charset="-120"/>
              </a:rPr>
              <a:t>Speech to text, cards, voice, slide to book</a:t>
            </a:r>
            <a:endParaRPr lang="en-US" sz="750" dirty="0"/>
          </a:p>
        </p:txBody>
      </p:sp>
      <p:sp>
        <p:nvSpPr>
          <p:cNvPr id="8" name="Text 6"/>
          <p:cNvSpPr txBox="1"/>
          <p:nvPr/>
        </p:nvSpPr>
        <p:spPr>
          <a:xfrm>
            <a:off x="630936" y="2231136"/>
            <a:ext cx="1051560" cy="237744"/>
          </a:xfrm>
          <a:prstGeom prst="rect">
            <a:avLst/>
          </a:prstGeom>
          <a:noFill/>
          <a:ln/>
        </p:spPr>
        <p:txBody>
          <a:bodyPr wrap="square" lIns="0" tIns="0" rIns="0" bIns="0" rtlCol="0" anchor="b"/>
          <a:lstStyle/>
          <a:p>
            <a:pPr indent="0" marL="0">
              <a:buNone/>
            </a:pPr>
            <a:r>
              <a:rPr lang="en-US" sz="650" dirty="0">
                <a:solidFill>
                  <a:srgbClr val="7D5E30"/>
                </a:solidFill>
                <a:latin typeface="Courier New" pitchFamily="34" charset="0"/>
                <a:ea typeface="Courier New" pitchFamily="34" charset="-122"/>
                <a:cs typeface="Courier New" pitchFamily="34" charset="-120"/>
              </a:rPr>
              <a:t>assets/assistant</a:t>
            </a:r>
            <a:endParaRPr lang="en-US" sz="650" dirty="0"/>
          </a:p>
        </p:txBody>
      </p:sp>
      <p:sp>
        <p:nvSpPr>
          <p:cNvPr id="9" name="Shape 7"/>
          <p:cNvSpPr/>
          <p:nvPr/>
        </p:nvSpPr>
        <p:spPr>
          <a:xfrm>
            <a:off x="1783080" y="1901952"/>
            <a:ext cx="113386" cy="0"/>
          </a:xfrm>
          <a:prstGeom prst="line">
            <a:avLst/>
          </a:prstGeom>
          <a:noFill/>
          <a:ln w="12700">
            <a:solidFill>
              <a:srgbClr val="1D1B18"/>
            </a:solidFill>
            <a:prstDash val="solid"/>
            <a:tailEnd type="triangle"/>
          </a:ln>
        </p:spPr>
      </p:sp>
      <p:sp>
        <p:nvSpPr>
          <p:cNvPr id="10" name="Shape 8"/>
          <p:cNvSpPr/>
          <p:nvPr/>
        </p:nvSpPr>
        <p:spPr>
          <a:xfrm>
            <a:off x="1914754" y="1298448"/>
            <a:ext cx="1216152" cy="1207008"/>
          </a:xfrm>
          <a:prstGeom prst="rect">
            <a:avLst/>
          </a:prstGeom>
          <a:solidFill>
            <a:srgbClr val="FFFFFF"/>
          </a:solidFill>
          <a:ln w="9525">
            <a:solidFill>
              <a:srgbClr val="E4DDD0"/>
            </a:solidFill>
            <a:prstDash val="solid"/>
          </a:ln>
        </p:spPr>
      </p:sp>
      <p:sp>
        <p:nvSpPr>
          <p:cNvPr id="11" name="Text 9"/>
          <p:cNvSpPr txBox="1"/>
          <p:nvPr/>
        </p:nvSpPr>
        <p:spPr>
          <a:xfrm>
            <a:off x="1997050" y="1371600"/>
            <a:ext cx="1051560" cy="146304"/>
          </a:xfrm>
          <a:prstGeom prst="rect">
            <a:avLst/>
          </a:prstGeom>
          <a:noFill/>
          <a:ln/>
        </p:spPr>
        <p:txBody>
          <a:bodyPr wrap="square" lIns="0" tIns="0" rIns="0" bIns="0" rtlCol="0" anchor="t"/>
          <a:lstStyle/>
          <a:p>
            <a:pPr indent="0" marL="0">
              <a:buNone/>
            </a:pPr>
            <a:r>
              <a:rPr lang="en-US" sz="700" b="1" spc="120" kern="0" dirty="0">
                <a:solidFill>
                  <a:srgbClr val="7D5E30"/>
                </a:solidFill>
                <a:latin typeface="Arial" pitchFamily="34" charset="0"/>
                <a:ea typeface="Arial" pitchFamily="34" charset="-122"/>
                <a:cs typeface="Arial" pitchFamily="34" charset="-120"/>
              </a:rPr>
              <a:t>ROUTER</a:t>
            </a:r>
            <a:endParaRPr lang="en-US" sz="700" dirty="0"/>
          </a:p>
        </p:txBody>
      </p:sp>
      <p:sp>
        <p:nvSpPr>
          <p:cNvPr id="12" name="Text 10"/>
          <p:cNvSpPr txBox="1"/>
          <p:nvPr/>
        </p:nvSpPr>
        <p:spPr>
          <a:xfrm>
            <a:off x="1997050" y="1527048"/>
            <a:ext cx="1051560" cy="182880"/>
          </a:xfrm>
          <a:prstGeom prst="rect">
            <a:avLst/>
          </a:prstGeom>
          <a:noFill/>
          <a:ln/>
        </p:spPr>
        <p:txBody>
          <a:bodyPr wrap="square" lIns="0" tIns="0" rIns="0" bIns="0" rtlCol="0" anchor="t"/>
          <a:lstStyle/>
          <a:p>
            <a:pPr indent="0" marL="0">
              <a:buNone/>
            </a:pPr>
            <a:r>
              <a:rPr lang="en-US" sz="1050" dirty="0">
                <a:solidFill>
                  <a:srgbClr val="1D1B18"/>
                </a:solidFill>
                <a:latin typeface="Georgia" pitchFamily="34" charset="0"/>
                <a:ea typeface="Georgia" pitchFamily="34" charset="-122"/>
                <a:cs typeface="Georgia" pitchFamily="34" charset="-120"/>
              </a:rPr>
              <a:t>Python</a:t>
            </a:r>
            <a:endParaRPr lang="en-US" sz="1050" dirty="0"/>
          </a:p>
        </p:txBody>
      </p:sp>
      <p:sp>
        <p:nvSpPr>
          <p:cNvPr id="13" name="Text 11"/>
          <p:cNvSpPr txBox="1"/>
          <p:nvPr/>
        </p:nvSpPr>
        <p:spPr>
          <a:xfrm>
            <a:off x="1997050" y="1737360"/>
            <a:ext cx="1051560" cy="548640"/>
          </a:xfrm>
          <a:prstGeom prst="rect">
            <a:avLst/>
          </a:prstGeom>
          <a:noFill/>
          <a:ln/>
        </p:spPr>
        <p:txBody>
          <a:bodyPr wrap="square" lIns="0" tIns="0" rIns="0" bIns="0" rtlCol="0" anchor="t"/>
          <a:lstStyle/>
          <a:p>
            <a:pPr indent="0" marL="0">
              <a:buNone/>
            </a:pPr>
            <a:r>
              <a:rPr lang="en-US" sz="750" dirty="0">
                <a:solidFill>
                  <a:srgbClr val="4A463F"/>
                </a:solidFill>
                <a:latin typeface="Arial" pitchFamily="34" charset="0"/>
                <a:ea typeface="Arial" pitchFamily="34" charset="-122"/>
                <a:cs typeface="Arial" pitchFamily="34" charset="-120"/>
              </a:rPr>
              <a:t>"book it", memory and workshop questions: no model</a:t>
            </a:r>
            <a:endParaRPr lang="en-US" sz="750" dirty="0"/>
          </a:p>
        </p:txBody>
      </p:sp>
      <p:sp>
        <p:nvSpPr>
          <p:cNvPr id="14" name="Text 12"/>
          <p:cNvSpPr txBox="1"/>
          <p:nvPr/>
        </p:nvSpPr>
        <p:spPr>
          <a:xfrm>
            <a:off x="1997050" y="2231136"/>
            <a:ext cx="1051560" cy="237744"/>
          </a:xfrm>
          <a:prstGeom prst="rect">
            <a:avLst/>
          </a:prstGeom>
          <a:noFill/>
          <a:ln/>
        </p:spPr>
        <p:txBody>
          <a:bodyPr wrap="square" lIns="0" tIns="0" rIns="0" bIns="0" rtlCol="0" anchor="b"/>
          <a:lstStyle/>
          <a:p>
            <a:pPr indent="0" marL="0">
              <a:buNone/>
            </a:pPr>
            <a:r>
              <a:rPr lang="en-US" sz="650" dirty="0">
                <a:solidFill>
                  <a:srgbClr val="7D5E30"/>
                </a:solidFill>
                <a:latin typeface="Courier New" pitchFamily="34" charset="0"/>
                <a:ea typeface="Courier New" pitchFamily="34" charset="-122"/>
                <a:cs typeface="Courier New" pitchFamily="34" charset="-120"/>
              </a:rPr>
              <a:t>assistant.py</a:t>
            </a:r>
            <a:endParaRPr lang="en-US" sz="650" dirty="0"/>
          </a:p>
        </p:txBody>
      </p:sp>
      <p:sp>
        <p:nvSpPr>
          <p:cNvPr id="15" name="Shape 13"/>
          <p:cNvSpPr/>
          <p:nvPr/>
        </p:nvSpPr>
        <p:spPr>
          <a:xfrm>
            <a:off x="3149194" y="1901952"/>
            <a:ext cx="113386" cy="0"/>
          </a:xfrm>
          <a:prstGeom prst="line">
            <a:avLst/>
          </a:prstGeom>
          <a:noFill/>
          <a:ln w="12700">
            <a:solidFill>
              <a:srgbClr val="1D1B18"/>
            </a:solidFill>
            <a:prstDash val="solid"/>
            <a:tailEnd type="triangle"/>
          </a:ln>
        </p:spPr>
      </p:sp>
      <p:sp>
        <p:nvSpPr>
          <p:cNvPr id="16" name="Shape 14"/>
          <p:cNvSpPr/>
          <p:nvPr/>
        </p:nvSpPr>
        <p:spPr>
          <a:xfrm>
            <a:off x="3280867" y="1298448"/>
            <a:ext cx="1216152" cy="1207008"/>
          </a:xfrm>
          <a:prstGeom prst="rect">
            <a:avLst/>
          </a:prstGeom>
          <a:solidFill>
            <a:srgbClr val="F3EFE7"/>
          </a:solidFill>
          <a:ln w="9525">
            <a:solidFill>
              <a:srgbClr val="6B665D"/>
            </a:solidFill>
            <a:prstDash val="dash"/>
          </a:ln>
        </p:spPr>
      </p:sp>
      <p:sp>
        <p:nvSpPr>
          <p:cNvPr id="17" name="Text 15"/>
          <p:cNvSpPr txBox="1"/>
          <p:nvPr/>
        </p:nvSpPr>
        <p:spPr>
          <a:xfrm>
            <a:off x="3363163" y="1371600"/>
            <a:ext cx="1051560" cy="146304"/>
          </a:xfrm>
          <a:prstGeom prst="rect">
            <a:avLst/>
          </a:prstGeom>
          <a:noFill/>
          <a:ln/>
        </p:spPr>
        <p:txBody>
          <a:bodyPr wrap="square" lIns="0" tIns="0" rIns="0" bIns="0" rtlCol="0" anchor="t"/>
          <a:lstStyle/>
          <a:p>
            <a:pPr indent="0" marL="0">
              <a:buNone/>
            </a:pPr>
            <a:r>
              <a:rPr lang="en-US" sz="700" b="1" spc="120" kern="0" dirty="0">
                <a:solidFill>
                  <a:srgbClr val="7D5E30"/>
                </a:solidFill>
                <a:latin typeface="Arial" pitchFamily="34" charset="0"/>
                <a:ea typeface="Arial" pitchFamily="34" charset="-122"/>
                <a:cs typeface="Arial" pitchFamily="34" charset="-120"/>
              </a:rPr>
              <a:t>LLM</a:t>
            </a:r>
            <a:endParaRPr lang="en-US" sz="700" dirty="0"/>
          </a:p>
        </p:txBody>
      </p:sp>
      <p:sp>
        <p:nvSpPr>
          <p:cNvPr id="18" name="Text 16"/>
          <p:cNvSpPr txBox="1"/>
          <p:nvPr/>
        </p:nvSpPr>
        <p:spPr>
          <a:xfrm>
            <a:off x="3363163" y="1527048"/>
            <a:ext cx="1051560" cy="182880"/>
          </a:xfrm>
          <a:prstGeom prst="rect">
            <a:avLst/>
          </a:prstGeom>
          <a:noFill/>
          <a:ln/>
        </p:spPr>
        <p:txBody>
          <a:bodyPr wrap="square" lIns="0" tIns="0" rIns="0" bIns="0" rtlCol="0" anchor="t"/>
          <a:lstStyle/>
          <a:p>
            <a:pPr indent="0" marL="0">
              <a:buNone/>
            </a:pPr>
            <a:r>
              <a:rPr lang="en-US" sz="1050" dirty="0">
                <a:solidFill>
                  <a:srgbClr val="1D1B18"/>
                </a:solidFill>
                <a:latin typeface="Georgia" pitchFamily="34" charset="0"/>
                <a:ea typeface="Georgia" pitchFamily="34" charset="-122"/>
                <a:cs typeface="Georgia" pitchFamily="34" charset="-120"/>
              </a:rPr>
              <a:t>Structured output</a:t>
            </a:r>
            <a:endParaRPr lang="en-US" sz="1050" dirty="0"/>
          </a:p>
        </p:txBody>
      </p:sp>
      <p:sp>
        <p:nvSpPr>
          <p:cNvPr id="19" name="Text 17"/>
          <p:cNvSpPr txBox="1"/>
          <p:nvPr/>
        </p:nvSpPr>
        <p:spPr>
          <a:xfrm>
            <a:off x="3363163" y="1737360"/>
            <a:ext cx="1051560" cy="548640"/>
          </a:xfrm>
          <a:prstGeom prst="rect">
            <a:avLst/>
          </a:prstGeom>
          <a:noFill/>
          <a:ln/>
        </p:spPr>
        <p:txBody>
          <a:bodyPr wrap="square" lIns="0" tIns="0" rIns="0" bIns="0" rtlCol="0" anchor="t"/>
          <a:lstStyle/>
          <a:p>
            <a:pPr indent="0" marL="0">
              <a:buNone/>
            </a:pPr>
            <a:r>
              <a:rPr lang="en-US" sz="750" dirty="0">
                <a:solidFill>
                  <a:srgbClr val="4A463F"/>
                </a:solidFill>
                <a:latin typeface="Arial" pitchFamily="34" charset="0"/>
                <a:ea typeface="Arial" pitchFamily="34" charset="-122"/>
                <a:cs typeface="Arial" pitchFamily="34" charset="-120"/>
              </a:rPr>
              <a:t>Typed patch; every field must quote the message</a:t>
            </a:r>
            <a:endParaRPr lang="en-US" sz="750" dirty="0"/>
          </a:p>
        </p:txBody>
      </p:sp>
      <p:sp>
        <p:nvSpPr>
          <p:cNvPr id="20" name="Text 18"/>
          <p:cNvSpPr txBox="1"/>
          <p:nvPr/>
        </p:nvSpPr>
        <p:spPr>
          <a:xfrm>
            <a:off x="3363163" y="2231136"/>
            <a:ext cx="1051560" cy="237744"/>
          </a:xfrm>
          <a:prstGeom prst="rect">
            <a:avLst/>
          </a:prstGeom>
          <a:noFill/>
          <a:ln/>
        </p:spPr>
        <p:txBody>
          <a:bodyPr wrap="square" lIns="0" tIns="0" rIns="0" bIns="0" rtlCol="0" anchor="b"/>
          <a:lstStyle/>
          <a:p>
            <a:pPr indent="0" marL="0">
              <a:buNone/>
            </a:pPr>
            <a:r>
              <a:rPr lang="en-US" sz="650" dirty="0">
                <a:solidFill>
                  <a:srgbClr val="7D5E30"/>
                </a:solidFill>
                <a:latin typeface="Courier New" pitchFamily="34" charset="0"/>
                <a:ea typeface="Courier New" pitchFamily="34" charset="-122"/>
                <a:cs typeface="Courier New" pitchFamily="34" charset="-120"/>
              </a:rPr>
              <a:t>intake.py</a:t>
            </a:r>
            <a:endParaRPr lang="en-US" sz="650" dirty="0"/>
          </a:p>
        </p:txBody>
      </p:sp>
      <p:sp>
        <p:nvSpPr>
          <p:cNvPr id="21" name="Shape 19"/>
          <p:cNvSpPr/>
          <p:nvPr/>
        </p:nvSpPr>
        <p:spPr>
          <a:xfrm>
            <a:off x="4515307" y="1901952"/>
            <a:ext cx="113386" cy="0"/>
          </a:xfrm>
          <a:prstGeom prst="line">
            <a:avLst/>
          </a:prstGeom>
          <a:noFill/>
          <a:ln w="12700">
            <a:solidFill>
              <a:srgbClr val="1D1B18"/>
            </a:solidFill>
            <a:prstDash val="solid"/>
            <a:tailEnd type="triangle"/>
          </a:ln>
        </p:spPr>
      </p:sp>
      <p:sp>
        <p:nvSpPr>
          <p:cNvPr id="22" name="Shape 20"/>
          <p:cNvSpPr/>
          <p:nvPr/>
        </p:nvSpPr>
        <p:spPr>
          <a:xfrm>
            <a:off x="4646981" y="1298448"/>
            <a:ext cx="1216152" cy="1207008"/>
          </a:xfrm>
          <a:prstGeom prst="rect">
            <a:avLst/>
          </a:prstGeom>
          <a:solidFill>
            <a:srgbClr val="1D1B18"/>
          </a:solidFill>
          <a:ln w="9525">
            <a:solidFill>
              <a:srgbClr val="1D1B18"/>
            </a:solidFill>
            <a:prstDash val="solid"/>
          </a:ln>
        </p:spPr>
      </p:sp>
      <p:sp>
        <p:nvSpPr>
          <p:cNvPr id="23" name="Text 21"/>
          <p:cNvSpPr txBox="1"/>
          <p:nvPr/>
        </p:nvSpPr>
        <p:spPr>
          <a:xfrm>
            <a:off x="4729277" y="1371600"/>
            <a:ext cx="1051560" cy="146304"/>
          </a:xfrm>
          <a:prstGeom prst="rect">
            <a:avLst/>
          </a:prstGeom>
          <a:noFill/>
          <a:ln/>
        </p:spPr>
        <p:txBody>
          <a:bodyPr wrap="square" lIns="0" tIns="0" rIns="0" bIns="0" rtlCol="0" anchor="t"/>
          <a:lstStyle/>
          <a:p>
            <a:pPr indent="0" marL="0">
              <a:buNone/>
            </a:pPr>
            <a:r>
              <a:rPr lang="en-US" sz="700" b="1" spc="120" kern="0" dirty="0">
                <a:solidFill>
                  <a:srgbClr val="CDB78F"/>
                </a:solidFill>
                <a:latin typeface="Arial" pitchFamily="34" charset="0"/>
                <a:ea typeface="Arial" pitchFamily="34" charset="-122"/>
                <a:cs typeface="Arial" pitchFamily="34" charset="-120"/>
              </a:rPr>
              <a:t>TOOLS</a:t>
            </a:r>
            <a:endParaRPr lang="en-US" sz="700" dirty="0"/>
          </a:p>
        </p:txBody>
      </p:sp>
      <p:sp>
        <p:nvSpPr>
          <p:cNvPr id="24" name="Text 22"/>
          <p:cNvSpPr txBox="1"/>
          <p:nvPr/>
        </p:nvSpPr>
        <p:spPr>
          <a:xfrm>
            <a:off x="4729277" y="1527048"/>
            <a:ext cx="1051560" cy="182880"/>
          </a:xfrm>
          <a:prstGeom prst="rect">
            <a:avLst/>
          </a:prstGeom>
          <a:noFill/>
          <a:ln/>
        </p:spPr>
        <p:txBody>
          <a:bodyPr wrap="square" lIns="0" tIns="0" rIns="0" bIns="0" rtlCol="0" anchor="t"/>
          <a:lstStyle/>
          <a:p>
            <a:pPr indent="0" marL="0">
              <a:buNone/>
            </a:pPr>
            <a:r>
              <a:rPr lang="en-US" sz="1050" dirty="0">
                <a:solidFill>
                  <a:srgbClr val="F4EFE6"/>
                </a:solidFill>
                <a:latin typeface="Georgia" pitchFamily="34" charset="0"/>
                <a:ea typeface="Georgia" pitchFamily="34" charset="-122"/>
                <a:cs typeface="Georgia" pitchFamily="34" charset="-120"/>
              </a:rPr>
              <a:t>Deterministic</a:t>
            </a:r>
            <a:endParaRPr lang="en-US" sz="1050" dirty="0"/>
          </a:p>
        </p:txBody>
      </p:sp>
      <p:sp>
        <p:nvSpPr>
          <p:cNvPr id="25" name="Text 23"/>
          <p:cNvSpPr txBox="1"/>
          <p:nvPr/>
        </p:nvSpPr>
        <p:spPr>
          <a:xfrm>
            <a:off x="4729277" y="1737360"/>
            <a:ext cx="1051560" cy="548640"/>
          </a:xfrm>
          <a:prstGeom prst="rect">
            <a:avLst/>
          </a:prstGeom>
          <a:noFill/>
          <a:ln/>
        </p:spPr>
        <p:txBody>
          <a:bodyPr wrap="square" lIns="0" tIns="0" rIns="0" bIns="0" rtlCol="0" anchor="t"/>
          <a:lstStyle/>
          <a:p>
            <a:pPr indent="0" marL="0">
              <a:buNone/>
            </a:pPr>
            <a:r>
              <a:rPr lang="en-US" sz="750" dirty="0">
                <a:solidFill>
                  <a:srgbClr val="F4EFE6"/>
                </a:solidFill>
                <a:latin typeface="Arial" pitchFamily="34" charset="0"/>
                <a:ea typeface="Arial" pitchFamily="34" charset="-122"/>
                <a:cs typeface="Arial" pitchFamily="34" charset="-120"/>
              </a:rPr>
              <a:t>Order lookup, remembered rules, eligibility, estimates, ranking</a:t>
            </a:r>
            <a:endParaRPr lang="en-US" sz="750" dirty="0"/>
          </a:p>
        </p:txBody>
      </p:sp>
      <p:sp>
        <p:nvSpPr>
          <p:cNvPr id="26" name="Text 24"/>
          <p:cNvSpPr txBox="1"/>
          <p:nvPr/>
        </p:nvSpPr>
        <p:spPr>
          <a:xfrm>
            <a:off x="4729277" y="2231136"/>
            <a:ext cx="1051560" cy="237744"/>
          </a:xfrm>
          <a:prstGeom prst="rect">
            <a:avLst/>
          </a:prstGeom>
          <a:noFill/>
          <a:ln/>
        </p:spPr>
        <p:txBody>
          <a:bodyPr wrap="square" lIns="0" tIns="0" rIns="0" bIns="0" rtlCol="0" anchor="b"/>
          <a:lstStyle/>
          <a:p>
            <a:pPr indent="0" marL="0">
              <a:buNone/>
            </a:pPr>
            <a:r>
              <a:rPr lang="en-US" sz="650" dirty="0">
                <a:solidFill>
                  <a:srgbClr val="CDB78F"/>
                </a:solidFill>
                <a:latin typeface="Courier New" pitchFamily="34" charset="0"/>
                <a:ea typeface="Courier New" pitchFamily="34" charset="-122"/>
                <a:cs typeface="Courier New" pitchFamily="34" charset="-120"/>
              </a:rPr>
              <a:t>dispatch.py</a:t>
            </a:r>
            <a:endParaRPr lang="en-US" sz="650" dirty="0"/>
          </a:p>
          <a:p>
            <a:pPr indent="0" marL="0">
              <a:buNone/>
            </a:pPr>
            <a:r>
              <a:rPr lang="en-US" sz="650" dirty="0">
                <a:solidFill>
                  <a:srgbClr val="CDB78F"/>
                </a:solidFill>
                <a:latin typeface="Courier New" pitchFamily="34" charset="0"/>
                <a:ea typeface="Courier New" pitchFamily="34" charset="-122"/>
                <a:cs typeface="Courier New" pitchFamily="34" charset="-120"/>
              </a:rPr>
              <a:t>allocator.py</a:t>
            </a:r>
            <a:endParaRPr lang="en-US" sz="650" dirty="0"/>
          </a:p>
        </p:txBody>
      </p:sp>
      <p:sp>
        <p:nvSpPr>
          <p:cNvPr id="27" name="Shape 25"/>
          <p:cNvSpPr/>
          <p:nvPr/>
        </p:nvSpPr>
        <p:spPr>
          <a:xfrm>
            <a:off x="5881421" y="1901952"/>
            <a:ext cx="113386" cy="0"/>
          </a:xfrm>
          <a:prstGeom prst="line">
            <a:avLst/>
          </a:prstGeom>
          <a:noFill/>
          <a:ln w="12700">
            <a:solidFill>
              <a:srgbClr val="1D1B18"/>
            </a:solidFill>
            <a:prstDash val="solid"/>
            <a:tailEnd type="triangle"/>
          </a:ln>
        </p:spPr>
      </p:sp>
      <p:sp>
        <p:nvSpPr>
          <p:cNvPr id="28" name="Shape 26"/>
          <p:cNvSpPr/>
          <p:nvPr/>
        </p:nvSpPr>
        <p:spPr>
          <a:xfrm>
            <a:off x="6013094" y="1298448"/>
            <a:ext cx="1216152" cy="1207008"/>
          </a:xfrm>
          <a:prstGeom prst="rect">
            <a:avLst/>
          </a:prstGeom>
          <a:solidFill>
            <a:srgbClr val="FFFFFF"/>
          </a:solidFill>
          <a:ln w="9525">
            <a:solidFill>
              <a:srgbClr val="E4DDD0"/>
            </a:solidFill>
            <a:prstDash val="solid"/>
          </a:ln>
        </p:spPr>
      </p:sp>
      <p:sp>
        <p:nvSpPr>
          <p:cNvPr id="29" name="Text 27"/>
          <p:cNvSpPr txBox="1"/>
          <p:nvPr/>
        </p:nvSpPr>
        <p:spPr>
          <a:xfrm>
            <a:off x="6095390" y="1371600"/>
            <a:ext cx="1051560" cy="146304"/>
          </a:xfrm>
          <a:prstGeom prst="rect">
            <a:avLst/>
          </a:prstGeom>
          <a:noFill/>
          <a:ln/>
        </p:spPr>
        <p:txBody>
          <a:bodyPr wrap="square" lIns="0" tIns="0" rIns="0" bIns="0" rtlCol="0" anchor="t"/>
          <a:lstStyle/>
          <a:p>
            <a:pPr indent="0" marL="0">
              <a:buNone/>
            </a:pPr>
            <a:r>
              <a:rPr lang="en-US" sz="700" b="1" spc="120" kern="0" dirty="0">
                <a:solidFill>
                  <a:srgbClr val="7D5E30"/>
                </a:solidFill>
                <a:latin typeface="Arial" pitchFamily="34" charset="0"/>
                <a:ea typeface="Arial" pitchFamily="34" charset="-122"/>
                <a:cs typeface="Arial" pitchFamily="34" charset="-120"/>
              </a:rPr>
              <a:t>REPLY</a:t>
            </a:r>
            <a:endParaRPr lang="en-US" sz="700" dirty="0"/>
          </a:p>
        </p:txBody>
      </p:sp>
      <p:sp>
        <p:nvSpPr>
          <p:cNvPr id="30" name="Text 28"/>
          <p:cNvSpPr txBox="1"/>
          <p:nvPr/>
        </p:nvSpPr>
        <p:spPr>
          <a:xfrm>
            <a:off x="6095390" y="1527048"/>
            <a:ext cx="1051560" cy="182880"/>
          </a:xfrm>
          <a:prstGeom prst="rect">
            <a:avLst/>
          </a:prstGeom>
          <a:noFill/>
          <a:ln/>
        </p:spPr>
        <p:txBody>
          <a:bodyPr wrap="square" lIns="0" tIns="0" rIns="0" bIns="0" rtlCol="0" anchor="t"/>
          <a:lstStyle/>
          <a:p>
            <a:pPr indent="0" marL="0">
              <a:buNone/>
            </a:pPr>
            <a:r>
              <a:rPr lang="en-US" sz="1050" dirty="0">
                <a:solidFill>
                  <a:srgbClr val="1D1B18"/>
                </a:solidFill>
                <a:latin typeface="Georgia" pitchFamily="34" charset="0"/>
                <a:ea typeface="Georgia" pitchFamily="34" charset="-122"/>
                <a:cs typeface="Georgia" pitchFamily="34" charset="-120"/>
              </a:rPr>
              <a:t>Python template</a:t>
            </a:r>
            <a:endParaRPr lang="en-US" sz="1050" dirty="0"/>
          </a:p>
        </p:txBody>
      </p:sp>
      <p:sp>
        <p:nvSpPr>
          <p:cNvPr id="31" name="Text 29"/>
          <p:cNvSpPr txBox="1"/>
          <p:nvPr/>
        </p:nvSpPr>
        <p:spPr>
          <a:xfrm>
            <a:off x="6095390" y="1737360"/>
            <a:ext cx="1051560" cy="548640"/>
          </a:xfrm>
          <a:prstGeom prst="rect">
            <a:avLst/>
          </a:prstGeom>
          <a:noFill/>
          <a:ln/>
        </p:spPr>
        <p:txBody>
          <a:bodyPr wrap="square" lIns="0" tIns="0" rIns="0" bIns="0" rtlCol="0" anchor="t"/>
          <a:lstStyle/>
          <a:p>
            <a:pPr indent="0" marL="0">
              <a:buNone/>
            </a:pPr>
            <a:r>
              <a:rPr lang="en-US" sz="750" dirty="0">
                <a:solidFill>
                  <a:srgbClr val="4A463F"/>
                </a:solidFill>
                <a:latin typeface="Arial" pitchFamily="34" charset="0"/>
                <a:ea typeface="Arial" pitchFamily="34" charset="-122"/>
                <a:cs typeface="Arial" pitchFamily="34" charset="-120"/>
              </a:rPr>
              <a:t>Card and speech from tool strings only</a:t>
            </a:r>
            <a:endParaRPr lang="en-US" sz="750" dirty="0"/>
          </a:p>
        </p:txBody>
      </p:sp>
      <p:sp>
        <p:nvSpPr>
          <p:cNvPr id="32" name="Text 30"/>
          <p:cNvSpPr txBox="1"/>
          <p:nvPr/>
        </p:nvSpPr>
        <p:spPr>
          <a:xfrm>
            <a:off x="6095390" y="2231136"/>
            <a:ext cx="1051560" cy="237744"/>
          </a:xfrm>
          <a:prstGeom prst="rect">
            <a:avLst/>
          </a:prstGeom>
          <a:noFill/>
          <a:ln/>
        </p:spPr>
        <p:txBody>
          <a:bodyPr wrap="square" lIns="0" tIns="0" rIns="0" bIns="0" rtlCol="0" anchor="b"/>
          <a:lstStyle/>
          <a:p>
            <a:pPr indent="0" marL="0">
              <a:buNone/>
            </a:pPr>
            <a:r>
              <a:rPr lang="en-US" sz="650" dirty="0">
                <a:solidFill>
                  <a:srgbClr val="7D5E30"/>
                </a:solidFill>
                <a:latin typeface="Courier New" pitchFamily="34" charset="0"/>
                <a:ea typeface="Courier New" pitchFamily="34" charset="-122"/>
                <a:cs typeface="Courier New" pitchFamily="34" charset="-120"/>
              </a:rPr>
              <a:t>assistant.py</a:t>
            </a:r>
            <a:endParaRPr lang="en-US" sz="650" dirty="0"/>
          </a:p>
        </p:txBody>
      </p:sp>
      <p:sp>
        <p:nvSpPr>
          <p:cNvPr id="33" name="Shape 31"/>
          <p:cNvSpPr/>
          <p:nvPr/>
        </p:nvSpPr>
        <p:spPr>
          <a:xfrm>
            <a:off x="7247534" y="1901952"/>
            <a:ext cx="113386" cy="0"/>
          </a:xfrm>
          <a:prstGeom prst="line">
            <a:avLst/>
          </a:prstGeom>
          <a:noFill/>
          <a:ln w="12700">
            <a:solidFill>
              <a:srgbClr val="1D1B18"/>
            </a:solidFill>
            <a:prstDash val="solid"/>
            <a:tailEnd type="triangle"/>
          </a:ln>
        </p:spPr>
      </p:sp>
      <p:sp>
        <p:nvSpPr>
          <p:cNvPr id="34" name="Shape 32"/>
          <p:cNvSpPr/>
          <p:nvPr/>
        </p:nvSpPr>
        <p:spPr>
          <a:xfrm>
            <a:off x="7379208" y="1298448"/>
            <a:ext cx="1216152" cy="1207008"/>
          </a:xfrm>
          <a:prstGeom prst="rect">
            <a:avLst/>
          </a:prstGeom>
          <a:solidFill>
            <a:srgbClr val="FFFFFF"/>
          </a:solidFill>
          <a:ln w="9525">
            <a:solidFill>
              <a:srgbClr val="E4DDD0"/>
            </a:solidFill>
            <a:prstDash val="solid"/>
          </a:ln>
        </p:spPr>
      </p:sp>
      <p:sp>
        <p:nvSpPr>
          <p:cNvPr id="35" name="Text 33"/>
          <p:cNvSpPr txBox="1"/>
          <p:nvPr/>
        </p:nvSpPr>
        <p:spPr>
          <a:xfrm>
            <a:off x="7461504" y="1371600"/>
            <a:ext cx="1051560" cy="146304"/>
          </a:xfrm>
          <a:prstGeom prst="rect">
            <a:avLst/>
          </a:prstGeom>
          <a:noFill/>
          <a:ln/>
        </p:spPr>
        <p:txBody>
          <a:bodyPr wrap="square" lIns="0" tIns="0" rIns="0" bIns="0" rtlCol="0" anchor="t"/>
          <a:lstStyle/>
          <a:p>
            <a:pPr indent="0" marL="0">
              <a:buNone/>
            </a:pPr>
            <a:r>
              <a:rPr lang="en-US" sz="700" b="1" spc="120" kern="0" dirty="0">
                <a:solidFill>
                  <a:srgbClr val="7D5E30"/>
                </a:solidFill>
                <a:latin typeface="Arial" pitchFamily="34" charset="0"/>
                <a:ea typeface="Arial" pitchFamily="34" charset="-122"/>
                <a:cs typeface="Arial" pitchFamily="34" charset="-120"/>
              </a:rPr>
              <a:t>CONFIRM + STORE</a:t>
            </a:r>
            <a:endParaRPr lang="en-US" sz="700" dirty="0"/>
          </a:p>
        </p:txBody>
      </p:sp>
      <p:sp>
        <p:nvSpPr>
          <p:cNvPr id="36" name="Text 34"/>
          <p:cNvSpPr txBox="1"/>
          <p:nvPr/>
        </p:nvSpPr>
        <p:spPr>
          <a:xfrm>
            <a:off x="7461504" y="1527048"/>
            <a:ext cx="1051560" cy="182880"/>
          </a:xfrm>
          <a:prstGeom prst="rect">
            <a:avLst/>
          </a:prstGeom>
          <a:noFill/>
          <a:ln/>
        </p:spPr>
        <p:txBody>
          <a:bodyPr wrap="square" lIns="0" tIns="0" rIns="0" bIns="0" rtlCol="0" anchor="t"/>
          <a:lstStyle/>
          <a:p>
            <a:pPr indent="0" marL="0">
              <a:buNone/>
            </a:pPr>
            <a:r>
              <a:rPr lang="en-US" sz="1050" dirty="0">
                <a:solidFill>
                  <a:srgbClr val="1D1B18"/>
                </a:solidFill>
                <a:latin typeface="Georgia" pitchFamily="34" charset="0"/>
                <a:ea typeface="Georgia" pitchFamily="34" charset="-122"/>
                <a:cs typeface="Georgia" pitchFamily="34" charset="-120"/>
              </a:rPr>
              <a:t>SQLite</a:t>
            </a:r>
            <a:endParaRPr lang="en-US" sz="1050" dirty="0"/>
          </a:p>
        </p:txBody>
      </p:sp>
      <p:sp>
        <p:nvSpPr>
          <p:cNvPr id="37" name="Text 35"/>
          <p:cNvSpPr txBox="1"/>
          <p:nvPr/>
        </p:nvSpPr>
        <p:spPr>
          <a:xfrm>
            <a:off x="7461504" y="1737360"/>
            <a:ext cx="1051560" cy="548640"/>
          </a:xfrm>
          <a:prstGeom prst="rect">
            <a:avLst/>
          </a:prstGeom>
          <a:noFill/>
          <a:ln/>
        </p:spPr>
        <p:txBody>
          <a:bodyPr wrap="square" lIns="0" tIns="0" rIns="0" bIns="0" rtlCol="0" anchor="t"/>
          <a:lstStyle/>
          <a:p>
            <a:pPr indent="0" marL="0">
              <a:buNone/>
            </a:pPr>
            <a:r>
              <a:rPr lang="en-US" sz="750" dirty="0">
                <a:solidFill>
                  <a:srgbClr val="4A463F"/>
                </a:solidFill>
                <a:latin typeface="Arial" pitchFamily="34" charset="0"/>
                <a:ea typeface="Arial" pitchFamily="34" charset="-122"/>
                <a:cs typeface="Arial" pitchFamily="34" charset="-120"/>
              </a:rPr>
              <a:t>Recompute, save the record, learn the rule</a:t>
            </a:r>
            <a:endParaRPr lang="en-US" sz="750" dirty="0"/>
          </a:p>
        </p:txBody>
      </p:sp>
      <p:sp>
        <p:nvSpPr>
          <p:cNvPr id="38" name="Text 36"/>
          <p:cNvSpPr txBox="1"/>
          <p:nvPr/>
        </p:nvSpPr>
        <p:spPr>
          <a:xfrm>
            <a:off x="7461504" y="2231136"/>
            <a:ext cx="1051560" cy="237744"/>
          </a:xfrm>
          <a:prstGeom prst="rect">
            <a:avLst/>
          </a:prstGeom>
          <a:noFill/>
          <a:ln/>
        </p:spPr>
        <p:txBody>
          <a:bodyPr wrap="square" lIns="0" tIns="0" rIns="0" bIns="0" rtlCol="0" anchor="b"/>
          <a:lstStyle/>
          <a:p>
            <a:pPr indent="0" marL="0">
              <a:buNone/>
            </a:pPr>
            <a:r>
              <a:rPr lang="en-US" sz="650" dirty="0">
                <a:solidFill>
                  <a:srgbClr val="7D5E30"/>
                </a:solidFill>
                <a:latin typeface="Courier New" pitchFamily="34" charset="0"/>
                <a:ea typeface="Courier New" pitchFamily="34" charset="-122"/>
                <a:cs typeface="Courier New" pitchFamily="34" charset="-120"/>
              </a:rPr>
              <a:t>records.py</a:t>
            </a:r>
            <a:endParaRPr lang="en-US" sz="650" dirty="0"/>
          </a:p>
          <a:p>
            <a:pPr indent="0" marL="0">
              <a:buNone/>
            </a:pPr>
            <a:r>
              <a:rPr lang="en-US" sz="650" dirty="0">
                <a:solidFill>
                  <a:srgbClr val="7D5E30"/>
                </a:solidFill>
                <a:latin typeface="Courier New" pitchFamily="34" charset="0"/>
                <a:ea typeface="Courier New" pitchFamily="34" charset="-122"/>
                <a:cs typeface="Courier New" pitchFamily="34" charset="-120"/>
              </a:rPr>
              <a:t>memory.py</a:t>
            </a:r>
            <a:endParaRPr lang="en-US" sz="650" dirty="0"/>
          </a:p>
        </p:txBody>
      </p:sp>
      <p:sp>
        <p:nvSpPr>
          <p:cNvPr id="39" name="Text 37"/>
          <p:cNvSpPr txBox="1"/>
          <p:nvPr/>
        </p:nvSpPr>
        <p:spPr>
          <a:xfrm>
            <a:off x="2732227" y="2560320"/>
            <a:ext cx="2313432" cy="274320"/>
          </a:xfrm>
          <a:prstGeom prst="rect">
            <a:avLst/>
          </a:prstGeom>
          <a:noFill/>
          <a:ln/>
        </p:spPr>
        <p:txBody>
          <a:bodyPr wrap="square" lIns="0" tIns="0" rIns="0" bIns="0" rtlCol="0" anchor="t"/>
          <a:lstStyle/>
          <a:p>
            <a:pPr algn="ctr" indent="0" marL="0">
              <a:buNone/>
            </a:pPr>
            <a:r>
              <a:rPr lang="en-US" sz="700" i="1" dirty="0">
                <a:solidFill>
                  <a:srgbClr val="6B665D"/>
                </a:solidFill>
                <a:latin typeface="Arial" pitchFamily="34" charset="0"/>
                <a:ea typeface="Arial" pitchFamily="34" charset="-122"/>
                <a:cs typeface="Arial" pitchFamily="34" charset="-120"/>
              </a:rPr>
              <a:t>Trust boundary: the model call is the only thing that leaves the machine. It never sees costs, queues or defect rates.</a:t>
            </a:r>
            <a:endParaRPr lang="en-US" sz="700" dirty="0"/>
          </a:p>
        </p:txBody>
      </p:sp>
      <p:sp>
        <p:nvSpPr>
          <p:cNvPr id="40" name="Text 38"/>
          <p:cNvSpPr txBox="1"/>
          <p:nvPr/>
        </p:nvSpPr>
        <p:spPr>
          <a:xfrm>
            <a:off x="548640" y="2880360"/>
            <a:ext cx="8046720" cy="164592"/>
          </a:xfrm>
          <a:prstGeom prst="rect">
            <a:avLst/>
          </a:prstGeom>
          <a:noFill/>
          <a:ln/>
        </p:spPr>
        <p:txBody>
          <a:bodyPr wrap="square" lIns="0" tIns="0" rIns="0" bIns="0" rtlCol="0" anchor="t"/>
          <a:lstStyle/>
          <a:p>
            <a:pPr indent="0" marL="0">
              <a:buNone/>
            </a:pPr>
            <a:r>
              <a:rPr lang="en-US" sz="750" b="1" spc="180" kern="0" dirty="0">
                <a:solidFill>
                  <a:srgbClr val="6B665D"/>
                </a:solidFill>
                <a:latin typeface="Arial" pitchFamily="34" charset="0"/>
                <a:ea typeface="Arial" pitchFamily="34" charset="-122"/>
                <a:cs typeface="Arial" pitchFamily="34" charset="-120"/>
              </a:rPr>
              <a:t>KEY CHOICES, AGAINST THE ALTERNATIVE WE CONSIDERED</a:t>
            </a:r>
            <a:endParaRPr lang="en-US" sz="7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3072384"/>
          <a:ext cx="8046720" cy="914400"/>
        </p:xfrm>
        <a:graphic>
          <a:graphicData uri="http://schemas.openxmlformats.org/drawingml/2006/table">
            <a:tbl>
              <a:tblPr/>
              <a:tblGrid>
                <a:gridCol w="1828800"/>
                <a:gridCol w="1691640"/>
                <a:gridCol w="4526280"/>
              </a:tblGrid>
              <a:tr h="219456">
                <a:tc>
                  <a:txBody>
                    <a:bodyPr/>
                    <a:lstStyle/>
                    <a:p>
                      <a:pPr indent="0" marL="0">
                        <a:buNone/>
                      </a:pPr>
                      <a:r>
                        <a:rPr lang="en-US" sz="700" b="1" spc="150" kern="0" dirty="0">
                          <a:solidFill>
                            <a:srgbClr val="6B665D"/>
                          </a:solidFill>
                          <a:latin typeface="Arial" pitchFamily="34" charset="0"/>
                          <a:ea typeface="Arial" pitchFamily="34" charset="-122"/>
                          <a:cs typeface="Arial" pitchFamily="34" charset="-120"/>
                        </a:rPr>
                        <a:t>WE CHOSE</a:t>
                      </a:r>
                      <a:endParaRPr lang="en-US" sz="7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12700" cap="flat" cmpd="sng" algn="ctr">
                      <a:solidFill>
                        <a:srgbClr val="1D1B18"/>
                      </a:solidFill>
                      <a:prstDash val="solid"/>
                      <a:round/>
                      <a:headEnd type="none" w="med" len="med"/>
                      <a:tailEnd type="none" w="med" len="med"/>
                    </a:lnB>
                  </a:tcPr>
                </a:tc>
                <a:tc>
                  <a:txBody>
                    <a:bodyPr/>
                    <a:lstStyle/>
                    <a:p>
                      <a:pPr indent="0" marL="0">
                        <a:buNone/>
                      </a:pPr>
                      <a:r>
                        <a:rPr lang="en-US" sz="700" b="1" spc="150" kern="0" dirty="0">
                          <a:solidFill>
                            <a:srgbClr val="6B665D"/>
                          </a:solidFill>
                          <a:latin typeface="Arial" pitchFamily="34" charset="0"/>
                          <a:ea typeface="Arial" pitchFamily="34" charset="-122"/>
                          <a:cs typeface="Arial" pitchFamily="34" charset="-120"/>
                        </a:rPr>
                        <a:t>OVER</a:t>
                      </a:r>
                      <a:endParaRPr lang="en-US" sz="7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12700" cap="flat" cmpd="sng" algn="ctr">
                      <a:solidFill>
                        <a:srgbClr val="1D1B18"/>
                      </a:solidFill>
                      <a:prstDash val="solid"/>
                      <a:round/>
                      <a:headEnd type="none" w="med" len="med"/>
                      <a:tailEnd type="none" w="med" len="med"/>
                    </a:lnB>
                  </a:tcPr>
                </a:tc>
                <a:tc>
                  <a:txBody>
                    <a:bodyPr/>
                    <a:lstStyle/>
                    <a:p>
                      <a:pPr indent="0" marL="0">
                        <a:buNone/>
                      </a:pPr>
                      <a:r>
                        <a:rPr lang="en-US" sz="700" b="1" spc="150" kern="0" dirty="0">
                          <a:solidFill>
                            <a:srgbClr val="6B665D"/>
                          </a:solidFill>
                          <a:latin typeface="Arial" pitchFamily="34" charset="0"/>
                          <a:ea typeface="Arial" pitchFamily="34" charset="-122"/>
                          <a:cs typeface="Arial" pitchFamily="34" charset="-120"/>
                        </a:rPr>
                        <a:t>BECAUSE</a:t>
                      </a:r>
                      <a:endParaRPr lang="en-US" sz="7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12700" cap="flat" cmpd="sng" algn="ctr">
                      <a:solidFill>
                        <a:srgbClr val="1D1B18"/>
                      </a:solidFill>
                      <a:prstDash val="solid"/>
                      <a:round/>
                      <a:headEnd type="none" w="med" len="med"/>
                      <a:tailEnd type="none" w="med" len="med"/>
                    </a:lnB>
                  </a:tcPr>
                </a:tc>
              </a:tr>
              <a:tr h="246888">
                <a:tc>
                  <a:txBody>
                    <a:bodyPr/>
                    <a:lstStyle/>
                    <a:p>
                      <a:pPr indent="0" marL="0">
                        <a:buNone/>
                      </a:pPr>
                      <a:r>
                        <a:rPr lang="en-US" sz="900" b="1" dirty="0">
                          <a:solidFill>
                            <a:srgbClr val="1D1B18"/>
                          </a:solidFill>
                          <a:latin typeface="Arial" pitchFamily="34" charset="0"/>
                          <a:ea typeface="Arial" pitchFamily="34" charset="-122"/>
                          <a:cs typeface="Arial" pitchFamily="34" charset="-120"/>
                        </a:rPr>
                        <a:t>One workflow</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dirty="0">
                          <a:solidFill>
                            <a:srgbClr val="6B665D"/>
                          </a:solidFill>
                          <a:latin typeface="Arial" pitchFamily="34" charset="0"/>
                          <a:ea typeface="Arial" pitchFamily="34" charset="-122"/>
                          <a:cs typeface="Arial" pitchFamily="34" charset="-120"/>
                        </a:rPr>
                        <a:t>A ReAct agent loop</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dirty="0">
                          <a:solidFill>
                            <a:srgbClr val="4A463F"/>
                          </a:solidFill>
                          <a:latin typeface="Arial" pitchFamily="34" charset="0"/>
                          <a:ea typeface="Arial" pitchFamily="34" charset="-122"/>
                          <a:cs typeface="Arial" pitchFamily="34" charset="-120"/>
                        </a:rPr>
                        <a:t>Every request needs the same checks in order: testable, cheaper, no tool-choice errors</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246888">
                <a:tc>
                  <a:txBody>
                    <a:bodyPr/>
                    <a:lstStyle/>
                    <a:p>
                      <a:pPr indent="0" marL="0">
                        <a:buNone/>
                      </a:pPr>
                      <a:r>
                        <a:rPr lang="en-US" sz="900" b="1" dirty="0">
                          <a:solidFill>
                            <a:srgbClr val="1D1B18"/>
                          </a:solidFill>
                          <a:latin typeface="Arial" pitchFamily="34" charset="0"/>
                          <a:ea typeface="Arial" pitchFamily="34" charset="-122"/>
                          <a:cs typeface="Arial" pitchFamily="34" charset="-120"/>
                        </a:rPr>
                        <a:t>Browser speech recognition</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dirty="0">
                          <a:solidFill>
                            <a:srgbClr val="6B665D"/>
                          </a:solidFill>
                          <a:latin typeface="Arial" pitchFamily="34" charset="0"/>
                          <a:ea typeface="Arial" pitchFamily="34" charset="-122"/>
                          <a:cs typeface="Arial" pitchFamily="34" charset="-120"/>
                        </a:rPr>
                        <a:t>Server speech-to-text</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dirty="0">
                          <a:solidFill>
                            <a:srgbClr val="4A463F"/>
                          </a:solidFill>
                          <a:latin typeface="Arial" pitchFamily="34" charset="0"/>
                          <a:ea typeface="Arial" pitchFamily="34" charset="-122"/>
                          <a:cs typeface="Arial" pitchFamily="34" charset="-120"/>
                        </a:rPr>
                        <a:t>Free, live words as he speaks, no extra key; typing always works</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246888">
                <a:tc>
                  <a:txBody>
                    <a:bodyPr/>
                    <a:lstStyle/>
                    <a:p>
                      <a:pPr indent="0" marL="0">
                        <a:buNone/>
                      </a:pPr>
                      <a:r>
                        <a:rPr lang="en-US" sz="900" b="1" dirty="0">
                          <a:solidFill>
                            <a:srgbClr val="1D1B18"/>
                          </a:solidFill>
                          <a:latin typeface="Arial" pitchFamily="34" charset="0"/>
                          <a:ea typeface="Arial" pitchFamily="34" charset="-122"/>
                          <a:cs typeface="Arial" pitchFamily="34" charset="-120"/>
                        </a:rPr>
                        <a:t>Python templates for replies</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dirty="0">
                          <a:solidFill>
                            <a:srgbClr val="6B665D"/>
                          </a:solidFill>
                          <a:latin typeface="Arial" pitchFamily="34" charset="0"/>
                          <a:ea typeface="Arial" pitchFamily="34" charset="-122"/>
                          <a:cs typeface="Arial" pitchFamily="34" charset="-120"/>
                        </a:rPr>
                        <a:t>Model-written replies</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dirty="0">
                          <a:solidFill>
                            <a:srgbClr val="4A463F"/>
                          </a:solidFill>
                          <a:latin typeface="Arial" pitchFamily="34" charset="0"/>
                          <a:ea typeface="Arial" pitchFamily="34" charset="-122"/>
                          <a:cs typeface="Arial" pitchFamily="34" charset="-120"/>
                        </a:rPr>
                        <a:t>No model arithmetic: dates and costs are copied from tools</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246888">
                <a:tc>
                  <a:txBody>
                    <a:bodyPr/>
                    <a:lstStyle/>
                    <a:p>
                      <a:pPr indent="0" marL="0">
                        <a:buNone/>
                      </a:pPr>
                      <a:r>
                        <a:rPr lang="en-US" sz="900" b="1" dirty="0">
                          <a:solidFill>
                            <a:srgbClr val="1D1B18"/>
                          </a:solidFill>
                          <a:latin typeface="Arial" pitchFamily="34" charset="0"/>
                          <a:ea typeface="Arial" pitchFamily="34" charset="-122"/>
                          <a:cs typeface="Arial" pitchFamily="34" charset="-120"/>
                        </a:rPr>
                        <a:t>Exact rules in SQLite</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dirty="0">
                          <a:solidFill>
                            <a:srgbClr val="6B665D"/>
                          </a:solidFill>
                          <a:latin typeface="Arial" pitchFamily="34" charset="0"/>
                          <a:ea typeface="Arial" pitchFamily="34" charset="-122"/>
                          <a:cs typeface="Arial" pitchFamily="34" charset="-120"/>
                        </a:rPr>
                        <a:t>A vector-store memory</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dirty="0">
                          <a:solidFill>
                            <a:srgbClr val="4A463F"/>
                          </a:solidFill>
                          <a:latin typeface="Arial" pitchFamily="34" charset="0"/>
                          <a:ea typeface="Arial" pitchFamily="34" charset="-122"/>
                          <a:cs typeface="Arial" pitchFamily="34" charset="-120"/>
                        </a:rPr>
                        <a:t>A constraint must apply exactly, with who said it, and be auditable</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246888">
                <a:tc>
                  <a:txBody>
                    <a:bodyPr/>
                    <a:lstStyle/>
                    <a:p>
                      <a:pPr indent="0" marL="0">
                        <a:buNone/>
                      </a:pPr>
                      <a:r>
                        <a:rPr lang="en-US" sz="900" b="1" dirty="0">
                          <a:solidFill>
                            <a:srgbClr val="1D1B18"/>
                          </a:solidFill>
                          <a:latin typeface="Arial" pitchFamily="34" charset="0"/>
                          <a:ea typeface="Arial" pitchFamily="34" charset="-122"/>
                          <a:cs typeface="Arial" pitchFamily="34" charset="-120"/>
                        </a:rPr>
                        <a:t>Slide to confirm</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dirty="0">
                          <a:solidFill>
                            <a:srgbClr val="6B665D"/>
                          </a:solidFill>
                          <a:latin typeface="Arial" pitchFamily="34" charset="0"/>
                          <a:ea typeface="Arial" pitchFamily="34" charset="-122"/>
                          <a:cs typeface="Arial" pitchFamily="34" charset="-120"/>
                        </a:rPr>
                        <a:t>Book on a spoken "yes"</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dirty="0">
                          <a:solidFill>
                            <a:srgbClr val="4A463F"/>
                          </a:solidFill>
                          <a:latin typeface="Arial" pitchFamily="34" charset="0"/>
                          <a:ea typeface="Arial" pitchFamily="34" charset="-122"/>
                          <a:cs typeface="Arial" pitchFamily="34" charset="-120"/>
                        </a:rPr>
                        <a:t>A misheard "yes" on a noisy floor cannot send work out</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8138160" y="4800600"/>
            <a:ext cx="457200" cy="201168"/>
          </a:xfrm>
          <a:prstGeom prst="rect">
            <a:avLst/>
          </a:prstGeom>
          <a:extLst>
            <a:ext uri="{C572A759-6A51-4108-AA02-DFA0A04FC94B}">
              <ma14:wrappingTextBoxFlag xmlns:ma14="http://schemas.microsoft.com/office/mac/drawingml/2011/main" val="0"/>
            </a:ext>
          </a:extLst>
        </p:spPr>
        <p:txBody>
          <a:bodyPr/>
          <a:lstStyle>
            <a:lvl1pPr>
              <a:defRPr sz="700">
                <a:solidFill>
                  <a:srgbClr val="6B665D"/>
                </a:solidFill>
                <a:latin typeface="Arial"/>
                <a:ea typeface="Arial"/>
                <a:cs typeface="Aria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310896"/>
            <a:ext cx="8046720" cy="201168"/>
          </a:xfrm>
          <a:prstGeom prst="rect">
            <a:avLst/>
          </a:prstGeom>
          <a:noFill/>
          <a:ln/>
        </p:spPr>
        <p:txBody>
          <a:bodyPr wrap="square" lIns="0" tIns="0" rIns="0" bIns="0" rtlCol="0" anchor="t"/>
          <a:lstStyle/>
          <a:p>
            <a:pPr indent="0" marL="0">
              <a:buNone/>
            </a:pPr>
            <a:r>
              <a:rPr lang="en-US" sz="850" b="1" spc="300" kern="0" dirty="0">
                <a:solidFill>
                  <a:srgbClr val="7D5E30"/>
                </a:solidFill>
                <a:latin typeface="Arial" pitchFamily="34" charset="0"/>
                <a:ea typeface="Arial" pitchFamily="34" charset="-122"/>
                <a:cs typeface="Arial" pitchFamily="34" charset="-120"/>
              </a:rPr>
              <a:t>PROGRESS SINCE THE SPRINT 1 ROADMAP</a:t>
            </a:r>
            <a:endParaRPr lang="en-US" sz="850" dirty="0"/>
          </a:p>
        </p:txBody>
      </p:sp>
      <p:sp>
        <p:nvSpPr>
          <p:cNvPr id="3" name="Text 1"/>
          <p:cNvSpPr txBox="1"/>
          <p:nvPr/>
        </p:nvSpPr>
        <p:spPr>
          <a:xfrm>
            <a:off x="548640" y="530352"/>
            <a:ext cx="8046720" cy="548640"/>
          </a:xfrm>
          <a:prstGeom prst="rect">
            <a:avLst/>
          </a:prstGeom>
          <a:noFill/>
          <a:ln/>
        </p:spPr>
        <p:txBody>
          <a:bodyPr wrap="square" lIns="0" tIns="0" rIns="0" bIns="0" rtlCol="0" anchor="ctr"/>
          <a:lstStyle/>
          <a:p>
            <a:pPr indent="0" marL="0">
              <a:buNone/>
            </a:pPr>
            <a:r>
              <a:rPr lang="en-US" sz="2300" dirty="0">
                <a:solidFill>
                  <a:srgbClr val="1D1B18"/>
                </a:solidFill>
                <a:latin typeface="Georgia" pitchFamily="34" charset="0"/>
                <a:ea typeface="Georgia" pitchFamily="34" charset="-122"/>
                <a:cs typeface="Georgia" pitchFamily="34" charset="-120"/>
              </a:rPr>
              <a:t>Every feature, its owner and its status</a:t>
            </a:r>
            <a:endParaRPr lang="en-US" sz="23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207008"/>
          <a:ext cx="8046720" cy="914400"/>
        </p:xfrm>
        <a:graphic>
          <a:graphicData uri="http://schemas.openxmlformats.org/drawingml/2006/table">
            <a:tbl>
              <a:tblPr/>
              <a:tblGrid>
                <a:gridCol w="5120640"/>
                <a:gridCol w="1828800"/>
                <a:gridCol w="1097280"/>
              </a:tblGrid>
              <a:tr h="219456">
                <a:tc>
                  <a:txBody>
                    <a:bodyPr/>
                    <a:lstStyle/>
                    <a:p>
                      <a:pPr indent="0" marL="0">
                        <a:buNone/>
                      </a:pPr>
                      <a:r>
                        <a:rPr lang="en-US" sz="700" b="1" spc="150" kern="0" dirty="0">
                          <a:solidFill>
                            <a:srgbClr val="6B665D"/>
                          </a:solidFill>
                          <a:latin typeface="Arial" pitchFamily="34" charset="0"/>
                          <a:ea typeface="Arial" pitchFamily="34" charset="-122"/>
                          <a:cs typeface="Arial" pitchFamily="34" charset="-120"/>
                        </a:rPr>
                        <a:t>FEATURE</a:t>
                      </a:r>
                      <a:endParaRPr lang="en-US" sz="7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12700" cap="flat" cmpd="sng" algn="ctr">
                      <a:solidFill>
                        <a:srgbClr val="1D1B18"/>
                      </a:solidFill>
                      <a:prstDash val="solid"/>
                      <a:round/>
                      <a:headEnd type="none" w="med" len="med"/>
                      <a:tailEnd type="none" w="med" len="med"/>
                    </a:lnB>
                  </a:tcPr>
                </a:tc>
                <a:tc>
                  <a:txBody>
                    <a:bodyPr/>
                    <a:lstStyle/>
                    <a:p>
                      <a:pPr indent="0" marL="0">
                        <a:buNone/>
                      </a:pPr>
                      <a:r>
                        <a:rPr lang="en-US" sz="700" b="1" spc="150" kern="0" dirty="0">
                          <a:solidFill>
                            <a:srgbClr val="6B665D"/>
                          </a:solidFill>
                          <a:latin typeface="Arial" pitchFamily="34" charset="0"/>
                          <a:ea typeface="Arial" pitchFamily="34" charset="-122"/>
                          <a:cs typeface="Arial" pitchFamily="34" charset="-120"/>
                        </a:rPr>
                        <a:t>OWNER</a:t>
                      </a:r>
                      <a:endParaRPr lang="en-US" sz="7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12700" cap="flat" cmpd="sng" algn="ctr">
                      <a:solidFill>
                        <a:srgbClr val="1D1B18"/>
                      </a:solidFill>
                      <a:prstDash val="solid"/>
                      <a:round/>
                      <a:headEnd type="none" w="med" len="med"/>
                      <a:tailEnd type="none" w="med" len="med"/>
                    </a:lnB>
                  </a:tcPr>
                </a:tc>
                <a:tc>
                  <a:txBody>
                    <a:bodyPr/>
                    <a:lstStyle/>
                    <a:p>
                      <a:pPr indent="0" marL="0">
                        <a:buNone/>
                      </a:pPr>
                      <a:r>
                        <a:rPr lang="en-US" sz="700" b="1" spc="150" kern="0" dirty="0">
                          <a:solidFill>
                            <a:srgbClr val="6B665D"/>
                          </a:solidFill>
                          <a:latin typeface="Arial" pitchFamily="34" charset="0"/>
                          <a:ea typeface="Arial" pitchFamily="34" charset="-122"/>
                          <a:cs typeface="Arial" pitchFamily="34" charset="-120"/>
                        </a:rPr>
                        <a:t>STATUS</a:t>
                      </a:r>
                      <a:endParaRPr lang="en-US" sz="7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12700" cap="flat" cmpd="sng" algn="ctr">
                      <a:solidFill>
                        <a:srgbClr val="1D1B18"/>
                      </a:solidFill>
                      <a:prstDash val="solid"/>
                      <a:round/>
                      <a:headEnd type="none" w="med" len="med"/>
                      <a:tailEnd type="none" w="med" len="med"/>
                    </a:lnB>
                  </a:tcPr>
                </a:tc>
              </a:tr>
              <a:tr h="283464">
                <a:tc>
                  <a:txBody>
                    <a:bodyPr/>
                    <a:lstStyle/>
                    <a:p>
                      <a:pPr indent="0" marL="0">
                        <a:buNone/>
                      </a:pPr>
                      <a:r>
                        <a:rPr lang="en-US" sz="900" dirty="0">
                          <a:solidFill>
                            <a:srgbClr val="1D1B18"/>
                          </a:solidFill>
                          <a:latin typeface="Arial" pitchFamily="34" charset="0"/>
                          <a:ea typeface="Arial" pitchFamily="34" charset="-122"/>
                          <a:cs typeface="Arial" pitchFamily="34" charset="-120"/>
                        </a:rPr>
                        <a:t>Voice assistant: phone UI, speech in and out, slide to book</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dirty="0">
                          <a:solidFill>
                            <a:srgbClr val="4A463F"/>
                          </a:solidFill>
                          <a:latin typeface="Arial" pitchFamily="34" charset="0"/>
                          <a:ea typeface="Arial" pitchFamily="34" charset="-122"/>
                          <a:cs typeface="Arial" pitchFamily="34" charset="-120"/>
                        </a:rPr>
                        <a:t>Chen Zepeng</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b="1" dirty="0">
                          <a:solidFill>
                            <a:srgbClr val="2F5D46"/>
                          </a:solidFill>
                          <a:latin typeface="Arial" pitchFamily="34" charset="0"/>
                          <a:ea typeface="Arial" pitchFamily="34" charset="-122"/>
                          <a:cs typeface="Arial" pitchFamily="34" charset="-120"/>
                        </a:rPr>
                        <a:t>Done</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283464">
                <a:tc>
                  <a:txBody>
                    <a:bodyPr/>
                    <a:lstStyle/>
                    <a:p>
                      <a:pPr indent="0" marL="0">
                        <a:buNone/>
                      </a:pPr>
                      <a:r>
                        <a:rPr lang="en-US" sz="900" dirty="0">
                          <a:solidFill>
                            <a:srgbClr val="1D1B18"/>
                          </a:solidFill>
                          <a:latin typeface="Arial" pitchFamily="34" charset="0"/>
                          <a:ea typeface="Arial" pitchFamily="34" charset="-122"/>
                          <a:cs typeface="Arial" pitchFamily="34" charset="-120"/>
                        </a:rPr>
                        <a:t>Long-term memory: rules from confirmed bookings, log, profile</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dirty="0">
                          <a:solidFill>
                            <a:srgbClr val="4A463F"/>
                          </a:solidFill>
                          <a:latin typeface="Arial" pitchFamily="34" charset="0"/>
                          <a:ea typeface="Arial" pitchFamily="34" charset="-122"/>
                          <a:cs typeface="Arial" pitchFamily="34" charset="-120"/>
                        </a:rPr>
                        <a:t>Chen Zepeng</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b="1" dirty="0">
                          <a:solidFill>
                            <a:srgbClr val="2F5D46"/>
                          </a:solidFill>
                          <a:latin typeface="Arial" pitchFamily="34" charset="0"/>
                          <a:ea typeface="Arial" pitchFamily="34" charset="-122"/>
                          <a:cs typeface="Arial" pitchFamily="34" charset="-120"/>
                        </a:rPr>
                        <a:t>Done</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283464">
                <a:tc>
                  <a:txBody>
                    <a:bodyPr/>
                    <a:lstStyle/>
                    <a:p>
                      <a:pPr indent="0" marL="0">
                        <a:buNone/>
                      </a:pPr>
                      <a:r>
                        <a:rPr lang="en-US" sz="900" dirty="0">
                          <a:solidFill>
                            <a:srgbClr val="1D1B18"/>
                          </a:solidFill>
                          <a:latin typeface="Arial" pitchFamily="34" charset="0"/>
                          <a:ea typeface="Arial" pitchFamily="34" charset="-122"/>
                          <a:cs typeface="Arial" pitchFamily="34" charset="-120"/>
                        </a:rPr>
                        <a:t>Four-objective scorer, frozen presets, objective lab</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dirty="0">
                          <a:solidFill>
                            <a:srgbClr val="4A463F"/>
                          </a:solidFill>
                          <a:latin typeface="Arial" pitchFamily="34" charset="0"/>
                          <a:ea typeface="Arial" pitchFamily="34" charset="-122"/>
                          <a:cs typeface="Arial" pitchFamily="34" charset="-120"/>
                        </a:rPr>
                        <a:t>Chen Zepeng</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b="1" dirty="0">
                          <a:solidFill>
                            <a:srgbClr val="2F5D46"/>
                          </a:solidFill>
                          <a:latin typeface="Arial" pitchFamily="34" charset="0"/>
                          <a:ea typeface="Arial" pitchFamily="34" charset="-122"/>
                          <a:cs typeface="Arial" pitchFamily="34" charset="-120"/>
                        </a:rPr>
                        <a:t>Done</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283464">
                <a:tc>
                  <a:txBody>
                    <a:bodyPr/>
                    <a:lstStyle/>
                    <a:p>
                      <a:pPr indent="0" marL="0">
                        <a:buNone/>
                      </a:pPr>
                      <a:r>
                        <a:rPr lang="en-US" sz="900" dirty="0">
                          <a:solidFill>
                            <a:srgbClr val="1D1B18"/>
                          </a:solidFill>
                          <a:latin typeface="Arial" pitchFamily="34" charset="0"/>
                          <a:ea typeface="Arial" pitchFamily="34" charset="-122"/>
                          <a:cs typeface="Arial" pitchFamily="34" charset="-120"/>
                        </a:rPr>
                        <a:t>Capacity questions and workshop checks from chat</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dirty="0">
                          <a:solidFill>
                            <a:srgbClr val="4A463F"/>
                          </a:solidFill>
                          <a:latin typeface="Arial" pitchFamily="34" charset="0"/>
                          <a:ea typeface="Arial" pitchFamily="34" charset="-122"/>
                          <a:cs typeface="Arial" pitchFamily="34" charset="-120"/>
                        </a:rPr>
                        <a:t>Chen Zepeng</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b="1" dirty="0">
                          <a:solidFill>
                            <a:srgbClr val="2F5D46"/>
                          </a:solidFill>
                          <a:latin typeface="Arial" pitchFamily="34" charset="0"/>
                          <a:ea typeface="Arial" pitchFamily="34" charset="-122"/>
                          <a:cs typeface="Arial" pitchFamily="34" charset="-120"/>
                        </a:rPr>
                        <a:t>Done</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283464">
                <a:tc>
                  <a:txBody>
                    <a:bodyPr/>
                    <a:lstStyle/>
                    <a:p>
                      <a:pPr indent="0" marL="0">
                        <a:buNone/>
                      </a:pPr>
                      <a:r>
                        <a:rPr lang="en-US" sz="900" dirty="0">
                          <a:solidFill>
                            <a:srgbClr val="1D1B18"/>
                          </a:solidFill>
                          <a:latin typeface="Arial" pitchFamily="34" charset="0"/>
                          <a:ea typeface="Arial" pitchFamily="34" charset="-122"/>
                          <a:cs typeface="Arial" pitchFamily="34" charset="-120"/>
                        </a:rPr>
                        <a:t>Chat-first desk redesign</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dirty="0">
                          <a:solidFill>
                            <a:srgbClr val="4A463F"/>
                          </a:solidFill>
                          <a:latin typeface="Arial" pitchFamily="34" charset="0"/>
                          <a:ea typeface="Arial" pitchFamily="34" charset="-122"/>
                          <a:cs typeface="Arial" pitchFamily="34" charset="-120"/>
                        </a:rPr>
                        <a:t>Duong Thanh Nhan</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b="1" dirty="0">
                          <a:solidFill>
                            <a:srgbClr val="2F5D46"/>
                          </a:solidFill>
                          <a:latin typeface="Arial" pitchFamily="34" charset="0"/>
                          <a:ea typeface="Arial" pitchFamily="34" charset="-122"/>
                          <a:cs typeface="Arial" pitchFamily="34" charset="-120"/>
                        </a:rPr>
                        <a:t>Done</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283464">
                <a:tc>
                  <a:txBody>
                    <a:bodyPr/>
                    <a:lstStyle/>
                    <a:p>
                      <a:pPr indent="0" marL="0">
                        <a:buNone/>
                      </a:pPr>
                      <a:r>
                        <a:rPr lang="en-US" sz="900" dirty="0">
                          <a:solidFill>
                            <a:srgbClr val="1D1B18"/>
                          </a:solidFill>
                          <a:latin typeface="Arial" pitchFamily="34" charset="0"/>
                          <a:ea typeface="Arial" pitchFamily="34" charset="-122"/>
                          <a:cs typeface="Arial" pitchFamily="34" charset="-120"/>
                        </a:rPr>
                        <a:t>AWS deployment behind HTTPS (demo site)</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dirty="0">
                          <a:solidFill>
                            <a:srgbClr val="4A463F"/>
                          </a:solidFill>
                          <a:latin typeface="Arial" pitchFamily="34" charset="0"/>
                          <a:ea typeface="Arial" pitchFamily="34" charset="-122"/>
                          <a:cs typeface="Arial" pitchFamily="34" charset="-120"/>
                        </a:rPr>
                        <a:t>Joshua Wesley Gloor</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b="1" dirty="0">
                          <a:solidFill>
                            <a:srgbClr val="2F5D46"/>
                          </a:solidFill>
                          <a:latin typeface="Arial" pitchFamily="34" charset="0"/>
                          <a:ea typeface="Arial" pitchFamily="34" charset="-122"/>
                          <a:cs typeface="Arial" pitchFamily="34" charset="-120"/>
                        </a:rPr>
                        <a:t>Done</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283464">
                <a:tc>
                  <a:txBody>
                    <a:bodyPr/>
                    <a:lstStyle/>
                    <a:p>
                      <a:pPr indent="0" marL="0">
                        <a:buNone/>
                      </a:pPr>
                      <a:r>
                        <a:rPr lang="en-US" sz="900" dirty="0">
                          <a:solidFill>
                            <a:srgbClr val="1D1B18"/>
                          </a:solidFill>
                          <a:latin typeface="Arial" pitchFamily="34" charset="0"/>
                          <a:ea typeface="Arial" pitchFamily="34" charset="-122"/>
                          <a:cs typeface="Arial" pitchFamily="34" charset="-120"/>
                        </a:rPr>
                        <a:t>Clarification reliability fixes and 247-assertion benchmark</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dirty="0">
                          <a:solidFill>
                            <a:srgbClr val="4A463F"/>
                          </a:solidFill>
                          <a:latin typeface="Arial" pitchFamily="34" charset="0"/>
                          <a:ea typeface="Arial" pitchFamily="34" charset="-122"/>
                          <a:cs typeface="Arial" pitchFamily="34" charset="-120"/>
                        </a:rPr>
                        <a:t>Tang Zheling</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b="1" dirty="0">
                          <a:solidFill>
                            <a:srgbClr val="9A6A12"/>
                          </a:solidFill>
                          <a:latin typeface="Arial" pitchFamily="34" charset="0"/>
                          <a:ea typeface="Arial" pitchFamily="34" charset="-122"/>
                          <a:cs typeface="Arial" pitchFamily="34" charset="-120"/>
                        </a:rPr>
                        <a:t>In progress</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283464">
                <a:tc>
                  <a:txBody>
                    <a:bodyPr/>
                    <a:lstStyle/>
                    <a:p>
                      <a:pPr indent="0" marL="0">
                        <a:buNone/>
                      </a:pPr>
                      <a:r>
                        <a:rPr lang="en-US" sz="900" dirty="0">
                          <a:solidFill>
                            <a:srgbClr val="1D1B18"/>
                          </a:solidFill>
                          <a:latin typeface="Arial" pitchFamily="34" charset="0"/>
                          <a:ea typeface="Arial" pitchFamily="34" charset="-122"/>
                          <a:cs typeface="Arial" pitchFamily="34" charset="-120"/>
                        </a:rPr>
                        <a:t>Evaluation set: 50 new held-out requests, written and labelled</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dirty="0">
                          <a:solidFill>
                            <a:srgbClr val="4A463F"/>
                          </a:solidFill>
                          <a:latin typeface="Arial" pitchFamily="34" charset="0"/>
                          <a:ea typeface="Arial" pitchFamily="34" charset="-122"/>
                          <a:cs typeface="Arial" pitchFamily="34" charset="-120"/>
                        </a:rPr>
                        <a:t>Saadhvika and Niyanthri</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b="1" dirty="0">
                          <a:solidFill>
                            <a:srgbClr val="9A6A12"/>
                          </a:solidFill>
                          <a:latin typeface="Arial" pitchFamily="34" charset="0"/>
                          <a:ea typeface="Arial" pitchFamily="34" charset="-122"/>
                          <a:cs typeface="Arial" pitchFamily="34" charset="-120"/>
                        </a:rPr>
                        <a:t>In progress</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283464">
                <a:tc>
                  <a:txBody>
                    <a:bodyPr/>
                    <a:lstStyle/>
                    <a:p>
                      <a:pPr indent="0" marL="0">
                        <a:buNone/>
                      </a:pPr>
                      <a:r>
                        <a:rPr lang="en-US" sz="900" dirty="0">
                          <a:solidFill>
                            <a:srgbClr val="1D1B18"/>
                          </a:solidFill>
                          <a:latin typeface="Arial" pitchFamily="34" charset="0"/>
                          <a:ea typeface="Arial" pitchFamily="34" charset="-122"/>
                          <a:cs typeface="Arial" pitchFamily="34" charset="-120"/>
                        </a:rPr>
                        <a:t>Independent labels for the 30 inbox requests</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dirty="0">
                          <a:solidFill>
                            <a:srgbClr val="4A463F"/>
                          </a:solidFill>
                          <a:latin typeface="Arial" pitchFamily="34" charset="0"/>
                          <a:ea typeface="Arial" pitchFamily="34" charset="-122"/>
                          <a:cs typeface="Arial" pitchFamily="34" charset="-120"/>
                        </a:rPr>
                        <a:t>Saadhvika and Niyanthri</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b="1" dirty="0">
                          <a:solidFill>
                            <a:srgbClr val="9A6A12"/>
                          </a:solidFill>
                          <a:latin typeface="Arial" pitchFamily="34" charset="0"/>
                          <a:ea typeface="Arial" pitchFamily="34" charset="-122"/>
                          <a:cs typeface="Arial" pitchFamily="34" charset="-120"/>
                        </a:rPr>
                        <a:t>In progress</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283464">
                <a:tc>
                  <a:txBody>
                    <a:bodyPr/>
                    <a:lstStyle/>
                    <a:p>
                      <a:pPr indent="0" marL="0">
                        <a:buNone/>
                      </a:pPr>
                      <a:r>
                        <a:rPr lang="en-US" sz="900" dirty="0">
                          <a:solidFill>
                            <a:srgbClr val="1D1B18"/>
                          </a:solidFill>
                          <a:latin typeface="Arial" pitchFamily="34" charset="0"/>
                          <a:ea typeface="Arial" pitchFamily="34" charset="-122"/>
                          <a:cs typeface="Arial" pitchFamily="34" charset="-120"/>
                        </a:rPr>
                        <a:t>Live run on the full evaluation set; usability test</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dirty="0">
                          <a:solidFill>
                            <a:srgbClr val="8A2C35"/>
                          </a:solidFill>
                          <a:latin typeface="Arial" pitchFamily="34" charset="0"/>
                          <a:ea typeface="Arial" pitchFamily="34" charset="-122"/>
                          <a:cs typeface="Arial" pitchFamily="34" charset="-120"/>
                        </a:rPr>
                        <a:t>[TBD]</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b="1" dirty="0">
                          <a:solidFill>
                            <a:srgbClr val="6B665D"/>
                          </a:solidFill>
                          <a:latin typeface="Arial" pitchFamily="34" charset="0"/>
                          <a:ea typeface="Arial" pitchFamily="34" charset="-122"/>
                          <a:cs typeface="Arial" pitchFamily="34" charset="-120"/>
                        </a:rPr>
                        <a:t>Planned</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bl>
          </a:graphicData>
        </a:graphic>
      </p:graphicFrame>
      <p:sp>
        <p:nvSpPr>
          <p:cNvPr id="5" name="Text 2"/>
          <p:cNvSpPr txBox="1"/>
          <p:nvPr/>
        </p:nvSpPr>
        <p:spPr>
          <a:xfrm>
            <a:off x="548640" y="4572000"/>
            <a:ext cx="8046720" cy="182880"/>
          </a:xfrm>
          <a:prstGeom prst="rect">
            <a:avLst/>
          </a:prstGeom>
          <a:noFill/>
          <a:ln/>
        </p:spPr>
        <p:txBody>
          <a:bodyPr wrap="square" lIns="0" tIns="0" rIns="0" bIns="0" rtlCol="0" anchor="t"/>
          <a:lstStyle/>
          <a:p>
            <a:pPr indent="0" marL="0">
              <a:buNone/>
            </a:pPr>
            <a:r>
              <a:rPr lang="en-US" sz="700" i="1" dirty="0">
                <a:solidFill>
                  <a:srgbClr val="6B665D"/>
                </a:solidFill>
                <a:latin typeface="Arial" pitchFamily="34" charset="0"/>
                <a:ea typeface="Arial" pitchFamily="34" charset="-122"/>
                <a:cs typeface="Arial" pitchFamily="34" charset="-120"/>
              </a:rPr>
              <a:t>6 of 10 done. Code: github.com/JoshuaGloor/dss5105-capstone-project (PR #15 for this sprint, PR #14 for clarification reliability).</a:t>
            </a:r>
            <a:endParaRPr lang="en-US" sz="700" dirty="0"/>
          </a:p>
        </p:txBody>
      </p:sp>
      <p:sp>
        <p:nvSpPr>
          <p:cNvPr id="25" name="Slide Number Placeholder 0"/>
          <p:cNvSpPr>
            <a:spLocks noGrp="1"/>
          </p:cNvSpPr>
          <p:nvPr>
            <p:ph type="sldNum" sz="quarter" idx="4294967295"/>
          </p:nvPr>
        </p:nvSpPr>
        <p:spPr>
          <a:xfrm>
            <a:off x="8138160" y="4800600"/>
            <a:ext cx="457200" cy="201168"/>
          </a:xfrm>
          <a:prstGeom prst="rect">
            <a:avLst/>
          </a:prstGeom>
          <a:extLst>
            <a:ext uri="{C572A759-6A51-4108-AA02-DFA0A04FC94B}">
              <ma14:wrappingTextBoxFlag xmlns:ma14="http://schemas.microsoft.com/office/mac/drawingml/2011/main" val="0"/>
            </a:ext>
          </a:extLst>
        </p:spPr>
        <p:txBody>
          <a:bodyPr/>
          <a:lstStyle>
            <a:lvl1pPr>
              <a:defRPr sz="700">
                <a:solidFill>
                  <a:srgbClr val="6B665D"/>
                </a:solidFill>
                <a:latin typeface="Arial"/>
                <a:ea typeface="Arial"/>
                <a:cs typeface="Aria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310896"/>
            <a:ext cx="8046720" cy="201168"/>
          </a:xfrm>
          <a:prstGeom prst="rect">
            <a:avLst/>
          </a:prstGeom>
          <a:noFill/>
          <a:ln/>
        </p:spPr>
        <p:txBody>
          <a:bodyPr wrap="square" lIns="0" tIns="0" rIns="0" bIns="0" rtlCol="0" anchor="t"/>
          <a:lstStyle/>
          <a:p>
            <a:pPr indent="0" marL="0">
              <a:buNone/>
            </a:pPr>
            <a:r>
              <a:rPr lang="en-US" sz="850" b="1" spc="300" kern="0" dirty="0">
                <a:solidFill>
                  <a:srgbClr val="7D5E30"/>
                </a:solidFill>
                <a:latin typeface="Arial" pitchFamily="34" charset="0"/>
                <a:ea typeface="Arial" pitchFamily="34" charset="-122"/>
                <a:cs typeface="Arial" pitchFamily="34" charset="-120"/>
              </a:rPr>
              <a:t>VALIDATION PLAN</a:t>
            </a:r>
            <a:endParaRPr lang="en-US" sz="850" dirty="0"/>
          </a:p>
        </p:txBody>
      </p:sp>
      <p:sp>
        <p:nvSpPr>
          <p:cNvPr id="3" name="Text 1"/>
          <p:cNvSpPr txBox="1"/>
          <p:nvPr/>
        </p:nvSpPr>
        <p:spPr>
          <a:xfrm>
            <a:off x="548640" y="530352"/>
            <a:ext cx="8046720" cy="548640"/>
          </a:xfrm>
          <a:prstGeom prst="rect">
            <a:avLst/>
          </a:prstGeom>
          <a:noFill/>
          <a:ln/>
        </p:spPr>
        <p:txBody>
          <a:bodyPr wrap="square" lIns="0" tIns="0" rIns="0" bIns="0" rtlCol="0" anchor="ctr"/>
          <a:lstStyle/>
          <a:p>
            <a:pPr indent="0" marL="0">
              <a:buNone/>
            </a:pPr>
            <a:r>
              <a:rPr lang="en-US" sz="2300" dirty="0">
                <a:solidFill>
                  <a:srgbClr val="1D1B18"/>
                </a:solidFill>
                <a:latin typeface="Georgia" pitchFamily="34" charset="0"/>
                <a:ea typeface="Georgia" pitchFamily="34" charset="-122"/>
                <a:cs typeface="Georgia" pitchFamily="34" charset="-120"/>
              </a:rPr>
              <a:t>What we measure, against what, and the hard cases</a:t>
            </a:r>
            <a:endParaRPr lang="en-US" sz="2300" dirty="0"/>
          </a:p>
        </p:txBody>
      </p:sp>
      <p:sp>
        <p:nvSpPr>
          <p:cNvPr id="4" name="Text 2"/>
          <p:cNvSpPr txBox="1"/>
          <p:nvPr/>
        </p:nvSpPr>
        <p:spPr>
          <a:xfrm>
            <a:off x="548640" y="1207008"/>
            <a:ext cx="3840480" cy="164592"/>
          </a:xfrm>
          <a:prstGeom prst="rect">
            <a:avLst/>
          </a:prstGeom>
          <a:noFill/>
          <a:ln/>
        </p:spPr>
        <p:txBody>
          <a:bodyPr wrap="square" lIns="0" tIns="0" rIns="0" bIns="0" rtlCol="0" anchor="t"/>
          <a:lstStyle/>
          <a:p>
            <a:pPr indent="0" marL="0">
              <a:buNone/>
            </a:pPr>
            <a:r>
              <a:rPr lang="en-US" sz="750" b="1" spc="180" kern="0" dirty="0">
                <a:solidFill>
                  <a:srgbClr val="7D5E30"/>
                </a:solidFill>
                <a:latin typeface="Arial" pitchFamily="34" charset="0"/>
                <a:ea typeface="Arial" pitchFamily="34" charset="-122"/>
                <a:cs typeface="Arial" pitchFamily="34" charset="-120"/>
              </a:rPr>
              <a:t>WHAT WE MEASURE, AND WHY</a:t>
            </a:r>
            <a:endParaRPr lang="en-US" sz="750" dirty="0"/>
          </a:p>
        </p:txBody>
      </p:sp>
      <p:sp>
        <p:nvSpPr>
          <p:cNvPr id="5" name="Text 3"/>
          <p:cNvSpPr txBox="1"/>
          <p:nvPr/>
        </p:nvSpPr>
        <p:spPr>
          <a:xfrm>
            <a:off x="548640" y="1389888"/>
            <a:ext cx="3840480" cy="566928"/>
          </a:xfrm>
          <a:prstGeom prst="rect">
            <a:avLst/>
          </a:prstGeom>
          <a:noFill/>
          <a:ln/>
        </p:spPr>
        <p:txBody>
          <a:bodyPr wrap="square" lIns="0" tIns="0" rIns="0" bIns="0" rtlCol="0" anchor="t"/>
          <a:lstStyle/>
          <a:p>
            <a:pPr indent="0" marL="0">
              <a:buNone/>
            </a:pPr>
            <a:r>
              <a:rPr lang="en-US" sz="850" dirty="0">
                <a:solidFill>
                  <a:srgbClr val="4A463F"/>
                </a:solidFill>
                <a:latin typeface="Arial" pitchFamily="34" charset="0"/>
                <a:ea typeface="Arial" pitchFamily="34" charset="-122"/>
                <a:cs typeface="Arial" pitchFamily="34" charset="-120"/>
              </a:rPr>
              <a:t>Late batches and late days (our objective), defective pieces, largest share, change under a closure: the course simulator's own metrics. For language: the right behaviour on each request, and every number traced to a tool.</a:t>
            </a:r>
            <a:endParaRPr lang="en-US" sz="850" dirty="0"/>
          </a:p>
        </p:txBody>
      </p:sp>
      <p:sp>
        <p:nvSpPr>
          <p:cNvPr id="6" name="Text 4"/>
          <p:cNvSpPr txBox="1"/>
          <p:nvPr/>
        </p:nvSpPr>
        <p:spPr>
          <a:xfrm>
            <a:off x="548640" y="1993392"/>
            <a:ext cx="3840480" cy="164592"/>
          </a:xfrm>
          <a:prstGeom prst="rect">
            <a:avLst/>
          </a:prstGeom>
          <a:noFill/>
          <a:ln/>
        </p:spPr>
        <p:txBody>
          <a:bodyPr wrap="square" lIns="0" tIns="0" rIns="0" bIns="0" rtlCol="0" anchor="t"/>
          <a:lstStyle/>
          <a:p>
            <a:pPr indent="0" marL="0">
              <a:buNone/>
            </a:pPr>
            <a:r>
              <a:rPr lang="en-US" sz="750" b="1" spc="180" kern="0" dirty="0">
                <a:solidFill>
                  <a:srgbClr val="7D5E30"/>
                </a:solidFill>
                <a:latin typeface="Arial" pitchFamily="34" charset="0"/>
                <a:ea typeface="Arial" pitchFamily="34" charset="-122"/>
                <a:cs typeface="Arial" pitchFamily="34" charset="-120"/>
              </a:rPr>
              <a:t>HOW THE EVALUATION SET IS BUILT</a:t>
            </a:r>
            <a:endParaRPr lang="en-US" sz="750" dirty="0"/>
          </a:p>
        </p:txBody>
      </p:sp>
      <p:sp>
        <p:nvSpPr>
          <p:cNvPr id="7" name="Text 5"/>
          <p:cNvSpPr txBox="1"/>
          <p:nvPr/>
        </p:nvSpPr>
        <p:spPr>
          <a:xfrm>
            <a:off x="548640" y="2176272"/>
            <a:ext cx="3840480" cy="566928"/>
          </a:xfrm>
          <a:prstGeom prst="rect">
            <a:avLst/>
          </a:prstGeom>
          <a:noFill/>
          <a:ln/>
        </p:spPr>
        <p:txBody>
          <a:bodyPr wrap="square" lIns="0" tIns="0" rIns="0" bIns="0" rtlCol="0" anchor="t"/>
          <a:lstStyle/>
          <a:p>
            <a:pPr indent="0" marL="0">
              <a:buNone/>
            </a:pPr>
            <a:r>
              <a:rPr lang="en-US" sz="850" dirty="0">
                <a:solidFill>
                  <a:srgbClr val="4A463F"/>
                </a:solidFill>
                <a:latin typeface="Arial" pitchFamily="34" charset="0"/>
                <a:ea typeface="Arial" pitchFamily="34" charset="-122"/>
                <a:cs typeface="Arial" pitchFamily="34" charset="-120"/>
              </a:rPr>
              <a:t>All 30 inbox requests, grouped by the 7 kinds in the data dictionary, plus 50 new held-out requests (rewordings, bait items) written and labelled by Saadhvika and Niyanthri. Labels are made separately, then agreed; a model judge counts only where it matches them.</a:t>
            </a:r>
            <a:endParaRPr lang="en-US" sz="850" dirty="0"/>
          </a:p>
        </p:txBody>
      </p:sp>
      <p:sp>
        <p:nvSpPr>
          <p:cNvPr id="8" name="Text 6"/>
          <p:cNvSpPr txBox="1"/>
          <p:nvPr/>
        </p:nvSpPr>
        <p:spPr>
          <a:xfrm>
            <a:off x="548640" y="2779776"/>
            <a:ext cx="3840480" cy="164592"/>
          </a:xfrm>
          <a:prstGeom prst="rect">
            <a:avLst/>
          </a:prstGeom>
          <a:noFill/>
          <a:ln/>
        </p:spPr>
        <p:txBody>
          <a:bodyPr wrap="square" lIns="0" tIns="0" rIns="0" bIns="0" rtlCol="0" anchor="t"/>
          <a:lstStyle/>
          <a:p>
            <a:pPr indent="0" marL="0">
              <a:buNone/>
            </a:pPr>
            <a:r>
              <a:rPr lang="en-US" sz="750" b="1" spc="180" kern="0" dirty="0">
                <a:solidFill>
                  <a:srgbClr val="7D5E30"/>
                </a:solidFill>
                <a:latin typeface="Arial" pitchFamily="34" charset="0"/>
                <a:ea typeface="Arial" pitchFamily="34" charset="-122"/>
                <a:cs typeface="Arial" pitchFamily="34" charset="-120"/>
              </a:rPr>
              <a:t>BASELINE AND TRACK MINIMUM</a:t>
            </a:r>
            <a:endParaRPr lang="en-US" sz="750" dirty="0"/>
          </a:p>
        </p:txBody>
      </p:sp>
      <p:sp>
        <p:nvSpPr>
          <p:cNvPr id="9" name="Text 7"/>
          <p:cNvSpPr txBox="1"/>
          <p:nvPr/>
        </p:nvSpPr>
        <p:spPr>
          <a:xfrm>
            <a:off x="548640" y="2962656"/>
            <a:ext cx="3840480" cy="566928"/>
          </a:xfrm>
          <a:prstGeom prst="rect">
            <a:avLst/>
          </a:prstGeom>
          <a:noFill/>
          <a:ln/>
        </p:spPr>
        <p:txBody>
          <a:bodyPr wrap="square" lIns="0" tIns="0" rIns="0" bIns="0" rtlCol="0" anchor="t"/>
          <a:lstStyle/>
          <a:p>
            <a:pPr indent="0" marL="0">
              <a:buNone/>
            </a:pPr>
            <a:r>
              <a:rPr lang="en-US" sz="850" dirty="0">
                <a:solidFill>
                  <a:srgbClr val="4A463F"/>
                </a:solidFill>
                <a:latin typeface="Arial" pitchFamily="34" charset="0"/>
                <a:ea typeface="Arial" pitchFamily="34" charset="-122"/>
                <a:cs typeface="Arial" pitchFamily="34" charset="-120"/>
              </a:rPr>
              <a:t>Random, biggest capacity and cheapest, plus the earliest-finish rule. Minimum: beat all three baselines on late batches and late days, and handle all 30 requests by kind.</a:t>
            </a:r>
            <a:endParaRPr lang="en-US" sz="850" dirty="0"/>
          </a:p>
        </p:txBody>
      </p:sp>
      <p:sp>
        <p:nvSpPr>
          <p:cNvPr id="10" name="Text 8"/>
          <p:cNvSpPr txBox="1"/>
          <p:nvPr/>
        </p:nvSpPr>
        <p:spPr>
          <a:xfrm>
            <a:off x="4663440" y="1207008"/>
            <a:ext cx="3931920" cy="164592"/>
          </a:xfrm>
          <a:prstGeom prst="rect">
            <a:avLst/>
          </a:prstGeom>
          <a:noFill/>
          <a:ln/>
        </p:spPr>
        <p:txBody>
          <a:bodyPr wrap="square" lIns="0" tIns="0" rIns="0" bIns="0" rtlCol="0" anchor="t"/>
          <a:lstStyle/>
          <a:p>
            <a:pPr indent="0" marL="0">
              <a:buNone/>
            </a:pPr>
            <a:r>
              <a:rPr lang="en-US" sz="750" b="1" spc="180" kern="0" dirty="0">
                <a:solidFill>
                  <a:srgbClr val="6B665D"/>
                </a:solidFill>
                <a:latin typeface="Arial" pitchFamily="34" charset="0"/>
                <a:ea typeface="Arial" pitchFamily="34" charset="-122"/>
                <a:cs typeface="Arial" pitchFamily="34" charset="-120"/>
              </a:rPr>
              <a:t>TODAY, COURSE SEEDS 5105-5114, NORMAL RUNS</a:t>
            </a:r>
            <a:endParaRPr lang="en-US" sz="7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4663440" y="1389888"/>
          <a:ext cx="3931920" cy="914400"/>
        </p:xfrm>
        <a:graphic>
          <a:graphicData uri="http://schemas.openxmlformats.org/drawingml/2006/table">
            <a:tbl>
              <a:tblPr/>
              <a:tblGrid>
                <a:gridCol w="960120"/>
                <a:gridCol w="1325880"/>
                <a:gridCol w="1005840"/>
                <a:gridCol w="640080"/>
              </a:tblGrid>
              <a:tr h="201168">
                <a:tc>
                  <a:txBody>
                    <a:bodyPr/>
                    <a:lstStyle/>
                    <a:p>
                      <a:pPr indent="0" marL="0">
                        <a:buNone/>
                      </a:pPr>
                      <a:r>
                        <a:rPr lang="en-US" sz="700" b="1" spc="150" kern="0" dirty="0">
                          <a:solidFill>
                            <a:srgbClr val="6B665D"/>
                          </a:solidFill>
                          <a:latin typeface="Arial" pitchFamily="34" charset="0"/>
                          <a:ea typeface="Arial" pitchFamily="34" charset="-122"/>
                          <a:cs typeface="Arial" pitchFamily="34" charset="-120"/>
                        </a:rPr>
                        <a:t>OBJECTIVE</a:t>
                      </a:r>
                      <a:endParaRPr lang="en-US" sz="7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12700" cap="flat" cmpd="sng" algn="ctr">
                      <a:solidFill>
                        <a:srgbClr val="1D1B18"/>
                      </a:solidFill>
                      <a:prstDash val="solid"/>
                      <a:round/>
                      <a:headEnd type="none" w="med" len="med"/>
                      <a:tailEnd type="none" w="med" len="med"/>
                    </a:lnB>
                  </a:tcPr>
                </a:tc>
                <a:tc>
                  <a:txBody>
                    <a:bodyPr/>
                    <a:lstStyle/>
                    <a:p>
                      <a:pPr indent="0" marL="0">
                        <a:buNone/>
                      </a:pPr>
                      <a:r>
                        <a:rPr lang="en-US" sz="700" b="1" spc="150" kern="0" dirty="0">
                          <a:solidFill>
                            <a:srgbClr val="6B665D"/>
                          </a:solidFill>
                          <a:latin typeface="Arial" pitchFamily="34" charset="0"/>
                          <a:ea typeface="Arial" pitchFamily="34" charset="-122"/>
                          <a:cs typeface="Arial" pitchFamily="34" charset="-120"/>
                        </a:rPr>
                        <a:t>OURS</a:t>
                      </a:r>
                      <a:endParaRPr lang="en-US" sz="7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12700" cap="flat" cmpd="sng" algn="ctr">
                      <a:solidFill>
                        <a:srgbClr val="1D1B18"/>
                      </a:solidFill>
                      <a:prstDash val="solid"/>
                      <a:round/>
                      <a:headEnd type="none" w="med" len="med"/>
                      <a:tailEnd type="none" w="med" len="med"/>
                    </a:lnB>
                  </a:tcPr>
                </a:tc>
                <a:tc>
                  <a:txBody>
                    <a:bodyPr/>
                    <a:lstStyle/>
                    <a:p>
                      <a:pPr indent="0" marL="0">
                        <a:buNone/>
                      </a:pPr>
                      <a:r>
                        <a:rPr lang="en-US" sz="700" b="1" spc="150" kern="0" dirty="0">
                          <a:solidFill>
                            <a:srgbClr val="6B665D"/>
                          </a:solidFill>
                          <a:latin typeface="Arial" pitchFamily="34" charset="0"/>
                          <a:ea typeface="Arial" pitchFamily="34" charset="-122"/>
                          <a:cs typeface="Arial" pitchFamily="34" charset="-120"/>
                        </a:rPr>
                        <a:t>BEST REFERENCE</a:t>
                      </a:r>
                      <a:endParaRPr lang="en-US" sz="7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12700" cap="flat" cmpd="sng" algn="ctr">
                      <a:solidFill>
                        <a:srgbClr val="1D1B18"/>
                      </a:solidFill>
                      <a:prstDash val="solid"/>
                      <a:round/>
                      <a:headEnd type="none" w="med" len="med"/>
                      <a:tailEnd type="none" w="med" len="med"/>
                    </a:lnB>
                  </a:tcPr>
                </a:tc>
                <a:tc>
                  <a:txBody>
                    <a:bodyPr/>
                    <a:lstStyle/>
                    <a:p>
                      <a:pPr indent="0" marL="0">
                        <a:buNone/>
                      </a:pPr>
                      <a:endParaRPr lang="en-US" sz="7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12700" cap="flat" cmpd="sng" algn="ctr">
                      <a:solidFill>
                        <a:srgbClr val="1D1B18"/>
                      </a:solidFill>
                      <a:prstDash val="solid"/>
                      <a:round/>
                      <a:headEnd type="none" w="med" len="med"/>
                      <a:tailEnd type="none" w="med" len="med"/>
                    </a:lnB>
                  </a:tcPr>
                </a:tc>
              </a:tr>
              <a:tr h="347472">
                <a:tc>
                  <a:txBody>
                    <a:bodyPr/>
                    <a:lstStyle/>
                    <a:p>
                      <a:pPr indent="0" marL="0">
                        <a:buNone/>
                      </a:pPr>
                      <a:r>
                        <a:rPr lang="en-US" sz="950" dirty="0">
                          <a:solidFill>
                            <a:srgbClr val="1D1B18"/>
                          </a:solidFill>
                          <a:latin typeface="Georgia" pitchFamily="34" charset="0"/>
                          <a:ea typeface="Georgia" pitchFamily="34" charset="-122"/>
                          <a:cs typeface="Georgia" pitchFamily="34" charset="-120"/>
                        </a:rPr>
                        <a:t>Lateness (primary)</a:t>
                      </a:r>
                      <a:endParaRPr lang="en-US" sz="950" dirty="0">
                        <a:latin typeface="Georgia" charset="0"/>
                        <a:ea typeface="Georgia" charset="0"/>
                        <a:cs typeface="Georgia"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dirty="0">
                          <a:solidFill>
                            <a:srgbClr val="1D1B18"/>
                          </a:solidFill>
                          <a:latin typeface="Arial" pitchFamily="34" charset="0"/>
                          <a:ea typeface="Arial" pitchFamily="34" charset="-122"/>
                          <a:cs typeface="Arial" pitchFamily="34" charset="-120"/>
                        </a:rPr>
                        <a:t>1.42% late, 0.057 late days</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dirty="0">
                          <a:solidFill>
                            <a:srgbClr val="6B665D"/>
                          </a:solidFill>
                          <a:latin typeface="Arial" pitchFamily="34" charset="0"/>
                          <a:ea typeface="Arial" pitchFamily="34" charset="-122"/>
                          <a:cs typeface="Arial" pitchFamily="34" charset="-120"/>
                        </a:rPr>
                        <a:t>earliest finish 1.67%, 0.178</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b="1" dirty="0">
                          <a:solidFill>
                            <a:srgbClr val="2F5D46"/>
                          </a:solidFill>
                          <a:latin typeface="Arial" pitchFamily="34" charset="0"/>
                          <a:ea typeface="Arial" pitchFamily="34" charset="-122"/>
                          <a:cs typeface="Arial" pitchFamily="34" charset="-120"/>
                        </a:rPr>
                        <a:t>Beats all</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347472">
                <a:tc>
                  <a:txBody>
                    <a:bodyPr/>
                    <a:lstStyle/>
                    <a:p>
                      <a:pPr indent="0" marL="0">
                        <a:buNone/>
                      </a:pPr>
                      <a:r>
                        <a:rPr lang="en-US" sz="950" dirty="0">
                          <a:solidFill>
                            <a:srgbClr val="1D1B18"/>
                          </a:solidFill>
                          <a:latin typeface="Georgia" pitchFamily="34" charset="0"/>
                          <a:ea typeface="Georgia" pitchFamily="34" charset="-122"/>
                          <a:cs typeface="Georgia" pitchFamily="34" charset="-120"/>
                        </a:rPr>
                        <a:t>Defects</a:t>
                      </a:r>
                      <a:endParaRPr lang="en-US" sz="950" dirty="0">
                        <a:latin typeface="Georgia" charset="0"/>
                        <a:ea typeface="Georgia" charset="0"/>
                        <a:cs typeface="Georgia"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dirty="0">
                          <a:solidFill>
                            <a:srgbClr val="1D1B18"/>
                          </a:solidFill>
                          <a:latin typeface="Arial" pitchFamily="34" charset="0"/>
                          <a:ea typeface="Arial" pitchFamily="34" charset="-122"/>
                          <a:cs typeface="Arial" pitchFamily="34" charset="-120"/>
                        </a:rPr>
                        <a:t>4.90% defective pieces</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dirty="0">
                          <a:solidFill>
                            <a:srgbClr val="6B665D"/>
                          </a:solidFill>
                          <a:latin typeface="Arial" pitchFamily="34" charset="0"/>
                          <a:ea typeface="Arial" pitchFamily="34" charset="-122"/>
                          <a:cs typeface="Arial" pitchFamily="34" charset="-120"/>
                        </a:rPr>
                        <a:t>biggest capacity 5.28%</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b="1" dirty="0">
                          <a:solidFill>
                            <a:srgbClr val="2F5D46"/>
                          </a:solidFill>
                          <a:latin typeface="Arial" pitchFamily="34" charset="0"/>
                          <a:ea typeface="Arial" pitchFamily="34" charset="-122"/>
                          <a:cs typeface="Arial" pitchFamily="34" charset="-120"/>
                        </a:rPr>
                        <a:t>Beats all</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347472">
                <a:tc>
                  <a:txBody>
                    <a:bodyPr/>
                    <a:lstStyle/>
                    <a:p>
                      <a:pPr indent="0" marL="0">
                        <a:buNone/>
                      </a:pPr>
                      <a:r>
                        <a:rPr lang="en-US" sz="950" dirty="0">
                          <a:solidFill>
                            <a:srgbClr val="1D1B18"/>
                          </a:solidFill>
                          <a:latin typeface="Georgia" pitchFamily="34" charset="0"/>
                          <a:ea typeface="Georgia" pitchFamily="34" charset="-122"/>
                          <a:cs typeface="Georgia" pitchFamily="34" charset="-120"/>
                        </a:rPr>
                        <a:t>Fairness</a:t>
                      </a:r>
                      <a:endParaRPr lang="en-US" sz="950" dirty="0">
                        <a:latin typeface="Georgia" charset="0"/>
                        <a:ea typeface="Georgia" charset="0"/>
                        <a:cs typeface="Georgia"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dirty="0">
                          <a:solidFill>
                            <a:srgbClr val="1D1B18"/>
                          </a:solidFill>
                          <a:latin typeface="Arial" pitchFamily="34" charset="0"/>
                          <a:ea typeface="Arial" pitchFamily="34" charset="-122"/>
                          <a:cs typeface="Arial" pitchFamily="34" charset="-120"/>
                        </a:rPr>
                        <a:t>largest share 19.2%</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dirty="0">
                          <a:solidFill>
                            <a:srgbClr val="6B665D"/>
                          </a:solidFill>
                          <a:latin typeface="Arial" pitchFamily="34" charset="0"/>
                          <a:ea typeface="Arial" pitchFamily="34" charset="-122"/>
                          <a:cs typeface="Arial" pitchFamily="34" charset="-120"/>
                        </a:rPr>
                        <a:t>random 22.6%</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b="1" dirty="0">
                          <a:solidFill>
                            <a:srgbClr val="2F5D46"/>
                          </a:solidFill>
                          <a:latin typeface="Arial" pitchFamily="34" charset="0"/>
                          <a:ea typeface="Arial" pitchFamily="34" charset="-122"/>
                          <a:cs typeface="Arial" pitchFamily="34" charset="-120"/>
                        </a:rPr>
                        <a:t>Beats random</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347472">
                <a:tc>
                  <a:txBody>
                    <a:bodyPr/>
                    <a:lstStyle/>
                    <a:p>
                      <a:pPr indent="0" marL="0">
                        <a:buNone/>
                      </a:pPr>
                      <a:r>
                        <a:rPr lang="en-US" sz="950" dirty="0">
                          <a:solidFill>
                            <a:srgbClr val="1D1B18"/>
                          </a:solidFill>
                          <a:latin typeface="Georgia" pitchFamily="34" charset="0"/>
                          <a:ea typeface="Georgia" pitchFamily="34" charset="-122"/>
                          <a:cs typeface="Georgia" pitchFamily="34" charset="-120"/>
                        </a:rPr>
                        <a:t>Robustness</a:t>
                      </a:r>
                      <a:endParaRPr lang="en-US" sz="950" dirty="0">
                        <a:latin typeface="Georgia" charset="0"/>
                        <a:ea typeface="Georgia" charset="0"/>
                        <a:cs typeface="Georgia"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dirty="0">
                          <a:solidFill>
                            <a:srgbClr val="1D1B18"/>
                          </a:solidFill>
                          <a:latin typeface="Arial" pitchFamily="34" charset="0"/>
                          <a:ea typeface="Arial" pitchFamily="34" charset="-122"/>
                          <a:cs typeface="Arial" pitchFamily="34" charset="-120"/>
                        </a:rPr>
                        <a:t>+0.083 pts late under closure</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dirty="0">
                          <a:solidFill>
                            <a:srgbClr val="6B665D"/>
                          </a:solidFill>
                          <a:latin typeface="Arial" pitchFamily="34" charset="0"/>
                          <a:ea typeface="Arial" pitchFamily="34" charset="-122"/>
                          <a:cs typeface="Arial" pitchFamily="34" charset="-120"/>
                        </a:rPr>
                        <a:t>random +4.000</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b="1" dirty="0">
                          <a:solidFill>
                            <a:srgbClr val="2F5D46"/>
                          </a:solidFill>
                          <a:latin typeface="Arial" pitchFamily="34" charset="0"/>
                          <a:ea typeface="Arial" pitchFamily="34" charset="-122"/>
                          <a:cs typeface="Arial" pitchFamily="34" charset="-120"/>
                        </a:rPr>
                        <a:t>Steadier</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bl>
          </a:graphicData>
        </a:graphic>
      </p:graphicFrame>
      <p:sp>
        <p:nvSpPr>
          <p:cNvPr id="12" name="Text 9"/>
          <p:cNvSpPr txBox="1"/>
          <p:nvPr/>
        </p:nvSpPr>
        <p:spPr>
          <a:xfrm>
            <a:off x="4663440" y="3182112"/>
            <a:ext cx="3931920" cy="164592"/>
          </a:xfrm>
          <a:prstGeom prst="rect">
            <a:avLst/>
          </a:prstGeom>
          <a:noFill/>
          <a:ln/>
        </p:spPr>
        <p:txBody>
          <a:bodyPr wrap="square" lIns="0" tIns="0" rIns="0" bIns="0" rtlCol="0" anchor="t"/>
          <a:lstStyle/>
          <a:p>
            <a:pPr indent="0" marL="0">
              <a:buNone/>
            </a:pPr>
            <a:r>
              <a:rPr lang="en-US" sz="750" b="1" spc="180" kern="0" dirty="0">
                <a:solidFill>
                  <a:srgbClr val="6B665D"/>
                </a:solidFill>
                <a:latin typeface="Arial" pitchFamily="34" charset="0"/>
                <a:ea typeface="Arial" pitchFamily="34" charset="-122"/>
                <a:cs typeface="Arial" pitchFamily="34" charset="-120"/>
              </a:rPr>
              <a:t>HARD CASES AND HOW WE HANDLE THEM</a:t>
            </a:r>
            <a:endParaRPr lang="en-US" sz="750" dirty="0"/>
          </a:p>
        </p:txBody>
      </p:sp>
      <p:sp>
        <p:nvSpPr>
          <p:cNvPr id="13" name="Text 10"/>
          <p:cNvSpPr txBox="1"/>
          <p:nvPr/>
        </p:nvSpPr>
        <p:spPr>
          <a:xfrm>
            <a:off x="4663440" y="3383280"/>
            <a:ext cx="228600" cy="274320"/>
          </a:xfrm>
          <a:prstGeom prst="rect">
            <a:avLst/>
          </a:prstGeom>
          <a:noFill/>
          <a:ln/>
        </p:spPr>
        <p:txBody>
          <a:bodyPr wrap="square" lIns="0" tIns="0" rIns="0" bIns="0" rtlCol="0" anchor="t"/>
          <a:lstStyle/>
          <a:p>
            <a:pPr indent="0" marL="0">
              <a:buNone/>
            </a:pPr>
            <a:r>
              <a:rPr lang="en-US" sz="1500" dirty="0">
                <a:solidFill>
                  <a:srgbClr val="A3804C"/>
                </a:solidFill>
                <a:latin typeface="Georgia" pitchFamily="34" charset="0"/>
                <a:ea typeface="Georgia" pitchFamily="34" charset="-122"/>
                <a:cs typeface="Georgia" pitchFamily="34" charset="-120"/>
              </a:rPr>
              <a:t>1</a:t>
            </a:r>
            <a:endParaRPr lang="en-US" sz="1500" dirty="0"/>
          </a:p>
        </p:txBody>
      </p:sp>
      <p:sp>
        <p:nvSpPr>
          <p:cNvPr id="14" name="Text 11"/>
          <p:cNvSpPr txBox="1"/>
          <p:nvPr/>
        </p:nvSpPr>
        <p:spPr>
          <a:xfrm>
            <a:off x="4919472" y="3383280"/>
            <a:ext cx="3657600" cy="164592"/>
          </a:xfrm>
          <a:prstGeom prst="rect">
            <a:avLst/>
          </a:prstGeom>
          <a:noFill/>
          <a:ln/>
        </p:spPr>
        <p:txBody>
          <a:bodyPr wrap="square" lIns="0" tIns="0" rIns="0" bIns="0" rtlCol="0" anchor="t"/>
          <a:lstStyle/>
          <a:p>
            <a:pPr indent="0" marL="0">
              <a:buNone/>
            </a:pPr>
            <a:r>
              <a:rPr lang="en-US" sz="900" b="1" dirty="0">
                <a:solidFill>
                  <a:srgbClr val="1D1B18"/>
                </a:solidFill>
                <a:latin typeface="Arial" pitchFamily="34" charset="0"/>
                <a:ea typeface="Arial" pitchFamily="34" charset="-122"/>
                <a:cs typeface="Arial" pitchFamily="34" charset="-120"/>
              </a:rPr>
              <a:t>Impossible date</a:t>
            </a:r>
            <a:endParaRPr lang="en-US" sz="900" dirty="0"/>
          </a:p>
        </p:txBody>
      </p:sp>
      <p:sp>
        <p:nvSpPr>
          <p:cNvPr id="15" name="Text 12"/>
          <p:cNvSpPr txBox="1"/>
          <p:nvPr/>
        </p:nvSpPr>
        <p:spPr>
          <a:xfrm>
            <a:off x="4919472" y="3538728"/>
            <a:ext cx="3657600" cy="182880"/>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Earliest date, days late, a two-shop split; no booking</a:t>
            </a:r>
            <a:endParaRPr lang="en-US" sz="800" dirty="0"/>
          </a:p>
        </p:txBody>
      </p:sp>
      <p:sp>
        <p:nvSpPr>
          <p:cNvPr id="16" name="Text 13"/>
          <p:cNvSpPr txBox="1"/>
          <p:nvPr/>
        </p:nvSpPr>
        <p:spPr>
          <a:xfrm>
            <a:off x="4663440" y="3749040"/>
            <a:ext cx="228600" cy="274320"/>
          </a:xfrm>
          <a:prstGeom prst="rect">
            <a:avLst/>
          </a:prstGeom>
          <a:noFill/>
          <a:ln/>
        </p:spPr>
        <p:txBody>
          <a:bodyPr wrap="square" lIns="0" tIns="0" rIns="0" bIns="0" rtlCol="0" anchor="t"/>
          <a:lstStyle/>
          <a:p>
            <a:pPr indent="0" marL="0">
              <a:buNone/>
            </a:pPr>
            <a:r>
              <a:rPr lang="en-US" sz="1500" dirty="0">
                <a:solidFill>
                  <a:srgbClr val="A3804C"/>
                </a:solidFill>
                <a:latin typeface="Georgia" pitchFamily="34" charset="0"/>
                <a:ea typeface="Georgia" pitchFamily="34" charset="-122"/>
                <a:cs typeface="Georgia" pitchFamily="34" charset="-120"/>
              </a:rPr>
              <a:t>2</a:t>
            </a:r>
            <a:endParaRPr lang="en-US" sz="1500" dirty="0"/>
          </a:p>
        </p:txBody>
      </p:sp>
      <p:sp>
        <p:nvSpPr>
          <p:cNvPr id="17" name="Text 14"/>
          <p:cNvSpPr txBox="1"/>
          <p:nvPr/>
        </p:nvSpPr>
        <p:spPr>
          <a:xfrm>
            <a:off x="4919472" y="3749040"/>
            <a:ext cx="3657600" cy="164592"/>
          </a:xfrm>
          <a:prstGeom prst="rect">
            <a:avLst/>
          </a:prstGeom>
          <a:noFill/>
          <a:ln/>
        </p:spPr>
        <p:txBody>
          <a:bodyPr wrap="square" lIns="0" tIns="0" rIns="0" bIns="0" rtlCol="0" anchor="t"/>
          <a:lstStyle/>
          <a:p>
            <a:pPr indent="0" marL="0">
              <a:buNone/>
            </a:pPr>
            <a:r>
              <a:rPr lang="en-US" sz="900" b="1" dirty="0">
                <a:solidFill>
                  <a:srgbClr val="1D1B18"/>
                </a:solidFill>
                <a:latin typeface="Arial" pitchFamily="34" charset="0"/>
                <a:ea typeface="Arial" pitchFamily="34" charset="-122"/>
                <a:cs typeface="Arial" pitchFamily="34" charset="-120"/>
              </a:rPr>
              <a:t>Workshop that cannot take it</a:t>
            </a:r>
            <a:endParaRPr lang="en-US" sz="900" dirty="0"/>
          </a:p>
        </p:txBody>
      </p:sp>
      <p:sp>
        <p:nvSpPr>
          <p:cNvPr id="18" name="Text 15"/>
          <p:cNvSpPr txBox="1"/>
          <p:nvPr/>
        </p:nvSpPr>
        <p:spPr>
          <a:xfrm>
            <a:off x="4919472" y="3904488"/>
            <a:ext cx="3657600" cy="182880"/>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Refused with the reason, plus the best alternative</a:t>
            </a:r>
            <a:endParaRPr lang="en-US" sz="800" dirty="0"/>
          </a:p>
        </p:txBody>
      </p:sp>
      <p:sp>
        <p:nvSpPr>
          <p:cNvPr id="19" name="Text 16"/>
          <p:cNvSpPr txBox="1"/>
          <p:nvPr/>
        </p:nvSpPr>
        <p:spPr>
          <a:xfrm>
            <a:off x="4663440" y="4114800"/>
            <a:ext cx="228600" cy="274320"/>
          </a:xfrm>
          <a:prstGeom prst="rect">
            <a:avLst/>
          </a:prstGeom>
          <a:noFill/>
          <a:ln/>
        </p:spPr>
        <p:txBody>
          <a:bodyPr wrap="square" lIns="0" tIns="0" rIns="0" bIns="0" rtlCol="0" anchor="t"/>
          <a:lstStyle/>
          <a:p>
            <a:pPr indent="0" marL="0">
              <a:buNone/>
            </a:pPr>
            <a:r>
              <a:rPr lang="en-US" sz="1500" dirty="0">
                <a:solidFill>
                  <a:srgbClr val="A3804C"/>
                </a:solidFill>
                <a:latin typeface="Georgia" pitchFamily="34" charset="0"/>
                <a:ea typeface="Georgia" pitchFamily="34" charset="-122"/>
                <a:cs typeface="Georgia" pitchFamily="34" charset="-120"/>
              </a:rPr>
              <a:t>3</a:t>
            </a:r>
            <a:endParaRPr lang="en-US" sz="1500" dirty="0"/>
          </a:p>
        </p:txBody>
      </p:sp>
      <p:sp>
        <p:nvSpPr>
          <p:cNvPr id="20" name="Text 17"/>
          <p:cNvSpPr txBox="1"/>
          <p:nvPr/>
        </p:nvSpPr>
        <p:spPr>
          <a:xfrm>
            <a:off x="4919472" y="4114800"/>
            <a:ext cx="3657600" cy="164592"/>
          </a:xfrm>
          <a:prstGeom prst="rect">
            <a:avLst/>
          </a:prstGeom>
          <a:noFill/>
          <a:ln/>
        </p:spPr>
        <p:txBody>
          <a:bodyPr wrap="square" lIns="0" tIns="0" rIns="0" bIns="0" rtlCol="0" anchor="t"/>
          <a:lstStyle/>
          <a:p>
            <a:pPr indent="0" marL="0">
              <a:buNone/>
            </a:pPr>
            <a:r>
              <a:rPr lang="en-US" sz="900" b="1" dirty="0">
                <a:solidFill>
                  <a:srgbClr val="1D1B18"/>
                </a:solidFill>
                <a:latin typeface="Arial" pitchFamily="34" charset="0"/>
                <a:ea typeface="Arial" pitchFamily="34" charset="-122"/>
                <a:cs typeface="Arial" pitchFamily="34" charset="-120"/>
              </a:rPr>
              <a:t>Misheard order on the floor</a:t>
            </a:r>
            <a:endParaRPr lang="en-US" sz="900" dirty="0"/>
          </a:p>
        </p:txBody>
      </p:sp>
      <p:sp>
        <p:nvSpPr>
          <p:cNvPr id="21" name="Text 18"/>
          <p:cNvSpPr txBox="1"/>
          <p:nvPr/>
        </p:nvSpPr>
        <p:spPr>
          <a:xfrm>
            <a:off x="4919472" y="4270248"/>
            <a:ext cx="3657600" cy="182880"/>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Order, customer, pieces read back from orders.csv; slide to commit</a:t>
            </a:r>
            <a:endParaRPr lang="en-US" sz="800" dirty="0"/>
          </a:p>
        </p:txBody>
      </p:sp>
      <p:sp>
        <p:nvSpPr>
          <p:cNvPr id="22" name="Text 19"/>
          <p:cNvSpPr txBox="1"/>
          <p:nvPr/>
        </p:nvSpPr>
        <p:spPr>
          <a:xfrm>
            <a:off x="548640" y="4572000"/>
            <a:ext cx="8046720" cy="182880"/>
          </a:xfrm>
          <a:prstGeom prst="rect">
            <a:avLst/>
          </a:prstGeom>
          <a:noFill/>
          <a:ln/>
        </p:spPr>
        <p:txBody>
          <a:bodyPr wrap="square" lIns="0" tIns="0" rIns="0" bIns="0" rtlCol="0" anchor="t"/>
          <a:lstStyle/>
          <a:p>
            <a:pPr indent="0" marL="0">
              <a:buNone/>
            </a:pPr>
            <a:r>
              <a:rPr lang="en-US" sz="700" i="1" dirty="0">
                <a:solidFill>
                  <a:srgbClr val="6B665D"/>
                </a:solidFill>
                <a:latin typeface="Arial" pitchFamily="34" charset="0"/>
                <a:ea typeface="Arial" pitchFamily="34" charset="-122"/>
                <a:cs typeface="Arial" pitchFamily="34" charset="-120"/>
              </a:rPr>
              <a:t>Presets chosen on development seeds 6000-6029; the course seeds were run twice, as disclosed in docs/OBJECTIVE_STUDY.md.</a:t>
            </a:r>
            <a:endParaRPr lang="en-US" sz="700" dirty="0"/>
          </a:p>
        </p:txBody>
      </p:sp>
      <p:sp>
        <p:nvSpPr>
          <p:cNvPr id="25" name="Slide Number Placeholder 0"/>
          <p:cNvSpPr>
            <a:spLocks noGrp="1"/>
          </p:cNvSpPr>
          <p:nvPr>
            <p:ph type="sldNum" sz="quarter" idx="4294967295"/>
          </p:nvPr>
        </p:nvSpPr>
        <p:spPr>
          <a:xfrm>
            <a:off x="8138160" y="4800600"/>
            <a:ext cx="457200" cy="201168"/>
          </a:xfrm>
          <a:prstGeom prst="rect">
            <a:avLst/>
          </a:prstGeom>
          <a:extLst>
            <a:ext uri="{C572A759-6A51-4108-AA02-DFA0A04FC94B}">
              <ma14:wrappingTextBoxFlag xmlns:ma14="http://schemas.microsoft.com/office/mac/drawingml/2011/main" val="0"/>
            </a:ext>
          </a:extLst>
        </p:spPr>
        <p:txBody>
          <a:bodyPr/>
          <a:lstStyle>
            <a:lvl1pPr>
              <a:defRPr sz="700">
                <a:solidFill>
                  <a:srgbClr val="6B665D"/>
                </a:solidFill>
                <a:latin typeface="Arial"/>
                <a:ea typeface="Arial"/>
                <a:cs typeface="Aria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502920"/>
            <a:ext cx="3657600" cy="201168"/>
          </a:xfrm>
          <a:prstGeom prst="rect">
            <a:avLst/>
          </a:prstGeom>
          <a:noFill/>
          <a:ln/>
        </p:spPr>
        <p:txBody>
          <a:bodyPr wrap="square" lIns="0" tIns="0" rIns="0" bIns="0" rtlCol="0" anchor="t"/>
          <a:lstStyle/>
          <a:p>
            <a:pPr indent="0" marL="0">
              <a:buNone/>
            </a:pPr>
            <a:r>
              <a:rPr lang="en-US" sz="850" b="1" spc="300" kern="0" dirty="0">
                <a:solidFill>
                  <a:srgbClr val="A3804C"/>
                </a:solidFill>
                <a:latin typeface="Arial" pitchFamily="34" charset="0"/>
                <a:ea typeface="Arial" pitchFamily="34" charset="-122"/>
                <a:cs typeface="Arial" pitchFamily="34" charset="-120"/>
              </a:rPr>
              <a:t>DEMO</a:t>
            </a:r>
            <a:endParaRPr lang="en-US" sz="850" dirty="0"/>
          </a:p>
        </p:txBody>
      </p:sp>
      <p:sp>
        <p:nvSpPr>
          <p:cNvPr id="3" name="Text 1"/>
          <p:cNvSpPr txBox="1"/>
          <p:nvPr/>
        </p:nvSpPr>
        <p:spPr>
          <a:xfrm>
            <a:off x="548640" y="731520"/>
            <a:ext cx="4572000" cy="548640"/>
          </a:xfrm>
          <a:prstGeom prst="rect">
            <a:avLst/>
          </a:prstGeom>
          <a:noFill/>
          <a:ln/>
        </p:spPr>
        <p:txBody>
          <a:bodyPr wrap="square" lIns="0" tIns="0" rIns="0" bIns="0" rtlCol="0" anchor="t"/>
          <a:lstStyle/>
          <a:p>
            <a:pPr indent="0" marL="0">
              <a:buNone/>
            </a:pPr>
            <a:r>
              <a:rPr lang="en-US" sz="2800" dirty="0">
                <a:solidFill>
                  <a:srgbClr val="F4EFE6"/>
                </a:solidFill>
                <a:latin typeface="Georgia" pitchFamily="34" charset="0"/>
                <a:ea typeface="Georgia" pitchFamily="34" charset="-122"/>
                <a:cs typeface="Georgia" pitchFamily="34" charset="-120"/>
              </a:rPr>
              <a:t>Ravi, on the floor</a:t>
            </a:r>
            <a:endParaRPr lang="en-US" sz="2800" dirty="0"/>
          </a:p>
        </p:txBody>
      </p:sp>
      <p:sp>
        <p:nvSpPr>
          <p:cNvPr id="4" name="Text 2"/>
          <p:cNvSpPr txBox="1"/>
          <p:nvPr/>
        </p:nvSpPr>
        <p:spPr>
          <a:xfrm>
            <a:off x="548640" y="1508760"/>
            <a:ext cx="274320" cy="292608"/>
          </a:xfrm>
          <a:prstGeom prst="rect">
            <a:avLst/>
          </a:prstGeom>
          <a:noFill/>
          <a:ln/>
        </p:spPr>
        <p:txBody>
          <a:bodyPr wrap="square" lIns="0" tIns="0" rIns="0" bIns="0" rtlCol="0" anchor="t"/>
          <a:lstStyle/>
          <a:p>
            <a:pPr indent="0" marL="0">
              <a:buNone/>
            </a:pPr>
            <a:r>
              <a:rPr lang="en-US" sz="1500" dirty="0">
                <a:solidFill>
                  <a:srgbClr val="A3804C"/>
                </a:solidFill>
                <a:latin typeface="Georgia" pitchFamily="34" charset="0"/>
                <a:ea typeface="Georgia" pitchFamily="34" charset="-122"/>
                <a:cs typeface="Georgia" pitchFamily="34" charset="-120"/>
              </a:rPr>
              <a:t>1</a:t>
            </a:r>
            <a:endParaRPr lang="en-US" sz="1500" dirty="0"/>
          </a:p>
        </p:txBody>
      </p:sp>
      <p:sp>
        <p:nvSpPr>
          <p:cNvPr id="5" name="Text 3"/>
          <p:cNvSpPr txBox="1"/>
          <p:nvPr/>
        </p:nvSpPr>
        <p:spPr>
          <a:xfrm>
            <a:off x="896112" y="1545336"/>
            <a:ext cx="3931920" cy="274320"/>
          </a:xfrm>
          <a:prstGeom prst="rect">
            <a:avLst/>
          </a:prstGeom>
          <a:noFill/>
          <a:ln/>
        </p:spPr>
        <p:txBody>
          <a:bodyPr wrap="square" lIns="0" tIns="0" rIns="0" bIns="0" rtlCol="0" anchor="t"/>
          <a:lstStyle/>
          <a:p>
            <a:pPr indent="0" marL="0">
              <a:buNone/>
            </a:pPr>
            <a:r>
              <a:rPr lang="en-US" sz="1050" dirty="0">
                <a:solidFill>
                  <a:srgbClr val="F4EFE6"/>
                </a:solidFill>
                <a:latin typeface="Arial" pitchFamily="34" charset="0"/>
                <a:ea typeface="Arial" pitchFamily="34" charset="-122"/>
                <a:cs typeface="Arial" pitchFamily="34" charset="-120"/>
              </a:rPr>
              <a:t>Says a real inbox request out loud</a:t>
            </a:r>
            <a:endParaRPr lang="en-US" sz="1050" dirty="0"/>
          </a:p>
        </p:txBody>
      </p:sp>
      <p:sp>
        <p:nvSpPr>
          <p:cNvPr id="6" name="Text 4"/>
          <p:cNvSpPr txBox="1"/>
          <p:nvPr/>
        </p:nvSpPr>
        <p:spPr>
          <a:xfrm>
            <a:off x="548640" y="1911096"/>
            <a:ext cx="274320" cy="292608"/>
          </a:xfrm>
          <a:prstGeom prst="rect">
            <a:avLst/>
          </a:prstGeom>
          <a:noFill/>
          <a:ln/>
        </p:spPr>
        <p:txBody>
          <a:bodyPr wrap="square" lIns="0" tIns="0" rIns="0" bIns="0" rtlCol="0" anchor="t"/>
          <a:lstStyle/>
          <a:p>
            <a:pPr indent="0" marL="0">
              <a:buNone/>
            </a:pPr>
            <a:r>
              <a:rPr lang="en-US" sz="1500" dirty="0">
                <a:solidFill>
                  <a:srgbClr val="A3804C"/>
                </a:solidFill>
                <a:latin typeface="Georgia" pitchFamily="34" charset="0"/>
                <a:ea typeface="Georgia" pitchFamily="34" charset="-122"/>
                <a:cs typeface="Georgia" pitchFamily="34" charset="-120"/>
              </a:rPr>
              <a:t>2</a:t>
            </a:r>
            <a:endParaRPr lang="en-US" sz="1500" dirty="0"/>
          </a:p>
        </p:txBody>
      </p:sp>
      <p:sp>
        <p:nvSpPr>
          <p:cNvPr id="7" name="Text 5"/>
          <p:cNvSpPr txBox="1"/>
          <p:nvPr/>
        </p:nvSpPr>
        <p:spPr>
          <a:xfrm>
            <a:off x="896112" y="1947672"/>
            <a:ext cx="3931920" cy="274320"/>
          </a:xfrm>
          <a:prstGeom prst="rect">
            <a:avLst/>
          </a:prstGeom>
          <a:noFill/>
          <a:ln/>
        </p:spPr>
        <p:txBody>
          <a:bodyPr wrap="square" lIns="0" tIns="0" rIns="0" bIns="0" rtlCol="0" anchor="t"/>
          <a:lstStyle/>
          <a:p>
            <a:pPr indent="0" marL="0">
              <a:buNone/>
            </a:pPr>
            <a:r>
              <a:rPr lang="en-US" sz="1050" dirty="0">
                <a:solidFill>
                  <a:srgbClr val="F4EFE6"/>
                </a:solidFill>
                <a:latin typeface="Arial" pitchFamily="34" charset="0"/>
                <a:ea typeface="Arial" pitchFamily="34" charset="-122"/>
                <a:cs typeface="Arial" pitchFamily="34" charset="-120"/>
              </a:rPr>
              <a:t>Hears the best workshop and why</a:t>
            </a:r>
            <a:endParaRPr lang="en-US" sz="1050" dirty="0"/>
          </a:p>
        </p:txBody>
      </p:sp>
      <p:sp>
        <p:nvSpPr>
          <p:cNvPr id="8" name="Text 6"/>
          <p:cNvSpPr txBox="1"/>
          <p:nvPr/>
        </p:nvSpPr>
        <p:spPr>
          <a:xfrm>
            <a:off x="548640" y="2313432"/>
            <a:ext cx="274320" cy="292608"/>
          </a:xfrm>
          <a:prstGeom prst="rect">
            <a:avLst/>
          </a:prstGeom>
          <a:noFill/>
          <a:ln/>
        </p:spPr>
        <p:txBody>
          <a:bodyPr wrap="square" lIns="0" tIns="0" rIns="0" bIns="0" rtlCol="0" anchor="t"/>
          <a:lstStyle/>
          <a:p>
            <a:pPr indent="0" marL="0">
              <a:buNone/>
            </a:pPr>
            <a:r>
              <a:rPr lang="en-US" sz="1500" dirty="0">
                <a:solidFill>
                  <a:srgbClr val="A3804C"/>
                </a:solidFill>
                <a:latin typeface="Georgia" pitchFamily="34" charset="0"/>
                <a:ea typeface="Georgia" pitchFamily="34" charset="-122"/>
                <a:cs typeface="Georgia" pitchFamily="34" charset="-120"/>
              </a:rPr>
              <a:t>3</a:t>
            </a:r>
            <a:endParaRPr lang="en-US" sz="1500" dirty="0"/>
          </a:p>
        </p:txBody>
      </p:sp>
      <p:sp>
        <p:nvSpPr>
          <p:cNvPr id="9" name="Text 7"/>
          <p:cNvSpPr txBox="1"/>
          <p:nvPr/>
        </p:nvSpPr>
        <p:spPr>
          <a:xfrm>
            <a:off x="896112" y="2350008"/>
            <a:ext cx="3931920" cy="274320"/>
          </a:xfrm>
          <a:prstGeom prst="rect">
            <a:avLst/>
          </a:prstGeom>
          <a:noFill/>
          <a:ln/>
        </p:spPr>
        <p:txBody>
          <a:bodyPr wrap="square" lIns="0" tIns="0" rIns="0" bIns="0" rtlCol="0" anchor="t"/>
          <a:lstStyle/>
          <a:p>
            <a:pPr indent="0" marL="0">
              <a:buNone/>
            </a:pPr>
            <a:r>
              <a:rPr lang="en-US" sz="1050" dirty="0">
                <a:solidFill>
                  <a:srgbClr val="F4EFE6"/>
                </a:solidFill>
                <a:latin typeface="Arial" pitchFamily="34" charset="0"/>
                <a:ea typeface="Arial" pitchFamily="34" charset="-122"/>
                <a:cs typeface="Arial" pitchFamily="34" charset="-120"/>
              </a:rPr>
              <a:t>Says "book it" and slides to confirm</a:t>
            </a:r>
            <a:endParaRPr lang="en-US" sz="1050" dirty="0"/>
          </a:p>
        </p:txBody>
      </p:sp>
      <p:sp>
        <p:nvSpPr>
          <p:cNvPr id="10" name="Text 8"/>
          <p:cNvSpPr txBox="1"/>
          <p:nvPr/>
        </p:nvSpPr>
        <p:spPr>
          <a:xfrm>
            <a:off x="548640" y="2715768"/>
            <a:ext cx="274320" cy="292608"/>
          </a:xfrm>
          <a:prstGeom prst="rect">
            <a:avLst/>
          </a:prstGeom>
          <a:noFill/>
          <a:ln/>
        </p:spPr>
        <p:txBody>
          <a:bodyPr wrap="square" lIns="0" tIns="0" rIns="0" bIns="0" rtlCol="0" anchor="t"/>
          <a:lstStyle/>
          <a:p>
            <a:pPr indent="0" marL="0">
              <a:buNone/>
            </a:pPr>
            <a:r>
              <a:rPr lang="en-US" sz="1500" dirty="0">
                <a:solidFill>
                  <a:srgbClr val="A3804C"/>
                </a:solidFill>
                <a:latin typeface="Georgia" pitchFamily="34" charset="0"/>
                <a:ea typeface="Georgia" pitchFamily="34" charset="-122"/>
                <a:cs typeface="Georgia" pitchFamily="34" charset="-120"/>
              </a:rPr>
              <a:t>4</a:t>
            </a:r>
            <a:endParaRPr lang="en-US" sz="1500" dirty="0"/>
          </a:p>
        </p:txBody>
      </p:sp>
      <p:sp>
        <p:nvSpPr>
          <p:cNvPr id="11" name="Text 9"/>
          <p:cNvSpPr txBox="1"/>
          <p:nvPr/>
        </p:nvSpPr>
        <p:spPr>
          <a:xfrm>
            <a:off x="896112" y="2752344"/>
            <a:ext cx="3931920" cy="274320"/>
          </a:xfrm>
          <a:prstGeom prst="rect">
            <a:avLst/>
          </a:prstGeom>
          <a:noFill/>
          <a:ln/>
        </p:spPr>
        <p:txBody>
          <a:bodyPr wrap="square" lIns="0" tIns="0" rIns="0" bIns="0" rtlCol="0" anchor="t"/>
          <a:lstStyle/>
          <a:p>
            <a:pPr indent="0" marL="0">
              <a:buNone/>
            </a:pPr>
            <a:r>
              <a:rPr lang="en-US" sz="1050" dirty="0">
                <a:solidFill>
                  <a:srgbClr val="F4EFE6"/>
                </a:solidFill>
                <a:latin typeface="Arial" pitchFamily="34" charset="0"/>
                <a:ea typeface="Arial" pitchFamily="34" charset="-122"/>
                <a:cs typeface="Arial" pitchFamily="34" charset="-120"/>
              </a:rPr>
              <a:t>Lets it remember the constraint</a:t>
            </a:r>
            <a:endParaRPr lang="en-US" sz="1050" dirty="0"/>
          </a:p>
        </p:txBody>
      </p:sp>
      <p:sp>
        <p:nvSpPr>
          <p:cNvPr id="12" name="Text 10"/>
          <p:cNvSpPr txBox="1"/>
          <p:nvPr/>
        </p:nvSpPr>
        <p:spPr>
          <a:xfrm>
            <a:off x="548640" y="3118104"/>
            <a:ext cx="274320" cy="292608"/>
          </a:xfrm>
          <a:prstGeom prst="rect">
            <a:avLst/>
          </a:prstGeom>
          <a:noFill/>
          <a:ln/>
        </p:spPr>
        <p:txBody>
          <a:bodyPr wrap="square" lIns="0" tIns="0" rIns="0" bIns="0" rtlCol="0" anchor="t"/>
          <a:lstStyle/>
          <a:p>
            <a:pPr indent="0" marL="0">
              <a:buNone/>
            </a:pPr>
            <a:r>
              <a:rPr lang="en-US" sz="1500" dirty="0">
                <a:solidFill>
                  <a:srgbClr val="A3804C"/>
                </a:solidFill>
                <a:latin typeface="Georgia" pitchFamily="34" charset="0"/>
                <a:ea typeface="Georgia" pitchFamily="34" charset="-122"/>
                <a:cs typeface="Georgia" pitchFamily="34" charset="-120"/>
              </a:rPr>
              <a:t>5</a:t>
            </a:r>
            <a:endParaRPr lang="en-US" sz="1500" dirty="0"/>
          </a:p>
        </p:txBody>
      </p:sp>
      <p:sp>
        <p:nvSpPr>
          <p:cNvPr id="13" name="Text 11"/>
          <p:cNvSpPr txBox="1"/>
          <p:nvPr/>
        </p:nvSpPr>
        <p:spPr>
          <a:xfrm>
            <a:off x="896112" y="3154680"/>
            <a:ext cx="3931920" cy="274320"/>
          </a:xfrm>
          <a:prstGeom prst="rect">
            <a:avLst/>
          </a:prstGeom>
          <a:noFill/>
          <a:ln/>
        </p:spPr>
        <p:txBody>
          <a:bodyPr wrap="square" lIns="0" tIns="0" rIns="0" bIns="0" rtlCol="0" anchor="t"/>
          <a:lstStyle/>
          <a:p>
            <a:pPr indent="0" marL="0">
              <a:buNone/>
            </a:pPr>
            <a:r>
              <a:rPr lang="en-US" sz="1050" dirty="0">
                <a:solidFill>
                  <a:srgbClr val="F4EFE6"/>
                </a:solidFill>
                <a:latin typeface="Arial" pitchFamily="34" charset="0"/>
                <a:ea typeface="Arial" pitchFamily="34" charset="-122"/>
                <a:cs typeface="Arial" pitchFamily="34" charset="-120"/>
              </a:rPr>
              <a:t>A new order: the rule is applied</a:t>
            </a:r>
            <a:endParaRPr lang="en-US" sz="1050" dirty="0"/>
          </a:p>
        </p:txBody>
      </p:sp>
      <p:sp>
        <p:nvSpPr>
          <p:cNvPr id="14" name="Text 12"/>
          <p:cNvSpPr txBox="1"/>
          <p:nvPr/>
        </p:nvSpPr>
        <p:spPr>
          <a:xfrm>
            <a:off x="548640" y="3520440"/>
            <a:ext cx="274320" cy="292608"/>
          </a:xfrm>
          <a:prstGeom prst="rect">
            <a:avLst/>
          </a:prstGeom>
          <a:noFill/>
          <a:ln/>
        </p:spPr>
        <p:txBody>
          <a:bodyPr wrap="square" lIns="0" tIns="0" rIns="0" bIns="0" rtlCol="0" anchor="t"/>
          <a:lstStyle/>
          <a:p>
            <a:pPr indent="0" marL="0">
              <a:buNone/>
            </a:pPr>
            <a:r>
              <a:rPr lang="en-US" sz="1500" dirty="0">
                <a:solidFill>
                  <a:srgbClr val="A3804C"/>
                </a:solidFill>
                <a:latin typeface="Georgia" pitchFamily="34" charset="0"/>
                <a:ea typeface="Georgia" pitchFamily="34" charset="-122"/>
                <a:cs typeface="Georgia" pitchFamily="34" charset="-120"/>
              </a:rPr>
              <a:t>6</a:t>
            </a:r>
            <a:endParaRPr lang="en-US" sz="1500" dirty="0"/>
          </a:p>
        </p:txBody>
      </p:sp>
      <p:sp>
        <p:nvSpPr>
          <p:cNvPr id="15" name="Text 13"/>
          <p:cNvSpPr txBox="1"/>
          <p:nvPr/>
        </p:nvSpPr>
        <p:spPr>
          <a:xfrm>
            <a:off x="896112" y="3557016"/>
            <a:ext cx="3931920" cy="274320"/>
          </a:xfrm>
          <a:prstGeom prst="rect">
            <a:avLst/>
          </a:prstGeom>
          <a:noFill/>
          <a:ln/>
        </p:spPr>
        <p:txBody>
          <a:bodyPr wrap="square" lIns="0" tIns="0" rIns="0" bIns="0" rtlCol="0" anchor="t"/>
          <a:lstStyle/>
          <a:p>
            <a:pPr indent="0" marL="0">
              <a:buNone/>
            </a:pPr>
            <a:r>
              <a:rPr lang="en-US" sz="1050" dirty="0">
                <a:solidFill>
                  <a:srgbClr val="F4EFE6"/>
                </a:solidFill>
                <a:latin typeface="Arial" pitchFamily="34" charset="0"/>
                <a:ea typeface="Arial" pitchFamily="34" charset="-122"/>
                <a:cs typeface="Arial" pitchFamily="34" charset="-120"/>
              </a:rPr>
              <a:t>Hard case: a workshop that cannot take it, and an impossible date</a:t>
            </a:r>
            <a:endParaRPr lang="en-US" sz="1050" dirty="0"/>
          </a:p>
        </p:txBody>
      </p:sp>
      <p:sp>
        <p:nvSpPr>
          <p:cNvPr id="16" name="Text 14"/>
          <p:cNvSpPr txBox="1"/>
          <p:nvPr/>
        </p:nvSpPr>
        <p:spPr>
          <a:xfrm>
            <a:off x="548640" y="3922776"/>
            <a:ext cx="274320" cy="292608"/>
          </a:xfrm>
          <a:prstGeom prst="rect">
            <a:avLst/>
          </a:prstGeom>
          <a:noFill/>
          <a:ln/>
        </p:spPr>
        <p:txBody>
          <a:bodyPr wrap="square" lIns="0" tIns="0" rIns="0" bIns="0" rtlCol="0" anchor="t"/>
          <a:lstStyle/>
          <a:p>
            <a:pPr indent="0" marL="0">
              <a:buNone/>
            </a:pPr>
            <a:r>
              <a:rPr lang="en-US" sz="1500" dirty="0">
                <a:solidFill>
                  <a:srgbClr val="A3804C"/>
                </a:solidFill>
                <a:latin typeface="Georgia" pitchFamily="34" charset="0"/>
                <a:ea typeface="Georgia" pitchFamily="34" charset="-122"/>
                <a:cs typeface="Georgia" pitchFamily="34" charset="-120"/>
              </a:rPr>
              <a:t>7</a:t>
            </a:r>
            <a:endParaRPr lang="en-US" sz="1500" dirty="0"/>
          </a:p>
        </p:txBody>
      </p:sp>
      <p:sp>
        <p:nvSpPr>
          <p:cNvPr id="17" name="Text 15"/>
          <p:cNvSpPr txBox="1"/>
          <p:nvPr/>
        </p:nvSpPr>
        <p:spPr>
          <a:xfrm>
            <a:off x="896112" y="3959352"/>
            <a:ext cx="3931920" cy="274320"/>
          </a:xfrm>
          <a:prstGeom prst="rect">
            <a:avLst/>
          </a:prstGeom>
          <a:noFill/>
          <a:ln/>
        </p:spPr>
        <p:txBody>
          <a:bodyPr wrap="square" lIns="0" tIns="0" rIns="0" bIns="0" rtlCol="0" anchor="t"/>
          <a:lstStyle/>
          <a:p>
            <a:pPr indent="0" marL="0">
              <a:buNone/>
            </a:pPr>
            <a:r>
              <a:rPr lang="en-US" sz="1050" dirty="0">
                <a:solidFill>
                  <a:srgbClr val="F4EFE6"/>
                </a:solidFill>
                <a:latin typeface="Arial" pitchFamily="34" charset="0"/>
                <a:ea typeface="Arial" pitchFamily="34" charset="-122"/>
                <a:cs typeface="Arial" pitchFamily="34" charset="-120"/>
              </a:rPr>
              <a:t>Behind the answer: what the model read, what Python computed</a:t>
            </a:r>
            <a:endParaRPr lang="en-US" sz="1050" dirty="0"/>
          </a:p>
        </p:txBody>
      </p:sp>
      <p:pic>
        <p:nvPicPr>
          <p:cNvPr id="18" name="Image 0" descr="The assistant beside its Behind the answer panel, showing a remembered rule applied to a new order">    </p:cNvPr>
          <p:cNvPicPr>
            <a:picLocks noChangeAspect="1"/>
          </p:cNvPicPr>
          <p:nvPr/>
        </p:nvPicPr>
        <p:blipFill>
          <a:blip r:embed="rId1"/>
          <a:stretch>
            <a:fillRect/>
          </a:stretch>
        </p:blipFill>
        <p:spPr>
          <a:xfrm>
            <a:off x="5029200" y="658368"/>
            <a:ext cx="3802598" cy="3749040"/>
          </a:xfrm>
          <a:prstGeom prst="rect">
            <a:avLst/>
          </a:prstGeom>
          <a:effectLst>
            <a:outerShdw sx="100000" sy="100000" kx="0" ky="0" algn="bl" rotWithShape="0" blurRad="127000" dist="38100" dir="5400000">
              <a:srgbClr val="000000">
                <a:alpha val="18000"/>
              </a:srgbClr>
            </a:outerShdw>
          </a:effectLst>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457200"/>
            <a:ext cx="3657600" cy="274320"/>
          </a:xfrm>
          <a:prstGeom prst="rect">
            <a:avLst/>
          </a:prstGeom>
          <a:noFill/>
          <a:ln/>
        </p:spPr>
        <p:txBody>
          <a:bodyPr wrap="square" lIns="0" tIns="0" rIns="0" bIns="0" rtlCol="0" anchor="t"/>
          <a:lstStyle/>
          <a:p>
            <a:pPr indent="0" marL="0">
              <a:buNone/>
            </a:pPr>
            <a:r>
              <a:rPr lang="en-US" sz="1300" spc="900" kern="0" dirty="0">
                <a:solidFill>
                  <a:srgbClr val="F4EFE6"/>
                </a:solidFill>
                <a:latin typeface="Georgia" pitchFamily="34" charset="0"/>
                <a:ea typeface="Georgia" pitchFamily="34" charset="-122"/>
                <a:cs typeface="Georgia" pitchFamily="34" charset="-120"/>
              </a:rPr>
              <a:t>SWEATERCO</a:t>
            </a:r>
            <a:endParaRPr lang="en-US" sz="1300" dirty="0"/>
          </a:p>
        </p:txBody>
      </p:sp>
      <p:sp>
        <p:nvSpPr>
          <p:cNvPr id="3" name="Text 1"/>
          <p:cNvSpPr txBox="1"/>
          <p:nvPr/>
        </p:nvSpPr>
        <p:spPr>
          <a:xfrm>
            <a:off x="548640" y="1463040"/>
            <a:ext cx="8046720" cy="822960"/>
          </a:xfrm>
          <a:prstGeom prst="rect">
            <a:avLst/>
          </a:prstGeom>
          <a:noFill/>
          <a:ln/>
        </p:spPr>
        <p:txBody>
          <a:bodyPr wrap="square" lIns="0" tIns="0" rIns="0" bIns="0" rtlCol="0" anchor="t"/>
          <a:lstStyle/>
          <a:p>
            <a:pPr indent="0" marL="0">
              <a:buNone/>
            </a:pPr>
            <a:r>
              <a:rPr lang="en-US" sz="4000" dirty="0">
                <a:solidFill>
                  <a:srgbClr val="F4EFE6"/>
                </a:solidFill>
                <a:latin typeface="Georgia" pitchFamily="34" charset="0"/>
                <a:ea typeface="Georgia" pitchFamily="34" charset="-122"/>
                <a:cs typeface="Georgia" pitchFamily="34" charset="-120"/>
              </a:rPr>
              <a:t>Thank you.</a:t>
            </a:r>
            <a:endParaRPr lang="en-US" sz="4000" dirty="0"/>
          </a:p>
        </p:txBody>
      </p:sp>
      <p:sp>
        <p:nvSpPr>
          <p:cNvPr id="4" name="Text 2"/>
          <p:cNvSpPr txBox="1"/>
          <p:nvPr/>
        </p:nvSpPr>
        <p:spPr>
          <a:xfrm>
            <a:off x="548640" y="2286000"/>
            <a:ext cx="8046720" cy="457200"/>
          </a:xfrm>
          <a:prstGeom prst="rect">
            <a:avLst/>
          </a:prstGeom>
          <a:noFill/>
          <a:ln/>
        </p:spPr>
        <p:txBody>
          <a:bodyPr wrap="square" lIns="0" tIns="0" rIns="0" bIns="0" rtlCol="0" anchor="t"/>
          <a:lstStyle/>
          <a:p>
            <a:pPr indent="0" marL="0">
              <a:buNone/>
            </a:pPr>
            <a:r>
              <a:rPr lang="en-US" sz="1800" i="1" dirty="0">
                <a:solidFill>
                  <a:srgbClr val="B9AF9F"/>
                </a:solidFill>
                <a:latin typeface="Georgia" pitchFamily="34" charset="0"/>
                <a:ea typeface="Georgia" pitchFamily="34" charset="-122"/>
                <a:cs typeface="Georgia" pitchFamily="34" charset="-120"/>
              </a:rPr>
              <a:t>Questions are welcome.</a:t>
            </a:r>
            <a:endParaRPr lang="en-US" sz="1800" dirty="0"/>
          </a:p>
        </p:txBody>
      </p:sp>
      <p:sp>
        <p:nvSpPr>
          <p:cNvPr id="5" name="Text 3"/>
          <p:cNvSpPr txBox="1"/>
          <p:nvPr/>
        </p:nvSpPr>
        <p:spPr>
          <a:xfrm>
            <a:off x="548640" y="3246120"/>
            <a:ext cx="8046720" cy="201168"/>
          </a:xfrm>
          <a:prstGeom prst="rect">
            <a:avLst/>
          </a:prstGeom>
          <a:noFill/>
          <a:ln/>
        </p:spPr>
        <p:txBody>
          <a:bodyPr wrap="square" lIns="0" tIns="0" rIns="0" bIns="0" rtlCol="0" anchor="t"/>
          <a:lstStyle/>
          <a:p>
            <a:pPr indent="0" marL="0">
              <a:buNone/>
            </a:pPr>
            <a:r>
              <a:rPr lang="en-US" sz="1000" b="1" dirty="0">
                <a:solidFill>
                  <a:srgbClr val="A3804C"/>
                </a:solidFill>
                <a:latin typeface="Arial" pitchFamily="34" charset="0"/>
                <a:ea typeface="Arial" pitchFamily="34" charset="-122"/>
                <a:cs typeface="Arial" pitchFamily="34" charset="-120"/>
              </a:rPr>
              <a:t>GITHUB  </a:t>
            </a:r>
            <a:r>
              <a:rPr lang="en-US" sz="1000" dirty="0">
                <a:solidFill>
                  <a:srgbClr val="F4EFE6"/>
                </a:solidFill>
                <a:latin typeface="Arial" pitchFamily="34" charset="0"/>
                <a:ea typeface="Arial" pitchFamily="34" charset="-122"/>
                <a:cs typeface="Arial" pitchFamily="34" charset="-120"/>
              </a:rPr>
              <a:t>github.com/JoshuaGloor/dss5105-capstone-project</a:t>
            </a:r>
            <a:endParaRPr lang="en-US" sz="1000" dirty="0"/>
          </a:p>
        </p:txBody>
      </p:sp>
      <p:sp>
        <p:nvSpPr>
          <p:cNvPr id="6" name="Text 4"/>
          <p:cNvSpPr txBox="1"/>
          <p:nvPr/>
        </p:nvSpPr>
        <p:spPr>
          <a:xfrm>
            <a:off x="548640" y="3520440"/>
            <a:ext cx="8046720" cy="201168"/>
          </a:xfrm>
          <a:prstGeom prst="rect">
            <a:avLst/>
          </a:prstGeom>
          <a:noFill/>
          <a:ln/>
        </p:spPr>
        <p:txBody>
          <a:bodyPr wrap="square" lIns="0" tIns="0" rIns="0" bIns="0" rtlCol="0" anchor="t"/>
          <a:lstStyle/>
          <a:p>
            <a:pPr indent="0" marL="0">
              <a:buNone/>
            </a:pPr>
            <a:r>
              <a:rPr lang="en-US" sz="1000" b="1" dirty="0">
                <a:solidFill>
                  <a:srgbClr val="A3804C"/>
                </a:solidFill>
                <a:latin typeface="Arial" pitchFamily="34" charset="0"/>
                <a:ea typeface="Arial" pitchFamily="34" charset="-122"/>
                <a:cs typeface="Arial" pitchFamily="34" charset="-120"/>
              </a:rPr>
              <a:t>DEMO VIDEO  </a:t>
            </a:r>
            <a:r>
              <a:rPr lang="en-US" sz="1000" dirty="0">
                <a:solidFill>
                  <a:srgbClr val="F4EFE6"/>
                </a:solidFill>
                <a:latin typeface="Arial" pitchFamily="34" charset="0"/>
                <a:ea typeface="Arial" pitchFamily="34" charset="-122"/>
                <a:cs typeface="Arial" pitchFamily="34" charset="-120"/>
              </a:rPr>
              <a:t>[YouTube link: add after upload]</a:t>
            </a:r>
            <a:endParaRPr lang="en-US" sz="1000" dirty="0"/>
          </a:p>
        </p:txBody>
      </p:sp>
      <p:sp>
        <p:nvSpPr>
          <p:cNvPr id="7" name="Text 5"/>
          <p:cNvSpPr txBox="1"/>
          <p:nvPr/>
        </p:nvSpPr>
        <p:spPr>
          <a:xfrm>
            <a:off x="548640" y="4114800"/>
            <a:ext cx="8046720" cy="201168"/>
          </a:xfrm>
          <a:prstGeom prst="rect">
            <a:avLst/>
          </a:prstGeom>
          <a:noFill/>
          <a:ln/>
        </p:spPr>
        <p:txBody>
          <a:bodyPr wrap="square" lIns="0" tIns="0" rIns="0" bIns="0" rtlCol="0" anchor="t"/>
          <a:lstStyle/>
          <a:p>
            <a:pPr indent="0" marL="0">
              <a:buNone/>
            </a:pPr>
            <a:r>
              <a:rPr lang="en-US" sz="850" b="1" spc="300" kern="0" dirty="0">
                <a:solidFill>
                  <a:srgbClr val="A3804C"/>
                </a:solidFill>
                <a:latin typeface="Arial" pitchFamily="34" charset="0"/>
                <a:ea typeface="Arial" pitchFamily="34" charset="-122"/>
                <a:cs typeface="Arial" pitchFamily="34" charset="-120"/>
              </a:rPr>
              <a:t>RAVI TALKS  /  PYTHON CHECKS  /  A PERSON COMMITS</a:t>
            </a:r>
            <a:endParaRPr lang="en-US" sz="850" dirty="0"/>
          </a:p>
        </p:txBody>
      </p:sp>
      <p:sp>
        <p:nvSpPr>
          <p:cNvPr id="8" name="Text 6"/>
          <p:cNvSpPr txBox="1"/>
          <p:nvPr/>
        </p:nvSpPr>
        <p:spPr>
          <a:xfrm>
            <a:off x="548640" y="4709160"/>
            <a:ext cx="8046720" cy="182880"/>
          </a:xfrm>
          <a:prstGeom prst="rect">
            <a:avLst/>
          </a:prstGeom>
          <a:noFill/>
          <a:ln/>
        </p:spPr>
        <p:txBody>
          <a:bodyPr wrap="square" lIns="0" tIns="0" rIns="0" bIns="0" rtlCol="0" anchor="t"/>
          <a:lstStyle/>
          <a:p>
            <a:pPr indent="0" marL="0">
              <a:buNone/>
            </a:pPr>
            <a:r>
              <a:rPr lang="en-US" sz="750" spc="200" kern="0" dirty="0">
                <a:solidFill>
                  <a:srgbClr val="B9AF9F"/>
                </a:solidFill>
                <a:latin typeface="Arial" pitchFamily="34" charset="0"/>
                <a:ea typeface="Arial" pitchFamily="34" charset="-122"/>
                <a:cs typeface="Arial" pitchFamily="34" charset="-120"/>
              </a:rPr>
              <a:t>GROUP 11  /  DSS5105 CAPSTONE  /  30 OCTOBER 2026</a:t>
            </a:r>
            <a:endParaRPr lang="en-US" sz="7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Quick-Response Subcontracting Desk - Sprint 2</dc:title>
  <dc:subject>PptxGenJS Presentation</dc:subject>
  <dc:creator>Group 11</dc:creator>
  <cp:lastModifiedBy>Group 11</cp:lastModifiedBy>
  <cp:revision>1</cp:revision>
  <dcterms:created xsi:type="dcterms:W3CDTF">2026-10-26T12:45:25Z</dcterms:created>
  <dcterms:modified xsi:type="dcterms:W3CDTF">2026-10-26T12:45:25Z</dcterms:modified>
</cp:coreProperties>
</file>