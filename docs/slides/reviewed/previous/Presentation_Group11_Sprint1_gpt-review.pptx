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aa2265c55a44d3" /><Relationship Type="http://schemas.openxmlformats.org/officeDocument/2006/relationships/extended-properties" Target="/docProps/app.xml" Id="R32cc300353c04970" /><Relationship Type="http://schemas.openxmlformats.org/officeDocument/2006/relationships/officeDocument" Target="/ppt/presentation.xml" Id="R6ee8ce6cf50d426b" /></Relationships>
</file>

<file path=ppt/presentation.xml><?xml version="1.0" encoding="utf-8"?>
<p:presentation xmlns:p="http://schemas.openxmlformats.org/presentationml/2006/main">
  <p:sldMasterIdLst>
    <p:sldMasterId xmlns:r="http://schemas.openxmlformats.org/officeDocument/2006/relationships" id="2147483648" r:id="R1f70238de4c9424b"/>
  </p:sldMasterIdLst>
  <p:notesMasterIdLst>
    <p:notesMasterId xmlns:r="http://schemas.openxmlformats.org/officeDocument/2006/relationships" r:id="Rfa0ea79379964329"/>
  </p:notesMasterIdLst>
  <p:sldIdLst>
    <p:sldId xmlns:r="http://schemas.openxmlformats.org/officeDocument/2006/relationships" id="256" r:id="Rc2cd580b833645d1"/>
    <p:sldId xmlns:r="http://schemas.openxmlformats.org/officeDocument/2006/relationships" id="257" r:id="R9b74f799ab9e4213"/>
    <p:sldId xmlns:r="http://schemas.openxmlformats.org/officeDocument/2006/relationships" id="258" r:id="R99a1364f0d824dbb"/>
    <p:sldId xmlns:r="http://schemas.openxmlformats.org/officeDocument/2006/relationships" id="259" r:id="Rc2bc20d4f5bf45ac"/>
    <p:sldId xmlns:r="http://schemas.openxmlformats.org/officeDocument/2006/relationships" id="260" r:id="Rce7dbb01f81b4f1c"/>
    <p:sldId xmlns:r="http://schemas.openxmlformats.org/officeDocument/2006/relationships" id="261" r:id="R88556b8cbf6d484b"/>
    <p:sldId xmlns:r="http://schemas.openxmlformats.org/officeDocument/2006/relationships" id="262" r:id="R8cf03c1028c543ad"/>
    <p:sldId xmlns:r="http://schemas.openxmlformats.org/officeDocument/2006/relationships" id="263" r:id="R834e22517a614cf3"/>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3b096c8f5da4048" /><Relationship Type="http://schemas.openxmlformats.org/officeDocument/2006/relationships/slideMaster" Target="/ppt/slideMasters/slideMaster1.xml" Id="R1f70238de4c9424b" /><Relationship Type="http://schemas.openxmlformats.org/officeDocument/2006/relationships/notesMaster" Target="/ppt/notesMasters/notesMaster1.xml" Id="Rfa0ea79379964329" /><Relationship Type="http://schemas.openxmlformats.org/officeDocument/2006/relationships/presProps" Target="/ppt/presProps.xml" Id="R47b097983a6a4e27" /><Relationship Type="http://schemas.openxmlformats.org/officeDocument/2006/relationships/viewProps" Target="/ppt/viewProps.xml" Id="R5bc2a2b6946b4e36" /><Relationship Type="http://schemas.openxmlformats.org/officeDocument/2006/relationships/tableStyles" Target="/ppt/tableStyles.xml" Id="R9e7c5bf698f04778" /><Relationship Type="http://schemas.openxmlformats.org/officeDocument/2006/relationships/slide" Target="/ppt/slides/slide1.xml" Id="Rc2cd580b833645d1" /><Relationship Type="http://schemas.openxmlformats.org/officeDocument/2006/relationships/slide" Target="/ppt/slides/slide2.xml" Id="R9b74f799ab9e4213" /><Relationship Type="http://schemas.openxmlformats.org/officeDocument/2006/relationships/slide" Target="/ppt/slides/slide3.xml" Id="R99a1364f0d824dbb" /><Relationship Type="http://schemas.openxmlformats.org/officeDocument/2006/relationships/slide" Target="/ppt/slides/slide4.xml" Id="Rc2bc20d4f5bf45ac" /><Relationship Type="http://schemas.openxmlformats.org/officeDocument/2006/relationships/slide" Target="/ppt/slides/slide5.xml" Id="Rce7dbb01f81b4f1c" /><Relationship Type="http://schemas.openxmlformats.org/officeDocument/2006/relationships/slide" Target="/ppt/slides/slide6.xml" Id="R88556b8cbf6d484b" /><Relationship Type="http://schemas.openxmlformats.org/officeDocument/2006/relationships/slide" Target="/ppt/slides/slide7.xml" Id="R8cf03c1028c543ad" /><Relationship Type="http://schemas.openxmlformats.org/officeDocument/2006/relationships/slide" Target="/ppt/slides/slide8.xml" Id="R834e22517a614c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de69e2549345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61314de4de4e82" /><Relationship Type="http://schemas.openxmlformats.org/officeDocument/2006/relationships/notesMaster" Target="/ppt/notesMasters/notesMaster1.xml" Id="R9d1db1acd08c40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70da164f5e48fa" /><Relationship Type="http://schemas.openxmlformats.org/officeDocument/2006/relationships/notesMaster" Target="/ppt/notesMasters/notesMaster1.xml" Id="R630d8ef935c743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5d278d4904435a" /><Relationship Type="http://schemas.openxmlformats.org/officeDocument/2006/relationships/notesMaster" Target="/ppt/notesMasters/notesMaster1.xml" Id="Rc3890301098e4c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40f2ca2ca64285" /><Relationship Type="http://schemas.openxmlformats.org/officeDocument/2006/relationships/notesMaster" Target="/ppt/notesMasters/notesMaster1.xml" Id="Rf6fb3be8aa294b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e5c6dcec03416b" /><Relationship Type="http://schemas.openxmlformats.org/officeDocument/2006/relationships/notesMaster" Target="/ppt/notesMasters/notesMaster1.xml" Id="Re7f030c1629c48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3cea46120549c3" /><Relationship Type="http://schemas.openxmlformats.org/officeDocument/2006/relationships/notesMaster" Target="/ppt/notesMasters/notesMaster1.xml" Id="Rde7161ac09ac40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adb3bd06ba45ea" /><Relationship Type="http://schemas.openxmlformats.org/officeDocument/2006/relationships/notesMaster" Target="/ppt/notesMasters/notesMaster1.xml" Id="R3e63bbd5ff204c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45a63a127e43bb" /><Relationship Type="http://schemas.openxmlformats.org/officeDocument/2006/relationships/notesMaster" Target="/ppt/notesMasters/notesMaster1.xml" Id="R9e60ed2f720146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evening. We are Group 11, and our project is the Quick-Response Subcontracting Desk. We help factory dispatchers choose a workshop for urgent orders, with delivery estimates they can check and a decision record they can review later.</a:t>
            </a:r>
            <a:endParaRPr/>
          </a:p>
          <a:p xmlns:a="http://schemas.openxmlformats.org/drawingml/2006/main">
            <a:r>
              <a:t/>
            </a:r>
            <a:endParaRPr/>
          </a:p>
          <a:p xmlns:a="http://schemas.openxmlformats.org/drawingml/2006/main">
            <a:r>
              <a:t>Q&amp;A / evidence:</a:t>
            </a:r>
            <a:endParaRPr/>
          </a:p>
          <a:p xmlns:a="http://schemas.openxmlformats.org/drawingml/2006/main">
            <a:r>
              <a:t>Opening target: 20 seconds. Names supplied by CHEN ZEPENG. Course context: Capstone_Project_Tracks_v4.pdf, Track 2. Timing: Capstone_Project_Spec_v5.pdf, Sprint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one chat message can become the whole dispatch decision. The dispatcher has to check whether the workshop can make the product, has enough time, and is allowed to take the batch. A wrong choice can delay the order, and the reasoning can get lost in the chat. Our desk reads the request, asks for missing details, and compares suitable workshops. The dispatcher reviews the recommendation before saving the allocation.</a:t>
            </a:r>
            <a:endParaRPr/>
          </a:p>
          <a:p xmlns:a="http://schemas.openxmlformats.org/drawingml/2006/main">
            <a:r>
              <a:t/>
            </a:r>
            <a:endParaRPr/>
          </a:p>
          <a:p xmlns:a="http://schemas.openxmlformats.org/drawingml/2006/main">
            <a:r>
              <a:t>Q&amp;A / evidence:</a:t>
            </a:r>
            <a:endParaRPr/>
          </a:p>
          <a:p xmlns:a="http://schemas.openxmlformats.org/drawingml/2006/main">
            <a:r>
              <a:t>Problem target: 40 seconds. The sample is illustrative, not a course order or tool estimate. Source: Capstone_Project_Tracks_v4.pdf pp. 4-5. We do not claim measured profit loss or elimination of all dispatch errors.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follows that workflow. Streamlit is the dispatcher interface. The language model turns the message into structured fields. Python validates those fields, checks workshop restrictions, and calculates delivery estimates and rankings. Session memory keeps the conversation and draft constraints. After approval, SQLite stores the decision and updates planning queues in one transaction. We check for changed queues before saving, and retries cannot create duplicate allocations. The shared simulator tests the same allocator. The language model never calculates delivery dates or costs.</a:t>
            </a:r>
            <a:endParaRPr/>
          </a:p>
          <a:p xmlns:a="http://schemas.openxmlformats.org/drawingml/2006/main">
            <a:r>
              <a:t/>
            </a:r>
            <a:endParaRPr/>
          </a:p>
          <a:p xmlns:a="http://schemas.openxmlformats.org/drawingml/2006/main">
            <a:r>
              <a:t>Q&amp;A / evidence:</a:t>
            </a:r>
            <a:endParaRPr/>
          </a:p>
          <a:p xmlns:a="http://schemas.openxmlformats.org/drawingml/2006/main">
            <a:r>
              <a:t>Architecture target: 45 seconds. Implemented single LLM extraction workflow with deterministic orchestration, not autonomous tool selection or multiple agents. get_model() uses LLM_MODEL from .env. intake.py uses LangChain structured output, quoted evidence and typed patch validation. Python owns clarification text and numerical explanations. Session memory is ephemeral conversation/request state, not RAG, a vector store, or long-term model memory. records.py uses SQLite transactions, state revisions, unique order IDs and idempotency keys. Data is read directly from CSV. Workload lookup is a direct UI tool, not yet a chat intent. Simulator policy evaluation has no LLM calls. Live Data v3 language validation and held-out evaluation remain pending. No workshop is contacted. Sources: src/dss5105/intake.py, chat_ui.py, dispatch.py, allocator.py, records.py and web_app.py.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primary objective is minimise lateness because delivery is central to urgent reorders. We measure how often batches arrive late and how late they are. The quality-first setting achieves lower defect exposure but misses too many dates. We will retain that comparison and justify a mixed setting.</a:t>
            </a:r>
            <a:endParaRPr/>
          </a:p>
          <a:p xmlns:a="http://schemas.openxmlformats.org/drawingml/2006/main">
            <a:r>
              <a:t/>
            </a:r>
            <a:endParaRPr/>
          </a:p>
          <a:p xmlns:a="http://schemas.openxmlformats.org/drawingml/2006/main">
            <a:r>
              <a:t>Q&amp;A / evidence:</a:t>
            </a:r>
            <a:endParaRPr/>
          </a:p>
          <a:p xmlns:a="http://schemas.openxmlformats.org/drawingml/2006/main">
            <a:r>
              <a:t>Target: 35 seconds. Group 11 has agreed on minimise lateness as the primary objective for Sprint 1. Defects require lateness no worse than random under Tracks v4. The original mixed policy remains implemented as an exploratory comparison, not a validated default. Fairness scoring is not implemented. Source: docs/V3_EVALUATION.md, Capstone_Project_Tracks_v4.pdf pp. 5-6.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shows fewer late batches than random routing. The product also checks workshop restrictions, records approved decisions, and makes impossible dates visible for review. These are early capabilities. We have not yet measured time saved or financial impact in a factory.</a:t>
            </a:r>
            <a:endParaRPr/>
          </a:p>
          <a:p xmlns:a="http://schemas.openxmlformats.org/drawingml/2006/main">
            <a:r>
              <a:t/>
            </a:r>
            <a:endParaRPr/>
          </a:p>
          <a:p xmlns:a="http://schemas.openxmlformats.org/drawingml/2006/main">
            <a:r>
              <a:t>Q&amp;A / evidence:</a:t>
            </a:r>
            <a:endParaRPr/>
          </a:p>
          <a:p xmlns:a="http://schemas.openxmlformats.org/drawingml/2006/main">
            <a:r>
              <a:t>Target: 30 seconds. Costs are source units, not confirmed dollars. Mean normal costs: lateness 115591.50 versus cheapest 85960.00. Estimates are not delivery guarantees. Sources: docs/evidence/data-v3.json and src/dss5105/records.py.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delivery-first setting beats the supplied baselines on both lateness measures in normal and closure scenarios. The earliest-finish rule matches our late rate. We are clear about that. The assistant adds request interpretation, explicit constraints and a recorded approval workflow. Workshop lookup and extra-work comparisons now run offline in the desk.</a:t>
            </a:r>
            <a:endParaRPr/>
          </a:p>
          <a:p xmlns:a="http://schemas.openxmlformats.org/drawingml/2006/main">
            <a:r>
              <a:t/>
            </a:r>
            <a:endParaRPr/>
          </a:p>
          <a:p xmlns:a="http://schemas.openxmlformats.org/drawingml/2006/main">
            <a:r>
              <a:t>Q&amp;A / evidence:</a:t>
            </a:r>
            <a:endParaRPr/>
          </a:p>
          <a:p xmlns:a="http://schemas.openxmlformats.org/drawingml/2006/main">
            <a:r>
              <a:t>Target: 50 seconds. Earliest finish slightly beats lateness on normal overdue days before rounding. Full comparison includes defects, cost and concentration in docs/V3_EVALUATION.md. Fixture replay is not language accuracy. Margin-study buffered cost tradeoff is exploratory and uses the same supplied order stream across seeds; it is not held-out order evidence. No claims of optimality or predictive failure detection.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risks are misunderstanding a request, over-trusting an estimate, and approving against old queues. We validate request fields, retain the estimate evidence, and check state again before saving. The simulator simplifies real operations, so we still need dispatcher testing and independent language evaluation.</a:t>
            </a:r>
            <a:endParaRPr/>
          </a:p>
          <a:p xmlns:a="http://schemas.openxmlformats.org/drawingml/2006/main">
            <a:r>
              <a:t/>
            </a:r>
            <a:endParaRPr/>
          </a:p>
          <a:p xmlns:a="http://schemas.openxmlformats.org/drawingml/2006/main">
            <a:r>
              <a:t>Q&amp;A / evidence:</a:t>
            </a:r>
            <a:endParaRPr/>
          </a:p>
          <a:p xmlns:a="http://schemas.openxmlformats.org/drawingml/2006/main">
            <a:r>
              <a:t>Target: 40 seconds. The numerical integrity checker is partial; it is not a complete explanation-faithfulness audit. No authentication or cancellation workflow is implemented. Planning queues do not drain with wall-clock time. Current controls are tested offline; usability is not established by AppTest. Sources: docs/INTAKE_CONTRACT.md, ALLOCATION_RECORD_CONTRACT.md, CHAT_EVALUATION.md.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Sprint 2 focuses on evidence for the complete workflow. We will test chat behavior against independently checked answers, connect capacity questions to the new tools, and justify a mixed policy. We will also review explanation accuracy and dispatcher usability, then record the demonstration.</a:t>
            </a:r>
            <a:endParaRPr/>
          </a:p>
          <a:p xmlns:a="http://schemas.openxmlformats.org/drawingml/2006/main">
            <a:r>
              <a:t/>
            </a:r>
            <a:endParaRPr/>
          </a:p>
          <a:p xmlns:a="http://schemas.openxmlformats.org/drawingml/2006/main">
            <a:r>
              <a:t>Q&amp;A / evidence:</a:t>
            </a:r>
            <a:endParaRPr/>
          </a:p>
          <a:p xmlns:a="http://schemas.openxmlformats.org/drawingml/2006/main">
            <a:r>
              <a:t>Target: 40 seconds. Direct workshop tools are implemented in this refinement. Free-text workshop query and workload intents are not connected to intake.py yet. Final requirements: normal and ten-seed shock, another objective and hybrid, all supplied inbox requests judged by behavior, separate decision and explanation results, and at least ten analyzed failures. Additional held-out size is a team methodology choice, not a Track 2 minimum. Sources: Capstone_Project_Spec_v5.pdf pp. 3,5 and Tracks_v4 pp. 5-7.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2374b66c18474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ffa956d9ca4946" /><Relationship Type="http://schemas.openxmlformats.org/officeDocument/2006/relationships/slideLayout" Target="/ppt/slideLayouts/slideLayout1.xml" Id="Rf3d3b30b8f35441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d3b30b8f35441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c56ef53a0e4d01" /><Relationship Type="http://schemas.openxmlformats.org/officeDocument/2006/relationships/notesSlide" Target="/ppt/notesSlides/notesSlide1.xml" Id="Rad8ec0961c2143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3751a65974e4042" /><Relationship Type="http://schemas.openxmlformats.org/officeDocument/2006/relationships/notesSlide" Target="/ppt/notesSlides/notesSlide2.xml" Id="Re236493937884a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ef63c22cf34b68" /><Relationship Type="http://schemas.openxmlformats.org/officeDocument/2006/relationships/notesSlide" Target="/ppt/notesSlides/notesSlide3.xml" Id="R466bb98235874d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4eeff11bf141c6" /><Relationship Type="http://schemas.openxmlformats.org/officeDocument/2006/relationships/notesSlide" Target="/ppt/notesSlides/notesSlide4.xml" Id="R7554bbfdbd7a41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d641a5011445d6" /><Relationship Type="http://schemas.openxmlformats.org/officeDocument/2006/relationships/notesSlide" Target="/ppt/notesSlides/notesSlide5.xml" Id="Rcc3ff0a0ab3542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41faf4035a4dbc" /><Relationship Type="http://schemas.openxmlformats.org/officeDocument/2006/relationships/notesSlide" Target="/ppt/notesSlides/notesSlide6.xml" Id="Rc77917c45b8549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68a33b353e400f" /><Relationship Type="http://schemas.openxmlformats.org/officeDocument/2006/relationships/notesSlide" Target="/ppt/notesSlides/notesSlide7.xml" Id="Rbcce491f60eb48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c983bc251d48e7" /><Relationship Type="http://schemas.openxmlformats.org/officeDocument/2006/relationships/notesSlide" Target="/ppt/notesSlides/notesSlide8.xml" Id="Rb0a6b29bd0f046db" /></Relationships>
</file>

<file path=ppt/slides/slide1.xml><?xml version="1.0" encoding="utf-8"?>
<p:sld xmlns:p="http://schemas.openxmlformats.org/presentationml/2006/main">
  <p:cSld>
    <p:bg>
      <p:bgPr>
        <a:solidFill xmlns:a="http://schemas.openxmlformats.org/drawingml/2006/main">
          <a:srgbClr val="203731"/>
        </a:solidFill>
      </p:bgPr>
    </p:bg>
    <p:spTree>
      <p:nvGrpSpPr>
        <p:cNvPr id="1" name=""/>
        <p:cNvGrpSpPr/>
        <p:nvPr/>
      </p:nvGrpSpPr>
      <p:grpSpPr>
        <a:xfrm xmlns:a="http://schemas.openxmlformats.org/drawingml/2006/main"/>
      </p:grpSpPr>
      <p:sp>
        <p:nvSpPr>
          <p:cNvPr id="7" name="group">
            <a:extLst xmlns:a="http://schemas.openxmlformats.org/drawingml/2006/main">
              <a:ext uri="{FF2B5EF4-FFF2-40B4-BE49-F238E27FC236}">
                <a16:creationId xmlns:a16="http://schemas.microsoft.com/office/drawing/2014/main" id="{C0647A0A-EA1C-492D-9D2D-2E35463FF57A}"/>
              </a:ext>
            </a:extLst>
          </p:cNvPr>
          <p:cNvSpPr>
            <a:spLocks xmlns:a="http://schemas.openxmlformats.org/drawingml/2006/main" noGrp="1"/>
          </p:cNvSpPr>
          <p:nvPr/>
        </p:nvSpPr>
        <p:spPr>
          <a:xfrm xmlns:a="http://schemas.openxmlformats.org/drawingml/2006/main">
            <a:off x="457200" y="504825"/>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1">
                <a:solidFill>
                  <a:srgbClr val="A9C7B5"/>
                </a:solidFill>
                <a:latin typeface="Arial"/>
                <a:ea typeface="Arial"/>
                <a:cs typeface="Arial"/>
              </a:defRPr>
            </a:defPPr>
          </a:lstStyle>
          <a:p xmlns:a="http://schemas.openxmlformats.org/drawingml/2006/main">
            <a:pPr algn="l">
              <a:defRPr sz="1200" b="1">
                <a:solidFill>
                  <a:srgbClr val="A9C7B5"/>
                </a:solidFill>
              </a:defRPr>
            </a:pPr>
            <a:r>
              <a:rPr sz="1200" b="1">
                <a:solidFill>
                  <a:srgbClr val="A9C7B5"/>
                </a:solidFill>
                <a:latin typeface="Arial"/>
                <a:ea typeface="Arial"/>
                <a:cs typeface="Arial"/>
              </a:rPr>
              <a:t>GROUP 11   /   TRACK 2   /   SPRINT 1</a:t>
            </a:r>
          </a:p>
        </p:txBody>
      </p:sp>
      <p:sp>
        <p:nvSpPr>
          <p:cNvPr id="2" name="title">
            <a:extLst xmlns:a="http://schemas.openxmlformats.org/drawingml/2006/main">
              <a:ext uri="{FF2B5EF4-FFF2-40B4-BE49-F238E27FC236}">
                <a16:creationId xmlns:a16="http://schemas.microsoft.com/office/drawing/2014/main" id="{CB813F6F-53C9-46F2-888D-D2E980926C96}"/>
              </a:ext>
            </a:extLst>
          </p:cNvPr>
          <p:cNvSpPr>
            <a:spLocks xmlns:a="http://schemas.openxmlformats.org/drawingml/2006/main" noGrp="1"/>
          </p:cNvSpPr>
          <p:nvPr/>
        </p:nvSpPr>
        <p:spPr>
          <a:xfrm xmlns:a="http://schemas.openxmlformats.org/drawingml/2006/main">
            <a:off x="457200" y="1104900"/>
            <a:ext cx="8229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900" b="1">
                <a:solidFill>
                  <a:srgbClr val="FFFFFF"/>
                </a:solidFill>
                <a:latin typeface="Arial"/>
                <a:ea typeface="Arial"/>
                <a:cs typeface="Arial"/>
              </a:defRPr>
            </a:defPPr>
          </a:lstStyle>
          <a:p xmlns:a="http://schemas.openxmlformats.org/drawingml/2006/main">
            <a:pPr algn="l">
              <a:defRPr sz="3900" b="1">
                <a:solidFill>
                  <a:srgbClr val="FFFFFF"/>
                </a:solidFill>
              </a:defRPr>
            </a:pPr>
            <a:r>
              <a:rPr sz="3900" b="1">
                <a:solidFill>
                  <a:srgbClr val="FFFFFF"/>
                </a:solidFill>
                <a:latin typeface="Arial"/>
                <a:ea typeface="Arial"/>
                <a:cs typeface="Arial"/>
              </a:rPr>
              <a:t>Quick-Response</a:t>
            </a:r>
          </a:p>
          <a:p xmlns:a="http://schemas.openxmlformats.org/drawingml/2006/main">
            <a:pPr algn="l">
              <a:defRPr sz="3900" b="1">
                <a:solidFill>
                  <a:srgbClr val="FFFFFF"/>
                </a:solidFill>
              </a:defRPr>
            </a:pPr>
            <a:r>
              <a:rPr sz="3900" b="1">
                <a:solidFill>
                  <a:srgbClr val="FFFFFF"/>
                </a:solidFill>
                <a:latin typeface="Arial"/>
                <a:ea typeface="Arial"/>
                <a:cs typeface="Arial"/>
              </a:rPr>
              <a:t>Subcontracting Desk</a:t>
            </a:r>
          </a:p>
        </p:txBody>
      </p:sp>
      <p:sp>
        <p:nvSpPr>
          <p:cNvPr id="3" name="purpose">
            <a:extLst xmlns:a="http://schemas.openxmlformats.org/drawingml/2006/main">
              <a:ext uri="{FF2B5EF4-FFF2-40B4-BE49-F238E27FC236}">
                <a16:creationId xmlns:a16="http://schemas.microsoft.com/office/drawing/2014/main" id="{F4D03B8B-1959-4369-A722-87D9B024461D}"/>
              </a:ext>
            </a:extLst>
          </p:cNvPr>
          <p:cNvSpPr>
            <a:spLocks xmlns:a="http://schemas.openxmlformats.org/drawingml/2006/main" noGrp="1"/>
          </p:cNvSpPr>
          <p:nvPr/>
        </p:nvSpPr>
        <p:spPr>
          <a:xfrm xmlns:a="http://schemas.openxmlformats.org/drawingml/2006/main">
            <a:off x="457200" y="2686050"/>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D6E4DB"/>
                </a:solidFill>
                <a:latin typeface="Arial"/>
                <a:ea typeface="Arial"/>
                <a:cs typeface="Arial"/>
              </a:defRPr>
            </a:defPPr>
          </a:lstStyle>
          <a:p xmlns:a="http://schemas.openxmlformats.org/drawingml/2006/main">
            <a:pPr algn="l">
              <a:defRPr sz="1875" b="0">
                <a:solidFill>
                  <a:srgbClr val="D6E4DB"/>
                </a:solidFill>
              </a:defRPr>
            </a:pPr>
            <a:r>
              <a:rPr sz="1875" b="0">
                <a:solidFill>
                  <a:srgbClr val="D6E4DB"/>
                </a:solidFill>
                <a:latin typeface="Arial"/>
                <a:ea typeface="Arial"/>
                <a:cs typeface="Arial"/>
              </a:rPr>
              <a:t>A dispatch assistant for urgent apparel orders</a:t>
            </a:r>
          </a:p>
        </p:txBody>
      </p:sp>
      <p:sp>
        <p:nvSpPr>
          <p:cNvPr id="4" name="members-left">
            <a:extLst xmlns:a="http://schemas.openxmlformats.org/drawingml/2006/main">
              <a:ext uri="{FF2B5EF4-FFF2-40B4-BE49-F238E27FC236}">
                <a16:creationId xmlns:a16="http://schemas.microsoft.com/office/drawing/2014/main" id="{228E5056-53CF-41CB-B5FD-271D2D53BE56}"/>
              </a:ext>
            </a:extLst>
          </p:cNvPr>
          <p:cNvSpPr>
            <a:spLocks xmlns:a="http://schemas.openxmlformats.org/drawingml/2006/main" noGrp="1"/>
          </p:cNvSpPr>
          <p:nvPr/>
        </p:nvSpPr>
        <p:spPr>
          <a:xfrm xmlns:a="http://schemas.openxmlformats.org/drawingml/2006/main">
            <a:off x="457200" y="3543300"/>
            <a:ext cx="400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FFFFFF"/>
                </a:solidFill>
                <a:latin typeface="Arial"/>
                <a:ea typeface="Arial"/>
                <a:cs typeface="Arial"/>
              </a:defRPr>
            </a:defPPr>
          </a:lstStyle>
          <a:p xmlns:a="http://schemas.openxmlformats.org/drawingml/2006/main">
            <a:pPr algn="l">
              <a:defRPr sz="1275" b="0">
                <a:solidFill>
                  <a:srgbClr val="FFFFFF"/>
                </a:solidFill>
              </a:defRPr>
            </a:pPr>
            <a:r>
              <a:rPr sz="1275" b="0">
                <a:solidFill>
                  <a:srgbClr val="FFFFFF"/>
                </a:solidFill>
                <a:latin typeface="Arial"/>
                <a:ea typeface="Arial"/>
                <a:cs typeface="Arial"/>
              </a:rPr>
              <a:t>CHEN ZEPENG</a:t>
            </a:r>
          </a:p>
          <a:p xmlns:a="http://schemas.openxmlformats.org/drawingml/2006/main">
            <a:pPr algn="l">
              <a:defRPr sz="1275" b="0">
                <a:solidFill>
                  <a:srgbClr val="FFFFFF"/>
                </a:solidFill>
              </a:defRPr>
            </a:pPr>
            <a:r>
              <a:rPr sz="1275" b="0">
                <a:solidFill>
                  <a:srgbClr val="FFFFFF"/>
                </a:solidFill>
                <a:latin typeface="Arial"/>
                <a:ea typeface="Arial"/>
                <a:cs typeface="Arial"/>
              </a:rPr>
              <a:t>DUONG THANH NHAN</a:t>
            </a:r>
          </a:p>
          <a:p xmlns:a="http://schemas.openxmlformats.org/drawingml/2006/main">
            <a:pPr algn="l">
              <a:defRPr sz="1275" b="0">
                <a:solidFill>
                  <a:srgbClr val="FFFFFF"/>
                </a:solidFill>
              </a:defRPr>
            </a:pPr>
            <a:r>
              <a:rPr sz="1275" b="0">
                <a:solidFill>
                  <a:srgbClr val="FFFFFF"/>
                </a:solidFill>
                <a:latin typeface="Arial"/>
                <a:ea typeface="Arial"/>
                <a:cs typeface="Arial"/>
              </a:rPr>
              <a:t>JOSHUA WESLEY GLOOR</a:t>
            </a:r>
          </a:p>
        </p:txBody>
      </p:sp>
      <p:sp>
        <p:nvSpPr>
          <p:cNvPr id="5" name="members-right">
            <a:extLst xmlns:a="http://schemas.openxmlformats.org/drawingml/2006/main">
              <a:ext uri="{FF2B5EF4-FFF2-40B4-BE49-F238E27FC236}">
                <a16:creationId xmlns:a16="http://schemas.microsoft.com/office/drawing/2014/main" id="{2F68E1D7-4529-4AFA-AF2C-25E87780E9D6}"/>
              </a:ext>
            </a:extLst>
          </p:cNvPr>
          <p:cNvSpPr>
            <a:spLocks xmlns:a="http://schemas.openxmlformats.org/drawingml/2006/main" noGrp="1"/>
          </p:cNvSpPr>
          <p:nvPr/>
        </p:nvSpPr>
        <p:spPr>
          <a:xfrm xmlns:a="http://schemas.openxmlformats.org/drawingml/2006/main">
            <a:off x="4686300" y="3543300"/>
            <a:ext cx="400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FFFFFF"/>
                </a:solidFill>
                <a:latin typeface="Arial"/>
                <a:ea typeface="Arial"/>
                <a:cs typeface="Arial"/>
              </a:defRPr>
            </a:defPPr>
          </a:lstStyle>
          <a:p xmlns:a="http://schemas.openxmlformats.org/drawingml/2006/main">
            <a:pPr algn="l">
              <a:defRPr sz="1275" b="0">
                <a:solidFill>
                  <a:srgbClr val="FFFFFF"/>
                </a:solidFill>
              </a:defRPr>
            </a:pPr>
            <a:r>
              <a:rPr sz="1275" b="0">
                <a:solidFill>
                  <a:srgbClr val="FFFFFF"/>
                </a:solidFill>
                <a:latin typeface="Arial"/>
                <a:ea typeface="Arial"/>
                <a:cs typeface="Arial"/>
              </a:rPr>
              <a:t>NIYANTHRI RAJESWARI SRIDHAR</a:t>
            </a:r>
          </a:p>
          <a:p xmlns:a="http://schemas.openxmlformats.org/drawingml/2006/main">
            <a:pPr algn="l">
              <a:defRPr sz="1275" b="0">
                <a:solidFill>
                  <a:srgbClr val="FFFFFF"/>
                </a:solidFill>
              </a:defRPr>
            </a:pPr>
            <a:r>
              <a:rPr sz="1275" b="0">
                <a:solidFill>
                  <a:srgbClr val="FFFFFF"/>
                </a:solidFill>
                <a:latin typeface="Arial"/>
                <a:ea typeface="Arial"/>
                <a:cs typeface="Arial"/>
              </a:rPr>
              <a:t>SUNDARA RAJAN SAADHVIKA</a:t>
            </a:r>
          </a:p>
          <a:p xmlns:a="http://schemas.openxmlformats.org/drawingml/2006/main">
            <a:pPr algn="l">
              <a:defRPr sz="1275" b="0">
                <a:solidFill>
                  <a:srgbClr val="FFFFFF"/>
                </a:solidFill>
              </a:defRPr>
            </a:pPr>
            <a:r>
              <a:rPr sz="1275" b="0">
                <a:solidFill>
                  <a:srgbClr val="FFFFFF"/>
                </a:solidFill>
                <a:latin typeface="Arial"/>
                <a:ea typeface="Arial"/>
                <a:cs typeface="Arial"/>
              </a:rPr>
              <a:t>TANG ZHELING</a:t>
            </a:r>
          </a:p>
        </p:txBody>
      </p:sp>
      <p:sp>
        <p:nvSpPr>
          <p:cNvPr id="6" name="date">
            <a:extLst xmlns:a="http://schemas.openxmlformats.org/drawingml/2006/main">
              <a:ext uri="{FF2B5EF4-FFF2-40B4-BE49-F238E27FC236}">
                <a16:creationId xmlns:a16="http://schemas.microsoft.com/office/drawing/2014/main" id="{D2522BA2-BC96-443B-AD64-8A9330C06545}"/>
              </a:ext>
            </a:extLst>
          </p:cNvPr>
          <p:cNvSpPr>
            <a:spLocks xmlns:a="http://schemas.openxmlformats.org/drawingml/2006/main" noGrp="1"/>
          </p:cNvSpPr>
          <p:nvPr/>
        </p:nvSpPr>
        <p:spPr>
          <a:xfrm xmlns:a="http://schemas.openxmlformats.org/drawingml/2006/main">
            <a:off x="457200" y="4724400"/>
            <a:ext cx="822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A9C7B5"/>
                </a:solidFill>
                <a:latin typeface="Arial"/>
                <a:ea typeface="Arial"/>
                <a:cs typeface="Arial"/>
              </a:defRPr>
            </a:defPPr>
          </a:lstStyle>
          <a:p xmlns:a="http://schemas.openxmlformats.org/drawingml/2006/main">
            <a:pPr algn="l">
              <a:defRPr sz="975" b="0">
                <a:solidFill>
                  <a:srgbClr val="A9C7B5"/>
                </a:solidFill>
              </a:defRPr>
            </a:pPr>
            <a:r>
              <a:rPr sz="975" b="0">
                <a:solidFill>
                  <a:srgbClr val="A9C7B5"/>
                </a:solidFill>
                <a:latin typeface="Arial"/>
                <a:ea typeface="Arial"/>
                <a:cs typeface="Arial"/>
              </a:rPr>
              <a:t>DSS5105 Capstone   /   16 Oct 2026</a:t>
            </a:r>
          </a:p>
        </p:txBody>
      </p:sp>
    </p:spTree>
    <p:extLst>
      <p:ext uri="{BB962C8B-B14F-4D97-AF65-F5344CB8AC3E}">
        <p14:creationId xmlns:p14="http://schemas.microsoft.com/office/powerpoint/2010/main" val="897080052"/>
      </p:ext>
    </p:extLst>
  </p:cSld>
</p:sld>
</file>

<file path=ppt/slides/slide2.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AF8DFC09-E3F2-49DC-AB21-277B028F975D}"/>
              </a:ext>
            </a:extLst>
          </p:cNvPr>
          <p:cNvSpPr>
            <a:spLocks xmlns:a="http://schemas.openxmlformats.org/drawingml/2006/main" noGrp="1"/>
          </p:cNvSpPr>
          <p:nvPr/>
        </p:nvSpPr>
        <p:spPr>
          <a:xfrm xmlns:a="http://schemas.openxmlformats.org/drawingml/2006/main">
            <a:off x="457200" y="428625"/>
            <a:ext cx="822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03731"/>
                </a:solidFill>
                <a:latin typeface="Arial"/>
                <a:ea typeface="Arial"/>
                <a:cs typeface="Arial"/>
              </a:defRPr>
            </a:defPPr>
          </a:lstStyle>
          <a:p xmlns:a="http://schemas.openxmlformats.org/drawingml/2006/main">
            <a:pPr algn="l">
              <a:defRPr sz="2550" b="1">
                <a:solidFill>
                  <a:srgbClr val="203731"/>
                </a:solidFill>
              </a:defRPr>
            </a:pPr>
            <a:r>
              <a:rPr sz="2550" b="1">
                <a:solidFill>
                  <a:srgbClr val="203731"/>
                </a:solidFill>
                <a:latin typeface="Arial"/>
                <a:ea typeface="Arial"/>
                <a:cs typeface="Arial"/>
              </a:rPr>
              <a:t>Today one chat message is the whole decision</a:t>
            </a:r>
          </a:p>
        </p:txBody>
      </p:sp>
      <p:sp>
        <p:nvSpPr>
          <p:cNvPr id="2" name="example">
            <a:extLst xmlns:a="http://schemas.openxmlformats.org/drawingml/2006/main">
              <a:ext uri="{FF2B5EF4-FFF2-40B4-BE49-F238E27FC236}">
                <a16:creationId xmlns:a16="http://schemas.microsoft.com/office/drawing/2014/main" id="{DAA9E96D-4066-4035-9093-70805B7ADFE9}"/>
              </a:ext>
            </a:extLst>
          </p:cNvPr>
          <p:cNvSpPr>
            <a:spLocks xmlns:a="http://schemas.openxmlformats.org/drawingml/2006/main" noGrp="1"/>
          </p:cNvSpPr>
          <p:nvPr/>
        </p:nvSpPr>
        <p:spPr>
          <a:xfrm xmlns:a="http://schemas.openxmlformats.org/drawingml/2006/main">
            <a:off x="457200" y="1323975"/>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C5948"/>
                </a:solidFill>
                <a:latin typeface="Arial"/>
                <a:ea typeface="Arial"/>
                <a:cs typeface="Arial"/>
              </a:defRPr>
            </a:defPPr>
          </a:lstStyle>
          <a:p xmlns:a="http://schemas.openxmlformats.org/drawingml/2006/main">
            <a:pPr algn="l">
              <a:defRPr sz="1725" b="0">
                <a:solidFill>
                  <a:srgbClr val="1C5948"/>
                </a:solidFill>
              </a:defRPr>
            </a:pPr>
            <a:r>
              <a:rPr sz="1725" b="0">
                <a:solidFill>
                  <a:srgbClr val="1C5948"/>
                </a:solidFill>
                <a:latin typeface="Arial"/>
                <a:ea typeface="Arial"/>
                <a:cs typeface="Arial"/>
              </a:rPr>
              <a:t>"Send this order to QuickStitch. Can we get it back by the deadline?"</a:t>
            </a:r>
          </a:p>
        </p:txBody>
      </p:sp>
      <p:sp>
        <p:nvSpPr>
          <p:cNvPr id="3" name="example-note">
            <a:extLst xmlns:a="http://schemas.openxmlformats.org/drawingml/2006/main">
              <a:ext uri="{FF2B5EF4-FFF2-40B4-BE49-F238E27FC236}">
                <a16:creationId xmlns:a16="http://schemas.microsoft.com/office/drawing/2014/main" id="{9F7980FD-6617-4FF6-ABD3-0E2F5549E856}"/>
              </a:ext>
            </a:extLst>
          </p:cNvPr>
          <p:cNvSpPr>
            <a:spLocks xmlns:a="http://schemas.openxmlformats.org/drawingml/2006/main" noGrp="1"/>
          </p:cNvSpPr>
          <p:nvPr/>
        </p:nvSpPr>
        <p:spPr>
          <a:xfrm xmlns:a="http://schemas.openxmlformats.org/drawingml/2006/main">
            <a:off x="457200" y="187642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0726C"/>
                </a:solidFill>
                <a:latin typeface="Arial"/>
                <a:ea typeface="Arial"/>
                <a:cs typeface="Arial"/>
              </a:defRPr>
            </a:defPPr>
          </a:lstStyle>
          <a:p xmlns:a="http://schemas.openxmlformats.org/drawingml/2006/main">
            <a:pPr algn="l">
              <a:defRPr sz="975" b="0">
                <a:solidFill>
                  <a:srgbClr val="60726C"/>
                </a:solidFill>
              </a:defRPr>
            </a:pPr>
            <a:r>
              <a:rPr sz="975" b="0">
                <a:solidFill>
                  <a:srgbClr val="60726C"/>
                </a:solidFill>
                <a:latin typeface="Arial"/>
                <a:ea typeface="Arial"/>
                <a:cs typeface="Arial"/>
              </a:rPr>
              <a:t>Illustrative dispatch request</a:t>
            </a:r>
          </a:p>
        </p:txBody>
      </p:sp>
      <p:sp>
        <p:nvSpPr>
          <p:cNvPr id="4" name="Can the workshop make it?">
            <a:extLst xmlns:a="http://schemas.openxmlformats.org/drawingml/2006/main">
              <a:ext uri="{FF2B5EF4-FFF2-40B4-BE49-F238E27FC236}">
                <a16:creationId xmlns:a16="http://schemas.microsoft.com/office/drawing/2014/main" id="{EF8FCC8B-0654-4149-823D-8CF1C9555D77}"/>
              </a:ext>
            </a:extLst>
          </p:cNvPr>
          <p:cNvSpPr>
            <a:spLocks xmlns:a="http://schemas.openxmlformats.org/drawingml/2006/main" noGrp="1"/>
          </p:cNvSpPr>
          <p:nvPr/>
        </p:nvSpPr>
        <p:spPr>
          <a:xfrm xmlns:a="http://schemas.openxmlformats.org/drawingml/2006/main">
            <a:off x="457200" y="238125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1C5948"/>
                </a:solidFill>
                <a:latin typeface="Arial"/>
                <a:ea typeface="Arial"/>
                <a:cs typeface="Arial"/>
              </a:defRPr>
            </a:defPPr>
          </a:lstStyle>
          <a:p xmlns:a="http://schemas.openxmlformats.org/drawingml/2006/main">
            <a:pPr algn="l">
              <a:defRPr sz="1650" b="1">
                <a:solidFill>
                  <a:srgbClr val="1C5948"/>
                </a:solidFill>
              </a:defRPr>
            </a:pPr>
            <a:r>
              <a:rPr sz="1650" b="1">
                <a:solidFill>
                  <a:srgbClr val="1C5948"/>
                </a:solidFill>
                <a:latin typeface="Arial"/>
                <a:ea typeface="Arial"/>
                <a:cs typeface="Arial"/>
              </a:rPr>
              <a:t>Can the workshop make it?</a:t>
            </a:r>
          </a:p>
        </p:txBody>
      </p:sp>
      <p:sp>
        <p:nvSpPr>
          <p:cNvPr id="5" name="Can the workshop make it? detail">
            <a:extLst xmlns:a="http://schemas.openxmlformats.org/drawingml/2006/main">
              <a:ext uri="{FF2B5EF4-FFF2-40B4-BE49-F238E27FC236}">
                <a16:creationId xmlns:a16="http://schemas.microsoft.com/office/drawing/2014/main" id="{25484919-AA36-4446-AE70-B6A32125C36D}"/>
              </a:ext>
            </a:extLst>
          </p:cNvPr>
          <p:cNvSpPr>
            <a:spLocks xmlns:a="http://schemas.openxmlformats.org/drawingml/2006/main" noGrp="1"/>
          </p:cNvSpPr>
          <p:nvPr/>
        </p:nvSpPr>
        <p:spPr>
          <a:xfrm xmlns:a="http://schemas.openxmlformats.org/drawingml/2006/main">
            <a:off x="457200" y="27241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203731"/>
                </a:solidFill>
                <a:latin typeface="Arial"/>
                <a:ea typeface="Arial"/>
                <a:cs typeface="Arial"/>
              </a:defRPr>
            </a:defPPr>
          </a:lstStyle>
          <a:p xmlns:a="http://schemas.openxmlformats.org/drawingml/2006/main">
            <a:pPr algn="l">
              <a:defRPr sz="1500" b="0">
                <a:solidFill>
                  <a:srgbClr val="203731"/>
                </a:solidFill>
              </a:defRPr>
            </a:pPr>
            <a:r>
              <a:rPr sz="1500" b="0">
                <a:solidFill>
                  <a:srgbClr val="203731"/>
                </a:solidFill>
                <a:latin typeface="Arial"/>
                <a:ea typeface="Arial"/>
                <a:cs typeface="Arial"/>
              </a:rPr>
              <a:t>Check product capability.</a:t>
            </a:r>
          </a:p>
        </p:txBody>
      </p:sp>
      <p:sp>
        <p:nvSpPr>
          <p:cNvPr id="6" name="Can it meet the date?">
            <a:extLst xmlns:a="http://schemas.openxmlformats.org/drawingml/2006/main">
              <a:ext uri="{FF2B5EF4-FFF2-40B4-BE49-F238E27FC236}">
                <a16:creationId xmlns:a16="http://schemas.microsoft.com/office/drawing/2014/main" id="{C0B2FDEA-FBD1-4D71-B37E-0235434D1BA5}"/>
              </a:ext>
            </a:extLst>
          </p:cNvPr>
          <p:cNvSpPr>
            <a:spLocks xmlns:a="http://schemas.openxmlformats.org/drawingml/2006/main" noGrp="1"/>
          </p:cNvSpPr>
          <p:nvPr/>
        </p:nvSpPr>
        <p:spPr>
          <a:xfrm xmlns:a="http://schemas.openxmlformats.org/drawingml/2006/main">
            <a:off x="457200" y="31337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1C5948"/>
                </a:solidFill>
                <a:latin typeface="Arial"/>
                <a:ea typeface="Arial"/>
                <a:cs typeface="Arial"/>
              </a:defRPr>
            </a:defPPr>
          </a:lstStyle>
          <a:p xmlns:a="http://schemas.openxmlformats.org/drawingml/2006/main">
            <a:pPr algn="l">
              <a:defRPr sz="1650" b="1">
                <a:solidFill>
                  <a:srgbClr val="1C5948"/>
                </a:solidFill>
              </a:defRPr>
            </a:pPr>
            <a:r>
              <a:rPr sz="1650" b="1">
                <a:solidFill>
                  <a:srgbClr val="1C5948"/>
                </a:solidFill>
                <a:latin typeface="Arial"/>
                <a:ea typeface="Arial"/>
                <a:cs typeface="Arial"/>
              </a:rPr>
              <a:t>Can it meet the date?</a:t>
            </a:r>
          </a:p>
        </p:txBody>
      </p:sp>
      <p:sp>
        <p:nvSpPr>
          <p:cNvPr id="7" name="Can it meet the date? detail">
            <a:extLst xmlns:a="http://schemas.openxmlformats.org/drawingml/2006/main">
              <a:ext uri="{FF2B5EF4-FFF2-40B4-BE49-F238E27FC236}">
                <a16:creationId xmlns:a16="http://schemas.microsoft.com/office/drawing/2014/main" id="{72F59B37-2613-46AE-B319-C123FA5C9646}"/>
              </a:ext>
            </a:extLst>
          </p:cNvPr>
          <p:cNvSpPr>
            <a:spLocks xmlns:a="http://schemas.openxmlformats.org/drawingml/2006/main" noGrp="1"/>
          </p:cNvSpPr>
          <p:nvPr/>
        </p:nvSpPr>
        <p:spPr>
          <a:xfrm xmlns:a="http://schemas.openxmlformats.org/drawingml/2006/main">
            <a:off x="457200" y="34766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203731"/>
                </a:solidFill>
                <a:latin typeface="Arial"/>
                <a:ea typeface="Arial"/>
                <a:cs typeface="Arial"/>
              </a:defRPr>
            </a:defPPr>
          </a:lstStyle>
          <a:p xmlns:a="http://schemas.openxmlformats.org/drawingml/2006/main">
            <a:pPr algn="l">
              <a:defRPr sz="1500" b="0">
                <a:solidFill>
                  <a:srgbClr val="203731"/>
                </a:solidFill>
              </a:defRPr>
            </a:pPr>
            <a:r>
              <a:rPr sz="1500" b="0">
                <a:solidFill>
                  <a:srgbClr val="203731"/>
                </a:solidFill>
                <a:latin typeface="Arial"/>
                <a:ea typeface="Arial"/>
                <a:cs typeface="Arial"/>
              </a:rPr>
              <a:t>Check current work, capacity and transport.</a:t>
            </a:r>
          </a:p>
        </p:txBody>
      </p:sp>
      <p:sp>
        <p:nvSpPr>
          <p:cNvPr id="8" name="Is it allowed to take the batch?">
            <a:extLst xmlns:a="http://schemas.openxmlformats.org/drawingml/2006/main">
              <a:ext uri="{FF2B5EF4-FFF2-40B4-BE49-F238E27FC236}">
                <a16:creationId xmlns:a16="http://schemas.microsoft.com/office/drawing/2014/main" id="{A1F0427B-9BDD-460B-8E38-442D6452B736}"/>
              </a:ext>
            </a:extLst>
          </p:cNvPr>
          <p:cNvSpPr>
            <a:spLocks xmlns:a="http://schemas.openxmlformats.org/drawingml/2006/main" noGrp="1"/>
          </p:cNvSpPr>
          <p:nvPr/>
        </p:nvSpPr>
        <p:spPr>
          <a:xfrm xmlns:a="http://schemas.openxmlformats.org/drawingml/2006/main">
            <a:off x="457200" y="38862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1C5948"/>
                </a:solidFill>
                <a:latin typeface="Arial"/>
                <a:ea typeface="Arial"/>
                <a:cs typeface="Arial"/>
              </a:defRPr>
            </a:defPPr>
          </a:lstStyle>
          <a:p xmlns:a="http://schemas.openxmlformats.org/drawingml/2006/main">
            <a:pPr algn="l">
              <a:defRPr sz="1650" b="1">
                <a:solidFill>
                  <a:srgbClr val="1C5948"/>
                </a:solidFill>
              </a:defRPr>
            </a:pPr>
            <a:r>
              <a:rPr sz="1650" b="1">
                <a:solidFill>
                  <a:srgbClr val="1C5948"/>
                </a:solidFill>
                <a:latin typeface="Arial"/>
                <a:ea typeface="Arial"/>
                <a:cs typeface="Arial"/>
              </a:rPr>
              <a:t>Is it allowed to take the batch?</a:t>
            </a:r>
          </a:p>
        </p:txBody>
      </p:sp>
      <p:sp>
        <p:nvSpPr>
          <p:cNvPr id="9" name="Is it allowed to take the batch? detail">
            <a:extLst xmlns:a="http://schemas.openxmlformats.org/drawingml/2006/main">
              <a:ext uri="{FF2B5EF4-FFF2-40B4-BE49-F238E27FC236}">
                <a16:creationId xmlns:a16="http://schemas.microsoft.com/office/drawing/2014/main" id="{5D7F44FE-3F22-41A6-91E8-7AC2B343D3EE}"/>
              </a:ext>
            </a:extLst>
          </p:cNvPr>
          <p:cNvSpPr>
            <a:spLocks xmlns:a="http://schemas.openxmlformats.org/drawingml/2006/main" noGrp="1"/>
          </p:cNvSpPr>
          <p:nvPr/>
        </p:nvSpPr>
        <p:spPr>
          <a:xfrm xmlns:a="http://schemas.openxmlformats.org/drawingml/2006/main">
            <a:off x="457200" y="42291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203731"/>
                </a:solidFill>
                <a:latin typeface="Arial"/>
                <a:ea typeface="Arial"/>
                <a:cs typeface="Arial"/>
              </a:defRPr>
            </a:defPPr>
          </a:lstStyle>
          <a:p xmlns:a="http://schemas.openxmlformats.org/drawingml/2006/main">
            <a:pPr algn="l">
              <a:defRPr sz="1500" b="0">
                <a:solidFill>
                  <a:srgbClr val="203731"/>
                </a:solidFill>
              </a:defRPr>
            </a:pPr>
            <a:r>
              <a:rPr sz="1500" b="0">
                <a:solidFill>
                  <a:srgbClr val="203731"/>
                </a:solidFill>
                <a:latin typeface="Arial"/>
                <a:ea typeface="Arial"/>
                <a:cs typeface="Arial"/>
              </a:rPr>
              <a:t>Check suspensions and batch limits.</a:t>
            </a:r>
          </a:p>
        </p:txBody>
      </p:sp>
      <p:sp>
        <p:nvSpPr>
          <p:cNvPr id="10" name="solution-heading">
            <a:extLst xmlns:a="http://schemas.openxmlformats.org/drawingml/2006/main">
              <a:ext uri="{FF2B5EF4-FFF2-40B4-BE49-F238E27FC236}">
                <a16:creationId xmlns:a16="http://schemas.microsoft.com/office/drawing/2014/main" id="{2A016BEA-A67A-4834-894A-D304A458832A}"/>
              </a:ext>
            </a:extLst>
          </p:cNvPr>
          <p:cNvSpPr>
            <a:spLocks xmlns:a="http://schemas.openxmlformats.org/drawingml/2006/main" noGrp="1"/>
          </p:cNvSpPr>
          <p:nvPr/>
        </p:nvSpPr>
        <p:spPr>
          <a:xfrm xmlns:a="http://schemas.openxmlformats.org/drawingml/2006/main">
            <a:off x="4953000" y="240030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1C5948"/>
                </a:solidFill>
                <a:latin typeface="Arial"/>
                <a:ea typeface="Arial"/>
                <a:cs typeface="Arial"/>
              </a:defRPr>
            </a:defPPr>
          </a:lstStyle>
          <a:p xmlns:a="http://schemas.openxmlformats.org/drawingml/2006/main">
            <a:pPr algn="l">
              <a:defRPr sz="1800" b="1">
                <a:solidFill>
                  <a:srgbClr val="1C5948"/>
                </a:solidFill>
              </a:defRPr>
            </a:pPr>
            <a:r>
              <a:rPr sz="1800" b="1">
                <a:solidFill>
                  <a:srgbClr val="1C5948"/>
                </a:solidFill>
                <a:latin typeface="Arial"/>
                <a:ea typeface="Arial"/>
                <a:cs typeface="Arial"/>
              </a:rPr>
              <a:t>Our proposed solution</a:t>
            </a:r>
          </a:p>
        </p:txBody>
      </p:sp>
      <p:sp>
        <p:nvSpPr>
          <p:cNvPr id="11" name="solution">
            <a:extLst xmlns:a="http://schemas.openxmlformats.org/drawingml/2006/main">
              <a:ext uri="{FF2B5EF4-FFF2-40B4-BE49-F238E27FC236}">
                <a16:creationId xmlns:a16="http://schemas.microsoft.com/office/drawing/2014/main" id="{1C733B1A-9B8B-43D3-89CA-41033E896A98}"/>
              </a:ext>
            </a:extLst>
          </p:cNvPr>
          <p:cNvSpPr>
            <a:spLocks xmlns:a="http://schemas.openxmlformats.org/drawingml/2006/main" noGrp="1"/>
          </p:cNvSpPr>
          <p:nvPr/>
        </p:nvSpPr>
        <p:spPr>
          <a:xfrm xmlns:a="http://schemas.openxmlformats.org/drawingml/2006/main">
            <a:off x="4953000" y="2847975"/>
            <a:ext cx="37338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03731"/>
                </a:solidFill>
                <a:latin typeface="Arial"/>
                <a:ea typeface="Arial"/>
                <a:cs typeface="Arial"/>
              </a:defRPr>
            </a:defPPr>
          </a:lstStyle>
          <a:p xmlns:a="http://schemas.openxmlformats.org/drawingml/2006/main">
            <a:pPr algn="l">
              <a:defRPr sz="1650" b="0">
                <a:solidFill>
                  <a:srgbClr val="203731"/>
                </a:solidFill>
              </a:defRPr>
            </a:pPr>
            <a:r>
              <a:rPr sz="1650" b="0">
                <a:solidFill>
                  <a:srgbClr val="203731"/>
                </a:solidFill>
                <a:latin typeface="Arial"/>
                <a:ea typeface="Arial"/>
                <a:cs typeface="Arial"/>
              </a:rPr>
              <a:t>Read the request and clarify missing details.</a:t>
            </a:r>
          </a:p>
          <a:p xmlns:a="http://schemas.openxmlformats.org/drawingml/2006/main">
            <a:r>
              <a:t/>
            </a:r>
          </a:p>
          <a:p xmlns:a="http://schemas.openxmlformats.org/drawingml/2006/main">
            <a:pPr algn="l">
              <a:defRPr sz="1650" b="0">
                <a:solidFill>
                  <a:srgbClr val="203731"/>
                </a:solidFill>
              </a:defRPr>
            </a:pPr>
            <a:r>
              <a:rPr sz="1650" b="0">
                <a:solidFill>
                  <a:srgbClr val="203731"/>
                </a:solidFill>
                <a:latin typeface="Arial"/>
                <a:ea typeface="Arial"/>
                <a:cs typeface="Arial"/>
              </a:rPr>
              <a:t>Compare suitable workshops using delivery estimates.</a:t>
            </a:r>
          </a:p>
          <a:p xmlns:a="http://schemas.openxmlformats.org/drawingml/2006/main">
            <a:r>
              <a:t/>
            </a:r>
          </a:p>
          <a:p xmlns:a="http://schemas.openxmlformats.org/drawingml/2006/main">
            <a:pPr algn="l">
              <a:defRPr sz="1650" b="0">
                <a:solidFill>
                  <a:srgbClr val="203731"/>
                </a:solidFill>
              </a:defRPr>
            </a:pPr>
            <a:r>
              <a:rPr sz="1650" b="0">
                <a:solidFill>
                  <a:srgbClr val="203731"/>
                </a:solidFill>
                <a:latin typeface="Arial"/>
                <a:ea typeface="Arial"/>
                <a:cs typeface="Arial"/>
              </a:rPr>
              <a:t>Save the decision and its evidence after approval.</a:t>
            </a:r>
          </a:p>
        </p:txBody>
      </p:sp>
      <p:sp>
        <p:nvSpPr>
          <p:cNvPr id="12" name="source-note">
            <a:extLst xmlns:a="http://schemas.openxmlformats.org/drawingml/2006/main">
              <a:ext uri="{FF2B5EF4-FFF2-40B4-BE49-F238E27FC236}">
                <a16:creationId xmlns:a16="http://schemas.microsoft.com/office/drawing/2014/main" id="{17F07969-6FCF-4D45-A31D-53098A1C251E}"/>
              </a:ext>
            </a:extLst>
          </p:cNvPr>
          <p:cNvSpPr>
            <a:spLocks xmlns:a="http://schemas.openxmlformats.org/drawingml/2006/main" noGrp="1"/>
          </p:cNvSpPr>
          <p:nvPr/>
        </p:nvSpPr>
        <p:spPr>
          <a:xfrm xmlns:a="http://schemas.openxmlformats.org/drawingml/2006/main">
            <a:off x="457200" y="4810125"/>
            <a:ext cx="822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63" b="0">
                <a:solidFill>
                  <a:srgbClr val="60726C"/>
                </a:solidFill>
                <a:latin typeface="Arial"/>
                <a:ea typeface="Arial"/>
                <a:cs typeface="Arial"/>
              </a:defRPr>
            </a:defPPr>
          </a:lstStyle>
          <a:p xmlns:a="http://schemas.openxmlformats.org/drawingml/2006/main">
            <a:pPr algn="l">
              <a:defRPr sz="863" b="0">
                <a:solidFill>
                  <a:srgbClr val="60726C"/>
                </a:solidFill>
              </a:defRPr>
            </a:pPr>
            <a:r>
              <a:rPr sz="863" b="0">
                <a:solidFill>
                  <a:srgbClr val="60726C"/>
                </a:solidFill>
                <a:latin typeface="Arial"/>
                <a:ea typeface="Arial"/>
                <a:cs typeface="Arial"/>
              </a:rPr>
              <a:t>Business risk: a wrong workshop choice can delay delivery and leave no clear decision record.</a:t>
            </a:r>
          </a:p>
        </p:txBody>
      </p:sp>
    </p:spTree>
    <p:extLst>
      <p:ext uri="{BB962C8B-B14F-4D97-AF65-F5344CB8AC3E}">
        <p14:creationId xmlns:p14="http://schemas.microsoft.com/office/powerpoint/2010/main" val="1700760130"/>
      </p:ext>
    </p:extLst>
  </p:cSld>
</p:sld>
</file>

<file path=ppt/slides/slide3.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F898D47E-969A-4C97-896B-A1AFCA024234}"/>
              </a:ext>
            </a:extLst>
          </p:cNvPr>
          <p:cNvCxnSpPr>
            <a:stCxn xmlns:a="http://schemas.openxmlformats.org/drawingml/2006/main" id="21" idx="0"/>
            <a:endCxn xmlns:a="http://schemas.openxmlformats.org/drawingml/2006/main" id="9" idx="2"/>
          </p:cNvCxnSpPr>
          <p:nvPr/>
        </p:nvCxnSpPr>
        <p:spPr>
          <a:xfrm xmlns:a="http://schemas.openxmlformats.org/drawingml/2006/main" flipV="1">
            <a:off x="5295900" y="3267075"/>
            <a:ext cx="0" cy="400050"/>
          </a:xfrm>
          <a:prstGeom xmlns:a="http://schemas.openxmlformats.org/drawingml/2006/main" prst="straightConnector1">
            <a:avLst/>
          </a:prstGeom>
          <a:ln xmlns:a="http://schemas.openxmlformats.org/drawingml/2006/main" w="15240">
            <a:solidFill>
              <a:srgbClr val="60726C"/>
            </a:solidFill>
            <a:tailEnd type="triangle" w="sm" len="sm"/>
          </a:ln>
        </p:spPr>
      </p:cxnSp>
      <p:cxnSp>
        <p:nvCxnSpPr>
          <p:cNvPr id="28" name="">
            <a:extLst xmlns:a="http://schemas.openxmlformats.org/drawingml/2006/main">
              <a:ext uri="{FF2B5EF4-FFF2-40B4-BE49-F238E27FC236}">
                <a16:creationId xmlns:a16="http://schemas.microsoft.com/office/drawing/2014/main" id="{5CEE51F3-3822-47A4-BB50-A35777FC3C3B}"/>
              </a:ext>
            </a:extLst>
          </p:cNvPr>
          <p:cNvCxnSpPr>
            <a:stCxn xmlns:a="http://schemas.openxmlformats.org/drawingml/2006/main" id="12" idx="2"/>
            <a:endCxn xmlns:a="http://schemas.openxmlformats.org/drawingml/2006/main" id="24" idx="0"/>
          </p:cNvCxnSpPr>
          <p:nvPr/>
        </p:nvCxnSpPr>
        <p:spPr>
          <a:xfrm xmlns:a="http://schemas.openxmlformats.org/drawingml/2006/main">
            <a:off x="7620000" y="3267075"/>
            <a:ext cx="0" cy="400050"/>
          </a:xfrm>
          <a:prstGeom xmlns:a="http://schemas.openxmlformats.org/drawingml/2006/main" prst="straightConnector1">
            <a:avLst/>
          </a:prstGeom>
          <a:ln xmlns:a="http://schemas.openxmlformats.org/drawingml/2006/main" w="15240">
            <a:solidFill>
              <a:srgbClr val="60726C"/>
            </a:solidFill>
            <a:tailEnd type="triangle" w="sm" len="sm"/>
          </a:ln>
        </p:spPr>
      </p:cxnSp>
      <p:cxnSp>
        <p:nvCxnSpPr>
          <p:cNvPr id="27" name="">
            <a:extLst xmlns:a="http://schemas.openxmlformats.org/drawingml/2006/main">
              <a:ext uri="{FF2B5EF4-FFF2-40B4-BE49-F238E27FC236}">
                <a16:creationId xmlns:a16="http://schemas.microsoft.com/office/drawing/2014/main" id="{C49B68C3-E16E-4284-A2D6-E53770C1229D}"/>
              </a:ext>
            </a:extLst>
          </p:cNvPr>
          <p:cNvCxnSpPr>
            <a:stCxn xmlns:a="http://schemas.openxmlformats.org/drawingml/2006/main" id="18" idx="0"/>
            <a:endCxn xmlns:a="http://schemas.openxmlformats.org/drawingml/2006/main" id="6" idx="2"/>
          </p:cNvCxnSpPr>
          <p:nvPr/>
        </p:nvCxnSpPr>
        <p:spPr>
          <a:xfrm xmlns:a="http://schemas.openxmlformats.org/drawingml/2006/main" flipV="1">
            <a:off x="3181350" y="3267075"/>
            <a:ext cx="0" cy="400050"/>
          </a:xfrm>
          <a:prstGeom xmlns:a="http://schemas.openxmlformats.org/drawingml/2006/main" prst="straightConnector1">
            <a:avLst/>
          </a:prstGeom>
          <a:ln xmlns:a="http://schemas.openxmlformats.org/drawingml/2006/main" w="15240">
            <a:solidFill>
              <a:srgbClr val="60726C"/>
            </a:solidFill>
            <a:tailEnd type="triangle" w="sm" len="sm"/>
          </a:ln>
        </p:spPr>
      </p:cxnSp>
      <p:cxnSp>
        <p:nvCxnSpPr>
          <p:cNvPr id="17" name="">
            <a:extLst xmlns:a="http://schemas.openxmlformats.org/drawingml/2006/main">
              <a:ext uri="{FF2B5EF4-FFF2-40B4-BE49-F238E27FC236}">
                <a16:creationId xmlns:a16="http://schemas.microsoft.com/office/drawing/2014/main" id="{854156FB-5FC6-483C-A034-39B9FDCF4C00}"/>
              </a:ext>
            </a:extLst>
          </p:cNvPr>
          <p:cNvCxnSpPr>
            <a:stCxn xmlns:a="http://schemas.openxmlformats.org/drawingml/2006/main" id="9" idx="3"/>
            <a:endCxn xmlns:a="http://schemas.openxmlformats.org/drawingml/2006/main" id="12" idx="1"/>
          </p:cNvCxnSpPr>
          <p:nvPr/>
        </p:nvCxnSpPr>
        <p:spPr>
          <a:xfrm xmlns:a="http://schemas.openxmlformats.org/drawingml/2006/main">
            <a:off x="6248400" y="2476500"/>
            <a:ext cx="304800" cy="0"/>
          </a:xfrm>
          <a:prstGeom xmlns:a="http://schemas.openxmlformats.org/drawingml/2006/main" prst="straightConnector1">
            <a:avLst/>
          </a:prstGeom>
          <a:ln xmlns:a="http://schemas.openxmlformats.org/drawingml/2006/main" w="15240">
            <a:solidFill>
              <a:srgbClr val="60726C"/>
            </a:solidFill>
            <a:tailEnd type="triangle" w="sm" len="sm"/>
          </a:ln>
        </p:spPr>
      </p:cxnSp>
      <p:cxnSp>
        <p:nvCxnSpPr>
          <p:cNvPr id="16" name="">
            <a:extLst xmlns:a="http://schemas.openxmlformats.org/drawingml/2006/main">
              <a:ext uri="{FF2B5EF4-FFF2-40B4-BE49-F238E27FC236}">
                <a16:creationId xmlns:a16="http://schemas.microsoft.com/office/drawing/2014/main" id="{A255CF73-A730-4AA7-A1AA-EAC22D14315C}"/>
              </a:ext>
            </a:extLst>
          </p:cNvPr>
          <p:cNvCxnSpPr>
            <a:stCxn xmlns:a="http://schemas.openxmlformats.org/drawingml/2006/main" id="6" idx="3"/>
            <a:endCxn xmlns:a="http://schemas.openxmlformats.org/drawingml/2006/main" id="9" idx="1"/>
          </p:cNvCxnSpPr>
          <p:nvPr/>
        </p:nvCxnSpPr>
        <p:spPr>
          <a:xfrm xmlns:a="http://schemas.openxmlformats.org/drawingml/2006/main">
            <a:off x="4038600" y="2476500"/>
            <a:ext cx="304800" cy="0"/>
          </a:xfrm>
          <a:prstGeom xmlns:a="http://schemas.openxmlformats.org/drawingml/2006/main" prst="straightConnector1">
            <a:avLst/>
          </a:prstGeom>
          <a:ln xmlns:a="http://schemas.openxmlformats.org/drawingml/2006/main" w="15240">
            <a:solidFill>
              <a:srgbClr val="60726C"/>
            </a:solidFill>
            <a:tailEnd type="triangle" w="sm" len="sm"/>
          </a:ln>
        </p:spPr>
      </p:cxnSp>
      <p:cxnSp>
        <p:nvCxnSpPr>
          <p:cNvPr id="15" name="">
            <a:extLst xmlns:a="http://schemas.openxmlformats.org/drawingml/2006/main">
              <a:ext uri="{FF2B5EF4-FFF2-40B4-BE49-F238E27FC236}">
                <a16:creationId xmlns:a16="http://schemas.microsoft.com/office/drawing/2014/main" id="{2197B9F0-7BC9-4233-87CF-6846CC92CA66}"/>
              </a:ext>
            </a:extLst>
          </p:cNvPr>
          <p:cNvCxnSpPr>
            <a:stCxn xmlns:a="http://schemas.openxmlformats.org/drawingml/2006/main" id="3" idx="3"/>
            <a:endCxn xmlns:a="http://schemas.openxmlformats.org/drawingml/2006/main" id="6" idx="1"/>
          </p:cNvCxnSpPr>
          <p:nvPr/>
        </p:nvCxnSpPr>
        <p:spPr>
          <a:xfrm xmlns:a="http://schemas.openxmlformats.org/drawingml/2006/main">
            <a:off x="2019300" y="2476500"/>
            <a:ext cx="304800" cy="0"/>
          </a:xfrm>
          <a:prstGeom xmlns:a="http://schemas.openxmlformats.org/drawingml/2006/main" prst="straightConnector1">
            <a:avLst/>
          </a:prstGeom>
          <a:ln xmlns:a="http://schemas.openxmlformats.org/drawingml/2006/main" w="15240">
            <a:solidFill>
              <a:srgbClr val="60726C"/>
            </a:solidFill>
            <a:tailEnd type="triangle" w="sm" len="sm"/>
          </a:ln>
        </p:spPr>
      </p:cxnSp>
      <p:sp>
        <p:nvSpPr>
          <p:cNvPr id="33" name="title">
            <a:extLst xmlns:a="http://schemas.openxmlformats.org/drawingml/2006/main">
              <a:ext uri="{FF2B5EF4-FFF2-40B4-BE49-F238E27FC236}">
                <a16:creationId xmlns:a16="http://schemas.microsoft.com/office/drawing/2014/main" id="{D0E44407-5092-4AC4-9730-0B755A14383C}"/>
              </a:ext>
            </a:extLst>
          </p:cNvPr>
          <p:cNvSpPr>
            <a:spLocks xmlns:a="http://schemas.openxmlformats.org/drawingml/2006/main" noGrp="1"/>
          </p:cNvSpPr>
          <p:nvPr/>
        </p:nvSpPr>
        <p:spPr>
          <a:xfrm xmlns:a="http://schemas.openxmlformats.org/drawingml/2006/main">
            <a:off x="457200" y="428625"/>
            <a:ext cx="822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03731"/>
                </a:solidFill>
                <a:latin typeface="Arial"/>
                <a:ea typeface="Arial"/>
                <a:cs typeface="Arial"/>
              </a:defRPr>
            </a:defPPr>
          </a:lstStyle>
          <a:p xmlns:a="http://schemas.openxmlformats.org/drawingml/2006/main">
            <a:pPr algn="l">
              <a:defRPr sz="2550" b="1">
                <a:solidFill>
                  <a:srgbClr val="203731"/>
                </a:solidFill>
              </a:defRPr>
            </a:pPr>
            <a:r>
              <a:rPr sz="2550" b="1">
                <a:solidFill>
                  <a:srgbClr val="203731"/>
                </a:solidFill>
                <a:latin typeface="Arial"/>
                <a:ea typeface="Arial"/>
                <a:cs typeface="Arial"/>
              </a:rPr>
              <a:t>System architecture</a:t>
            </a:r>
          </a:p>
        </p:txBody>
      </p:sp>
      <p:sp>
        <p:nvSpPr>
          <p:cNvPr id="2" name="workflow-summary">
            <a:extLst xmlns:a="http://schemas.openxmlformats.org/drawingml/2006/main">
              <a:ext uri="{FF2B5EF4-FFF2-40B4-BE49-F238E27FC236}">
                <a16:creationId xmlns:a16="http://schemas.microsoft.com/office/drawing/2014/main" id="{B964DC63-1CC9-4A13-8D7C-59F355CFDFCE}"/>
              </a:ext>
            </a:extLst>
          </p:cNvPr>
          <p:cNvSpPr>
            <a:spLocks xmlns:a="http://schemas.openxmlformats.org/drawingml/2006/main" noGrp="1"/>
          </p:cNvSpPr>
          <p:nvPr/>
        </p:nvSpPr>
        <p:spPr>
          <a:xfrm xmlns:a="http://schemas.openxmlformats.org/drawingml/2006/main">
            <a:off x="457200" y="104775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60726C"/>
                </a:solidFill>
                <a:latin typeface="Arial"/>
                <a:ea typeface="Arial"/>
                <a:cs typeface="Arial"/>
              </a:defRPr>
            </a:defPPr>
          </a:lstStyle>
          <a:p xmlns:a="http://schemas.openxmlformats.org/drawingml/2006/main">
            <a:pPr algn="l">
              <a:defRPr sz="1425" b="0">
                <a:solidFill>
                  <a:srgbClr val="60726C"/>
                </a:solidFill>
              </a:defRPr>
            </a:pPr>
            <a:r>
              <a:rPr sz="1425" b="0">
                <a:solidFill>
                  <a:srgbClr val="60726C"/>
                </a:solidFill>
                <a:latin typeface="Arial"/>
                <a:ea typeface="Arial"/>
                <a:cs typeface="Arial"/>
              </a:rPr>
              <a:t>One dispatcher workflow with separate language, calculation and approval steps</a:t>
            </a:r>
          </a:p>
        </p:txBody>
      </p:sp>
      <p:sp>
        <p:nvSpPr>
          <p:cNvPr id="3" name="dispatcher">
            <a:extLst xmlns:a="http://schemas.openxmlformats.org/drawingml/2006/main">
              <a:ext uri="{FF2B5EF4-FFF2-40B4-BE49-F238E27FC236}">
                <a16:creationId xmlns:a16="http://schemas.microsoft.com/office/drawing/2014/main" id="{1A8729F1-56E4-4E14-951F-3B7883B55E30}"/>
              </a:ext>
            </a:extLst>
          </p:cNvPr>
          <p:cNvSpPr>
            <a:spLocks xmlns:a="http://schemas.openxmlformats.org/drawingml/2006/main" noGrp="1"/>
          </p:cNvSpPr>
          <p:nvPr/>
        </p:nvSpPr>
        <p:spPr>
          <a:xfrm xmlns:a="http://schemas.openxmlformats.org/drawingml/2006/main">
            <a:off x="457200" y="1685925"/>
            <a:ext cx="1562100" cy="1581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7CE"/>
            </a:solidFill>
          </a:ln>
        </p:spPr>
      </p:sp>
      <p:sp>
        <p:nvSpPr>
          <p:cNvPr id="4" name="dispatcher title">
            <a:extLst xmlns:a="http://schemas.openxmlformats.org/drawingml/2006/main">
              <a:ext uri="{FF2B5EF4-FFF2-40B4-BE49-F238E27FC236}">
                <a16:creationId xmlns:a16="http://schemas.microsoft.com/office/drawing/2014/main" id="{10D9E231-7638-40F4-BB5E-AA75CE26AD3F}"/>
              </a:ext>
            </a:extLst>
          </p:cNvPr>
          <p:cNvSpPr>
            <a:spLocks xmlns:a="http://schemas.openxmlformats.org/drawingml/2006/main" noGrp="1"/>
          </p:cNvSpPr>
          <p:nvPr/>
        </p:nvSpPr>
        <p:spPr>
          <a:xfrm xmlns:a="http://schemas.openxmlformats.org/drawingml/2006/main">
            <a:off x="590550" y="1828800"/>
            <a:ext cx="1295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1C5948"/>
                </a:solidFill>
                <a:latin typeface="Arial"/>
                <a:ea typeface="Arial"/>
                <a:cs typeface="Arial"/>
              </a:defRPr>
            </a:defPPr>
          </a:lstStyle>
          <a:p xmlns:a="http://schemas.openxmlformats.org/drawingml/2006/main">
            <a:pPr algn="l">
              <a:defRPr sz="1575" b="1">
                <a:solidFill>
                  <a:srgbClr val="1C5948"/>
                </a:solidFill>
              </a:defRPr>
            </a:pPr>
            <a:r>
              <a:rPr sz="1575" b="1">
                <a:solidFill>
                  <a:srgbClr val="1C5948"/>
                </a:solidFill>
                <a:latin typeface="Arial"/>
                <a:ea typeface="Arial"/>
                <a:cs typeface="Arial"/>
              </a:rPr>
              <a:t>Dispatcher desk</a:t>
            </a:r>
          </a:p>
        </p:txBody>
      </p:sp>
      <p:sp>
        <p:nvSpPr>
          <p:cNvPr id="5" name="dispatcher body">
            <a:extLst xmlns:a="http://schemas.openxmlformats.org/drawingml/2006/main">
              <a:ext uri="{FF2B5EF4-FFF2-40B4-BE49-F238E27FC236}">
                <a16:creationId xmlns:a16="http://schemas.microsoft.com/office/drawing/2014/main" id="{CABFBD9F-AEFC-411E-AC91-5BD220994B28}"/>
              </a:ext>
            </a:extLst>
          </p:cNvPr>
          <p:cNvSpPr>
            <a:spLocks xmlns:a="http://schemas.openxmlformats.org/drawingml/2006/main" noGrp="1"/>
          </p:cNvSpPr>
          <p:nvPr/>
        </p:nvSpPr>
        <p:spPr>
          <a:xfrm xmlns:a="http://schemas.openxmlformats.org/drawingml/2006/main">
            <a:off x="590550" y="2381250"/>
            <a:ext cx="1295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203731"/>
                </a:solidFill>
                <a:latin typeface="Arial"/>
                <a:ea typeface="Arial"/>
                <a:cs typeface="Arial"/>
              </a:defRPr>
            </a:defPPr>
          </a:lstStyle>
          <a:p xmlns:a="http://schemas.openxmlformats.org/drawingml/2006/main">
            <a:pPr algn="l">
              <a:defRPr sz="1275" b="0">
                <a:solidFill>
                  <a:srgbClr val="203731"/>
                </a:solidFill>
              </a:defRPr>
            </a:pPr>
            <a:r>
              <a:rPr sz="1275" b="0">
                <a:solidFill>
                  <a:srgbClr val="203731"/>
                </a:solidFill>
                <a:latin typeface="Arial"/>
                <a:ea typeface="Arial"/>
                <a:cs typeface="Arial"/>
              </a:rPr>
              <a:t>Streamlit</a:t>
            </a:r>
          </a:p>
          <a:p xmlns:a="http://schemas.openxmlformats.org/drawingml/2006/main">
            <a:pPr algn="l">
              <a:defRPr sz="1275" b="0">
                <a:solidFill>
                  <a:srgbClr val="203731"/>
                </a:solidFill>
              </a:defRPr>
            </a:pPr>
            <a:r>
              <a:rPr sz="1275" b="0">
                <a:solidFill>
                  <a:srgbClr val="203731"/>
                </a:solidFill>
                <a:latin typeface="Arial"/>
                <a:ea typeface="Arial"/>
                <a:cs typeface="Arial"/>
              </a:rPr>
              <a:t>Request and comparison</a:t>
            </a:r>
          </a:p>
        </p:txBody>
      </p:sp>
      <p:sp>
        <p:nvSpPr>
          <p:cNvPr id="6" name="language">
            <a:extLst xmlns:a="http://schemas.openxmlformats.org/drawingml/2006/main">
              <a:ext uri="{FF2B5EF4-FFF2-40B4-BE49-F238E27FC236}">
                <a16:creationId xmlns:a16="http://schemas.microsoft.com/office/drawing/2014/main" id="{F5049178-671B-421F-972B-F03E5E5F15E7}"/>
              </a:ext>
            </a:extLst>
          </p:cNvPr>
          <p:cNvSpPr>
            <a:spLocks xmlns:a="http://schemas.openxmlformats.org/drawingml/2006/main" noGrp="1"/>
          </p:cNvSpPr>
          <p:nvPr/>
        </p:nvSpPr>
        <p:spPr>
          <a:xfrm xmlns:a="http://schemas.openxmlformats.org/drawingml/2006/main">
            <a:off x="2324100" y="1685925"/>
            <a:ext cx="1714500" cy="1581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7CE"/>
            </a:solidFill>
          </a:ln>
        </p:spPr>
      </p:sp>
      <p:sp>
        <p:nvSpPr>
          <p:cNvPr id="7" name="language title">
            <a:extLst xmlns:a="http://schemas.openxmlformats.org/drawingml/2006/main">
              <a:ext uri="{FF2B5EF4-FFF2-40B4-BE49-F238E27FC236}">
                <a16:creationId xmlns:a16="http://schemas.microsoft.com/office/drawing/2014/main" id="{FE00A4FB-0AA2-4A77-8812-D80532B8F415}"/>
              </a:ext>
            </a:extLst>
          </p:cNvPr>
          <p:cNvSpPr>
            <a:spLocks xmlns:a="http://schemas.openxmlformats.org/drawingml/2006/main" noGrp="1"/>
          </p:cNvSpPr>
          <p:nvPr/>
        </p:nvSpPr>
        <p:spPr>
          <a:xfrm xmlns:a="http://schemas.openxmlformats.org/drawingml/2006/main">
            <a:off x="2457450" y="1828800"/>
            <a:ext cx="1447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1C5948"/>
                </a:solidFill>
                <a:latin typeface="Arial"/>
                <a:ea typeface="Arial"/>
                <a:cs typeface="Arial"/>
              </a:defRPr>
            </a:defPPr>
          </a:lstStyle>
          <a:p xmlns:a="http://schemas.openxmlformats.org/drawingml/2006/main">
            <a:pPr algn="l">
              <a:defRPr sz="1575" b="1">
                <a:solidFill>
                  <a:srgbClr val="1C5948"/>
                </a:solidFill>
              </a:defRPr>
            </a:pPr>
            <a:r>
              <a:rPr sz="1575" b="1">
                <a:solidFill>
                  <a:srgbClr val="1C5948"/>
                </a:solidFill>
                <a:latin typeface="Arial"/>
                <a:ea typeface="Arial"/>
                <a:cs typeface="Arial"/>
              </a:rPr>
              <a:t>Request interpreter</a:t>
            </a:r>
          </a:p>
        </p:txBody>
      </p:sp>
      <p:sp>
        <p:nvSpPr>
          <p:cNvPr id="8" name="language body">
            <a:extLst xmlns:a="http://schemas.openxmlformats.org/drawingml/2006/main">
              <a:ext uri="{FF2B5EF4-FFF2-40B4-BE49-F238E27FC236}">
                <a16:creationId xmlns:a16="http://schemas.microsoft.com/office/drawing/2014/main" id="{10116549-C54D-4E87-9A6C-6307D37E2997}"/>
              </a:ext>
            </a:extLst>
          </p:cNvPr>
          <p:cNvSpPr>
            <a:spLocks xmlns:a="http://schemas.openxmlformats.org/drawingml/2006/main" noGrp="1"/>
          </p:cNvSpPr>
          <p:nvPr/>
        </p:nvSpPr>
        <p:spPr>
          <a:xfrm xmlns:a="http://schemas.openxmlformats.org/drawingml/2006/main">
            <a:off x="2457450" y="2381250"/>
            <a:ext cx="1447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203731"/>
                </a:solidFill>
                <a:latin typeface="Arial"/>
                <a:ea typeface="Arial"/>
                <a:cs typeface="Arial"/>
              </a:defRPr>
            </a:defPPr>
          </a:lstStyle>
          <a:p xmlns:a="http://schemas.openxmlformats.org/drawingml/2006/main">
            <a:pPr algn="l">
              <a:defRPr sz="1275" b="0">
                <a:solidFill>
                  <a:srgbClr val="203731"/>
                </a:solidFill>
              </a:defRPr>
            </a:pPr>
            <a:r>
              <a:rPr sz="1275" b="0">
                <a:solidFill>
                  <a:srgbClr val="203731"/>
                </a:solidFill>
                <a:latin typeface="Arial"/>
                <a:ea typeface="Arial"/>
                <a:cs typeface="Arial"/>
              </a:rPr>
              <a:t>LLM via LangChain</a:t>
            </a:r>
          </a:p>
          <a:p xmlns:a="http://schemas.openxmlformats.org/drawingml/2006/main">
            <a:pPr algn="l">
              <a:defRPr sz="1275" b="0">
                <a:solidFill>
                  <a:srgbClr val="203731"/>
                </a:solidFill>
              </a:defRPr>
            </a:pPr>
            <a:r>
              <a:rPr sz="1275" b="0">
                <a:solidFill>
                  <a:srgbClr val="203731"/>
                </a:solidFill>
                <a:latin typeface="Arial"/>
                <a:ea typeface="Arial"/>
                <a:cs typeface="Arial"/>
              </a:rPr>
              <a:t>Structured fields</a:t>
            </a:r>
          </a:p>
        </p:txBody>
      </p:sp>
      <p:sp>
        <p:nvSpPr>
          <p:cNvPr id="9" name="tools">
            <a:extLst xmlns:a="http://schemas.openxmlformats.org/drawingml/2006/main">
              <a:ext uri="{FF2B5EF4-FFF2-40B4-BE49-F238E27FC236}">
                <a16:creationId xmlns:a16="http://schemas.microsoft.com/office/drawing/2014/main" id="{3703C703-485A-4749-9B4F-506786AB5523}"/>
              </a:ext>
            </a:extLst>
          </p:cNvPr>
          <p:cNvSpPr>
            <a:spLocks xmlns:a="http://schemas.openxmlformats.org/drawingml/2006/main" noGrp="1"/>
          </p:cNvSpPr>
          <p:nvPr/>
        </p:nvSpPr>
        <p:spPr>
          <a:xfrm xmlns:a="http://schemas.openxmlformats.org/drawingml/2006/main">
            <a:off x="4343400" y="1685925"/>
            <a:ext cx="1905000" cy="1581150"/>
          </a:xfrm>
          <a:prstGeom xmlns:a="http://schemas.openxmlformats.org/drawingml/2006/main" prst="rect">
            <a:avLst/>
          </a:prstGeom>
          <a:solidFill xmlns:a="http://schemas.openxmlformats.org/drawingml/2006/main">
            <a:srgbClr val="E9F3EA"/>
          </a:solidFill>
          <a:ln xmlns:a="http://schemas.openxmlformats.org/drawingml/2006/main" w="11430">
            <a:solidFill>
              <a:srgbClr val="C8D7CE"/>
            </a:solidFill>
          </a:ln>
        </p:spPr>
      </p:sp>
      <p:sp>
        <p:nvSpPr>
          <p:cNvPr id="10" name="tools title">
            <a:extLst xmlns:a="http://schemas.openxmlformats.org/drawingml/2006/main">
              <a:ext uri="{FF2B5EF4-FFF2-40B4-BE49-F238E27FC236}">
                <a16:creationId xmlns:a16="http://schemas.microsoft.com/office/drawing/2014/main" id="{6C0E0094-A829-44BC-A58A-36BD0599C35B}"/>
              </a:ext>
            </a:extLst>
          </p:cNvPr>
          <p:cNvSpPr>
            <a:spLocks xmlns:a="http://schemas.openxmlformats.org/drawingml/2006/main" noGrp="1"/>
          </p:cNvSpPr>
          <p:nvPr/>
        </p:nvSpPr>
        <p:spPr>
          <a:xfrm xmlns:a="http://schemas.openxmlformats.org/drawingml/2006/main">
            <a:off x="4476750" y="1828800"/>
            <a:ext cx="1638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1C5948"/>
                </a:solidFill>
                <a:latin typeface="Arial"/>
                <a:ea typeface="Arial"/>
                <a:cs typeface="Arial"/>
              </a:defRPr>
            </a:defPPr>
          </a:lstStyle>
          <a:p xmlns:a="http://schemas.openxmlformats.org/drawingml/2006/main">
            <a:pPr algn="l">
              <a:defRPr sz="1575" b="1">
                <a:solidFill>
                  <a:srgbClr val="1C5948"/>
                </a:solidFill>
              </a:defRPr>
            </a:pPr>
            <a:r>
              <a:rPr sz="1575" b="1">
                <a:solidFill>
                  <a:srgbClr val="1C5948"/>
                </a:solidFill>
                <a:latin typeface="Arial"/>
                <a:ea typeface="Arial"/>
                <a:cs typeface="Arial"/>
              </a:rPr>
              <a:t>Decision tools</a:t>
            </a:r>
          </a:p>
        </p:txBody>
      </p:sp>
      <p:sp>
        <p:nvSpPr>
          <p:cNvPr id="11" name="tools body">
            <a:extLst xmlns:a="http://schemas.openxmlformats.org/drawingml/2006/main">
              <a:ext uri="{FF2B5EF4-FFF2-40B4-BE49-F238E27FC236}">
                <a16:creationId xmlns:a16="http://schemas.microsoft.com/office/drawing/2014/main" id="{BCFA9FC2-D64F-4BF2-B974-2EA692DF36DA}"/>
              </a:ext>
            </a:extLst>
          </p:cNvPr>
          <p:cNvSpPr>
            <a:spLocks xmlns:a="http://schemas.openxmlformats.org/drawingml/2006/main" noGrp="1"/>
          </p:cNvSpPr>
          <p:nvPr/>
        </p:nvSpPr>
        <p:spPr>
          <a:xfrm xmlns:a="http://schemas.openxmlformats.org/drawingml/2006/main">
            <a:off x="4476750" y="2381250"/>
            <a:ext cx="1638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203731"/>
                </a:solidFill>
                <a:latin typeface="Arial"/>
                <a:ea typeface="Arial"/>
                <a:cs typeface="Arial"/>
              </a:defRPr>
            </a:defPPr>
          </a:lstStyle>
          <a:p xmlns:a="http://schemas.openxmlformats.org/drawingml/2006/main">
            <a:pPr algn="l">
              <a:defRPr sz="1275" b="0">
                <a:solidFill>
                  <a:srgbClr val="203731"/>
                </a:solidFill>
              </a:defRPr>
            </a:pPr>
            <a:r>
              <a:rPr sz="1275" b="0">
                <a:solidFill>
                  <a:srgbClr val="203731"/>
                </a:solidFill>
                <a:latin typeface="Arial"/>
                <a:ea typeface="Arial"/>
                <a:cs typeface="Arial"/>
              </a:rPr>
              <a:t>Python</a:t>
            </a:r>
          </a:p>
          <a:p xmlns:a="http://schemas.openxmlformats.org/drawingml/2006/main">
            <a:pPr algn="l">
              <a:defRPr sz="1275" b="0">
                <a:solidFill>
                  <a:srgbClr val="203731"/>
                </a:solidFill>
              </a:defRPr>
            </a:pPr>
            <a:r>
              <a:rPr sz="1275" b="0">
                <a:solidFill>
                  <a:srgbClr val="203731"/>
                </a:solidFill>
                <a:latin typeface="Arial"/>
                <a:ea typeface="Arial"/>
                <a:cs typeface="Arial"/>
              </a:rPr>
              <a:t>Eligibility and estimates</a:t>
            </a:r>
          </a:p>
          <a:p xmlns:a="http://schemas.openxmlformats.org/drawingml/2006/main">
            <a:pPr algn="l">
              <a:defRPr sz="1275" b="0">
                <a:solidFill>
                  <a:srgbClr val="203731"/>
                </a:solidFill>
              </a:defRPr>
            </a:pPr>
            <a:r>
              <a:rPr sz="1275" b="0">
                <a:solidFill>
                  <a:srgbClr val="203731"/>
                </a:solidFill>
                <a:latin typeface="Arial"/>
                <a:ea typeface="Arial"/>
                <a:cs typeface="Arial"/>
              </a:rPr>
              <a:t>Workload and ranking</a:t>
            </a:r>
          </a:p>
        </p:txBody>
      </p:sp>
      <p:sp>
        <p:nvSpPr>
          <p:cNvPr id="12" name="approval">
            <a:extLst xmlns:a="http://schemas.openxmlformats.org/drawingml/2006/main">
              <a:ext uri="{FF2B5EF4-FFF2-40B4-BE49-F238E27FC236}">
                <a16:creationId xmlns:a16="http://schemas.microsoft.com/office/drawing/2014/main" id="{D560F9B0-70DA-4470-948A-2C8C203AF9AE}"/>
              </a:ext>
            </a:extLst>
          </p:cNvPr>
          <p:cNvSpPr>
            <a:spLocks xmlns:a="http://schemas.openxmlformats.org/drawingml/2006/main" noGrp="1"/>
          </p:cNvSpPr>
          <p:nvPr/>
        </p:nvSpPr>
        <p:spPr>
          <a:xfrm xmlns:a="http://schemas.openxmlformats.org/drawingml/2006/main">
            <a:off x="6553200" y="1685925"/>
            <a:ext cx="2133600" cy="1581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7CE"/>
            </a:solidFill>
          </a:ln>
        </p:spPr>
      </p:sp>
      <p:sp>
        <p:nvSpPr>
          <p:cNvPr id="13" name="approval title">
            <a:extLst xmlns:a="http://schemas.openxmlformats.org/drawingml/2006/main">
              <a:ext uri="{FF2B5EF4-FFF2-40B4-BE49-F238E27FC236}">
                <a16:creationId xmlns:a16="http://schemas.microsoft.com/office/drawing/2014/main" id="{D173E1F1-D71A-4ACC-AA71-3F600D4EF74A}"/>
              </a:ext>
            </a:extLst>
          </p:cNvPr>
          <p:cNvSpPr>
            <a:spLocks xmlns:a="http://schemas.openxmlformats.org/drawingml/2006/main" noGrp="1"/>
          </p:cNvSpPr>
          <p:nvPr/>
        </p:nvSpPr>
        <p:spPr>
          <a:xfrm xmlns:a="http://schemas.openxmlformats.org/drawingml/2006/main">
            <a:off x="6686550" y="1828800"/>
            <a:ext cx="186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1C5948"/>
                </a:solidFill>
                <a:latin typeface="Arial"/>
                <a:ea typeface="Arial"/>
                <a:cs typeface="Arial"/>
              </a:defRPr>
            </a:defPPr>
          </a:lstStyle>
          <a:p xmlns:a="http://schemas.openxmlformats.org/drawingml/2006/main">
            <a:pPr algn="l">
              <a:defRPr sz="1575" b="1">
                <a:solidFill>
                  <a:srgbClr val="1C5948"/>
                </a:solidFill>
              </a:defRPr>
            </a:pPr>
            <a:r>
              <a:rPr sz="1575" b="1">
                <a:solidFill>
                  <a:srgbClr val="1C5948"/>
                </a:solidFill>
                <a:latin typeface="Arial"/>
                <a:ea typeface="Arial"/>
                <a:cs typeface="Arial"/>
              </a:rPr>
              <a:t>Review and approve</a:t>
            </a:r>
          </a:p>
        </p:txBody>
      </p:sp>
      <p:sp>
        <p:nvSpPr>
          <p:cNvPr id="14" name="approval body">
            <a:extLst xmlns:a="http://schemas.openxmlformats.org/drawingml/2006/main">
              <a:ext uri="{FF2B5EF4-FFF2-40B4-BE49-F238E27FC236}">
                <a16:creationId xmlns:a16="http://schemas.microsoft.com/office/drawing/2014/main" id="{44396F05-21E4-4983-8152-9BBF5F9C6241}"/>
              </a:ext>
            </a:extLst>
          </p:cNvPr>
          <p:cNvSpPr>
            <a:spLocks xmlns:a="http://schemas.openxmlformats.org/drawingml/2006/main" noGrp="1"/>
          </p:cNvSpPr>
          <p:nvPr/>
        </p:nvSpPr>
        <p:spPr>
          <a:xfrm xmlns:a="http://schemas.openxmlformats.org/drawingml/2006/main">
            <a:off x="6686550" y="2381250"/>
            <a:ext cx="1866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203731"/>
                </a:solidFill>
                <a:latin typeface="Arial"/>
                <a:ea typeface="Arial"/>
                <a:cs typeface="Arial"/>
              </a:defRPr>
            </a:defPPr>
          </a:lstStyle>
          <a:p xmlns:a="http://schemas.openxmlformats.org/drawingml/2006/main">
            <a:pPr algn="l">
              <a:defRPr sz="1275" b="0">
                <a:solidFill>
                  <a:srgbClr val="203731"/>
                </a:solidFill>
              </a:defRPr>
            </a:pPr>
            <a:r>
              <a:rPr sz="1275" b="0">
                <a:solidFill>
                  <a:srgbClr val="203731"/>
                </a:solidFill>
                <a:latin typeface="Arial"/>
                <a:ea typeface="Arial"/>
                <a:cs typeface="Arial"/>
              </a:rPr>
              <a:t>Dispatcher confirms</a:t>
            </a:r>
          </a:p>
          <a:p xmlns:a="http://schemas.openxmlformats.org/drawingml/2006/main">
            <a:pPr algn="l">
              <a:defRPr sz="1275" b="0">
                <a:solidFill>
                  <a:srgbClr val="203731"/>
                </a:solidFill>
              </a:defRPr>
            </a:pPr>
            <a:r>
              <a:rPr sz="1275" b="0">
                <a:solidFill>
                  <a:srgbClr val="203731"/>
                </a:solidFill>
                <a:latin typeface="Arial"/>
                <a:ea typeface="Arial"/>
                <a:cs typeface="Arial"/>
              </a:rPr>
              <a:t>Recheck current queues</a:t>
            </a:r>
          </a:p>
        </p:txBody>
      </p:sp>
      <p:sp>
        <p:nvSpPr>
          <p:cNvPr id="18" name="session">
            <a:extLst xmlns:a="http://schemas.openxmlformats.org/drawingml/2006/main">
              <a:ext uri="{FF2B5EF4-FFF2-40B4-BE49-F238E27FC236}">
                <a16:creationId xmlns:a16="http://schemas.microsoft.com/office/drawing/2014/main" id="{78F07604-C326-4C87-A666-B89309706D04}"/>
              </a:ext>
            </a:extLst>
          </p:cNvPr>
          <p:cNvSpPr>
            <a:spLocks xmlns:a="http://schemas.openxmlformats.org/drawingml/2006/main" noGrp="1"/>
          </p:cNvSpPr>
          <p:nvPr/>
        </p:nvSpPr>
        <p:spPr>
          <a:xfrm xmlns:a="http://schemas.openxmlformats.org/drawingml/2006/main">
            <a:off x="2324100" y="3667125"/>
            <a:ext cx="1714500" cy="866775"/>
          </a:xfrm>
          <a:prstGeom xmlns:a="http://schemas.openxmlformats.org/drawingml/2006/main" prst="rect">
            <a:avLst/>
          </a:prstGeom>
          <a:solidFill xmlns:a="http://schemas.openxmlformats.org/drawingml/2006/main">
            <a:srgbClr val="FFFFFF"/>
          </a:solidFill>
          <a:ln xmlns:a="http://schemas.openxmlformats.org/drawingml/2006/main" w="11430">
            <a:solidFill>
              <a:srgbClr val="C8D7CE"/>
            </a:solidFill>
          </a:ln>
        </p:spPr>
      </p:sp>
      <p:sp>
        <p:nvSpPr>
          <p:cNvPr id="19" name="session title">
            <a:extLst xmlns:a="http://schemas.openxmlformats.org/drawingml/2006/main">
              <a:ext uri="{FF2B5EF4-FFF2-40B4-BE49-F238E27FC236}">
                <a16:creationId xmlns:a16="http://schemas.microsoft.com/office/drawing/2014/main" id="{2B9B385D-2A8B-46E8-A564-8D9E924A2441}"/>
              </a:ext>
            </a:extLst>
          </p:cNvPr>
          <p:cNvSpPr>
            <a:spLocks xmlns:a="http://schemas.openxmlformats.org/drawingml/2006/main" noGrp="1"/>
          </p:cNvSpPr>
          <p:nvPr/>
        </p:nvSpPr>
        <p:spPr>
          <a:xfrm xmlns:a="http://schemas.openxmlformats.org/drawingml/2006/main">
            <a:off x="2457450" y="3781425"/>
            <a:ext cx="144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1C5948"/>
                </a:solidFill>
                <a:latin typeface="Arial"/>
                <a:ea typeface="Arial"/>
                <a:cs typeface="Arial"/>
              </a:defRPr>
            </a:defPPr>
          </a:lstStyle>
          <a:p xmlns:a="http://schemas.openxmlformats.org/drawingml/2006/main">
            <a:pPr algn="l">
              <a:defRPr sz="1575" b="1">
                <a:solidFill>
                  <a:srgbClr val="1C5948"/>
                </a:solidFill>
              </a:defRPr>
            </a:pPr>
            <a:r>
              <a:rPr sz="1350" b="1">
                <a:solidFill>
                  <a:srgbClr val="1C5948"/>
                </a:solidFill>
                <a:latin typeface="Arial"/>
                <a:ea typeface="Arial"/>
                <a:cs typeface="Arial"/>
              </a:rPr>
              <a:t>Session memory</a:t>
            </a:r>
          </a:p>
        </p:txBody>
      </p:sp>
      <p:sp>
        <p:nvSpPr>
          <p:cNvPr id="20" name="session body">
            <a:extLst xmlns:a="http://schemas.openxmlformats.org/drawingml/2006/main">
              <a:ext uri="{FF2B5EF4-FFF2-40B4-BE49-F238E27FC236}">
                <a16:creationId xmlns:a16="http://schemas.microsoft.com/office/drawing/2014/main" id="{DCEA9751-6316-473A-9BFD-4CDB7AF8379E}"/>
              </a:ext>
            </a:extLst>
          </p:cNvPr>
          <p:cNvSpPr>
            <a:spLocks xmlns:a="http://schemas.openxmlformats.org/drawingml/2006/main" noGrp="1"/>
          </p:cNvSpPr>
          <p:nvPr/>
        </p:nvSpPr>
        <p:spPr>
          <a:xfrm xmlns:a="http://schemas.openxmlformats.org/drawingml/2006/main">
            <a:off x="2457450" y="4105275"/>
            <a:ext cx="1447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0">
                <a:solidFill>
                  <a:srgbClr val="203731"/>
                </a:solidFill>
                <a:latin typeface="Arial"/>
                <a:ea typeface="Arial"/>
                <a:cs typeface="Arial"/>
              </a:defRPr>
            </a:defPPr>
          </a:lstStyle>
          <a:p xmlns:a="http://schemas.openxmlformats.org/drawingml/2006/main">
            <a:pPr algn="l">
              <a:defRPr sz="1275" b="0">
                <a:solidFill>
                  <a:srgbClr val="203731"/>
                </a:solidFill>
              </a:defRPr>
            </a:pPr>
            <a:r>
              <a:rPr sz="1050" b="0">
                <a:solidFill>
                  <a:srgbClr val="203731"/>
                </a:solidFill>
                <a:latin typeface="Arial"/>
                <a:ea typeface="Arial"/>
                <a:cs typeface="Arial"/>
              </a:rPr>
              <a:t>Conversation and draft</a:t>
            </a:r>
          </a:p>
          <a:p xmlns:a="http://schemas.openxmlformats.org/drawingml/2006/main">
            <a:pPr algn="l">
              <a:defRPr sz="1275" b="0">
                <a:solidFill>
                  <a:srgbClr val="203731"/>
                </a:solidFill>
              </a:defRPr>
            </a:pPr>
            <a:r>
              <a:rPr sz="1050" b="0">
                <a:solidFill>
                  <a:srgbClr val="203731"/>
                </a:solidFill>
                <a:latin typeface="Arial"/>
                <a:ea typeface="Arial"/>
                <a:cs typeface="Arial"/>
              </a:rPr>
              <a:t>Streamlit session state</a:t>
            </a:r>
          </a:p>
        </p:txBody>
      </p:sp>
      <p:sp>
        <p:nvSpPr>
          <p:cNvPr id="21" name="data">
            <a:extLst xmlns:a="http://schemas.openxmlformats.org/drawingml/2006/main">
              <a:ext uri="{FF2B5EF4-FFF2-40B4-BE49-F238E27FC236}">
                <a16:creationId xmlns:a16="http://schemas.microsoft.com/office/drawing/2014/main" id="{386335F0-F8FC-45B4-AE9C-60DF3AAFF2F2}"/>
              </a:ext>
            </a:extLst>
          </p:cNvPr>
          <p:cNvSpPr>
            <a:spLocks xmlns:a="http://schemas.openxmlformats.org/drawingml/2006/main" noGrp="1"/>
          </p:cNvSpPr>
          <p:nvPr/>
        </p:nvSpPr>
        <p:spPr>
          <a:xfrm xmlns:a="http://schemas.openxmlformats.org/drawingml/2006/main">
            <a:off x="4343400" y="3667125"/>
            <a:ext cx="1905000" cy="866775"/>
          </a:xfrm>
          <a:prstGeom xmlns:a="http://schemas.openxmlformats.org/drawingml/2006/main" prst="rect">
            <a:avLst/>
          </a:prstGeom>
          <a:solidFill xmlns:a="http://schemas.openxmlformats.org/drawingml/2006/main">
            <a:srgbClr val="FFFFFF"/>
          </a:solidFill>
          <a:ln xmlns:a="http://schemas.openxmlformats.org/drawingml/2006/main" w="11430">
            <a:solidFill>
              <a:srgbClr val="C8D7CE"/>
            </a:solidFill>
          </a:ln>
        </p:spPr>
      </p:sp>
      <p:sp>
        <p:nvSpPr>
          <p:cNvPr id="22" name="data title">
            <a:extLst xmlns:a="http://schemas.openxmlformats.org/drawingml/2006/main">
              <a:ext uri="{FF2B5EF4-FFF2-40B4-BE49-F238E27FC236}">
                <a16:creationId xmlns:a16="http://schemas.microsoft.com/office/drawing/2014/main" id="{3FC3F0A0-7AC5-4FF5-82F4-28EC75FC2DAB}"/>
              </a:ext>
            </a:extLst>
          </p:cNvPr>
          <p:cNvSpPr>
            <a:spLocks xmlns:a="http://schemas.openxmlformats.org/drawingml/2006/main" noGrp="1"/>
          </p:cNvSpPr>
          <p:nvPr/>
        </p:nvSpPr>
        <p:spPr>
          <a:xfrm xmlns:a="http://schemas.openxmlformats.org/drawingml/2006/main">
            <a:off x="4476750" y="3781425"/>
            <a:ext cx="1638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1C5948"/>
                </a:solidFill>
                <a:latin typeface="Arial"/>
                <a:ea typeface="Arial"/>
                <a:cs typeface="Arial"/>
              </a:defRPr>
            </a:defPPr>
          </a:lstStyle>
          <a:p xmlns:a="http://schemas.openxmlformats.org/drawingml/2006/main">
            <a:pPr algn="l">
              <a:defRPr sz="1575" b="1">
                <a:solidFill>
                  <a:srgbClr val="1C5948"/>
                </a:solidFill>
              </a:defRPr>
            </a:pPr>
            <a:r>
              <a:rPr sz="1575" b="1">
                <a:solidFill>
                  <a:srgbClr val="1C5948"/>
                </a:solidFill>
                <a:latin typeface="Arial"/>
                <a:ea typeface="Arial"/>
                <a:cs typeface="Arial"/>
              </a:rPr>
              <a:t>Source data</a:t>
            </a:r>
          </a:p>
        </p:txBody>
      </p:sp>
      <p:sp>
        <p:nvSpPr>
          <p:cNvPr id="23" name="data body">
            <a:extLst xmlns:a="http://schemas.openxmlformats.org/drawingml/2006/main">
              <a:ext uri="{FF2B5EF4-FFF2-40B4-BE49-F238E27FC236}">
                <a16:creationId xmlns:a16="http://schemas.microsoft.com/office/drawing/2014/main" id="{FA9174EE-E12B-415A-87C4-1F66415FC1FA}"/>
              </a:ext>
            </a:extLst>
          </p:cNvPr>
          <p:cNvSpPr>
            <a:spLocks xmlns:a="http://schemas.openxmlformats.org/drawingml/2006/main" noGrp="1"/>
          </p:cNvSpPr>
          <p:nvPr/>
        </p:nvSpPr>
        <p:spPr>
          <a:xfrm xmlns:a="http://schemas.openxmlformats.org/drawingml/2006/main">
            <a:off x="4476750" y="4105275"/>
            <a:ext cx="16383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203731"/>
                </a:solidFill>
                <a:latin typeface="Arial"/>
                <a:ea typeface="Arial"/>
                <a:cs typeface="Arial"/>
              </a:defRPr>
            </a:defPPr>
          </a:lstStyle>
          <a:p xmlns:a="http://schemas.openxmlformats.org/drawingml/2006/main">
            <a:pPr algn="l">
              <a:defRPr sz="1275" b="0">
                <a:solidFill>
                  <a:srgbClr val="203731"/>
                </a:solidFill>
              </a:defRPr>
            </a:pPr>
            <a:r>
              <a:rPr sz="1125" b="0">
                <a:solidFill>
                  <a:srgbClr val="203731"/>
                </a:solidFill>
                <a:latin typeface="Arial"/>
                <a:ea typeface="Arial"/>
                <a:cs typeface="Arial"/>
              </a:rPr>
              <a:t>Orders and workshops</a:t>
            </a:r>
          </a:p>
          <a:p xmlns:a="http://schemas.openxmlformats.org/drawingml/2006/main">
            <a:pPr algn="l">
              <a:defRPr sz="1275" b="0">
                <a:solidFill>
                  <a:srgbClr val="203731"/>
                </a:solidFill>
              </a:defRPr>
            </a:pPr>
            <a:r>
              <a:rPr sz="1125" b="0">
                <a:solidFill>
                  <a:srgbClr val="203731"/>
                </a:solidFill>
                <a:latin typeface="Arial"/>
                <a:ea typeface="Arial"/>
                <a:cs typeface="Arial"/>
              </a:rPr>
              <a:t>Course CSV files</a:t>
            </a:r>
          </a:p>
        </p:txBody>
      </p:sp>
      <p:sp>
        <p:nvSpPr>
          <p:cNvPr id="24" name="saved">
            <a:extLst xmlns:a="http://schemas.openxmlformats.org/drawingml/2006/main">
              <a:ext uri="{FF2B5EF4-FFF2-40B4-BE49-F238E27FC236}">
                <a16:creationId xmlns:a16="http://schemas.microsoft.com/office/drawing/2014/main" id="{72DA06E3-734E-46BA-BDBE-546F13D13DC1}"/>
              </a:ext>
            </a:extLst>
          </p:cNvPr>
          <p:cNvSpPr>
            <a:spLocks xmlns:a="http://schemas.openxmlformats.org/drawingml/2006/main" noGrp="1"/>
          </p:cNvSpPr>
          <p:nvPr/>
        </p:nvSpPr>
        <p:spPr>
          <a:xfrm xmlns:a="http://schemas.openxmlformats.org/drawingml/2006/main">
            <a:off x="6553200" y="3667125"/>
            <a:ext cx="2133600" cy="866775"/>
          </a:xfrm>
          <a:prstGeom xmlns:a="http://schemas.openxmlformats.org/drawingml/2006/main" prst="rect">
            <a:avLst/>
          </a:prstGeom>
          <a:solidFill xmlns:a="http://schemas.openxmlformats.org/drawingml/2006/main">
            <a:srgbClr val="FFFFFF"/>
          </a:solidFill>
          <a:ln xmlns:a="http://schemas.openxmlformats.org/drawingml/2006/main" w="11430">
            <a:solidFill>
              <a:srgbClr val="C8D7CE"/>
            </a:solidFill>
          </a:ln>
        </p:spPr>
      </p:sp>
      <p:sp>
        <p:nvSpPr>
          <p:cNvPr id="25" name="saved title">
            <a:extLst xmlns:a="http://schemas.openxmlformats.org/drawingml/2006/main">
              <a:ext uri="{FF2B5EF4-FFF2-40B4-BE49-F238E27FC236}">
                <a16:creationId xmlns:a16="http://schemas.microsoft.com/office/drawing/2014/main" id="{0B39D347-719A-4F81-AFD0-296E9E5BAE2A}"/>
              </a:ext>
            </a:extLst>
          </p:cNvPr>
          <p:cNvSpPr>
            <a:spLocks xmlns:a="http://schemas.openxmlformats.org/drawingml/2006/main" noGrp="1"/>
          </p:cNvSpPr>
          <p:nvPr/>
        </p:nvSpPr>
        <p:spPr>
          <a:xfrm xmlns:a="http://schemas.openxmlformats.org/drawingml/2006/main">
            <a:off x="6686550" y="3781425"/>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1C5948"/>
                </a:solidFill>
                <a:latin typeface="Arial"/>
                <a:ea typeface="Arial"/>
                <a:cs typeface="Arial"/>
              </a:defRPr>
            </a:defPPr>
          </a:lstStyle>
          <a:p xmlns:a="http://schemas.openxmlformats.org/drawingml/2006/main">
            <a:pPr algn="l">
              <a:defRPr sz="1575" b="1">
                <a:solidFill>
                  <a:srgbClr val="1C5948"/>
                </a:solidFill>
              </a:defRPr>
            </a:pPr>
            <a:r>
              <a:rPr sz="1575" b="1">
                <a:solidFill>
                  <a:srgbClr val="1C5948"/>
                </a:solidFill>
                <a:latin typeface="Arial"/>
                <a:ea typeface="Arial"/>
                <a:cs typeface="Arial"/>
              </a:rPr>
              <a:t>Confirmed plan</a:t>
            </a:r>
          </a:p>
        </p:txBody>
      </p:sp>
      <p:sp>
        <p:nvSpPr>
          <p:cNvPr id="26" name="saved body">
            <a:extLst xmlns:a="http://schemas.openxmlformats.org/drawingml/2006/main">
              <a:ext uri="{FF2B5EF4-FFF2-40B4-BE49-F238E27FC236}">
                <a16:creationId xmlns:a16="http://schemas.microsoft.com/office/drawing/2014/main" id="{20DF579E-36F8-4CFE-90A9-CBEA62AFA613}"/>
              </a:ext>
            </a:extLst>
          </p:cNvPr>
          <p:cNvSpPr>
            <a:spLocks xmlns:a="http://schemas.openxmlformats.org/drawingml/2006/main" noGrp="1"/>
          </p:cNvSpPr>
          <p:nvPr/>
        </p:nvSpPr>
        <p:spPr>
          <a:xfrm xmlns:a="http://schemas.openxmlformats.org/drawingml/2006/main">
            <a:off x="6686550" y="4105275"/>
            <a:ext cx="1866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203731"/>
                </a:solidFill>
                <a:latin typeface="Arial"/>
                <a:ea typeface="Arial"/>
                <a:cs typeface="Arial"/>
              </a:defRPr>
            </a:defPPr>
          </a:lstStyle>
          <a:p xmlns:a="http://schemas.openxmlformats.org/drawingml/2006/main">
            <a:pPr algn="l">
              <a:defRPr sz="1275" b="0">
                <a:solidFill>
                  <a:srgbClr val="203731"/>
                </a:solidFill>
              </a:defRPr>
            </a:pPr>
            <a:r>
              <a:rPr sz="1200" b="0">
                <a:solidFill>
                  <a:srgbClr val="203731"/>
                </a:solidFill>
                <a:latin typeface="Arial"/>
                <a:ea typeface="Arial"/>
                <a:cs typeface="Arial"/>
              </a:rPr>
              <a:t>SQLite decision records</a:t>
            </a:r>
          </a:p>
          <a:p xmlns:a="http://schemas.openxmlformats.org/drawingml/2006/main">
            <a:pPr algn="l">
              <a:defRPr sz="1275" b="0">
                <a:solidFill>
                  <a:srgbClr val="203731"/>
                </a:solidFill>
              </a:defRPr>
            </a:pPr>
            <a:r>
              <a:rPr sz="1200" b="0">
                <a:solidFill>
                  <a:srgbClr val="203731"/>
                </a:solidFill>
                <a:latin typeface="Arial"/>
                <a:ea typeface="Arial"/>
                <a:cs typeface="Arial"/>
              </a:rPr>
              <a:t>Versioned planning queues</a:t>
            </a:r>
          </a:p>
        </p:txBody>
      </p:sp>
      <p:sp>
        <p:nvSpPr>
          <p:cNvPr id="30" name="evaluation-title">
            <a:extLst xmlns:a="http://schemas.openxmlformats.org/drawingml/2006/main">
              <a:ext uri="{FF2B5EF4-FFF2-40B4-BE49-F238E27FC236}">
                <a16:creationId xmlns:a16="http://schemas.microsoft.com/office/drawing/2014/main" id="{6CEE65E7-16A0-4FBD-92E8-E2416E8497FF}"/>
              </a:ext>
            </a:extLst>
          </p:cNvPr>
          <p:cNvSpPr>
            <a:spLocks xmlns:a="http://schemas.openxmlformats.org/drawingml/2006/main" noGrp="1"/>
          </p:cNvSpPr>
          <p:nvPr/>
        </p:nvSpPr>
        <p:spPr>
          <a:xfrm xmlns:a="http://schemas.openxmlformats.org/drawingml/2006/main">
            <a:off x="457200" y="37719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1C5948"/>
                </a:solidFill>
                <a:latin typeface="Arial"/>
                <a:ea typeface="Arial"/>
                <a:cs typeface="Arial"/>
              </a:defRPr>
            </a:defPPr>
          </a:lstStyle>
          <a:p xmlns:a="http://schemas.openxmlformats.org/drawingml/2006/main">
            <a:pPr algn="l">
              <a:defRPr sz="1350" b="1">
                <a:solidFill>
                  <a:srgbClr val="1C5948"/>
                </a:solidFill>
              </a:defRPr>
            </a:pPr>
            <a:r>
              <a:rPr sz="1350" b="1">
                <a:solidFill>
                  <a:srgbClr val="1C5948"/>
                </a:solidFill>
                <a:latin typeface="Arial"/>
                <a:ea typeface="Arial"/>
                <a:cs typeface="Arial"/>
              </a:rPr>
              <a:t>Policy evaluation</a:t>
            </a:r>
          </a:p>
        </p:txBody>
      </p:sp>
      <p:sp>
        <p:nvSpPr>
          <p:cNvPr id="31" name="evaluation">
            <a:extLst xmlns:a="http://schemas.openxmlformats.org/drawingml/2006/main">
              <a:ext uri="{FF2B5EF4-FFF2-40B4-BE49-F238E27FC236}">
                <a16:creationId xmlns:a16="http://schemas.microsoft.com/office/drawing/2014/main" id="{46E0C57E-B609-4A0E-81B6-35E703693ACC}"/>
              </a:ext>
            </a:extLst>
          </p:cNvPr>
          <p:cNvSpPr>
            <a:spLocks xmlns:a="http://schemas.openxmlformats.org/drawingml/2006/main" noGrp="1"/>
          </p:cNvSpPr>
          <p:nvPr/>
        </p:nvSpPr>
        <p:spPr>
          <a:xfrm xmlns:a="http://schemas.openxmlformats.org/drawingml/2006/main">
            <a:off x="457200" y="4124325"/>
            <a:ext cx="1562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60726C"/>
                </a:solidFill>
                <a:latin typeface="Arial"/>
                <a:ea typeface="Arial"/>
                <a:cs typeface="Arial"/>
              </a:defRPr>
            </a:defPPr>
          </a:lstStyle>
          <a:p xmlns:a="http://schemas.openxmlformats.org/drawingml/2006/main">
            <a:pPr algn="l">
              <a:defRPr sz="1125" b="0">
                <a:solidFill>
                  <a:srgbClr val="60726C"/>
                </a:solidFill>
              </a:defRPr>
            </a:pPr>
            <a:r>
              <a:rPr sz="1125" b="0">
                <a:solidFill>
                  <a:srgbClr val="60726C"/>
                </a:solidFill>
                <a:latin typeface="Arial"/>
                <a:ea typeface="Arial"/>
                <a:cs typeface="Arial"/>
              </a:rPr>
              <a:t>Shared simulator</a:t>
            </a:r>
          </a:p>
          <a:p xmlns:a="http://schemas.openxmlformats.org/drawingml/2006/main">
            <a:pPr algn="l">
              <a:defRPr sz="1125" b="0">
                <a:solidFill>
                  <a:srgbClr val="60726C"/>
                </a:solidFill>
              </a:defRPr>
            </a:pPr>
            <a:r>
              <a:rPr sz="1125" b="0">
                <a:solidFill>
                  <a:srgbClr val="60726C"/>
                </a:solidFill>
                <a:latin typeface="Arial"/>
                <a:ea typeface="Arial"/>
                <a:cs typeface="Arial"/>
              </a:rPr>
              <a:t>Same Python allocator</a:t>
            </a:r>
          </a:p>
        </p:txBody>
      </p:sp>
      <p:sp>
        <p:nvSpPr>
          <p:cNvPr id="32" name="source-note">
            <a:extLst xmlns:a="http://schemas.openxmlformats.org/drawingml/2006/main">
              <a:ext uri="{FF2B5EF4-FFF2-40B4-BE49-F238E27FC236}">
                <a16:creationId xmlns:a16="http://schemas.microsoft.com/office/drawing/2014/main" id="{4D2ED1EB-9969-4DB5-AE00-A9ED817DE687}"/>
              </a:ext>
            </a:extLst>
          </p:cNvPr>
          <p:cNvSpPr>
            <a:spLocks xmlns:a="http://schemas.openxmlformats.org/drawingml/2006/main" noGrp="1"/>
          </p:cNvSpPr>
          <p:nvPr/>
        </p:nvSpPr>
        <p:spPr>
          <a:xfrm xmlns:a="http://schemas.openxmlformats.org/drawingml/2006/main">
            <a:off x="457200" y="4810125"/>
            <a:ext cx="822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63" b="0">
                <a:solidFill>
                  <a:srgbClr val="60726C"/>
                </a:solidFill>
                <a:latin typeface="Arial"/>
                <a:ea typeface="Arial"/>
                <a:cs typeface="Arial"/>
              </a:defRPr>
            </a:defPPr>
          </a:lstStyle>
          <a:p xmlns:a="http://schemas.openxmlformats.org/drawingml/2006/main">
            <a:pPr algn="l">
              <a:defRPr sz="863" b="0">
                <a:solidFill>
                  <a:srgbClr val="60726C"/>
                </a:solidFill>
              </a:defRPr>
            </a:pPr>
            <a:r>
              <a:rPr sz="863" b="0">
                <a:solidFill>
                  <a:srgbClr val="60726C"/>
                </a:solidFill>
                <a:latin typeface="Arial"/>
                <a:ea typeface="Arial"/>
                <a:cs typeface="Arial"/>
              </a:rPr>
              <a:t>Python calculates every estimate. Capacity updates only after dispatcher confirmation.</a:t>
            </a:r>
          </a:p>
        </p:txBody>
      </p:sp>
    </p:spTree>
    <p:extLst>
      <p:ext uri="{BB962C8B-B14F-4D97-AF65-F5344CB8AC3E}">
        <p14:creationId xmlns:p14="http://schemas.microsoft.com/office/powerpoint/2010/main" val="2090251164"/>
      </p:ext>
    </p:extLst>
  </p:cSld>
</p:sld>
</file>

<file path=ppt/slides/slide4.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81F1AB1-3110-4CF2-98A0-0B9A24A8D572}"/>
              </a:ext>
            </a:extLst>
          </p:cNvPr>
          <p:cNvSpPr>
            <a:spLocks xmlns:a="http://schemas.openxmlformats.org/drawingml/2006/main" noGrp="1"/>
          </p:cNvSpPr>
          <p:nvPr/>
        </p:nvSpPr>
        <p:spPr>
          <a:xfrm xmlns:a="http://schemas.openxmlformats.org/drawingml/2006/main">
            <a:off x="457200" y="428625"/>
            <a:ext cx="822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03731"/>
                </a:solidFill>
                <a:latin typeface="Arial"/>
                <a:ea typeface="Arial"/>
                <a:cs typeface="Arial"/>
              </a:defRPr>
            </a:defPPr>
          </a:lstStyle>
          <a:p xmlns:a="http://schemas.openxmlformats.org/drawingml/2006/main">
            <a:pPr algn="l">
              <a:defRPr sz="2550" b="1">
                <a:solidFill>
                  <a:srgbClr val="203731"/>
                </a:solidFill>
              </a:defRPr>
            </a:pPr>
            <a:r>
              <a:rPr sz="2550" b="1">
                <a:solidFill>
                  <a:srgbClr val="203731"/>
                </a:solidFill>
                <a:latin typeface="Arial"/>
                <a:ea typeface="Arial"/>
                <a:cs typeface="Arial"/>
              </a:rPr>
              <a:t>Primary objective: minimise lateness</a:t>
            </a:r>
          </a:p>
        </p:txBody>
      </p:sp>
      <p:sp>
        <p:nvSpPr>
          <p:cNvPr id="2" name="why">
            <a:extLst xmlns:a="http://schemas.openxmlformats.org/drawingml/2006/main">
              <a:ext uri="{FF2B5EF4-FFF2-40B4-BE49-F238E27FC236}">
                <a16:creationId xmlns:a16="http://schemas.microsoft.com/office/drawing/2014/main" id="{ECE4251D-9963-43FA-ADC5-72970544CC9B}"/>
              </a:ext>
            </a:extLst>
          </p:cNvPr>
          <p:cNvSpPr>
            <a:spLocks xmlns:a="http://schemas.openxmlformats.org/drawingml/2006/main" noGrp="1"/>
          </p:cNvSpPr>
          <p:nvPr/>
        </p:nvSpPr>
        <p:spPr>
          <a:xfrm xmlns:a="http://schemas.openxmlformats.org/drawingml/2006/main">
            <a:off x="457200" y="1247775"/>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C5948"/>
                </a:solidFill>
                <a:latin typeface="Arial"/>
                <a:ea typeface="Arial"/>
                <a:cs typeface="Arial"/>
              </a:defRPr>
            </a:defPPr>
          </a:lstStyle>
          <a:p xmlns:a="http://schemas.openxmlformats.org/drawingml/2006/main">
            <a:pPr algn="l">
              <a:defRPr sz="1800" b="0">
                <a:solidFill>
                  <a:srgbClr val="1C5948"/>
                </a:solidFill>
              </a:defRPr>
            </a:pPr>
            <a:r>
              <a:rPr sz="1800" b="0">
                <a:solidFill>
                  <a:srgbClr val="1C5948"/>
                </a:solidFill>
                <a:latin typeface="Arial"/>
                <a:ea typeface="Arial"/>
                <a:cs typeface="Arial"/>
              </a:rPr>
              <a:t>Urgent reorders depend on meeting the delivery date.</a:t>
            </a:r>
          </a:p>
        </p:txBody>
      </p:sp>
      <p:sp>
        <p:nvSpPr>
          <p:cNvPr id="3" name="measurement">
            <a:extLst xmlns:a="http://schemas.openxmlformats.org/drawingml/2006/main">
              <a:ext uri="{FF2B5EF4-FFF2-40B4-BE49-F238E27FC236}">
                <a16:creationId xmlns:a16="http://schemas.microsoft.com/office/drawing/2014/main" id="{FF3BBB5A-C621-43C7-8007-DDD668724ACF}"/>
              </a:ext>
            </a:extLst>
          </p:cNvPr>
          <p:cNvSpPr>
            <a:spLocks xmlns:a="http://schemas.openxmlformats.org/drawingml/2006/main" noGrp="1"/>
          </p:cNvSpPr>
          <p:nvPr/>
        </p:nvSpPr>
        <p:spPr>
          <a:xfrm xmlns:a="http://schemas.openxmlformats.org/drawingml/2006/main">
            <a:off x="457200" y="1743075"/>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03731"/>
                </a:solidFill>
                <a:latin typeface="Arial"/>
                <a:ea typeface="Arial"/>
                <a:cs typeface="Arial"/>
              </a:defRPr>
            </a:defPPr>
          </a:lstStyle>
          <a:p xmlns:a="http://schemas.openxmlformats.org/drawingml/2006/main">
            <a:pPr algn="l">
              <a:defRPr sz="1650" b="0">
                <a:solidFill>
                  <a:srgbClr val="203731"/>
                </a:solidFill>
              </a:defRPr>
            </a:pPr>
            <a:r>
              <a:rPr sz="1650" b="0">
                <a:solidFill>
                  <a:srgbClr val="203731"/>
                </a:solidFill>
                <a:latin typeface="Arial"/>
                <a:ea typeface="Arial"/>
                <a:cs typeface="Arial"/>
              </a:rPr>
              <a:t>Measure both the share of late batches and average overdue days.</a:t>
            </a:r>
          </a:p>
        </p:txBody>
      </p:sp>
      <p:graphicFrame>
        <p:nvGraphicFramePr>
          <p:cNvPr id="4" name="objective comparison">
            <a:extLst xmlns:a="http://schemas.openxmlformats.org/drawingml/2006/main">
              <a:ext uri="{FF2B5EF4-FFF2-40B4-BE49-F238E27FC236}">
                <a16:creationId xmlns:a16="http://schemas.microsoft.com/office/drawing/2014/main" id="{E9D92608-22D8-48F6-B2BD-5243FA5B0922}"/>
              </a:ext>
            </a:extLst>
          </p:cNvPr>
          <p:cNvGraphicFramePr/>
          <p:nvPr/>
        </p:nvGraphicFramePr>
        <p:xfrm>
          <a:off xmlns:a="http://schemas.openxmlformats.org/drawingml/2006/main" x="457200" y="2400300"/>
          <a:ext xmlns:a="http://schemas.openxmlformats.org/drawingml/2006/main" cx="8229600" cy="1752600"/>
        </p:xfrm>
        <a:graphic xmlns:a="http://schemas.openxmlformats.org/drawingml/2006/main">
          <a:graphicData uri="http://schemas.openxmlformats.org/drawingml/2006/table">
            <a:tbl>
              <a:tblPr/>
              <a:tblGrid>
                <a:gridCol w="4191000"/>
                <a:gridCol w="1714500"/>
                <a:gridCol w="2324100"/>
              </a:tblGrid>
              <a:tr h="438150">
                <a:tc>
                  <a:txBody>
                    <a:bodyPr/>
                    <a:lstStyle/>
                    <a:p>
                      <a:r>
                        <a:rPr sz="1500" b="1">
                          <a:solidFill>
                            <a:srgbClr val="FFFFFF"/>
                          </a:solidFill>
                          <a:latin typeface="Arial"/>
                          <a:ea typeface="Arial"/>
                          <a:cs typeface="Arial"/>
                        </a:rPr>
                        <a:t>Policy setting</a:t>
                      </a:r>
                    </a:p>
                  </a:txBody>
                  <a:tcPr marL="114300" marR="114300" marT="47625" marB="47625" anchor="ctr">
                    <a:lnL w="6668">
                      <a:solidFill>
                        <a:srgbClr val="C8D7CE"/>
                      </a:solidFill>
                      <a:prstDash val="solid"/>
                    </a:lnL>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c>
                  <a:txBody>
                    <a:bodyPr/>
                    <a:lstStyle/>
                    <a:p>
                      <a:r>
                        <a:rPr sz="1500" b="1">
                          <a:solidFill>
                            <a:srgbClr val="FFFFFF"/>
                          </a:solidFill>
                          <a:latin typeface="Arial"/>
                          <a:ea typeface="Arial"/>
                          <a:cs typeface="Arial"/>
                        </a:rPr>
                        <a:t>Late batches</a:t>
                      </a:r>
                    </a:p>
                  </a:txBody>
                  <a:tcPr marL="114300" marR="114300" marT="47625" marB="47625" anchor="ctr">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c>
                  <a:txBody>
                    <a:bodyPr/>
                    <a:lstStyle/>
                    <a:p>
                      <a:r>
                        <a:rPr sz="1500" b="1">
                          <a:solidFill>
                            <a:srgbClr val="FFFFFF"/>
                          </a:solidFill>
                          <a:latin typeface="Arial"/>
                          <a:ea typeface="Arial"/>
                          <a:cs typeface="Arial"/>
                        </a:rPr>
                        <a:t>Average overdue days</a:t>
                      </a:r>
                    </a:p>
                  </a:txBody>
                  <a:tcPr marL="114300" marR="114300" marT="47625" marB="47625" anchor="ctr">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r>
              <a:tr h="438150">
                <a:tc>
                  <a:txBody>
                    <a:bodyPr/>
                    <a:lstStyle/>
                    <a:p>
                      <a:r>
                        <a:rPr sz="1500" b="0">
                          <a:solidFill>
                            <a:srgbClr val="203731"/>
                          </a:solidFill>
                          <a:latin typeface="Arial"/>
                          <a:ea typeface="Arial"/>
                          <a:cs typeface="Arial"/>
                        </a:rPr>
                        <a:t>Prioritise delivery</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FFFFF"/>
                    </a:solidFill>
                  </a:tcPr>
                </a:tc>
                <a:tc>
                  <a:txBody>
                    <a:bodyPr/>
                    <a:lstStyle/>
                    <a:p>
                      <a:r>
                        <a:rPr sz="1500" b="0">
                          <a:solidFill>
                            <a:srgbClr val="203731"/>
                          </a:solidFill>
                          <a:latin typeface="Arial"/>
                          <a:ea typeface="Arial"/>
                          <a:cs typeface="Arial"/>
                        </a:rPr>
                        <a:t>1.7%</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c>
                  <a:txBody>
                    <a:bodyPr/>
                    <a:lstStyle/>
                    <a:p>
                      <a:r>
                        <a:rPr sz="1500" b="0">
                          <a:solidFill>
                            <a:srgbClr val="203731"/>
                          </a:solidFill>
                          <a:latin typeface="Arial"/>
                          <a:ea typeface="Arial"/>
                          <a:cs typeface="Arial"/>
                        </a:rPr>
                        <a:t>0.18 days</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r>
              <a:tr h="438150">
                <a:tc>
                  <a:txBody>
                    <a:bodyPr/>
                    <a:lstStyle/>
                    <a:p>
                      <a:r>
                        <a:rPr sz="1500" b="0">
                          <a:solidFill>
                            <a:srgbClr val="203731"/>
                          </a:solidFill>
                          <a:latin typeface="Arial"/>
                          <a:ea typeface="Arial"/>
                          <a:cs typeface="Arial"/>
                        </a:rPr>
                        <a:t>Prioritise defects</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7F8F4"/>
                    </a:solidFill>
                  </a:tcPr>
                </a:tc>
                <a:tc>
                  <a:txBody>
                    <a:bodyPr/>
                    <a:lstStyle/>
                    <a:p>
                      <a:r>
                        <a:rPr sz="1500" b="0">
                          <a:solidFill>
                            <a:srgbClr val="203731"/>
                          </a:solidFill>
                          <a:latin typeface="Arial"/>
                          <a:ea typeface="Arial"/>
                          <a:cs typeface="Arial"/>
                        </a:rPr>
                        <a:t>95.1%</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c>
                  <a:txBody>
                    <a:bodyPr/>
                    <a:lstStyle/>
                    <a:p>
                      <a:r>
                        <a:rPr sz="1500" b="0">
                          <a:solidFill>
                            <a:srgbClr val="203731"/>
                          </a:solidFill>
                          <a:latin typeface="Arial"/>
                          <a:ea typeface="Arial"/>
                          <a:cs typeface="Arial"/>
                        </a:rPr>
                        <a:t>139.87 days</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r>
              <a:tr h="438150">
                <a:tc>
                  <a:txBody>
                    <a:bodyPr/>
                    <a:lstStyle/>
                    <a:p>
                      <a:r>
                        <a:rPr sz="1500" b="0">
                          <a:solidFill>
                            <a:srgbClr val="203731"/>
                          </a:solidFill>
                          <a:latin typeface="Arial"/>
                          <a:ea typeface="Arial"/>
                          <a:cs typeface="Arial"/>
                        </a:rPr>
                        <a:t>Initial mixed policy</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FFFFF"/>
                    </a:solidFill>
                  </a:tcPr>
                </a:tc>
                <a:tc>
                  <a:txBody>
                    <a:bodyPr/>
                    <a:lstStyle/>
                    <a:p>
                      <a:r>
                        <a:rPr sz="1500" b="0">
                          <a:solidFill>
                            <a:srgbClr val="203731"/>
                          </a:solidFill>
                          <a:latin typeface="Arial"/>
                          <a:ea typeface="Arial"/>
                          <a:cs typeface="Arial"/>
                        </a:rPr>
                        <a:t>18.8%</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c>
                  <a:txBody>
                    <a:bodyPr/>
                    <a:lstStyle/>
                    <a:p>
                      <a:r>
                        <a:rPr sz="1500" b="0">
                          <a:solidFill>
                            <a:srgbClr val="203731"/>
                          </a:solidFill>
                          <a:latin typeface="Arial"/>
                          <a:ea typeface="Arial"/>
                          <a:cs typeface="Arial"/>
                        </a:rPr>
                        <a:t>1.80 days</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r>
            </a:tbl>
          </a:graphicData>
        </a:graphic>
      </p:graphicFrame>
      <p:sp>
        <p:nvSpPr>
          <p:cNvPr id="5" name="tradeoff">
            <a:extLst xmlns:a="http://schemas.openxmlformats.org/drawingml/2006/main">
              <a:ext uri="{FF2B5EF4-FFF2-40B4-BE49-F238E27FC236}">
                <a16:creationId xmlns:a16="http://schemas.microsoft.com/office/drawing/2014/main" id="{5B889E50-FBF8-4230-8BA2-A6F076D15A30}"/>
              </a:ext>
            </a:extLst>
          </p:cNvPr>
          <p:cNvSpPr>
            <a:spLocks xmlns:a="http://schemas.openxmlformats.org/drawingml/2006/main" noGrp="1"/>
          </p:cNvSpPr>
          <p:nvPr/>
        </p:nvSpPr>
        <p:spPr>
          <a:xfrm xmlns:a="http://schemas.openxmlformats.org/drawingml/2006/main">
            <a:off x="457200" y="4352925"/>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203731"/>
                </a:solidFill>
                <a:latin typeface="Arial"/>
                <a:ea typeface="Arial"/>
                <a:cs typeface="Arial"/>
              </a:defRPr>
            </a:defPPr>
          </a:lstStyle>
          <a:p xmlns:a="http://schemas.openxmlformats.org/drawingml/2006/main">
            <a:pPr algn="l">
              <a:defRPr sz="1425" b="0">
                <a:solidFill>
                  <a:srgbClr val="203731"/>
                </a:solidFill>
              </a:defRPr>
            </a:pPr>
            <a:r>
              <a:rPr sz="1425" b="0">
                <a:solidFill>
                  <a:srgbClr val="203731"/>
                </a:solidFill>
                <a:latin typeface="Arial"/>
                <a:ea typeface="Arial"/>
                <a:cs typeface="Arial"/>
              </a:rPr>
              <a:t>Quality-first routing misses too many dates. Sprint 2 will test a mix that protects delivery while considering cost or quality.</a:t>
            </a:r>
          </a:p>
        </p:txBody>
      </p:sp>
      <p:sp>
        <p:nvSpPr>
          <p:cNvPr id="6" name="source-note">
            <a:extLst xmlns:a="http://schemas.openxmlformats.org/drawingml/2006/main">
              <a:ext uri="{FF2B5EF4-FFF2-40B4-BE49-F238E27FC236}">
                <a16:creationId xmlns:a16="http://schemas.microsoft.com/office/drawing/2014/main" id="{72A27973-32CD-45EC-87B9-3D9A1AED61A5}"/>
              </a:ext>
            </a:extLst>
          </p:cNvPr>
          <p:cNvSpPr>
            <a:spLocks xmlns:a="http://schemas.openxmlformats.org/drawingml/2006/main" noGrp="1"/>
          </p:cNvSpPr>
          <p:nvPr/>
        </p:nvSpPr>
        <p:spPr>
          <a:xfrm xmlns:a="http://schemas.openxmlformats.org/drawingml/2006/main">
            <a:off x="457200" y="4810125"/>
            <a:ext cx="822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63" b="0">
                <a:solidFill>
                  <a:srgbClr val="60726C"/>
                </a:solidFill>
                <a:latin typeface="Arial"/>
                <a:ea typeface="Arial"/>
                <a:cs typeface="Arial"/>
              </a:defRPr>
            </a:defPPr>
          </a:lstStyle>
          <a:p xmlns:a="http://schemas.openxmlformats.org/drawingml/2006/main">
            <a:pPr algn="l">
              <a:defRPr sz="863" b="0">
                <a:solidFill>
                  <a:srgbClr val="60726C"/>
                </a:solidFill>
              </a:defRPr>
            </a:pPr>
            <a:r>
              <a:rPr sz="863" b="0">
                <a:solidFill>
                  <a:srgbClr val="60726C"/>
                </a:solidFill>
                <a:latin typeface="Arial"/>
                <a:ea typeface="Arial"/>
                <a:cs typeface="Arial"/>
              </a:rPr>
              <a:t>Shared simulator, mean over 10 paired normal runs. Source: docs/evidence/data-v3.json.</a:t>
            </a:r>
          </a:p>
        </p:txBody>
      </p:sp>
    </p:spTree>
    <p:extLst>
      <p:ext uri="{BB962C8B-B14F-4D97-AF65-F5344CB8AC3E}">
        <p14:creationId xmlns:p14="http://schemas.microsoft.com/office/powerpoint/2010/main" val="1728859744"/>
      </p:ext>
    </p:extLst>
  </p:cSld>
</p:sld>
</file>

<file path=ppt/slides/slide5.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7EBC7696-0080-4C64-9748-666F96CC9E41}"/>
              </a:ext>
            </a:extLst>
          </p:cNvPr>
          <p:cNvSpPr>
            <a:spLocks xmlns:a="http://schemas.openxmlformats.org/drawingml/2006/main" noGrp="1"/>
          </p:cNvSpPr>
          <p:nvPr/>
        </p:nvSpPr>
        <p:spPr>
          <a:xfrm xmlns:a="http://schemas.openxmlformats.org/drawingml/2006/main">
            <a:off x="457200" y="428625"/>
            <a:ext cx="822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03731"/>
                </a:solidFill>
                <a:latin typeface="Arial"/>
                <a:ea typeface="Arial"/>
                <a:cs typeface="Arial"/>
              </a:defRPr>
            </a:defPPr>
          </a:lstStyle>
          <a:p xmlns:a="http://schemas.openxmlformats.org/drawingml/2006/main">
            <a:pPr algn="l">
              <a:defRPr sz="2550" b="1">
                <a:solidFill>
                  <a:srgbClr val="203731"/>
                </a:solidFill>
              </a:defRPr>
            </a:pPr>
            <a:r>
              <a:rPr sz="2550" b="1">
                <a:solidFill>
                  <a:srgbClr val="203731"/>
                </a:solidFill>
                <a:latin typeface="Arial"/>
                <a:ea typeface="Arial"/>
                <a:cs typeface="Arial"/>
              </a:rPr>
              <a:t>Business value</a:t>
            </a:r>
          </a:p>
        </p:txBody>
      </p:sp>
      <p:sp>
        <p:nvSpPr>
          <p:cNvPr id="2" name="late-rate">
            <a:extLst xmlns:a="http://schemas.openxmlformats.org/drawingml/2006/main">
              <a:ext uri="{FF2B5EF4-FFF2-40B4-BE49-F238E27FC236}">
                <a16:creationId xmlns:a16="http://schemas.microsoft.com/office/drawing/2014/main" id="{98F074FC-8685-4889-BB51-5B300F8E926E}"/>
              </a:ext>
            </a:extLst>
          </p:cNvPr>
          <p:cNvSpPr>
            <a:spLocks xmlns:a="http://schemas.openxmlformats.org/drawingml/2006/main" noGrp="1"/>
          </p:cNvSpPr>
          <p:nvPr/>
        </p:nvSpPr>
        <p:spPr>
          <a:xfrm xmlns:a="http://schemas.openxmlformats.org/drawingml/2006/main">
            <a:off x="457200" y="1438275"/>
            <a:ext cx="333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700" b="1">
                <a:solidFill>
                  <a:srgbClr val="1C5948"/>
                </a:solidFill>
                <a:latin typeface="Arial"/>
                <a:ea typeface="Arial"/>
                <a:cs typeface="Arial"/>
              </a:defRPr>
            </a:defPPr>
          </a:lstStyle>
          <a:p xmlns:a="http://schemas.openxmlformats.org/drawingml/2006/main">
            <a:pPr algn="l">
              <a:defRPr sz="5700" b="1">
                <a:solidFill>
                  <a:srgbClr val="1C5948"/>
                </a:solidFill>
              </a:defRPr>
            </a:pPr>
            <a:r>
              <a:rPr sz="5700" b="1">
                <a:solidFill>
                  <a:srgbClr val="1C5948"/>
                </a:solidFill>
                <a:latin typeface="Arial"/>
                <a:ea typeface="Arial"/>
                <a:cs typeface="Arial"/>
              </a:rPr>
              <a:t>1.7%</a:t>
            </a:r>
          </a:p>
        </p:txBody>
      </p:sp>
      <p:sp>
        <p:nvSpPr>
          <p:cNvPr id="3" name="late-description">
            <a:extLst xmlns:a="http://schemas.openxmlformats.org/drawingml/2006/main">
              <a:ext uri="{FF2B5EF4-FFF2-40B4-BE49-F238E27FC236}">
                <a16:creationId xmlns:a16="http://schemas.microsoft.com/office/drawing/2014/main" id="{9175C3D4-28B0-4FE1-B2DA-FBCBACD544D3}"/>
              </a:ext>
            </a:extLst>
          </p:cNvPr>
          <p:cNvSpPr>
            <a:spLocks xmlns:a="http://schemas.openxmlformats.org/drawingml/2006/main" noGrp="1"/>
          </p:cNvSpPr>
          <p:nvPr/>
        </p:nvSpPr>
        <p:spPr>
          <a:xfrm xmlns:a="http://schemas.openxmlformats.org/drawingml/2006/main">
            <a:off x="457200" y="2295525"/>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03731"/>
                </a:solidFill>
                <a:latin typeface="Arial"/>
                <a:ea typeface="Arial"/>
                <a:cs typeface="Arial"/>
              </a:defRPr>
            </a:defPPr>
          </a:lstStyle>
          <a:p xmlns:a="http://schemas.openxmlformats.org/drawingml/2006/main">
            <a:pPr algn="l">
              <a:defRPr sz="1800" b="0">
                <a:solidFill>
                  <a:srgbClr val="203731"/>
                </a:solidFill>
              </a:defRPr>
            </a:pPr>
            <a:r>
              <a:rPr sz="1800" b="0">
                <a:solidFill>
                  <a:srgbClr val="203731"/>
                </a:solidFill>
                <a:latin typeface="Arial"/>
                <a:ea typeface="Arial"/>
                <a:cs typeface="Arial"/>
              </a:rPr>
              <a:t>late batches with delivery-first routing</a:t>
            </a:r>
          </a:p>
        </p:txBody>
      </p:sp>
      <p:sp>
        <p:nvSpPr>
          <p:cNvPr id="4" name="random-reference">
            <a:extLst xmlns:a="http://schemas.openxmlformats.org/drawingml/2006/main">
              <a:ext uri="{FF2B5EF4-FFF2-40B4-BE49-F238E27FC236}">
                <a16:creationId xmlns:a16="http://schemas.microsoft.com/office/drawing/2014/main" id="{E6108669-C258-4D47-B1A9-2742EC6783B3}"/>
              </a:ext>
            </a:extLst>
          </p:cNvPr>
          <p:cNvSpPr>
            <a:spLocks xmlns:a="http://schemas.openxmlformats.org/drawingml/2006/main" noGrp="1"/>
          </p:cNvSpPr>
          <p:nvPr/>
        </p:nvSpPr>
        <p:spPr>
          <a:xfrm xmlns:a="http://schemas.openxmlformats.org/drawingml/2006/main">
            <a:off x="457200" y="321945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0726C"/>
                </a:solidFill>
                <a:latin typeface="Arial"/>
                <a:ea typeface="Arial"/>
                <a:cs typeface="Arial"/>
              </a:defRPr>
            </a:defPPr>
          </a:lstStyle>
          <a:p xmlns:a="http://schemas.openxmlformats.org/drawingml/2006/main">
            <a:pPr algn="l">
              <a:defRPr sz="1725" b="0">
                <a:solidFill>
                  <a:srgbClr val="60726C"/>
                </a:solidFill>
              </a:defRPr>
            </a:pPr>
            <a:r>
              <a:rPr sz="1725" b="0">
                <a:solidFill>
                  <a:srgbClr val="60726C"/>
                </a:solidFill>
                <a:latin typeface="Arial"/>
                <a:ea typeface="Arial"/>
                <a:cs typeface="Arial"/>
              </a:rPr>
              <a:t>Compared with 34.2%</a:t>
            </a:r>
          </a:p>
          <a:p xmlns:a="http://schemas.openxmlformats.org/drawingml/2006/main">
            <a:pPr algn="l">
              <a:defRPr sz="1725" b="0">
                <a:solidFill>
                  <a:srgbClr val="60726C"/>
                </a:solidFill>
              </a:defRPr>
            </a:pPr>
            <a:r>
              <a:rPr sz="1725" b="0">
                <a:solidFill>
                  <a:srgbClr val="60726C"/>
                </a:solidFill>
                <a:latin typeface="Arial"/>
                <a:ea typeface="Arial"/>
                <a:cs typeface="Arial"/>
              </a:rPr>
              <a:t>for random eligible routing</a:t>
            </a:r>
          </a:p>
        </p:txBody>
      </p:sp>
      <p:sp>
        <p:nvSpPr>
          <p:cNvPr id="5" name="Reduce avoidable dispatch errors">
            <a:extLst xmlns:a="http://schemas.openxmlformats.org/drawingml/2006/main">
              <a:ext uri="{FF2B5EF4-FFF2-40B4-BE49-F238E27FC236}">
                <a16:creationId xmlns:a16="http://schemas.microsoft.com/office/drawing/2014/main" id="{4D531FBC-BBAF-404F-B15C-EBA9FACEE5BE}"/>
              </a:ext>
            </a:extLst>
          </p:cNvPr>
          <p:cNvSpPr>
            <a:spLocks xmlns:a="http://schemas.openxmlformats.org/drawingml/2006/main" noGrp="1"/>
          </p:cNvSpPr>
          <p:nvPr/>
        </p:nvSpPr>
        <p:spPr>
          <a:xfrm xmlns:a="http://schemas.openxmlformats.org/drawingml/2006/main">
            <a:off x="4476750" y="1466850"/>
            <a:ext cx="421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1C5948"/>
                </a:solidFill>
                <a:latin typeface="Arial"/>
                <a:ea typeface="Arial"/>
                <a:cs typeface="Arial"/>
              </a:defRPr>
            </a:defPPr>
          </a:lstStyle>
          <a:p xmlns:a="http://schemas.openxmlformats.org/drawingml/2006/main">
            <a:pPr algn="l">
              <a:defRPr sz="1650" b="1">
                <a:solidFill>
                  <a:srgbClr val="1C5948"/>
                </a:solidFill>
              </a:defRPr>
            </a:pPr>
            <a:r>
              <a:rPr sz="1650" b="1">
                <a:solidFill>
                  <a:srgbClr val="1C5948"/>
                </a:solidFill>
                <a:latin typeface="Arial"/>
                <a:ea typeface="Arial"/>
                <a:cs typeface="Arial"/>
              </a:rPr>
              <a:t>Reduce avoidable dispatch errors</a:t>
            </a:r>
          </a:p>
        </p:txBody>
      </p:sp>
      <p:sp>
        <p:nvSpPr>
          <p:cNvPr id="6" name="Reduce avoidable dispatch errors detail">
            <a:extLst xmlns:a="http://schemas.openxmlformats.org/drawingml/2006/main">
              <a:ext uri="{FF2B5EF4-FFF2-40B4-BE49-F238E27FC236}">
                <a16:creationId xmlns:a16="http://schemas.microsoft.com/office/drawing/2014/main" id="{88AA6F25-B6D5-454D-AAF3-3B386147C327}"/>
              </a:ext>
            </a:extLst>
          </p:cNvPr>
          <p:cNvSpPr>
            <a:spLocks xmlns:a="http://schemas.openxmlformats.org/drawingml/2006/main" noGrp="1"/>
          </p:cNvSpPr>
          <p:nvPr/>
        </p:nvSpPr>
        <p:spPr>
          <a:xfrm xmlns:a="http://schemas.openxmlformats.org/drawingml/2006/main">
            <a:off x="4476750" y="1809750"/>
            <a:ext cx="421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203731"/>
                </a:solidFill>
                <a:latin typeface="Arial"/>
                <a:ea typeface="Arial"/>
                <a:cs typeface="Arial"/>
              </a:defRPr>
            </a:defPPr>
          </a:lstStyle>
          <a:p xmlns:a="http://schemas.openxmlformats.org/drawingml/2006/main">
            <a:pPr algn="l">
              <a:defRPr sz="1500" b="0">
                <a:solidFill>
                  <a:srgbClr val="203731"/>
                </a:solidFill>
              </a:defRPr>
            </a:pPr>
            <a:r>
              <a:rPr sz="1500" b="0">
                <a:solidFill>
                  <a:srgbClr val="203731"/>
                </a:solidFill>
                <a:latin typeface="Arial"/>
                <a:ea typeface="Arial"/>
                <a:cs typeface="Arial"/>
              </a:rPr>
              <a:t>Check workshop restrictions before recommending.</a:t>
            </a:r>
          </a:p>
        </p:txBody>
      </p:sp>
      <p:sp>
        <p:nvSpPr>
          <p:cNvPr id="7" name="Keep a decision record">
            <a:extLst xmlns:a="http://schemas.openxmlformats.org/drawingml/2006/main">
              <a:ext uri="{FF2B5EF4-FFF2-40B4-BE49-F238E27FC236}">
                <a16:creationId xmlns:a16="http://schemas.microsoft.com/office/drawing/2014/main" id="{C8FEC8DC-475D-42D4-AE38-D8BF6EC08449}"/>
              </a:ext>
            </a:extLst>
          </p:cNvPr>
          <p:cNvSpPr>
            <a:spLocks xmlns:a="http://schemas.openxmlformats.org/drawingml/2006/main" noGrp="1"/>
          </p:cNvSpPr>
          <p:nvPr/>
        </p:nvSpPr>
        <p:spPr>
          <a:xfrm xmlns:a="http://schemas.openxmlformats.org/drawingml/2006/main">
            <a:off x="4476750" y="2514600"/>
            <a:ext cx="421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1C5948"/>
                </a:solidFill>
                <a:latin typeface="Arial"/>
                <a:ea typeface="Arial"/>
                <a:cs typeface="Arial"/>
              </a:defRPr>
            </a:defPPr>
          </a:lstStyle>
          <a:p xmlns:a="http://schemas.openxmlformats.org/drawingml/2006/main">
            <a:pPr algn="l">
              <a:defRPr sz="1650" b="1">
                <a:solidFill>
                  <a:srgbClr val="1C5948"/>
                </a:solidFill>
              </a:defRPr>
            </a:pPr>
            <a:r>
              <a:rPr sz="1650" b="1">
                <a:solidFill>
                  <a:srgbClr val="1C5948"/>
                </a:solidFill>
                <a:latin typeface="Arial"/>
                <a:ea typeface="Arial"/>
                <a:cs typeface="Arial"/>
              </a:rPr>
              <a:t>Keep a decision record</a:t>
            </a:r>
          </a:p>
        </p:txBody>
      </p:sp>
      <p:sp>
        <p:nvSpPr>
          <p:cNvPr id="8" name="Keep a decision record detail">
            <a:extLst xmlns:a="http://schemas.openxmlformats.org/drawingml/2006/main">
              <a:ext uri="{FF2B5EF4-FFF2-40B4-BE49-F238E27FC236}">
                <a16:creationId xmlns:a16="http://schemas.microsoft.com/office/drawing/2014/main" id="{2FFE6252-8F15-4134-84EF-148F2905FCB5}"/>
              </a:ext>
            </a:extLst>
          </p:cNvPr>
          <p:cNvSpPr>
            <a:spLocks xmlns:a="http://schemas.openxmlformats.org/drawingml/2006/main" noGrp="1"/>
          </p:cNvSpPr>
          <p:nvPr/>
        </p:nvSpPr>
        <p:spPr>
          <a:xfrm xmlns:a="http://schemas.openxmlformats.org/drawingml/2006/main">
            <a:off x="4476750" y="2857500"/>
            <a:ext cx="421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203731"/>
                </a:solidFill>
                <a:latin typeface="Arial"/>
                <a:ea typeface="Arial"/>
                <a:cs typeface="Arial"/>
              </a:defRPr>
            </a:defPPr>
          </a:lstStyle>
          <a:p xmlns:a="http://schemas.openxmlformats.org/drawingml/2006/main">
            <a:pPr algn="l">
              <a:defRPr sz="1500" b="0">
                <a:solidFill>
                  <a:srgbClr val="203731"/>
                </a:solidFill>
              </a:defRPr>
            </a:pPr>
            <a:r>
              <a:rPr sz="1500" b="0">
                <a:solidFill>
                  <a:srgbClr val="203731"/>
                </a:solidFill>
                <a:latin typeface="Arial"/>
                <a:ea typeface="Arial"/>
                <a:cs typeface="Arial"/>
              </a:rPr>
              <a:t>Retain the request, options and confirming dispatcher.</a:t>
            </a:r>
          </a:p>
        </p:txBody>
      </p:sp>
      <p:sp>
        <p:nvSpPr>
          <p:cNvPr id="9" name="Escalate impossible dates">
            <a:extLst xmlns:a="http://schemas.openxmlformats.org/drawingml/2006/main">
              <a:ext uri="{FF2B5EF4-FFF2-40B4-BE49-F238E27FC236}">
                <a16:creationId xmlns:a16="http://schemas.microsoft.com/office/drawing/2014/main" id="{32F6E4AC-EB41-447F-AA4D-507698A5E100}"/>
              </a:ext>
            </a:extLst>
          </p:cNvPr>
          <p:cNvSpPr>
            <a:spLocks xmlns:a="http://schemas.openxmlformats.org/drawingml/2006/main" noGrp="1"/>
          </p:cNvSpPr>
          <p:nvPr/>
        </p:nvSpPr>
        <p:spPr>
          <a:xfrm xmlns:a="http://schemas.openxmlformats.org/drawingml/2006/main">
            <a:off x="4476750" y="3562350"/>
            <a:ext cx="421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1C5948"/>
                </a:solidFill>
                <a:latin typeface="Arial"/>
                <a:ea typeface="Arial"/>
                <a:cs typeface="Arial"/>
              </a:defRPr>
            </a:defPPr>
          </a:lstStyle>
          <a:p xmlns:a="http://schemas.openxmlformats.org/drawingml/2006/main">
            <a:pPr algn="l">
              <a:defRPr sz="1650" b="1">
                <a:solidFill>
                  <a:srgbClr val="1C5948"/>
                </a:solidFill>
              </a:defRPr>
            </a:pPr>
            <a:r>
              <a:rPr sz="1650" b="1">
                <a:solidFill>
                  <a:srgbClr val="1C5948"/>
                </a:solidFill>
                <a:latin typeface="Arial"/>
                <a:ea typeface="Arial"/>
                <a:cs typeface="Arial"/>
              </a:rPr>
              <a:t>Escalate impossible dates</a:t>
            </a:r>
          </a:p>
        </p:txBody>
      </p:sp>
      <p:sp>
        <p:nvSpPr>
          <p:cNvPr id="10" name="Escalate impossible dates detail">
            <a:extLst xmlns:a="http://schemas.openxmlformats.org/drawingml/2006/main">
              <a:ext uri="{FF2B5EF4-FFF2-40B4-BE49-F238E27FC236}">
                <a16:creationId xmlns:a16="http://schemas.microsoft.com/office/drawing/2014/main" id="{C72A77A9-7B14-44BC-9AB0-3AF299D840D9}"/>
              </a:ext>
            </a:extLst>
          </p:cNvPr>
          <p:cNvSpPr>
            <a:spLocks xmlns:a="http://schemas.openxmlformats.org/drawingml/2006/main" noGrp="1"/>
          </p:cNvSpPr>
          <p:nvPr/>
        </p:nvSpPr>
        <p:spPr>
          <a:xfrm xmlns:a="http://schemas.openxmlformats.org/drawingml/2006/main">
            <a:off x="4476750" y="3905250"/>
            <a:ext cx="421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203731"/>
                </a:solidFill>
                <a:latin typeface="Arial"/>
                <a:ea typeface="Arial"/>
                <a:cs typeface="Arial"/>
              </a:defRPr>
            </a:defPPr>
          </a:lstStyle>
          <a:p xmlns:a="http://schemas.openxmlformats.org/drawingml/2006/main">
            <a:pPr algn="l">
              <a:defRPr sz="1500" b="0">
                <a:solidFill>
                  <a:srgbClr val="203731"/>
                </a:solidFill>
              </a:defRPr>
            </a:pPr>
            <a:r>
              <a:rPr sz="1500" b="0">
                <a:solidFill>
                  <a:srgbClr val="203731"/>
                </a:solidFill>
                <a:latin typeface="Arial"/>
                <a:ea typeface="Arial"/>
                <a:cs typeface="Arial"/>
              </a:rPr>
              <a:t>Show the earliest estimate and options for review.</a:t>
            </a:r>
          </a:p>
        </p:txBody>
      </p:sp>
      <p:sp>
        <p:nvSpPr>
          <p:cNvPr id="11" name="source-note">
            <a:extLst xmlns:a="http://schemas.openxmlformats.org/drawingml/2006/main">
              <a:ext uri="{FF2B5EF4-FFF2-40B4-BE49-F238E27FC236}">
                <a16:creationId xmlns:a16="http://schemas.microsoft.com/office/drawing/2014/main" id="{D6EBEEC5-8522-4799-9C67-0406B9F3FF37}"/>
              </a:ext>
            </a:extLst>
          </p:cNvPr>
          <p:cNvSpPr>
            <a:spLocks xmlns:a="http://schemas.openxmlformats.org/drawingml/2006/main" noGrp="1"/>
          </p:cNvSpPr>
          <p:nvPr/>
        </p:nvSpPr>
        <p:spPr>
          <a:xfrm xmlns:a="http://schemas.openxmlformats.org/drawingml/2006/main">
            <a:off x="457200" y="4810125"/>
            <a:ext cx="822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63" b="0">
                <a:solidFill>
                  <a:srgbClr val="60726C"/>
                </a:solidFill>
                <a:latin typeface="Arial"/>
                <a:ea typeface="Arial"/>
                <a:cs typeface="Arial"/>
              </a:defRPr>
            </a:defPPr>
          </a:lstStyle>
          <a:p xmlns:a="http://schemas.openxmlformats.org/drawingml/2006/main">
            <a:pPr algn="l">
              <a:defRPr sz="863" b="0">
                <a:solidFill>
                  <a:srgbClr val="60726C"/>
                </a:solidFill>
              </a:defRPr>
            </a:pPr>
            <a:r>
              <a:rPr sz="863" b="0">
                <a:solidFill>
                  <a:srgbClr val="60726C"/>
                </a:solidFill>
                <a:latin typeface="Arial"/>
                <a:ea typeface="Arial"/>
                <a:cs typeface="Arial"/>
              </a:rPr>
              <a:t>Simulator evidence, not a factory result. Speed costs more than cheapest routing. Source: docs/V3_EVALUATION.md.</a:t>
            </a:r>
          </a:p>
        </p:txBody>
      </p:sp>
    </p:spTree>
    <p:extLst>
      <p:ext uri="{BB962C8B-B14F-4D97-AF65-F5344CB8AC3E}">
        <p14:creationId xmlns:p14="http://schemas.microsoft.com/office/powerpoint/2010/main" val="1093213614"/>
      </p:ext>
    </p:extLst>
  </p:cSld>
</p:sld>
</file>

<file path=ppt/slides/slide6.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9789100-B37D-4654-A21D-CB6ECB179EE3}"/>
              </a:ext>
            </a:extLst>
          </p:cNvPr>
          <p:cNvSpPr>
            <a:spLocks xmlns:a="http://schemas.openxmlformats.org/drawingml/2006/main" noGrp="1"/>
          </p:cNvSpPr>
          <p:nvPr/>
        </p:nvSpPr>
        <p:spPr>
          <a:xfrm xmlns:a="http://schemas.openxmlformats.org/drawingml/2006/main">
            <a:off x="457200" y="428625"/>
            <a:ext cx="822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03731"/>
                </a:solidFill>
                <a:latin typeface="Arial"/>
                <a:ea typeface="Arial"/>
                <a:cs typeface="Arial"/>
              </a:defRPr>
            </a:defPPr>
          </a:lstStyle>
          <a:p xmlns:a="http://schemas.openxmlformats.org/drawingml/2006/main">
            <a:pPr algn="l">
              <a:defRPr sz="2550" b="1">
                <a:solidFill>
                  <a:srgbClr val="203731"/>
                </a:solidFill>
              </a:defRPr>
            </a:pPr>
            <a:r>
              <a:rPr sz="2550" b="1">
                <a:solidFill>
                  <a:srgbClr val="203731"/>
                </a:solidFill>
                <a:latin typeface="Arial"/>
                <a:ea typeface="Arial"/>
                <a:cs typeface="Arial"/>
              </a:rPr>
              <a:t>Sprint 1 progress</a:t>
            </a:r>
          </a:p>
        </p:txBody>
      </p:sp>
      <p:sp>
        <p:nvSpPr>
          <p:cNvPr id="2" name="comparison-description">
            <a:extLst xmlns:a="http://schemas.openxmlformats.org/drawingml/2006/main">
              <a:ext uri="{FF2B5EF4-FFF2-40B4-BE49-F238E27FC236}">
                <a16:creationId xmlns:a16="http://schemas.microsoft.com/office/drawing/2014/main" id="{1349B181-3844-4BA5-8741-A600FC3E380D}"/>
              </a:ext>
            </a:extLst>
          </p:cNvPr>
          <p:cNvSpPr>
            <a:spLocks xmlns:a="http://schemas.openxmlformats.org/drawingml/2006/main" noGrp="1"/>
          </p:cNvSpPr>
          <p:nvPr/>
        </p:nvSpPr>
        <p:spPr>
          <a:xfrm xmlns:a="http://schemas.openxmlformats.org/drawingml/2006/main">
            <a:off x="457200" y="1162050"/>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C5948"/>
                </a:solidFill>
                <a:latin typeface="Arial"/>
                <a:ea typeface="Arial"/>
                <a:cs typeface="Arial"/>
              </a:defRPr>
            </a:defPPr>
          </a:lstStyle>
          <a:p xmlns:a="http://schemas.openxmlformats.org/drawingml/2006/main">
            <a:pPr algn="l">
              <a:defRPr sz="1725" b="0">
                <a:solidFill>
                  <a:srgbClr val="1C5948"/>
                </a:solidFill>
              </a:defRPr>
            </a:pPr>
            <a:r>
              <a:rPr sz="1725" b="0">
                <a:solidFill>
                  <a:srgbClr val="1C5948"/>
                </a:solidFill>
                <a:latin typeface="Arial"/>
                <a:ea typeface="Arial"/>
                <a:cs typeface="Arial"/>
              </a:rPr>
              <a:t>Delivery-first routing beats the supplied baselines on lateness</a:t>
            </a:r>
          </a:p>
        </p:txBody>
      </p:sp>
      <p:graphicFrame>
        <p:nvGraphicFramePr>
          <p:cNvPr id="3" name="simulator comparison">
            <a:extLst xmlns:a="http://schemas.openxmlformats.org/drawingml/2006/main">
              <a:ext uri="{FF2B5EF4-FFF2-40B4-BE49-F238E27FC236}">
                <a16:creationId xmlns:a16="http://schemas.microsoft.com/office/drawing/2014/main" id="{4465B08B-1872-4A2E-A82B-CA8A7C754888}"/>
              </a:ext>
            </a:extLst>
          </p:cNvPr>
          <p:cNvGraphicFramePr/>
          <p:nvPr/>
        </p:nvGraphicFramePr>
        <p:xfrm>
          <a:off xmlns:a="http://schemas.openxmlformats.org/drawingml/2006/main" x="457200" y="1752600"/>
          <a:ext xmlns:a="http://schemas.openxmlformats.org/drawingml/2006/main" cx="8229600" cy="2495550"/>
        </p:xfrm>
        <a:graphic xmlns:a="http://schemas.openxmlformats.org/drawingml/2006/main">
          <a:graphicData uri="http://schemas.openxmlformats.org/drawingml/2006/table">
            <a:tbl>
              <a:tblPr/>
              <a:tblGrid>
                <a:gridCol w="3162300"/>
                <a:gridCol w="1190625"/>
                <a:gridCol w="1343025"/>
                <a:gridCol w="1190625"/>
                <a:gridCol w="1343025"/>
              </a:tblGrid>
              <a:tr h="495300">
                <a:tc>
                  <a:txBody>
                    <a:bodyPr/>
                    <a:lstStyle/>
                    <a:p>
                      <a:r>
                        <a:rPr sz="1350" b="1">
                          <a:solidFill>
                            <a:srgbClr val="FFFFFF"/>
                          </a:solidFill>
                          <a:latin typeface="Arial"/>
                          <a:ea typeface="Arial"/>
                          <a:cs typeface="Arial"/>
                        </a:rPr>
                        <a:t>Routing policy</a:t>
                      </a:r>
                    </a:p>
                  </a:txBody>
                  <a:tcPr marL="114300" marR="114300" marT="47625" marB="47625" anchor="ctr">
                    <a:lnL w="6668">
                      <a:solidFill>
                        <a:srgbClr val="C8D7CE"/>
                      </a:solidFill>
                      <a:prstDash val="solid"/>
                    </a:lnL>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c>
                  <a:txBody>
                    <a:bodyPr/>
                    <a:lstStyle/>
                    <a:p>
                      <a:r>
                        <a:rPr sz="1350" b="1">
                          <a:solidFill>
                            <a:srgbClr val="FFFFFF"/>
                          </a:solidFill>
                          <a:latin typeface="Arial"/>
                          <a:ea typeface="Arial"/>
                          <a:cs typeface="Arial"/>
                        </a:rPr>
                        <a:t>Late %</a:t>
                      </a:r>
                    </a:p>
                    <a:p>
                      <a:r>
                        <a:rPr sz="1350" b="1">
                          <a:solidFill>
                            <a:srgbClr val="FFFFFF"/>
                          </a:solidFill>
                          <a:latin typeface="Arial"/>
                          <a:ea typeface="Arial"/>
                          <a:cs typeface="Arial"/>
                        </a:rPr>
                        <a:t>normal</a:t>
                      </a:r>
                    </a:p>
                  </a:txBody>
                  <a:tcPr marL="114300" marR="114300" marT="47625" marB="47625" anchor="ctr">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c>
                  <a:txBody>
                    <a:bodyPr/>
                    <a:lstStyle/>
                    <a:p>
                      <a:r>
                        <a:rPr sz="1350" b="1">
                          <a:solidFill>
                            <a:srgbClr val="FFFFFF"/>
                          </a:solidFill>
                          <a:latin typeface="Arial"/>
                          <a:ea typeface="Arial"/>
                          <a:cs typeface="Arial"/>
                        </a:rPr>
                        <a:t>Late days</a:t>
                      </a:r>
                    </a:p>
                    <a:p>
                      <a:r>
                        <a:rPr sz="1350" b="1">
                          <a:solidFill>
                            <a:srgbClr val="FFFFFF"/>
                          </a:solidFill>
                          <a:latin typeface="Arial"/>
                          <a:ea typeface="Arial"/>
                          <a:cs typeface="Arial"/>
                        </a:rPr>
                        <a:t>normal</a:t>
                      </a:r>
                    </a:p>
                  </a:txBody>
                  <a:tcPr marL="114300" marR="114300" marT="47625" marB="47625" anchor="ctr">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c>
                  <a:txBody>
                    <a:bodyPr/>
                    <a:lstStyle/>
                    <a:p>
                      <a:r>
                        <a:rPr sz="1350" b="1">
                          <a:solidFill>
                            <a:srgbClr val="FFFFFF"/>
                          </a:solidFill>
                          <a:latin typeface="Arial"/>
                          <a:ea typeface="Arial"/>
                          <a:cs typeface="Arial"/>
                        </a:rPr>
                        <a:t>Late %</a:t>
                      </a:r>
                    </a:p>
                    <a:p>
                      <a:r>
                        <a:rPr sz="1350" b="1">
                          <a:solidFill>
                            <a:srgbClr val="FFFFFF"/>
                          </a:solidFill>
                          <a:latin typeface="Arial"/>
                          <a:ea typeface="Arial"/>
                          <a:cs typeface="Arial"/>
                        </a:rPr>
                        <a:t>closure</a:t>
                      </a:r>
                    </a:p>
                  </a:txBody>
                  <a:tcPr marL="114300" marR="114300" marT="47625" marB="47625" anchor="ctr">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c>
                  <a:txBody>
                    <a:bodyPr/>
                    <a:lstStyle/>
                    <a:p>
                      <a:r>
                        <a:rPr sz="1350" b="1">
                          <a:solidFill>
                            <a:srgbClr val="FFFFFF"/>
                          </a:solidFill>
                          <a:latin typeface="Arial"/>
                          <a:ea typeface="Arial"/>
                          <a:cs typeface="Arial"/>
                        </a:rPr>
                        <a:t>Late days</a:t>
                      </a:r>
                    </a:p>
                    <a:p>
                      <a:r>
                        <a:rPr sz="1350" b="1">
                          <a:solidFill>
                            <a:srgbClr val="FFFFFF"/>
                          </a:solidFill>
                          <a:latin typeface="Arial"/>
                          <a:ea typeface="Arial"/>
                          <a:cs typeface="Arial"/>
                        </a:rPr>
                        <a:t>closure</a:t>
                      </a:r>
                    </a:p>
                  </a:txBody>
                  <a:tcPr marL="114300" marR="114300" marT="47625" marB="47625" anchor="ctr">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r>
              <a:tr h="400050">
                <a:tc>
                  <a:txBody>
                    <a:bodyPr/>
                    <a:lstStyle/>
                    <a:p>
                      <a:r>
                        <a:rPr sz="1350" b="0">
                          <a:solidFill>
                            <a:srgbClr val="203731"/>
                          </a:solidFill>
                          <a:latin typeface="Arial"/>
                          <a:ea typeface="Arial"/>
                          <a:cs typeface="Arial"/>
                        </a:rPr>
                        <a:t>Random eligible</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34.2</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6.13</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38.2</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7.17</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r>
              <a:tr h="400050">
                <a:tc>
                  <a:txBody>
                    <a:bodyPr/>
                    <a:lstStyle/>
                    <a:p>
                      <a:r>
                        <a:rPr sz="1350" b="0">
                          <a:solidFill>
                            <a:srgbClr val="203731"/>
                          </a:solidFill>
                          <a:latin typeface="Arial"/>
                          <a:ea typeface="Arial"/>
                          <a:cs typeface="Arial"/>
                        </a:rPr>
                        <a:t>Largest capacity</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84.3</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26.53</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84.9</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28.05</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r>
              <a:tr h="400050">
                <a:tc>
                  <a:txBody>
                    <a:bodyPr/>
                    <a:lstStyle/>
                    <a:p>
                      <a:r>
                        <a:rPr sz="1350" b="0">
                          <a:solidFill>
                            <a:srgbClr val="203731"/>
                          </a:solidFill>
                          <a:latin typeface="Arial"/>
                          <a:ea typeface="Arial"/>
                          <a:cs typeface="Arial"/>
                        </a:rPr>
                        <a:t>Lowest cost</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91.8</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81.92</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91.8</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84.12</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r>
              <a:tr h="400050">
                <a:tc>
                  <a:txBody>
                    <a:bodyPr/>
                    <a:lstStyle/>
                    <a:p>
                      <a:r>
                        <a:rPr sz="1350" b="0">
                          <a:solidFill>
                            <a:srgbClr val="203731"/>
                          </a:solidFill>
                          <a:latin typeface="Arial"/>
                          <a:ea typeface="Arial"/>
                          <a:cs typeface="Arial"/>
                        </a:rPr>
                        <a:t>Earliest finish rule</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1.7</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0.18</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1.9</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0.19</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r>
              <a:tr h="400050">
                <a:tc>
                  <a:txBody>
                    <a:bodyPr/>
                    <a:lstStyle/>
                    <a:p>
                      <a:r>
                        <a:rPr sz="1350" b="1">
                          <a:solidFill>
                            <a:srgbClr val="1C5948"/>
                          </a:solidFill>
                          <a:latin typeface="Arial"/>
                          <a:ea typeface="Arial"/>
                          <a:cs typeface="Arial"/>
                        </a:rPr>
                        <a:t>Our delivery-first setting</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E9F3EA"/>
                    </a:solidFill>
                  </a:tcPr>
                </a:tc>
                <a:tc>
                  <a:txBody>
                    <a:bodyPr/>
                    <a:lstStyle/>
                    <a:p>
                      <a:r>
                        <a:rPr sz="1350" b="1">
                          <a:solidFill>
                            <a:srgbClr val="1C5948"/>
                          </a:solidFill>
                          <a:latin typeface="Arial"/>
                          <a:ea typeface="Arial"/>
                          <a:cs typeface="Arial"/>
                        </a:rPr>
                        <a:t>1.7</a:t>
                      </a:r>
                    </a:p>
                  </a:txBody>
                  <a:tcPr marL="114300" marR="114300" marT="47625" marB="47625" anchor="ctr">
                    <a:lnR w="6668">
                      <a:solidFill>
                        <a:srgbClr val="C8D7CE"/>
                      </a:solidFill>
                      <a:prstDash val="solid"/>
                    </a:lnR>
                    <a:lnB w="6668">
                      <a:solidFill>
                        <a:srgbClr val="C8D7CE"/>
                      </a:solidFill>
                      <a:prstDash val="solid"/>
                    </a:lnB>
                    <a:solidFill>
                      <a:srgbClr val="E9F3EA"/>
                    </a:solidFill>
                  </a:tcPr>
                </a:tc>
                <a:tc>
                  <a:txBody>
                    <a:bodyPr/>
                    <a:lstStyle/>
                    <a:p>
                      <a:r>
                        <a:rPr sz="1350" b="1">
                          <a:solidFill>
                            <a:srgbClr val="1C5948"/>
                          </a:solidFill>
                          <a:latin typeface="Arial"/>
                          <a:ea typeface="Arial"/>
                          <a:cs typeface="Arial"/>
                        </a:rPr>
                        <a:t>0.18</a:t>
                      </a:r>
                    </a:p>
                  </a:txBody>
                  <a:tcPr marL="114300" marR="114300" marT="47625" marB="47625" anchor="ctr">
                    <a:lnR w="6668">
                      <a:solidFill>
                        <a:srgbClr val="C8D7CE"/>
                      </a:solidFill>
                      <a:prstDash val="solid"/>
                    </a:lnR>
                    <a:lnB w="6668">
                      <a:solidFill>
                        <a:srgbClr val="C8D7CE"/>
                      </a:solidFill>
                      <a:prstDash val="solid"/>
                    </a:lnB>
                    <a:solidFill>
                      <a:srgbClr val="E9F3EA"/>
                    </a:solidFill>
                  </a:tcPr>
                </a:tc>
                <a:tc>
                  <a:txBody>
                    <a:bodyPr/>
                    <a:lstStyle/>
                    <a:p>
                      <a:r>
                        <a:rPr sz="1350" b="1">
                          <a:solidFill>
                            <a:srgbClr val="1C5948"/>
                          </a:solidFill>
                          <a:latin typeface="Arial"/>
                          <a:ea typeface="Arial"/>
                          <a:cs typeface="Arial"/>
                        </a:rPr>
                        <a:t>1.9</a:t>
                      </a:r>
                    </a:p>
                  </a:txBody>
                  <a:tcPr marL="114300" marR="114300" marT="47625" marB="47625" anchor="ctr">
                    <a:lnR w="6668">
                      <a:solidFill>
                        <a:srgbClr val="C8D7CE"/>
                      </a:solidFill>
                      <a:prstDash val="solid"/>
                    </a:lnR>
                    <a:lnB w="6668">
                      <a:solidFill>
                        <a:srgbClr val="C8D7CE"/>
                      </a:solidFill>
                      <a:prstDash val="solid"/>
                    </a:lnB>
                    <a:solidFill>
                      <a:srgbClr val="E9F3EA"/>
                    </a:solidFill>
                  </a:tcPr>
                </a:tc>
                <a:tc>
                  <a:txBody>
                    <a:bodyPr/>
                    <a:lstStyle/>
                    <a:p>
                      <a:r>
                        <a:rPr sz="1350" b="1">
                          <a:solidFill>
                            <a:srgbClr val="1C5948"/>
                          </a:solidFill>
                          <a:latin typeface="Arial"/>
                          <a:ea typeface="Arial"/>
                          <a:cs typeface="Arial"/>
                        </a:rPr>
                        <a:t>0.18</a:t>
                      </a:r>
                    </a:p>
                  </a:txBody>
                  <a:tcPr marL="114300" marR="114300" marT="47625" marB="47625" anchor="ctr">
                    <a:lnR w="6668">
                      <a:solidFill>
                        <a:srgbClr val="C8D7CE"/>
                      </a:solidFill>
                      <a:prstDash val="solid"/>
                    </a:lnR>
                    <a:lnB w="6668">
                      <a:solidFill>
                        <a:srgbClr val="C8D7CE"/>
                      </a:solidFill>
                      <a:prstDash val="solid"/>
                    </a:lnB>
                    <a:solidFill>
                      <a:srgbClr val="E9F3EA"/>
                    </a:solidFill>
                  </a:tcPr>
                </a:tc>
              </a:tr>
            </a:tbl>
          </a:graphicData>
        </a:graphic>
      </p:graphicFrame>
      <p:sp>
        <p:nvSpPr>
          <p:cNvPr id="4" name="comparator-caveat">
            <a:extLst xmlns:a="http://schemas.openxmlformats.org/drawingml/2006/main">
              <a:ext uri="{FF2B5EF4-FFF2-40B4-BE49-F238E27FC236}">
                <a16:creationId xmlns:a16="http://schemas.microsoft.com/office/drawing/2014/main" id="{869C5C70-2656-411A-8EFC-2C96C213DA91}"/>
              </a:ext>
            </a:extLst>
          </p:cNvPr>
          <p:cNvSpPr>
            <a:spLocks xmlns:a="http://schemas.openxmlformats.org/drawingml/2006/main" noGrp="1"/>
          </p:cNvSpPr>
          <p:nvPr/>
        </p:nvSpPr>
        <p:spPr>
          <a:xfrm xmlns:a="http://schemas.openxmlformats.org/drawingml/2006/main">
            <a:off x="457200" y="4391025"/>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203731"/>
                </a:solidFill>
                <a:latin typeface="Arial"/>
                <a:ea typeface="Arial"/>
                <a:cs typeface="Arial"/>
              </a:defRPr>
            </a:defPPr>
          </a:lstStyle>
          <a:p xmlns:a="http://schemas.openxmlformats.org/drawingml/2006/main">
            <a:pPr algn="l">
              <a:defRPr sz="1425" b="0">
                <a:solidFill>
                  <a:srgbClr val="203731"/>
                </a:solidFill>
              </a:defRPr>
            </a:pPr>
            <a:r>
              <a:rPr sz="1425" b="0">
                <a:solidFill>
                  <a:srgbClr val="203731"/>
                </a:solidFill>
                <a:latin typeface="Arial"/>
                <a:ea typeface="Arial"/>
                <a:cs typeface="Arial"/>
              </a:rPr>
              <a:t>The earliest-finish rule matches our late rate. Our added capabilities are chat intake, explicit restrictions and recorded approval.</a:t>
            </a:r>
          </a:p>
        </p:txBody>
      </p:sp>
      <p:sp>
        <p:nvSpPr>
          <p:cNvPr id="5" name="source-note">
            <a:extLst xmlns:a="http://schemas.openxmlformats.org/drawingml/2006/main">
              <a:ext uri="{FF2B5EF4-FFF2-40B4-BE49-F238E27FC236}">
                <a16:creationId xmlns:a16="http://schemas.microsoft.com/office/drawing/2014/main" id="{55B35235-DEA1-41EE-B225-D6D5E2C2C827}"/>
              </a:ext>
            </a:extLst>
          </p:cNvPr>
          <p:cNvSpPr>
            <a:spLocks xmlns:a="http://schemas.openxmlformats.org/drawingml/2006/main" noGrp="1"/>
          </p:cNvSpPr>
          <p:nvPr/>
        </p:nvSpPr>
        <p:spPr>
          <a:xfrm xmlns:a="http://schemas.openxmlformats.org/drawingml/2006/main">
            <a:off x="457200" y="4810125"/>
            <a:ext cx="822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63" b="0">
                <a:solidFill>
                  <a:srgbClr val="60726C"/>
                </a:solidFill>
                <a:latin typeface="Arial"/>
                <a:ea typeface="Arial"/>
                <a:cs typeface="Arial"/>
              </a:defRPr>
            </a:defPPr>
          </a:lstStyle>
          <a:p xmlns:a="http://schemas.openxmlformats.org/drawingml/2006/main">
            <a:pPr algn="l">
              <a:defRPr sz="863" b="0">
                <a:solidFill>
                  <a:srgbClr val="60726C"/>
                </a:solidFill>
              </a:defRPr>
            </a:pPr>
            <a:r>
              <a:rPr sz="863" b="0">
                <a:solidFill>
                  <a:srgbClr val="60726C"/>
                </a:solidFill>
                <a:latin typeface="Arial"/>
                <a:ea typeface="Arial"/>
                <a:cs typeface="Arial"/>
              </a:rPr>
              <a:t>Mean over 10 seeds. Closure = course shock scenario. Late days include on-time batches. Source: data-v3.json.</a:t>
            </a:r>
          </a:p>
        </p:txBody>
      </p:sp>
    </p:spTree>
    <p:extLst>
      <p:ext uri="{BB962C8B-B14F-4D97-AF65-F5344CB8AC3E}">
        <p14:creationId xmlns:p14="http://schemas.microsoft.com/office/powerpoint/2010/main" val="1544758019"/>
      </p:ext>
    </p:extLst>
  </p:cSld>
</p:sld>
</file>

<file path=ppt/slides/slide7.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C66363-2658-40DD-B580-E181D058F87C}"/>
              </a:ext>
            </a:extLst>
          </p:cNvPr>
          <p:cNvSpPr>
            <a:spLocks xmlns:a="http://schemas.openxmlformats.org/drawingml/2006/main" noGrp="1"/>
          </p:cNvSpPr>
          <p:nvPr/>
        </p:nvSpPr>
        <p:spPr>
          <a:xfrm xmlns:a="http://schemas.openxmlformats.org/drawingml/2006/main">
            <a:off x="457200" y="428625"/>
            <a:ext cx="822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03731"/>
                </a:solidFill>
                <a:latin typeface="Arial"/>
                <a:ea typeface="Arial"/>
                <a:cs typeface="Arial"/>
              </a:defRPr>
            </a:defPPr>
          </a:lstStyle>
          <a:p xmlns:a="http://schemas.openxmlformats.org/drawingml/2006/main">
            <a:pPr algn="l">
              <a:defRPr sz="2550" b="1">
                <a:solidFill>
                  <a:srgbClr val="203731"/>
                </a:solidFill>
              </a:defRPr>
            </a:pPr>
            <a:r>
              <a:rPr sz="2550" b="1">
                <a:solidFill>
                  <a:srgbClr val="203731"/>
                </a:solidFill>
                <a:latin typeface="Arial"/>
                <a:ea typeface="Arial"/>
                <a:cs typeface="Arial"/>
              </a:rPr>
              <a:t>Risks and key assumptions</a:t>
            </a:r>
          </a:p>
        </p:txBody>
      </p:sp>
      <p:graphicFrame>
        <p:nvGraphicFramePr>
          <p:cNvPr id="2" name="risks">
            <a:extLst xmlns:a="http://schemas.openxmlformats.org/drawingml/2006/main">
              <a:ext uri="{FF2B5EF4-FFF2-40B4-BE49-F238E27FC236}">
                <a16:creationId xmlns:a16="http://schemas.microsoft.com/office/drawing/2014/main" id="{6ABD61CD-38C6-4572-9358-7A6F80988139}"/>
              </a:ext>
            </a:extLst>
          </p:cNvPr>
          <p:cNvGraphicFramePr/>
          <p:nvPr/>
        </p:nvGraphicFramePr>
        <p:xfrm>
          <a:off xmlns:a="http://schemas.openxmlformats.org/drawingml/2006/main" x="457200" y="1400175"/>
          <a:ext xmlns:a="http://schemas.openxmlformats.org/drawingml/2006/main" cx="8229600" cy="2743200"/>
        </p:xfrm>
        <a:graphic xmlns:a="http://schemas.openxmlformats.org/drawingml/2006/main">
          <a:graphicData uri="http://schemas.openxmlformats.org/drawingml/2006/table">
            <a:tbl>
              <a:tblPr/>
              <a:tblGrid>
                <a:gridCol w="2905125"/>
                <a:gridCol w="5324475"/>
              </a:tblGrid>
              <a:tr h="419100">
                <a:tc>
                  <a:txBody>
                    <a:bodyPr/>
                    <a:lstStyle/>
                    <a:p>
                      <a:r>
                        <a:rPr sz="1425" b="1">
                          <a:solidFill>
                            <a:srgbClr val="FFFFFF"/>
                          </a:solidFill>
                          <a:latin typeface="Arial"/>
                          <a:ea typeface="Arial"/>
                          <a:cs typeface="Arial"/>
                        </a:rPr>
                        <a:t>Risk</a:t>
                      </a:r>
                    </a:p>
                  </a:txBody>
                  <a:tcPr marL="114300" marR="114300" marT="47625" marB="47625" anchor="ctr">
                    <a:lnL w="6668">
                      <a:solidFill>
                        <a:srgbClr val="C8D7CE"/>
                      </a:solidFill>
                      <a:prstDash val="solid"/>
                    </a:lnL>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c>
                  <a:txBody>
                    <a:bodyPr/>
                    <a:lstStyle/>
                    <a:p>
                      <a:r>
                        <a:rPr sz="1425" b="1">
                          <a:solidFill>
                            <a:srgbClr val="FFFFFF"/>
                          </a:solidFill>
                          <a:latin typeface="Arial"/>
                          <a:ea typeface="Arial"/>
                          <a:cs typeface="Arial"/>
                        </a:rPr>
                        <a:t>Current control / next evidence</a:t>
                      </a:r>
                    </a:p>
                  </a:txBody>
                  <a:tcPr marL="114300" marR="114300" marT="47625" marB="47625" anchor="ctr">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r>
              <a:tr h="581025">
                <a:tc>
                  <a:txBody>
                    <a:bodyPr/>
                    <a:lstStyle/>
                    <a:p>
                      <a:r>
                        <a:rPr sz="1425" b="0">
                          <a:solidFill>
                            <a:srgbClr val="203731"/>
                          </a:solidFill>
                          <a:latin typeface="Arial"/>
                          <a:ea typeface="Arial"/>
                          <a:cs typeface="Arial"/>
                        </a:rPr>
                        <a:t>The message is misunderstood</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FFFFF"/>
                    </a:solidFill>
                  </a:tcPr>
                </a:tc>
                <a:tc>
                  <a:txBody>
                    <a:bodyPr/>
                    <a:lstStyle/>
                    <a:p>
                      <a:r>
                        <a:rPr sz="1425" b="0">
                          <a:solidFill>
                            <a:srgbClr val="203731"/>
                          </a:solidFill>
                          <a:latin typeface="Arial"/>
                          <a:ea typeface="Arial"/>
                          <a:cs typeface="Arial"/>
                        </a:rPr>
                        <a:t>Validate quoted fields. Ask for missing details. Test unseen wording.</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r>
              <a:tr h="581025">
                <a:tc>
                  <a:txBody>
                    <a:bodyPr/>
                    <a:lstStyle/>
                    <a:p>
                      <a:r>
                        <a:rPr sz="1425" b="0">
                          <a:solidFill>
                            <a:srgbClr val="203731"/>
                          </a:solidFill>
                          <a:latin typeface="Arial"/>
                          <a:ea typeface="Arial"/>
                          <a:cs typeface="Arial"/>
                        </a:rPr>
                        <a:t>A delivery estimate is misleading</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7F8F4"/>
                    </a:solidFill>
                  </a:tcPr>
                </a:tc>
                <a:tc>
                  <a:txBody>
                    <a:bodyPr/>
                    <a:lstStyle/>
                    <a:p>
                      <a:r>
                        <a:rPr sz="1425" b="0">
                          <a:solidFill>
                            <a:srgbClr val="203731"/>
                          </a:solidFill>
                          <a:latin typeface="Arial"/>
                          <a:ea typeface="Arial"/>
                          <a:cs typeface="Arial"/>
                        </a:rPr>
                        <a:t>Calculate in Python. Retain the source and queue snapshot.</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r>
              <a:tr h="581025">
                <a:tc>
                  <a:txBody>
                    <a:bodyPr/>
                    <a:lstStyle/>
                    <a:p>
                      <a:r>
                        <a:rPr sz="1425" b="0">
                          <a:solidFill>
                            <a:srgbClr val="203731"/>
                          </a:solidFill>
                          <a:latin typeface="Arial"/>
                          <a:ea typeface="Arial"/>
                          <a:cs typeface="Arial"/>
                        </a:rPr>
                        <a:t>A saved decision uses old queues</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FFFFF"/>
                    </a:solidFill>
                  </a:tcPr>
                </a:tc>
                <a:tc>
                  <a:txBody>
                    <a:bodyPr/>
                    <a:lstStyle/>
                    <a:p>
                      <a:r>
                        <a:rPr sz="1425" b="0">
                          <a:solidFill>
                            <a:srgbClr val="203731"/>
                          </a:solidFill>
                          <a:latin typeface="Arial"/>
                          <a:ea typeface="Arial"/>
                          <a:cs typeface="Arial"/>
                        </a:rPr>
                        <a:t>Recheck state on confirmation. Reject stale or duplicate saves.</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r>
              <a:tr h="581025">
                <a:tc>
                  <a:txBody>
                    <a:bodyPr/>
                    <a:lstStyle/>
                    <a:p>
                      <a:r>
                        <a:rPr sz="1425" b="0">
                          <a:solidFill>
                            <a:srgbClr val="203731"/>
                          </a:solidFill>
                          <a:latin typeface="Arial"/>
                          <a:ea typeface="Arial"/>
                          <a:cs typeface="Arial"/>
                        </a:rPr>
                        <a:t>Simulator results do not transfer</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7F8F4"/>
                    </a:solidFill>
                  </a:tcPr>
                </a:tc>
                <a:tc>
                  <a:txBody>
                    <a:bodyPr/>
                    <a:lstStyle/>
                    <a:p>
                      <a:r>
                        <a:rPr sz="1425" b="0">
                          <a:solidFill>
                            <a:srgbClr val="203731"/>
                          </a:solidFill>
                          <a:latin typeface="Arial"/>
                          <a:ea typeface="Arial"/>
                          <a:cs typeface="Arial"/>
                        </a:rPr>
                        <a:t>Report model assumptions. Validate with dispatcher tasks.</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r>
            </a:tbl>
          </a:graphicData>
        </a:graphic>
      </p:graphicFrame>
      <p:sp>
        <p:nvSpPr>
          <p:cNvPr id="3" name="assumptions">
            <a:extLst xmlns:a="http://schemas.openxmlformats.org/drawingml/2006/main">
              <a:ext uri="{FF2B5EF4-FFF2-40B4-BE49-F238E27FC236}">
                <a16:creationId xmlns:a16="http://schemas.microsoft.com/office/drawing/2014/main" id="{65594452-357B-4AA2-9EE7-710A497E501F}"/>
              </a:ext>
            </a:extLst>
          </p:cNvPr>
          <p:cNvSpPr>
            <a:spLocks xmlns:a="http://schemas.openxmlformats.org/drawingml/2006/main" noGrp="1"/>
          </p:cNvSpPr>
          <p:nvPr/>
        </p:nvSpPr>
        <p:spPr>
          <a:xfrm xmlns:a="http://schemas.openxmlformats.org/drawingml/2006/main">
            <a:off x="457200" y="43434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203731"/>
                </a:solidFill>
                <a:latin typeface="Arial"/>
                <a:ea typeface="Arial"/>
                <a:cs typeface="Arial"/>
              </a:defRPr>
            </a:defPPr>
          </a:lstStyle>
          <a:p xmlns:a="http://schemas.openxmlformats.org/drawingml/2006/main">
            <a:pPr algn="l">
              <a:defRPr sz="1425" b="0">
                <a:solidFill>
                  <a:srgbClr val="203731"/>
                </a:solidFill>
              </a:defRPr>
            </a:pPr>
            <a:r>
              <a:rPr sz="1425" b="0">
                <a:solidFill>
                  <a:srgbClr val="203731"/>
                </a:solidFill>
                <a:latin typeface="Arial"/>
                <a:ea typeface="Arial"/>
                <a:cs typeface="Arial"/>
              </a:rPr>
              <a:t>Assumptions: fixed planning date and workshop capacity. Delivery includes expected rework. Savings and live language accuracy remain unverified.</a:t>
            </a:r>
          </a:p>
        </p:txBody>
      </p:sp>
      <p:sp>
        <p:nvSpPr>
          <p:cNvPr id="4" name="source-note">
            <a:extLst xmlns:a="http://schemas.openxmlformats.org/drawingml/2006/main">
              <a:ext uri="{FF2B5EF4-FFF2-40B4-BE49-F238E27FC236}">
                <a16:creationId xmlns:a16="http://schemas.microsoft.com/office/drawing/2014/main" id="{B54DD698-C37E-4BBA-88EC-107565094EC3}"/>
              </a:ext>
            </a:extLst>
          </p:cNvPr>
          <p:cNvSpPr>
            <a:spLocks xmlns:a="http://schemas.openxmlformats.org/drawingml/2006/main" noGrp="1"/>
          </p:cNvSpPr>
          <p:nvPr/>
        </p:nvSpPr>
        <p:spPr>
          <a:xfrm xmlns:a="http://schemas.openxmlformats.org/drawingml/2006/main">
            <a:off x="457200" y="4810125"/>
            <a:ext cx="822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63" b="0">
                <a:solidFill>
                  <a:srgbClr val="60726C"/>
                </a:solidFill>
                <a:latin typeface="Arial"/>
                <a:ea typeface="Arial"/>
                <a:cs typeface="Arial"/>
              </a:defRPr>
            </a:defPPr>
          </a:lstStyle>
          <a:p xmlns:a="http://schemas.openxmlformats.org/drawingml/2006/main">
            <a:pPr algn="l">
              <a:defRPr sz="863" b="0">
                <a:solidFill>
                  <a:srgbClr val="60726C"/>
                </a:solidFill>
              </a:defRPr>
            </a:pPr>
            <a:r>
              <a:rPr sz="863" b="0">
                <a:solidFill>
                  <a:srgbClr val="60726C"/>
                </a:solidFill>
                <a:latin typeface="Arial"/>
                <a:ea typeface="Arial"/>
                <a:cs typeface="Arial"/>
              </a:rPr>
              <a:t>Local planning prototype. Dispatcher identity is self-declared. Real workshop booking is outside this version.</a:t>
            </a:r>
          </a:p>
        </p:txBody>
      </p:sp>
    </p:spTree>
    <p:extLst>
      <p:ext uri="{BB962C8B-B14F-4D97-AF65-F5344CB8AC3E}">
        <p14:creationId xmlns:p14="http://schemas.microsoft.com/office/powerpoint/2010/main" val="834065521"/>
      </p:ext>
    </p:extLst>
  </p:cSld>
</p:sld>
</file>

<file path=ppt/slides/slide8.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F4DB97-3C33-4F0B-965B-C305EB49B62B}"/>
              </a:ext>
            </a:extLst>
          </p:cNvPr>
          <p:cNvSpPr>
            <a:spLocks xmlns:a="http://schemas.openxmlformats.org/drawingml/2006/main" noGrp="1"/>
          </p:cNvSpPr>
          <p:nvPr/>
        </p:nvSpPr>
        <p:spPr>
          <a:xfrm xmlns:a="http://schemas.openxmlformats.org/drawingml/2006/main">
            <a:off x="457200" y="428625"/>
            <a:ext cx="822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03731"/>
                </a:solidFill>
                <a:latin typeface="Arial"/>
                <a:ea typeface="Arial"/>
                <a:cs typeface="Arial"/>
              </a:defRPr>
            </a:defPPr>
          </a:lstStyle>
          <a:p xmlns:a="http://schemas.openxmlformats.org/drawingml/2006/main">
            <a:pPr algn="l">
              <a:defRPr sz="2550" b="1">
                <a:solidFill>
                  <a:srgbClr val="203731"/>
                </a:solidFill>
              </a:defRPr>
            </a:pPr>
            <a:r>
              <a:rPr sz="2550" b="1">
                <a:solidFill>
                  <a:srgbClr val="203731"/>
                </a:solidFill>
                <a:latin typeface="Arial"/>
                <a:ea typeface="Arial"/>
                <a:cs typeface="Arial"/>
              </a:rPr>
              <a:t>Sprint 2 roadmap</a:t>
            </a:r>
          </a:p>
        </p:txBody>
      </p:sp>
      <p:sp>
        <p:nvSpPr>
          <p:cNvPr id="2" name="roadmap-date">
            <a:extLst xmlns:a="http://schemas.openxmlformats.org/drawingml/2006/main">
              <a:ext uri="{FF2B5EF4-FFF2-40B4-BE49-F238E27FC236}">
                <a16:creationId xmlns:a16="http://schemas.microsoft.com/office/drawing/2014/main" id="{4CA39328-8BB3-4A59-909E-4951C5B99290}"/>
              </a:ext>
            </a:extLst>
          </p:cNvPr>
          <p:cNvSpPr>
            <a:spLocks xmlns:a="http://schemas.openxmlformats.org/drawingml/2006/main" noGrp="1"/>
          </p:cNvSpPr>
          <p:nvPr/>
        </p:nvSpPr>
        <p:spPr>
          <a:xfrm xmlns:a="http://schemas.openxmlformats.org/drawingml/2006/main">
            <a:off x="457200" y="110490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1C5948"/>
                </a:solidFill>
                <a:latin typeface="Arial"/>
                <a:ea typeface="Arial"/>
                <a:cs typeface="Arial"/>
              </a:defRPr>
            </a:defPPr>
          </a:lstStyle>
          <a:p xmlns:a="http://schemas.openxmlformats.org/drawingml/2006/main">
            <a:pPr algn="l">
              <a:defRPr sz="1650" b="0">
                <a:solidFill>
                  <a:srgbClr val="1C5948"/>
                </a:solidFill>
              </a:defRPr>
            </a:pPr>
            <a:r>
              <a:rPr sz="1650" b="0">
                <a:solidFill>
                  <a:srgbClr val="1C5948"/>
                </a:solidFill>
                <a:latin typeface="Arial"/>
                <a:ea typeface="Arial"/>
                <a:cs typeface="Arial"/>
              </a:rPr>
              <a:t>Due 30 Oct 2026: demonstrate the complete flow and test it honestly</a:t>
            </a:r>
          </a:p>
        </p:txBody>
      </p:sp>
      <p:graphicFrame>
        <p:nvGraphicFramePr>
          <p:cNvPr id="3" name="roadmap">
            <a:extLst xmlns:a="http://schemas.openxmlformats.org/drawingml/2006/main">
              <a:ext uri="{FF2B5EF4-FFF2-40B4-BE49-F238E27FC236}">
                <a16:creationId xmlns:a16="http://schemas.microsoft.com/office/drawing/2014/main" id="{0BC36B2A-0FDB-425C-A382-E4CE052E09D8}"/>
              </a:ext>
            </a:extLst>
          </p:cNvPr>
          <p:cNvGraphicFramePr/>
          <p:nvPr/>
        </p:nvGraphicFramePr>
        <p:xfrm>
          <a:off xmlns:a="http://schemas.openxmlformats.org/drawingml/2006/main" x="457200" y="1571625"/>
          <a:ext xmlns:a="http://schemas.openxmlformats.org/drawingml/2006/main" cx="8229600" cy="2628900"/>
        </p:xfrm>
        <a:graphic xmlns:a="http://schemas.openxmlformats.org/drawingml/2006/main">
          <a:graphicData uri="http://schemas.openxmlformats.org/drawingml/2006/table">
            <a:tbl>
              <a:tblPr/>
              <a:tblGrid>
                <a:gridCol w="3048000"/>
                <a:gridCol w="5181600"/>
              </a:tblGrid>
              <a:tr h="381000">
                <a:tc>
                  <a:txBody>
                    <a:bodyPr/>
                    <a:lstStyle/>
                    <a:p>
                      <a:r>
                        <a:rPr sz="1350" b="1">
                          <a:solidFill>
                            <a:srgbClr val="FFFFFF"/>
                          </a:solidFill>
                          <a:latin typeface="Arial"/>
                          <a:ea typeface="Arial"/>
                          <a:cs typeface="Arial"/>
                        </a:rPr>
                        <a:t>Work</a:t>
                      </a:r>
                    </a:p>
                  </a:txBody>
                  <a:tcPr marL="114300" marR="114300" marT="47625" marB="47625" anchor="ctr">
                    <a:lnL w="6668">
                      <a:solidFill>
                        <a:srgbClr val="C8D7CE"/>
                      </a:solidFill>
                      <a:prstDash val="solid"/>
                    </a:lnL>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c>
                  <a:txBody>
                    <a:bodyPr/>
                    <a:lstStyle/>
                    <a:p>
                      <a:r>
                        <a:rPr sz="1350" b="1">
                          <a:solidFill>
                            <a:srgbClr val="FFFFFF"/>
                          </a:solidFill>
                          <a:latin typeface="Arial"/>
                          <a:ea typeface="Arial"/>
                          <a:cs typeface="Arial"/>
                        </a:rPr>
                        <a:t>Success criterion</a:t>
                      </a:r>
                    </a:p>
                  </a:txBody>
                  <a:tcPr marL="114300" marR="114300" marT="47625" marB="47625" anchor="ctr">
                    <a:lnR w="6668">
                      <a:solidFill>
                        <a:srgbClr val="C8D7CE"/>
                      </a:solidFill>
                      <a:prstDash val="solid"/>
                    </a:lnR>
                    <a:lnT w="6668">
                      <a:solidFill>
                        <a:srgbClr val="C8D7CE"/>
                      </a:solidFill>
                      <a:prstDash val="solid"/>
                    </a:lnT>
                    <a:lnB w="6668">
                      <a:solidFill>
                        <a:srgbClr val="C8D7CE"/>
                      </a:solidFill>
                      <a:prstDash val="solid"/>
                    </a:lnB>
                    <a:solidFill>
                      <a:srgbClr val="203731"/>
                    </a:solidFill>
                  </a:tcPr>
                </a:tc>
              </a:tr>
              <a:tr h="457200">
                <a:tc>
                  <a:txBody>
                    <a:bodyPr/>
                    <a:lstStyle/>
                    <a:p>
                      <a:r>
                        <a:rPr sz="1350" b="0">
                          <a:solidFill>
                            <a:srgbClr val="203731"/>
                          </a:solidFill>
                          <a:latin typeface="Arial"/>
                          <a:ea typeface="Arial"/>
                          <a:cs typeface="Arial"/>
                        </a:rPr>
                        <a:t>Test chat understanding</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Verify supplied and unseen requests against data.</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r>
              <a:tr h="457200">
                <a:tc>
                  <a:txBody>
                    <a:bodyPr/>
                    <a:lstStyle/>
                    <a:p>
                      <a:r>
                        <a:rPr sz="1350" b="0">
                          <a:solidFill>
                            <a:srgbClr val="203731"/>
                          </a:solidFill>
                          <a:latin typeface="Arial"/>
                          <a:ea typeface="Arial"/>
                          <a:cs typeface="Arial"/>
                        </a:rPr>
                        <a:t>Check capacity through chat</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Check delivery dates and extra-work effects in chat.</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r>
              <a:tr h="419100">
                <a:tc>
                  <a:txBody>
                    <a:bodyPr/>
                    <a:lstStyle/>
                    <a:p>
                      <a:r>
                        <a:rPr sz="1350" b="0">
                          <a:solidFill>
                            <a:srgbClr val="203731"/>
                          </a:solidFill>
                          <a:latin typeface="Arial"/>
                          <a:ea typeface="Arial"/>
                          <a:cs typeface="Arial"/>
                        </a:rPr>
                        <a:t>Choose the mixed policy</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Justify and freeze weights before final evaluation.</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r>
              <a:tr h="457200">
                <a:tc>
                  <a:txBody>
                    <a:bodyPr/>
                    <a:lstStyle/>
                    <a:p>
                      <a:r>
                        <a:rPr sz="1350" b="0">
                          <a:solidFill>
                            <a:srgbClr val="203731"/>
                          </a:solidFill>
                          <a:latin typeface="Arial"/>
                          <a:ea typeface="Arial"/>
                          <a:cs typeface="Arial"/>
                        </a:rPr>
                        <a:t>Review explanations and usability</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7F8F4"/>
                    </a:solidFill>
                  </a:tcPr>
                </a:tc>
                <a:tc>
                  <a:txBody>
                    <a:bodyPr/>
                    <a:lstStyle/>
                    <a:p>
                      <a:r>
                        <a:rPr sz="1350" b="0">
                          <a:solidFill>
                            <a:srgbClr val="203731"/>
                          </a:solidFill>
                          <a:latin typeface="Arial"/>
                          <a:ea typeface="Arial"/>
                          <a:cs typeface="Arial"/>
                        </a:rPr>
                        <a:t>Check tool evidence, clarification and approval.</a:t>
                      </a:r>
                    </a:p>
                  </a:txBody>
                  <a:tcPr marL="114300" marR="114300" marT="47625" marB="47625" anchor="ctr">
                    <a:lnR w="6668">
                      <a:solidFill>
                        <a:srgbClr val="C8D7CE"/>
                      </a:solidFill>
                      <a:prstDash val="solid"/>
                    </a:lnR>
                    <a:lnB w="6668">
                      <a:solidFill>
                        <a:srgbClr val="C8D7CE"/>
                      </a:solidFill>
                      <a:prstDash val="solid"/>
                    </a:lnB>
                    <a:solidFill>
                      <a:srgbClr val="F7F8F4"/>
                    </a:solidFill>
                  </a:tcPr>
                </a:tc>
              </a:tr>
              <a:tr h="457200">
                <a:tc>
                  <a:txBody>
                    <a:bodyPr/>
                    <a:lstStyle/>
                    <a:p>
                      <a:r>
                        <a:rPr sz="1350" b="0">
                          <a:solidFill>
                            <a:srgbClr val="203731"/>
                          </a:solidFill>
                          <a:latin typeface="Arial"/>
                          <a:ea typeface="Arial"/>
                          <a:cs typeface="Arial"/>
                        </a:rPr>
                        <a:t>Prepare the demo</a:t>
                      </a:r>
                    </a:p>
                  </a:txBody>
                  <a:tcPr marL="114300" marR="114300" marT="47625" marB="47625" anchor="ctr">
                    <a:lnL w="6668">
                      <a:solidFill>
                        <a:srgbClr val="C8D7CE"/>
                      </a:solidFill>
                      <a:prstDash val="solid"/>
                    </a:lnL>
                    <a:lnR w="6668">
                      <a:solidFill>
                        <a:srgbClr val="C8D7CE"/>
                      </a:solidFill>
                      <a:prstDash val="solid"/>
                    </a:lnR>
                    <a:lnB w="6668">
                      <a:solidFill>
                        <a:srgbClr val="C8D7CE"/>
                      </a:solidFill>
                      <a:prstDash val="solid"/>
                    </a:lnB>
                    <a:solidFill>
                      <a:srgbClr val="FFFFFF"/>
                    </a:solidFill>
                  </a:tcPr>
                </a:tc>
                <a:tc>
                  <a:txBody>
                    <a:bodyPr/>
                    <a:lstStyle/>
                    <a:p>
                      <a:r>
                        <a:rPr sz="1350" b="0">
                          <a:solidFill>
                            <a:srgbClr val="203731"/>
                          </a:solidFill>
                          <a:latin typeface="Arial"/>
                          <a:ea typeface="Arial"/>
                          <a:cs typeface="Arial"/>
                        </a:rPr>
                        <a:t>Record a full flow with exceptions and approval.</a:t>
                      </a:r>
                    </a:p>
                  </a:txBody>
                  <a:tcPr marL="114300" marR="114300" marT="47625" marB="47625" anchor="ctr">
                    <a:lnR w="6668">
                      <a:solidFill>
                        <a:srgbClr val="C8D7CE"/>
                      </a:solidFill>
                      <a:prstDash val="solid"/>
                    </a:lnR>
                    <a:lnB w="6668">
                      <a:solidFill>
                        <a:srgbClr val="C8D7CE"/>
                      </a:solidFill>
                      <a:prstDash val="solid"/>
                    </a:lnB>
                    <a:solidFill>
                      <a:srgbClr val="FFFFFF"/>
                    </a:solidFill>
                  </a:tcPr>
                </a:tc>
              </a:tr>
            </a:tbl>
          </a:graphicData>
        </a:graphic>
      </p:graphicFrame>
      <p:sp>
        <p:nvSpPr>
          <p:cNvPr id="4" name="success">
            <a:extLst xmlns:a="http://schemas.openxmlformats.org/drawingml/2006/main">
              <a:ext uri="{FF2B5EF4-FFF2-40B4-BE49-F238E27FC236}">
                <a16:creationId xmlns:a16="http://schemas.microsoft.com/office/drawing/2014/main" id="{1FE62A78-5C52-41CB-B7D7-A9A6868D6B24}"/>
              </a:ext>
            </a:extLst>
          </p:cNvPr>
          <p:cNvSpPr>
            <a:spLocks xmlns:a="http://schemas.openxmlformats.org/drawingml/2006/main" noGrp="1"/>
          </p:cNvSpPr>
          <p:nvPr/>
        </p:nvSpPr>
        <p:spPr>
          <a:xfrm xmlns:a="http://schemas.openxmlformats.org/drawingml/2006/main">
            <a:off x="457200" y="4391025"/>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203731"/>
                </a:solidFill>
                <a:latin typeface="Arial"/>
                <a:ea typeface="Arial"/>
                <a:cs typeface="Arial"/>
              </a:defRPr>
            </a:defPPr>
          </a:lstStyle>
          <a:p xmlns:a="http://schemas.openxmlformats.org/drawingml/2006/main">
            <a:pPr algn="l">
              <a:defRPr sz="1425" b="0">
                <a:solidFill>
                  <a:srgbClr val="203731"/>
                </a:solidFill>
              </a:defRPr>
            </a:pPr>
            <a:r>
              <a:rPr sz="1425" b="0">
                <a:solidFill>
                  <a:srgbClr val="203731"/>
                </a:solidFill>
                <a:latin typeface="Arial"/>
                <a:ea typeface="Arial"/>
                <a:cs typeface="Arial"/>
              </a:rPr>
              <a:t>Final objective: beat every supplied baseline on late rate and overdue days, including closure tests. Report where other policies win.</a:t>
            </a:r>
          </a:p>
        </p:txBody>
      </p:sp>
      <p:sp>
        <p:nvSpPr>
          <p:cNvPr id="5" name="source-note">
            <a:extLst xmlns:a="http://schemas.openxmlformats.org/drawingml/2006/main">
              <a:ext uri="{FF2B5EF4-FFF2-40B4-BE49-F238E27FC236}">
                <a16:creationId xmlns:a16="http://schemas.microsoft.com/office/drawing/2014/main" id="{E62A29B5-CEB5-4B01-A804-D73AB31D79AC}"/>
              </a:ext>
            </a:extLst>
          </p:cNvPr>
          <p:cNvSpPr>
            <a:spLocks xmlns:a="http://schemas.openxmlformats.org/drawingml/2006/main" noGrp="1"/>
          </p:cNvSpPr>
          <p:nvPr/>
        </p:nvSpPr>
        <p:spPr>
          <a:xfrm xmlns:a="http://schemas.openxmlformats.org/drawingml/2006/main">
            <a:off x="457200" y="4810125"/>
            <a:ext cx="822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63" b="0">
                <a:solidFill>
                  <a:srgbClr val="60726C"/>
                </a:solidFill>
                <a:latin typeface="Arial"/>
                <a:ea typeface="Arial"/>
                <a:cs typeface="Arial"/>
              </a:defRPr>
            </a:defPPr>
          </a:lstStyle>
          <a:p xmlns:a="http://schemas.openxmlformats.org/drawingml/2006/main">
            <a:pPr algn="l">
              <a:defRPr sz="863" b="0">
                <a:solidFill>
                  <a:srgbClr val="60726C"/>
                </a:solidFill>
              </a:defRPr>
            </a:pPr>
            <a:r>
              <a:rPr sz="863" b="0">
                <a:solidFill>
                  <a:srgbClr val="60726C"/>
                </a:solidFill>
                <a:latin typeface="Arial"/>
                <a:ea typeface="Arial"/>
                <a:cs typeface="Arial"/>
              </a:rPr>
              <a:t>Independent labels, held-out requests and revised live language results remain pending.</a:t>
            </a:r>
          </a:p>
        </p:txBody>
      </p:sp>
    </p:spTree>
    <p:extLst>
      <p:ext uri="{BB962C8B-B14F-4D97-AF65-F5344CB8AC3E}">
        <p14:creationId xmlns:p14="http://schemas.microsoft.com/office/powerpoint/2010/main" val="69942031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2026-10-14T19:10:39.2720000Z</dcterms:created>
  <dcterms:modified xsi:type="dcterms:W3CDTF">2026-10-14T19:10:39.2720000Z</dcterms:modified>
</coreProperties>
</file>