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Opening (CHEN ZEPENG, 0:25)
Good evening, we're Group 11. SweaterCo is a knitwear factory that lives on quick reorders. When the factory is full, the next batch has to go to one of these eight workshops within the hour. We built the desk that makes that call, shows its working and keeps the record. Our primary objective is to minimise lateness.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(CHEN ZEPENG, 0:40)
Today, that decision is one line in a group chat: send it to QuickStitch. Behind it, someone is answering three questions from memory. Can they make it? Half of them can't make a scarf. Can they take it now? QuickStitch, the fastest, is booked solid for four days. Are they allowed to? OldMill is suspended, and FreshStart is on trial, capped at 300 pieces. And only 7 of this morning's 30 messages are straightforward. Get one wrong and the batch bounces back a day later, which in a ten-day cycle wipes out the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Solution and architecture (CHEN ZEPENG, 0:40)
So instead of one person juggling all that, we built one dispatcher agent, run as a fixed workflow. On the left, the model reads the message through LangChain. It's the only thing beyond this dashed line, and it never sees a price or a queue. Every value must quote the message's exact words, or Python rejects it, and anything missing becomes a question, not a guess. In the middle, Python tools work out who is eligible and when each workshop would deliver. On the right, a person approves. The session remembers the conversation; the database remembers every decision.
Q&amp;A on the agent pattern: a workflow agent, which the track calls a single well-tooled dispatcher: the LLM and the tools run on a fixed code path. Not ReAct: every request needs the same checks in the same order, so letting the model choose tools in a loop adds cost and nondeterminism without accuracy. Not multi-agent: the track says a plain dispatcher with excellent tools beats a multi-agent conversation. Sprint 2 adds tool selection for read-only capacity questions only; Python still runs the tool and writes the answer.
Q&amp;A on LangChain and memory: llm.py builds the model with LangChain init_chat_model (provider-agnostic, LLM_MODEL); intake.py calls with_structured_output against a JSON schema. No LangGraph: a fixed pipeline needs no graph runtime. Short-term memory is Streamlit session state (turns, draft, open questions, provenance, model traces; 16 turns per conversation). Long-term memory is SQLite: audit records and planning queues. No vector store: the data is small and structured, so tools query it directly.
Q&amp;A: one structured-output call per chat turn, not autonomous agents. The model returns a typed patch; each value must appear inside an exact quotation from the latest message, or Python rejects the turn (intake.py). Clarifying questions are fixed Python text, not model prose. get_model() reads LLM_MODEL from .env, with a 30 s timeout and no retries.
Q&amp;A: locally the app binds to 127.0.0.1. On AWS it runs in a container behind Caddy with a password, and its secrets come from Parameter Store, never the repo or GitHub. Streamlit telemetry is off in both (.streamlit/config.toml). The only outbound call the app makes is the model call in intake.py. Its payload is the latest message, earlier user turns, the draft so far, and the workshop, customer and product names. Each turn records the model name, a prompt hash and the returned patch.
Q&amp;A on controls: in banking terms this is maker-checker. The model proposes fields, Python checks them, and a person confirms; the record keeps who set each constraint and who confirmed. The confirming name is self-declared, not authenticated yet.
Q&amp;A: confirming recomputes the preview inside a SQLite BEGIN IMMEDIATE transaction and compares its fingerprint; a changed queue revision or forged estimate is rejected, and an idempotency key makes a double click save once (records.py).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Primary objective (0:35)
We declare one objective: minimise lateness. In quick response, speed is the product: a defect can be reworked, a missed reorder date loses the sale. We count late batches and late days. Here is the scoreboard, wins and losses. Lateness: we beat all three baselines. Defects: biggest-capacity still beats us. A surprise closure moves us a quarter of a point; random moves four. Fairness: random spreads work more evenly, but it is late a third of the time.
Q&amp;A: defects setting defects0.5_buffer0 was picked on development seeds 6000-6009, then run once on the course seeds. It beat biggest-capacity on only 2 of 10 course seeds. Evidence: docs/evidence/defects-frontier.json.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Business value (0:30)
What does that buy? Out of 120 batches, 2 arrive late instead of 41: ninety-five percent fewer than random. That's the course simulator, not a factory. And no batch goes where it can't be made, every decision is on record, and an impossible date is flagged on day one, with options. The price: about a third more than the cheapest rule, which is late nine times in ten.
Q&amp;A: cost per replay 115,592 for our desk, 111,780 for random, 85,960 for cheapest; ratio to cheapest 1.34 (source cost units, not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Progress (0:35)
The shipped baselines run a third to nine-tenths late; we're under two percent. The honest part: a ten-second earliest-finish rule ties us, because two batches of 2,000 pieces simply can't be made in their window. So what we add isn't a better formula, it's configuration. The same code, re-weighted, buys 7.7 percent lower cost and 23 percent fewer late days for one more late batch per ten runs. And it's deployed: every merge builds an image to ECR, and one workflow deploys it to AWS.
Q&amp;A: buffer cuts cost 7.7% and late days 23%; % late 1.8% vs 1.7%. The late batches are ORD-062 and ORD-108.
Q&amp;A on deployment: a push to main builds an image and pushes it to ECR. The manual Deploy workflow finds the instance by tag and sends a script over SSM, so there is no SSH. The instance reads its secrets from Parameter Store, pulls the image and runs docker compose: Caddy with a password in front of Streamlit. GitHub assumes an AWS role through OIDC, so no AWS key is stored anywhere, and a curl check confirms the site answers. Confirmed allocations persist in a docker volume. The instance is stopped when unused; the Power workflow starts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The desk today (0:25)
This is the desk on request R25: five hundred vests, keep it away from BudgetWorks. The exclusion is recorded against Mei, who asked. Under the pick, the desk says why, in lines Python writes, not the model. All thirty inbox requests reach the right outcome from hand-checked inputs; testing the live model on them is our first Sprint 2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Risks and assumptions (0:30)
The worst failure in this track is an invented delivery estimate; our design prevents it and we check it automatically. The likeliest is a misread request: in our first live run, a needless question blocked a refusal. And no message can talk past the rules: eligibility is Python, not the model. Our key assumption: a person confirms every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Sprint 2 roadmap (0:25)
Sprint 2 makes the desk AI-native, while tools keep every number. The evaluation set comes first, with injection and hallucination bait. Then the model takes on three jobs: choosing a read-only tool for questions, explaining decisions, and drafting replies, with Python filling in every number. Our bar: the right behaviour on at least twenty-seven of thirty, with no untraceable number, while still beating every baseline.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Questions
Q&amp;A crib notes are in this slide's speaker notes.
Q&amp;A preparation. Keep each answer to one or two sentences, then offer the evidence.
Why use an LLM at all? The input is chat, and only 7 of the 30 inbox requests are plain allocations; the rest need a question, a refusal, a constraint or bad news. The model extracts fields and flags what is missing; it never decides numbers. The allocator itself has no LLM call.
What if the model hallucinates? Model output is a typed patch; every value must appear inside an exact quotation from the message, or Python rejects the turn (fails closed, no repair). Every number on screen is formatted by a tool, and we check that automatically.
What does the model provider see? The chat text, earlier turns in that conversation, and the lists of workshop, customer and product names. Never prices, queues, defect rates or order quantities (intake.py builds the payload).
What if the provider is down? The desk says the model is unavailable and asks for a retry: 30-second timeout, no silent retries. Inbox examples, the workshop register and the simulator keep working with no key.
Is it AI-native? The conversation is the main interface and the model does the language work: it understands, asks, and from Sprint 2 chooses a read-only tool, explains and drafts the reply. Tools own every number; a person owns every commitment. We deliberately skip RAG (8 workshop cards and 120 rows are better served by exact tools), fine-tuning (30 labels is too few) and an LLM inside the allocator (the track forbids it). Plan: docs/AI_NATIVE_PLAN.md.
Why not a multi-agent design? The course says a plain dispatcher with good tools beats a transcript. One structured-output call per turn keeps every decision in deterministic, testable Python.
Scale and security? Single-node SQLite and a self-declared dispatcher name: right for a prototype, not production. Next: real authentication and a server database behind the same record contract.
Earliest finish ties you, so what do you add? Chat intake, enforced constraints with who imposed them, a confirmation and audit trail, and a configurable objective that can trade cost against lateness. On lateness alone the simple rule is as good, and we say so.
Why not defects? Chasing quality sends work to small, slow workshops. Pure defects is 95.1% late. Our best defects setting still loses to biggest-capacity on defective pieces.
Robustness? Closure raises our late rate by 0.25 points. A cheating oracle that knows the closure only improves on us by about one batch in ten runs, so stall detection is not worth building for this simulator.
Cost and latency of the model? One structured-output call per chat turn. The first live run (pre-v3, docs/CHAT_EVALUATION_RESULTS.md) used 34,516 tokens and 135.5 seconds summed over 30 requests: about 1,150 tokens and 4.5 seconds each. Examples mode and the simulator need no API key at all.
Audit six weeks later? Each saved allocation stores the request, constraints and who set them, every candidate estimate, weights, data hashes, who confirmed,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48640" y="4754880"/>
            <a:ext cx="6400800" cy="228600"/>
          </a:xfrm>
          <a:prstGeom prst="rect">
            <a:avLst/>
          </a:prstGeom>
          <a:noFill/>
          <a:ln/>
        </p:spPr>
        <p:txBody>
          <a:bodyPr wrap="square" lIns="0" tIns="0" rIns="0" bIns="0" rtlCol="0" anchor="ctr"/>
          <a:lstStyle/>
          <a:p>
            <a:pPr indent="0" marL="0">
              <a:buNone/>
            </a:pPr>
            <a:r>
              <a:rPr lang="en-US" sz="700" spc="150" kern="0" dirty="0">
                <a:solidFill>
                  <a:srgbClr val="6B665D"/>
                </a:solidFill>
                <a:latin typeface="Arial" pitchFamily="34" charset="0"/>
                <a:ea typeface="Arial" pitchFamily="34" charset="-122"/>
                <a:cs typeface="Arial" pitchFamily="34" charset="-120"/>
              </a:rPr>
              <a:t>SWEATERCO  /  QUICK-RESPONSE SUBCONTRACTING DESK  /  GROUP 11</a:t>
            </a:r>
            <a:endParaRPr lang="en-US" sz="7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D1B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3657600" cy="274320"/>
          </a:xfrm>
          <a:prstGeom prst="rect">
            <a:avLst/>
          </a:prstGeom>
          <a:noFill/>
          <a:ln/>
        </p:spPr>
        <p:txBody>
          <a:bodyPr wrap="square" lIns="0" tIns="0" rIns="0" bIns="0" rtlCol="0" anchor="t"/>
          <a:lstStyle/>
          <a:p>
            <a:pPr indent="0" marL="0">
              <a:buNone/>
            </a:pPr>
            <a:r>
              <a:rPr lang="en-US" sz="1300" spc="900" kern="0" dirty="0">
                <a:solidFill>
                  <a:srgbClr val="F4EFE6"/>
                </a:solidFill>
                <a:latin typeface="Georgia" pitchFamily="34" charset="0"/>
                <a:ea typeface="Georgia" pitchFamily="34" charset="-122"/>
                <a:cs typeface="Georgia" pitchFamily="34" charset="-120"/>
              </a:rPr>
              <a:t>SWEATERCO</a:t>
            </a:r>
            <a:endParaRPr lang="en-US" sz="1300" dirty="0"/>
          </a:p>
        </p:txBody>
      </p:sp>
      <p:sp>
        <p:nvSpPr>
          <p:cNvPr id="3" name="Text 1"/>
          <p:cNvSpPr txBox="1"/>
          <p:nvPr/>
        </p:nvSpPr>
        <p:spPr>
          <a:xfrm>
            <a:off x="548640" y="1207008"/>
            <a:ext cx="5486400" cy="201168"/>
          </a:xfrm>
          <a:prstGeom prst="rect">
            <a:avLst/>
          </a:prstGeom>
          <a:noFill/>
          <a:ln/>
        </p:spPr>
        <p:txBody>
          <a:bodyPr wrap="square" lIns="0" tIns="0" rIns="0" bIns="0" rtlCol="0" anchor="t"/>
          <a:lstStyle/>
          <a:p>
            <a:pPr indent="0" marL="0">
              <a:buNone/>
            </a:pPr>
            <a:r>
              <a:rPr lang="en-US" sz="850" b="1" spc="300" kern="0" dirty="0">
                <a:solidFill>
                  <a:srgbClr val="A3804C"/>
                </a:solidFill>
                <a:latin typeface="Arial" pitchFamily="34" charset="0"/>
                <a:ea typeface="Arial" pitchFamily="34" charset="-122"/>
                <a:cs typeface="Arial" pitchFamily="34" charset="-120"/>
              </a:rPr>
              <a:t>GROUP 11  /  TRACK 2  /  SPRINT 1 REVIEW</a:t>
            </a:r>
            <a:endParaRPr lang="en-US" sz="850" dirty="0"/>
          </a:p>
        </p:txBody>
      </p:sp>
      <p:sp>
        <p:nvSpPr>
          <p:cNvPr id="4" name="Text 2"/>
          <p:cNvSpPr txBox="1"/>
          <p:nvPr/>
        </p:nvSpPr>
        <p:spPr>
          <a:xfrm>
            <a:off x="548640" y="1463040"/>
            <a:ext cx="5760720" cy="1325880"/>
          </a:xfrm>
          <a:prstGeom prst="rect">
            <a:avLst/>
          </a:prstGeom>
          <a:noFill/>
          <a:ln/>
        </p:spPr>
        <p:txBody>
          <a:bodyPr wrap="square" lIns="0" tIns="0" rIns="0" bIns="0" rtlCol="0" anchor="ctr"/>
          <a:lstStyle/>
          <a:p>
            <a:pPr indent="0" marL="0">
              <a:buNone/>
            </a:pPr>
            <a:r>
              <a:rPr lang="en-US" sz="3800" dirty="0">
                <a:solidFill>
                  <a:srgbClr val="F4EFE6"/>
                </a:solidFill>
                <a:latin typeface="Georgia" pitchFamily="34" charset="0"/>
                <a:ea typeface="Georgia" pitchFamily="34" charset="-122"/>
                <a:cs typeface="Georgia" pitchFamily="34" charset="-120"/>
              </a:rPr>
              <a:t>The Quick-Response</a:t>
            </a:r>
            <a:endParaRPr lang="en-US" sz="3800" dirty="0"/>
          </a:p>
          <a:p>
            <a:pPr indent="0" marL="0">
              <a:buNone/>
            </a:pPr>
            <a:r>
              <a:rPr lang="en-US" sz="3800" dirty="0">
                <a:solidFill>
                  <a:srgbClr val="F4EFE6"/>
                </a:solidFill>
                <a:latin typeface="Georgia" pitchFamily="34" charset="0"/>
                <a:ea typeface="Georgia" pitchFamily="34" charset="-122"/>
                <a:cs typeface="Georgia" pitchFamily="34" charset="-120"/>
              </a:rPr>
              <a:t>Subcontracting Desk</a:t>
            </a:r>
            <a:endParaRPr lang="en-US" sz="3800" dirty="0"/>
          </a:p>
        </p:txBody>
      </p:sp>
      <p:sp>
        <p:nvSpPr>
          <p:cNvPr id="5" name="Text 3"/>
          <p:cNvSpPr txBox="1"/>
          <p:nvPr/>
        </p:nvSpPr>
        <p:spPr>
          <a:xfrm>
            <a:off x="548640" y="2852928"/>
            <a:ext cx="5303520" cy="548640"/>
          </a:xfrm>
          <a:prstGeom prst="rect">
            <a:avLst/>
          </a:prstGeom>
          <a:noFill/>
          <a:ln/>
        </p:spPr>
        <p:txBody>
          <a:bodyPr wrap="square" lIns="0" tIns="0" rIns="0" bIns="0" rtlCol="0" anchor="t"/>
          <a:lstStyle/>
          <a:p>
            <a:pPr indent="0" marL="0">
              <a:buNone/>
            </a:pPr>
            <a:r>
              <a:rPr lang="en-US" sz="1500" i="1" dirty="0">
                <a:solidFill>
                  <a:srgbClr val="B9AF9F"/>
                </a:solidFill>
                <a:latin typeface="Georgia" pitchFamily="34" charset="0"/>
                <a:ea typeface="Georgia" pitchFamily="34" charset="-122"/>
                <a:cs typeface="Georgia" pitchFamily="34" charset="-120"/>
              </a:rPr>
              <a:t>Who should make this batch? Answered in minutes, with the reasoning on record.</a:t>
            </a:r>
            <a:endParaRPr lang="en-US" sz="1500" dirty="0"/>
          </a:p>
        </p:txBody>
      </p:sp>
      <p:sp>
        <p:nvSpPr>
          <p:cNvPr id="6" name="Shape 4"/>
          <p:cNvSpPr/>
          <p:nvPr/>
        </p:nvSpPr>
        <p:spPr>
          <a:xfrm>
            <a:off x="548640" y="3584448"/>
            <a:ext cx="3749040" cy="365760"/>
          </a:xfrm>
          <a:prstGeom prst="roundRect">
            <a:avLst>
              <a:gd name="adj" fmla="val 50000"/>
            </a:avLst>
          </a:prstGeom>
          <a:solidFill>
            <a:srgbClr val="1D1B18"/>
          </a:solidFill>
          <a:ln w="12700">
            <a:solidFill>
              <a:srgbClr val="A3804C"/>
            </a:solidFill>
            <a:prstDash val="solid"/>
          </a:ln>
        </p:spPr>
      </p:sp>
      <p:sp>
        <p:nvSpPr>
          <p:cNvPr id="7" name="Text 5"/>
          <p:cNvSpPr txBox="1"/>
          <p:nvPr/>
        </p:nvSpPr>
        <p:spPr>
          <a:xfrm>
            <a:off x="548640" y="3584448"/>
            <a:ext cx="3749040" cy="365760"/>
          </a:xfrm>
          <a:prstGeom prst="rect">
            <a:avLst/>
          </a:prstGeom>
          <a:noFill/>
          <a:ln/>
        </p:spPr>
        <p:txBody>
          <a:bodyPr wrap="square" lIns="0" tIns="0" rIns="0" bIns="0" rtlCol="0" anchor="ctr"/>
          <a:lstStyle/>
          <a:p>
            <a:pPr algn="ctr" indent="0" marL="0">
              <a:buNone/>
            </a:pPr>
            <a:r>
              <a:rPr lang="en-US" sz="900" b="1" spc="150" kern="0" dirty="0">
                <a:solidFill>
                  <a:srgbClr val="A3804C"/>
                </a:solidFill>
                <a:latin typeface="Arial" pitchFamily="34" charset="0"/>
                <a:ea typeface="Arial" pitchFamily="34" charset="-122"/>
                <a:cs typeface="Arial" pitchFamily="34" charset="-120"/>
              </a:rPr>
              <a:t>PRIMARY OBJECTIVE   </a:t>
            </a:r>
            <a:r>
              <a:rPr lang="en-US" sz="900" b="1" spc="150" kern="0" dirty="0">
                <a:solidFill>
                  <a:srgbClr val="F4EFE6"/>
                </a:solidFill>
                <a:latin typeface="Arial" pitchFamily="34" charset="0"/>
                <a:ea typeface="Arial" pitchFamily="34" charset="-122"/>
                <a:cs typeface="Arial" pitchFamily="34" charset="-120"/>
              </a:rPr>
              <a:t>MINIMISE LATENESS</a:t>
            </a:r>
            <a:endParaRPr lang="en-US" sz="900" dirty="0"/>
          </a:p>
        </p:txBody>
      </p:sp>
      <p:sp>
        <p:nvSpPr>
          <p:cNvPr id="8" name="Text 6"/>
          <p:cNvSpPr txBox="1"/>
          <p:nvPr/>
        </p:nvSpPr>
        <p:spPr>
          <a:xfrm>
            <a:off x="548640" y="4087368"/>
            <a:ext cx="3840480" cy="164592"/>
          </a:xfrm>
          <a:prstGeom prst="rect">
            <a:avLst/>
          </a:prstGeom>
          <a:noFill/>
          <a:ln/>
        </p:spPr>
        <p:txBody>
          <a:bodyPr wrap="square" lIns="0" tIns="0" rIns="0" bIns="0" rtlCol="0" anchor="t"/>
          <a:lstStyle/>
          <a:p>
            <a:pPr indent="0" marL="0">
              <a:buNone/>
            </a:pPr>
            <a:r>
              <a:rPr lang="en-US" sz="850" dirty="0">
                <a:solidFill>
                  <a:srgbClr val="F4EFE6"/>
                </a:solidFill>
                <a:latin typeface="Arial" pitchFamily="34" charset="0"/>
                <a:ea typeface="Arial" pitchFamily="34" charset="-122"/>
                <a:cs typeface="Arial" pitchFamily="34" charset="-120"/>
              </a:rPr>
              <a:t>Chen Zepeng (A0156784N) — Present (in person)</a:t>
            </a:r>
            <a:endParaRPr lang="en-US" sz="850" dirty="0"/>
          </a:p>
        </p:txBody>
      </p:sp>
      <p:sp>
        <p:nvSpPr>
          <p:cNvPr id="9" name="Text 7"/>
          <p:cNvSpPr txBox="1"/>
          <p:nvPr/>
        </p:nvSpPr>
        <p:spPr>
          <a:xfrm>
            <a:off x="548640" y="4261104"/>
            <a:ext cx="3840480" cy="164592"/>
          </a:xfrm>
          <a:prstGeom prst="rect">
            <a:avLst/>
          </a:prstGeom>
          <a:noFill/>
          <a:ln/>
        </p:spPr>
        <p:txBody>
          <a:bodyPr wrap="square" lIns="0" tIns="0" rIns="0" bIns="0" rtlCol="0" anchor="t"/>
          <a:lstStyle/>
          <a:p>
            <a:pPr indent="0" marL="0">
              <a:buNone/>
            </a:pPr>
            <a:r>
              <a:rPr lang="en-US" sz="850" dirty="0">
                <a:solidFill>
                  <a:srgbClr val="F4EFE6"/>
                </a:solidFill>
                <a:latin typeface="Arial" pitchFamily="34" charset="0"/>
                <a:ea typeface="Arial" pitchFamily="34" charset="-122"/>
                <a:cs typeface="Arial" pitchFamily="34" charset="-120"/>
              </a:rPr>
              <a:t>Duong Thanh Nhan (A0296326W) — Present (in person)</a:t>
            </a:r>
            <a:endParaRPr lang="en-US" sz="850" dirty="0"/>
          </a:p>
        </p:txBody>
      </p:sp>
      <p:sp>
        <p:nvSpPr>
          <p:cNvPr id="10" name="Text 8"/>
          <p:cNvSpPr txBox="1"/>
          <p:nvPr/>
        </p:nvSpPr>
        <p:spPr>
          <a:xfrm>
            <a:off x="548640" y="4434840"/>
            <a:ext cx="3840480" cy="164592"/>
          </a:xfrm>
          <a:prstGeom prst="rect">
            <a:avLst/>
          </a:prstGeom>
          <a:noFill/>
          <a:ln/>
        </p:spPr>
        <p:txBody>
          <a:bodyPr wrap="square" lIns="0" tIns="0" rIns="0" bIns="0" rtlCol="0" anchor="t"/>
          <a:lstStyle/>
          <a:p>
            <a:pPr indent="0" marL="0">
              <a:buNone/>
            </a:pPr>
            <a:r>
              <a:rPr lang="en-US" sz="850" dirty="0">
                <a:solidFill>
                  <a:srgbClr val="F4EFE6"/>
                </a:solidFill>
                <a:latin typeface="Arial" pitchFamily="34" charset="0"/>
                <a:ea typeface="Arial" pitchFamily="34" charset="-122"/>
                <a:cs typeface="Arial" pitchFamily="34" charset="-120"/>
              </a:rPr>
              <a:t>Joshua Wesley Gloor (A0296944J) — Present (in person)</a:t>
            </a:r>
            <a:endParaRPr lang="en-US" sz="850" dirty="0"/>
          </a:p>
        </p:txBody>
      </p:sp>
      <p:sp>
        <p:nvSpPr>
          <p:cNvPr id="11" name="Text 9"/>
          <p:cNvSpPr txBox="1"/>
          <p:nvPr/>
        </p:nvSpPr>
        <p:spPr>
          <a:xfrm>
            <a:off x="4434840" y="4087368"/>
            <a:ext cx="3840480" cy="164592"/>
          </a:xfrm>
          <a:prstGeom prst="rect">
            <a:avLst/>
          </a:prstGeom>
          <a:noFill/>
          <a:ln/>
        </p:spPr>
        <p:txBody>
          <a:bodyPr wrap="square" lIns="0" tIns="0" rIns="0" bIns="0" rtlCol="0" anchor="t"/>
          <a:lstStyle/>
          <a:p>
            <a:pPr indent="0" marL="0">
              <a:buNone/>
            </a:pPr>
            <a:r>
              <a:rPr lang="en-US" sz="850" dirty="0">
                <a:solidFill>
                  <a:srgbClr val="F4EFE6"/>
                </a:solidFill>
                <a:latin typeface="Arial" pitchFamily="34" charset="0"/>
                <a:ea typeface="Arial" pitchFamily="34" charset="-122"/>
                <a:cs typeface="Arial" pitchFamily="34" charset="-120"/>
              </a:rPr>
              <a:t>Niyanthri Rajeswari Sridhar (A0351151U) — Present (in person)</a:t>
            </a:r>
            <a:endParaRPr lang="en-US" sz="850" dirty="0"/>
          </a:p>
        </p:txBody>
      </p:sp>
      <p:sp>
        <p:nvSpPr>
          <p:cNvPr id="12" name="Text 10"/>
          <p:cNvSpPr txBox="1"/>
          <p:nvPr/>
        </p:nvSpPr>
        <p:spPr>
          <a:xfrm>
            <a:off x="4434840" y="4261104"/>
            <a:ext cx="3840480" cy="164592"/>
          </a:xfrm>
          <a:prstGeom prst="rect">
            <a:avLst/>
          </a:prstGeom>
          <a:noFill/>
          <a:ln/>
        </p:spPr>
        <p:txBody>
          <a:bodyPr wrap="square" lIns="0" tIns="0" rIns="0" bIns="0" rtlCol="0" anchor="t"/>
          <a:lstStyle/>
          <a:p>
            <a:pPr indent="0" marL="0">
              <a:buNone/>
            </a:pPr>
            <a:r>
              <a:rPr lang="en-US" sz="850" dirty="0">
                <a:solidFill>
                  <a:srgbClr val="F4EFE6"/>
                </a:solidFill>
                <a:latin typeface="Arial" pitchFamily="34" charset="0"/>
                <a:ea typeface="Arial" pitchFamily="34" charset="-122"/>
                <a:cs typeface="Arial" pitchFamily="34" charset="-120"/>
              </a:rPr>
              <a:t>Sundara Rajan Saadhvika (A0352594W) — Present (in person)</a:t>
            </a:r>
            <a:endParaRPr lang="en-US" sz="850" dirty="0"/>
          </a:p>
        </p:txBody>
      </p:sp>
      <p:sp>
        <p:nvSpPr>
          <p:cNvPr id="13" name="Text 11"/>
          <p:cNvSpPr txBox="1"/>
          <p:nvPr/>
        </p:nvSpPr>
        <p:spPr>
          <a:xfrm>
            <a:off x="4434840" y="4434840"/>
            <a:ext cx="3840480" cy="164592"/>
          </a:xfrm>
          <a:prstGeom prst="rect">
            <a:avLst/>
          </a:prstGeom>
          <a:noFill/>
          <a:ln/>
        </p:spPr>
        <p:txBody>
          <a:bodyPr wrap="square" lIns="0" tIns="0" rIns="0" bIns="0" rtlCol="0" anchor="t"/>
          <a:lstStyle/>
          <a:p>
            <a:pPr indent="0" marL="0">
              <a:buNone/>
            </a:pPr>
            <a:r>
              <a:rPr lang="en-US" sz="850" dirty="0">
                <a:solidFill>
                  <a:srgbClr val="F4EFE6"/>
                </a:solidFill>
                <a:latin typeface="Arial" pitchFamily="34" charset="0"/>
                <a:ea typeface="Arial" pitchFamily="34" charset="-122"/>
                <a:cs typeface="Arial" pitchFamily="34" charset="-120"/>
              </a:rPr>
              <a:t>Tang Zheling (A0352177B) — Present (in person)</a:t>
            </a:r>
            <a:endParaRPr lang="en-US" sz="850" dirty="0"/>
          </a:p>
        </p:txBody>
      </p:sp>
      <p:sp>
        <p:nvSpPr>
          <p:cNvPr id="14" name="Text 12"/>
          <p:cNvSpPr txBox="1"/>
          <p:nvPr/>
        </p:nvSpPr>
        <p:spPr>
          <a:xfrm>
            <a:off x="548640" y="4718304"/>
            <a:ext cx="8046720" cy="182880"/>
          </a:xfrm>
          <a:prstGeom prst="rect">
            <a:avLst/>
          </a:prstGeom>
          <a:noFill/>
          <a:ln/>
        </p:spPr>
        <p:txBody>
          <a:bodyPr wrap="square" lIns="0" tIns="0" rIns="0" bIns="0" rtlCol="0" anchor="t"/>
          <a:lstStyle/>
          <a:p>
            <a:pPr indent="0" marL="0">
              <a:buNone/>
            </a:pPr>
            <a:r>
              <a:rPr lang="en-US" sz="750" spc="200" kern="0" dirty="0">
                <a:solidFill>
                  <a:srgbClr val="B9AF9F"/>
                </a:solidFill>
                <a:latin typeface="Arial" pitchFamily="34" charset="0"/>
                <a:ea typeface="Arial" pitchFamily="34" charset="-122"/>
                <a:cs typeface="Arial" pitchFamily="34" charset="-120"/>
              </a:rPr>
              <a:t>DSS5105 CAPSTONE  /  16 OCTOBER 2026</a:t>
            </a:r>
            <a:endParaRPr lang="en-US" sz="750" dirty="0"/>
          </a:p>
        </p:txBody>
      </p:sp>
      <p:sp>
        <p:nvSpPr>
          <p:cNvPr id="15" name="Text 13"/>
          <p:cNvSpPr txBox="1"/>
          <p:nvPr/>
        </p:nvSpPr>
        <p:spPr>
          <a:xfrm>
            <a:off x="6400800" y="1207008"/>
            <a:ext cx="2194560" cy="201168"/>
          </a:xfrm>
          <a:prstGeom prst="rect">
            <a:avLst/>
          </a:prstGeom>
          <a:noFill/>
          <a:ln/>
        </p:spPr>
        <p:txBody>
          <a:bodyPr wrap="square" lIns="0" tIns="0" rIns="0" bIns="0" rtlCol="0" anchor="t"/>
          <a:lstStyle/>
          <a:p>
            <a:pPr algn="r" indent="0" marL="0">
              <a:buNone/>
            </a:pPr>
            <a:r>
              <a:rPr lang="en-US" sz="850" b="1" spc="300" kern="0" dirty="0">
                <a:solidFill>
                  <a:srgbClr val="A3804C"/>
                </a:solidFill>
                <a:latin typeface="Arial" pitchFamily="34" charset="0"/>
                <a:ea typeface="Arial" pitchFamily="34" charset="-122"/>
                <a:cs typeface="Arial" pitchFamily="34" charset="-120"/>
              </a:rPr>
              <a:t>THE NETWORK</a:t>
            </a:r>
            <a:endParaRPr lang="en-US" sz="850" dirty="0"/>
          </a:p>
        </p:txBody>
      </p:sp>
      <p:sp>
        <p:nvSpPr>
          <p:cNvPr id="16" name="Text 14"/>
          <p:cNvSpPr txBox="1"/>
          <p:nvPr/>
        </p:nvSpPr>
        <p:spPr>
          <a:xfrm>
            <a:off x="6035040" y="1481328"/>
            <a:ext cx="2560320" cy="2468880"/>
          </a:xfrm>
          <a:prstGeom prst="rect">
            <a:avLst/>
          </a:prstGeom>
          <a:noFill/>
          <a:ln/>
        </p:spPr>
        <p:txBody>
          <a:bodyPr wrap="square" lIns="0" tIns="0" rIns="0" bIns="0" rtlCol="0" anchor="t"/>
          <a:lstStyle/>
          <a:p>
            <a:pPr algn="r" indent="0" marL="0">
              <a:spcAft>
                <a:spcPts val="250"/>
              </a:spcAft>
              <a:buNone/>
            </a:pPr>
            <a:r>
              <a:rPr lang="en-US" sz="1500" i="1" dirty="0">
                <a:solidFill>
                  <a:srgbClr val="F4EFE6"/>
                </a:solidFill>
                <a:latin typeface="Georgia" pitchFamily="34" charset="0"/>
                <a:ea typeface="Georgia" pitchFamily="34" charset="-122"/>
                <a:cs typeface="Georgia" pitchFamily="34" charset="-120"/>
              </a:rPr>
              <a:t>QuickStitch</a:t>
            </a:r>
            <a:endParaRPr lang="en-US" sz="1500" dirty="0"/>
          </a:p>
          <a:p>
            <a:pPr algn="r" indent="0" marL="0">
              <a:spcAft>
                <a:spcPts val="250"/>
              </a:spcAft>
              <a:buNone/>
            </a:pPr>
            <a:r>
              <a:rPr lang="en-US" sz="1500" i="1" dirty="0">
                <a:solidFill>
                  <a:srgbClr val="F4EFE6"/>
                </a:solidFill>
                <a:latin typeface="Georgia" pitchFamily="34" charset="0"/>
                <a:ea typeface="Georgia" pitchFamily="34" charset="-122"/>
                <a:cs typeface="Georgia" pitchFamily="34" charset="-120"/>
              </a:rPr>
              <a:t>SteadyHands</a:t>
            </a:r>
            <a:endParaRPr lang="en-US" sz="1500" dirty="0"/>
          </a:p>
          <a:p>
            <a:pPr algn="r" indent="0" marL="0">
              <a:spcAft>
                <a:spcPts val="250"/>
              </a:spcAft>
              <a:buNone/>
            </a:pPr>
            <a:r>
              <a:rPr lang="en-US" sz="1500" i="1" dirty="0">
                <a:solidFill>
                  <a:srgbClr val="F4EFE6"/>
                </a:solidFill>
                <a:latin typeface="Georgia" pitchFamily="34" charset="0"/>
                <a:ea typeface="Georgia" pitchFamily="34" charset="-122"/>
                <a:cs typeface="Georgia" pitchFamily="34" charset="-120"/>
              </a:rPr>
              <a:t>BudgetWorks</a:t>
            </a:r>
            <a:endParaRPr lang="en-US" sz="1500" dirty="0"/>
          </a:p>
          <a:p>
            <a:pPr algn="r" indent="0" marL="0">
              <a:spcAft>
                <a:spcPts val="250"/>
              </a:spcAft>
              <a:buNone/>
            </a:pPr>
            <a:r>
              <a:rPr lang="en-US" sz="1500" i="1" dirty="0">
                <a:solidFill>
                  <a:srgbClr val="F4EFE6"/>
                </a:solidFill>
                <a:latin typeface="Georgia" pitchFamily="34" charset="0"/>
                <a:ea typeface="Georgia" pitchFamily="34" charset="-122"/>
                <a:cs typeface="Georgia" pitchFamily="34" charset="-120"/>
              </a:rPr>
              <a:t>Little Loom</a:t>
            </a:r>
            <a:endParaRPr lang="en-US" sz="1500" dirty="0"/>
          </a:p>
          <a:p>
            <a:pPr algn="r" indent="0" marL="0">
              <a:spcAft>
                <a:spcPts val="250"/>
              </a:spcAft>
              <a:buNone/>
            </a:pPr>
            <a:r>
              <a:rPr lang="en-US" sz="1500" i="1" dirty="0">
                <a:solidFill>
                  <a:srgbClr val="F4EFE6"/>
                </a:solidFill>
                <a:latin typeface="Georgia" pitchFamily="34" charset="0"/>
                <a:ea typeface="Georgia" pitchFamily="34" charset="-122"/>
                <a:cs typeface="Georgia" pitchFamily="34" charset="-120"/>
              </a:rPr>
              <a:t>GiantWeave</a:t>
            </a:r>
            <a:endParaRPr lang="en-US" sz="1500" dirty="0"/>
          </a:p>
          <a:p>
            <a:pPr algn="r" indent="0" marL="0">
              <a:spcAft>
                <a:spcPts val="250"/>
              </a:spcAft>
              <a:buNone/>
            </a:pPr>
            <a:r>
              <a:rPr lang="en-US" sz="1500" i="1" dirty="0">
                <a:solidFill>
                  <a:srgbClr val="F4EFE6"/>
                </a:solidFill>
                <a:latin typeface="Georgia" pitchFamily="34" charset="0"/>
                <a:ea typeface="Georgia" pitchFamily="34" charset="-122"/>
                <a:cs typeface="Georgia" pitchFamily="34" charset="-120"/>
              </a:rPr>
              <a:t>Nimble Needle</a:t>
            </a:r>
            <a:endParaRPr lang="en-US" sz="1500" dirty="0"/>
          </a:p>
          <a:p>
            <a:pPr algn="r" indent="0" marL="0">
              <a:spcAft>
                <a:spcPts val="250"/>
              </a:spcAft>
              <a:buNone/>
            </a:pPr>
            <a:r>
              <a:rPr lang="en-US" sz="1500" i="1" dirty="0">
                <a:solidFill>
                  <a:srgbClr val="6E675C"/>
                </a:solidFill>
                <a:latin typeface="Georgia" pitchFamily="34" charset="0"/>
                <a:ea typeface="Georgia" pitchFamily="34" charset="-122"/>
                <a:cs typeface="Georgia" pitchFamily="34" charset="-120"/>
              </a:rPr>
              <a:t>OldMill</a:t>
            </a:r>
            <a:endParaRPr lang="en-US" sz="1500" dirty="0"/>
          </a:p>
          <a:p>
            <a:pPr algn="r" indent="0" marL="0">
              <a:spcAft>
                <a:spcPts val="250"/>
              </a:spcAft>
              <a:buNone/>
            </a:pPr>
            <a:r>
              <a:rPr lang="en-US" sz="1500" i="1" dirty="0">
                <a:solidFill>
                  <a:srgbClr val="F4EFE6"/>
                </a:solidFill>
                <a:latin typeface="Georgia" pitchFamily="34" charset="0"/>
                <a:ea typeface="Georgia" pitchFamily="34" charset="-122"/>
                <a:cs typeface="Georgia" pitchFamily="34" charset="-120"/>
              </a:rPr>
              <a:t>FreshStart</a:t>
            </a:r>
            <a:endParaRPr lang="en-US" sz="1500" dirty="0"/>
          </a:p>
        </p:txBody>
      </p:sp>
      <p:sp>
        <p:nvSpPr>
          <p:cNvPr id="17" name="Text 15"/>
          <p:cNvSpPr txBox="1"/>
          <p:nvPr/>
        </p:nvSpPr>
        <p:spPr>
          <a:xfrm>
            <a:off x="5394960" y="3511296"/>
            <a:ext cx="3200400" cy="201168"/>
          </a:xfrm>
          <a:prstGeom prst="rect">
            <a:avLst/>
          </a:prstGeom>
          <a:noFill/>
          <a:ln/>
        </p:spPr>
        <p:txBody>
          <a:bodyPr wrap="square" lIns="0" tIns="0" rIns="0" bIns="0" rtlCol="0" anchor="t"/>
          <a:lstStyle/>
          <a:p>
            <a:pPr algn="r" indent="0" marL="0">
              <a:buNone/>
            </a:pPr>
            <a:r>
              <a:rPr lang="en-US" sz="950" i="1" dirty="0">
                <a:solidFill>
                  <a:srgbClr val="A3804C"/>
                </a:solidFill>
                <a:latin typeface="Georgia" pitchFamily="34" charset="0"/>
                <a:ea typeface="Georgia" pitchFamily="34" charset="-122"/>
                <a:cs typeface="Georgia" pitchFamily="34" charset="-120"/>
              </a:rPr>
              <a:t>OldMill suspended. FreshStart on trial, max 300.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8046720" cy="201168"/>
          </a:xfrm>
          <a:prstGeom prst="rect">
            <a:avLst/>
          </a:prstGeom>
          <a:noFill/>
          <a:ln/>
        </p:spPr>
        <p:txBody>
          <a:bodyPr wrap="square" lIns="0" tIns="0" rIns="0" bIns="0" rtlCol="0" anchor="t"/>
          <a:lstStyle/>
          <a:p>
            <a:pPr indent="0" marL="0">
              <a:buNone/>
            </a:pPr>
            <a:r>
              <a:rPr lang="en-US" sz="850" b="1" spc="300" kern="0" dirty="0">
                <a:solidFill>
                  <a:srgbClr val="7D5E30"/>
                </a:solidFill>
                <a:latin typeface="Arial" pitchFamily="34" charset="0"/>
                <a:ea typeface="Arial" pitchFamily="34" charset="-122"/>
                <a:cs typeface="Arial" pitchFamily="34" charset="-120"/>
              </a:rPr>
              <a:t>THE PROBLEM</a:t>
            </a:r>
            <a:endParaRPr lang="en-US" sz="850" dirty="0"/>
          </a:p>
        </p:txBody>
      </p:sp>
      <p:sp>
        <p:nvSpPr>
          <p:cNvPr id="3" name="Text 1"/>
          <p:cNvSpPr txBox="1"/>
          <p:nvPr/>
        </p:nvSpPr>
        <p:spPr>
          <a:xfrm>
            <a:off x="548640" y="566928"/>
            <a:ext cx="8046720" cy="566928"/>
          </a:xfrm>
          <a:prstGeom prst="rect">
            <a:avLst/>
          </a:prstGeom>
          <a:noFill/>
          <a:ln/>
        </p:spPr>
        <p:txBody>
          <a:bodyPr wrap="square" lIns="0" tIns="0" rIns="0" bIns="0" rtlCol="0" anchor="ctr"/>
          <a:lstStyle/>
          <a:p>
            <a:pPr indent="0" marL="0">
              <a:buNone/>
            </a:pPr>
            <a:r>
              <a:rPr lang="en-US" sz="2400" dirty="0">
                <a:solidFill>
                  <a:srgbClr val="1D1B18"/>
                </a:solidFill>
                <a:latin typeface="Georgia" pitchFamily="34" charset="0"/>
                <a:ea typeface="Georgia" pitchFamily="34" charset="-122"/>
                <a:cs typeface="Georgia" pitchFamily="34" charset="-120"/>
              </a:rPr>
              <a:t>Today, one chat message is the whole decision</a:t>
            </a:r>
            <a:endParaRPr lang="en-US" sz="2400" dirty="0"/>
          </a:p>
        </p:txBody>
      </p:sp>
      <p:sp>
        <p:nvSpPr>
          <p:cNvPr id="4" name="Shape 2"/>
          <p:cNvSpPr/>
          <p:nvPr/>
        </p:nvSpPr>
        <p:spPr>
          <a:xfrm>
            <a:off x="548640" y="1325880"/>
            <a:ext cx="3931920" cy="1417320"/>
          </a:xfrm>
          <a:prstGeom prst="rect">
            <a:avLst/>
          </a:prstGeom>
          <a:solidFill>
            <a:srgbClr val="FFFFFF"/>
          </a:solidFill>
          <a:ln w="9525">
            <a:solidFill>
              <a:srgbClr val="E4DDD0"/>
            </a:solidFill>
            <a:prstDash val="solid"/>
          </a:ln>
        </p:spPr>
      </p:sp>
      <p:sp>
        <p:nvSpPr>
          <p:cNvPr id="5" name="Text 3"/>
          <p:cNvSpPr txBox="1"/>
          <p:nvPr/>
        </p:nvSpPr>
        <p:spPr>
          <a:xfrm>
            <a:off x="749808" y="1344168"/>
            <a:ext cx="457200" cy="457200"/>
          </a:xfrm>
          <a:prstGeom prst="rect">
            <a:avLst/>
          </a:prstGeom>
          <a:noFill/>
          <a:ln/>
        </p:spPr>
        <p:txBody>
          <a:bodyPr wrap="square" lIns="0" tIns="0" rIns="0" bIns="0" rtlCol="0" anchor="t"/>
          <a:lstStyle/>
          <a:p>
            <a:pPr indent="0" marL="0">
              <a:buNone/>
            </a:pPr>
            <a:r>
              <a:rPr lang="en-US" sz="4000" dirty="0">
                <a:solidFill>
                  <a:srgbClr val="A3804C"/>
                </a:solidFill>
                <a:latin typeface="Georgia" pitchFamily="34" charset="0"/>
                <a:ea typeface="Georgia" pitchFamily="34" charset="-122"/>
                <a:cs typeface="Georgia" pitchFamily="34" charset="-120"/>
              </a:rPr>
              <a:t>“</a:t>
            </a:r>
            <a:endParaRPr lang="en-US" sz="4000" dirty="0"/>
          </a:p>
        </p:txBody>
      </p:sp>
      <p:sp>
        <p:nvSpPr>
          <p:cNvPr id="6" name="Text 4"/>
          <p:cNvSpPr txBox="1"/>
          <p:nvPr/>
        </p:nvSpPr>
        <p:spPr>
          <a:xfrm>
            <a:off x="777240" y="1700784"/>
            <a:ext cx="3520440" cy="731520"/>
          </a:xfrm>
          <a:prstGeom prst="rect">
            <a:avLst/>
          </a:prstGeom>
          <a:noFill/>
          <a:ln/>
        </p:spPr>
        <p:txBody>
          <a:bodyPr wrap="square" lIns="0" tIns="0" rIns="0" bIns="0" rtlCol="0" anchor="t"/>
          <a:lstStyle/>
          <a:p>
            <a:pPr indent="0" marL="0">
              <a:buNone/>
            </a:pPr>
            <a:r>
              <a:rPr lang="en-US" sz="1500" i="1" dirty="0">
                <a:solidFill>
                  <a:srgbClr val="1D1B18"/>
                </a:solidFill>
                <a:latin typeface="Georgia" pitchFamily="34" charset="0"/>
                <a:ea typeface="Georgia" pitchFamily="34" charset="-122"/>
                <a:cs typeface="Georgia" pitchFamily="34" charset="-120"/>
              </a:rPr>
              <a:t>@Chen - order 042, 1,500 crewnecks. Send it to QuickStitch, need it back by the 19th.</a:t>
            </a:r>
            <a:endParaRPr lang="en-US" sz="1500" dirty="0"/>
          </a:p>
        </p:txBody>
      </p:sp>
      <p:sp>
        <p:nvSpPr>
          <p:cNvPr id="7" name="Text 5"/>
          <p:cNvSpPr txBox="1"/>
          <p:nvPr/>
        </p:nvSpPr>
        <p:spPr>
          <a:xfrm>
            <a:off x="777240" y="2487168"/>
            <a:ext cx="3566160" cy="182880"/>
          </a:xfrm>
          <a:prstGeom prst="rect">
            <a:avLst/>
          </a:prstGeom>
          <a:noFill/>
          <a:ln/>
        </p:spPr>
        <p:txBody>
          <a:bodyPr wrap="square" lIns="0" tIns="0" rIns="0" bIns="0" rtlCol="0" anchor="t"/>
          <a:lstStyle/>
          <a:p>
            <a:pPr indent="0" marL="0">
              <a:buNone/>
            </a:pPr>
            <a:r>
              <a:rPr lang="en-US" sz="700" spc="150" kern="0" dirty="0">
                <a:solidFill>
                  <a:srgbClr val="6B665D"/>
                </a:solidFill>
                <a:latin typeface="Arial" pitchFamily="34" charset="0"/>
                <a:ea typeface="Arial" pitchFamily="34" charset="-122"/>
                <a:cs typeface="Arial" pitchFamily="34" charset="-120"/>
              </a:rPr>
              <a:t>HOW ALLOCATION IS DECIDED TODAY  /  COURSE BRIEF</a:t>
            </a:r>
            <a:endParaRPr lang="en-US" sz="700" dirty="0"/>
          </a:p>
        </p:txBody>
      </p:sp>
      <p:sp>
        <p:nvSpPr>
          <p:cNvPr id="8" name="Text 6"/>
          <p:cNvSpPr txBox="1"/>
          <p:nvPr/>
        </p:nvSpPr>
        <p:spPr>
          <a:xfrm>
            <a:off x="548640" y="2871216"/>
            <a:ext cx="3931920" cy="411480"/>
          </a:xfrm>
          <a:prstGeom prst="rect">
            <a:avLst/>
          </a:prstGeom>
          <a:noFill/>
          <a:ln/>
        </p:spPr>
        <p:txBody>
          <a:bodyPr wrap="square" lIns="0" tIns="0" rIns="0" bIns="0" rtlCol="0" anchor="t"/>
          <a:lstStyle/>
          <a:p>
            <a:pPr indent="0" marL="0">
              <a:buNone/>
            </a:pPr>
            <a:r>
              <a:rPr lang="en-US" sz="1200" dirty="0">
                <a:solidFill>
                  <a:srgbClr val="4A463F"/>
                </a:solidFill>
                <a:latin typeface="Arial" pitchFamily="34" charset="0"/>
                <a:ea typeface="Arial" pitchFamily="34" charset="-122"/>
                <a:cs typeface="Arial" pitchFamily="34" charset="-120"/>
              </a:rPr>
              <a:t>Everything behind it lives in one dispatcher’s head. Nobody can check it, and nothing is written down.</a:t>
            </a:r>
            <a:endParaRPr lang="en-US" sz="1200" dirty="0"/>
          </a:p>
        </p:txBody>
      </p:sp>
      <p:sp>
        <p:nvSpPr>
          <p:cNvPr id="9" name="Shape 7"/>
          <p:cNvSpPr/>
          <p:nvPr/>
        </p:nvSpPr>
        <p:spPr>
          <a:xfrm>
            <a:off x="548640" y="3383280"/>
            <a:ext cx="3931920" cy="0"/>
          </a:xfrm>
          <a:prstGeom prst="line">
            <a:avLst/>
          </a:prstGeom>
          <a:noFill/>
          <a:ln w="9525">
            <a:solidFill>
              <a:srgbClr val="E4DDD0"/>
            </a:solidFill>
            <a:prstDash val="solid"/>
          </a:ln>
        </p:spPr>
      </p:sp>
      <p:sp>
        <p:nvSpPr>
          <p:cNvPr id="10" name="Text 8"/>
          <p:cNvSpPr txBox="1"/>
          <p:nvPr/>
        </p:nvSpPr>
        <p:spPr>
          <a:xfrm>
            <a:off x="548640" y="3474720"/>
            <a:ext cx="1188720" cy="411480"/>
          </a:xfrm>
          <a:prstGeom prst="rect">
            <a:avLst/>
          </a:prstGeom>
          <a:noFill/>
          <a:ln/>
        </p:spPr>
        <p:txBody>
          <a:bodyPr wrap="square" lIns="0" tIns="0" rIns="0" bIns="0" rtlCol="0" anchor="ctr"/>
          <a:lstStyle/>
          <a:p>
            <a:pPr indent="0" marL="0">
              <a:buNone/>
            </a:pPr>
            <a:r>
              <a:rPr lang="en-US" sz="2600" dirty="0">
                <a:solidFill>
                  <a:srgbClr val="A3804C"/>
                </a:solidFill>
                <a:latin typeface="Georgia" pitchFamily="34" charset="0"/>
                <a:ea typeface="Georgia" pitchFamily="34" charset="-122"/>
                <a:cs typeface="Georgia" pitchFamily="34" charset="-120"/>
              </a:rPr>
              <a:t>7 of 30</a:t>
            </a:r>
            <a:endParaRPr lang="en-US" sz="2600" dirty="0"/>
          </a:p>
        </p:txBody>
      </p:sp>
      <p:sp>
        <p:nvSpPr>
          <p:cNvPr id="11" name="Text 9"/>
          <p:cNvSpPr txBox="1"/>
          <p:nvPr/>
        </p:nvSpPr>
        <p:spPr>
          <a:xfrm>
            <a:off x="1783080" y="3474720"/>
            <a:ext cx="2697480" cy="457200"/>
          </a:xfrm>
          <a:prstGeom prst="rect">
            <a:avLst/>
          </a:prstGeom>
          <a:noFill/>
          <a:ln/>
        </p:spPr>
        <p:txBody>
          <a:bodyPr wrap="square" lIns="0" tIns="0" rIns="0" bIns="0" rtlCol="0" anchor="ctr"/>
          <a:lstStyle/>
          <a:p>
            <a:pPr indent="0" marL="0">
              <a:buNone/>
            </a:pPr>
            <a:r>
              <a:rPr lang="en-US" sz="1000" dirty="0">
                <a:solidFill>
                  <a:srgbClr val="4A463F"/>
                </a:solidFill>
                <a:latin typeface="Arial" pitchFamily="34" charset="0"/>
                <a:ea typeface="Arial" pitchFamily="34" charset="-122"/>
                <a:cs typeface="Arial" pitchFamily="34" charset="-120"/>
              </a:rPr>
              <a:t>requests in this morning’s inbox are plain allocations. The other 23 need a question, a refusal, a constraint or bad news.</a:t>
            </a:r>
            <a:endParaRPr lang="en-US" sz="1000" dirty="0"/>
          </a:p>
        </p:txBody>
      </p:sp>
      <p:sp>
        <p:nvSpPr>
          <p:cNvPr id="12" name="Text 10"/>
          <p:cNvSpPr txBox="1"/>
          <p:nvPr/>
        </p:nvSpPr>
        <p:spPr>
          <a:xfrm>
            <a:off x="4937760" y="1325880"/>
            <a:ext cx="3657600" cy="201168"/>
          </a:xfrm>
          <a:prstGeom prst="rect">
            <a:avLst/>
          </a:prstGeom>
          <a:noFill/>
          <a:ln/>
        </p:spPr>
        <p:txBody>
          <a:bodyPr wrap="square" lIns="0" tIns="0" rIns="0" bIns="0" rtlCol="0" anchor="t"/>
          <a:lstStyle/>
          <a:p>
            <a:pPr indent="0" marL="0">
              <a:buNone/>
            </a:pPr>
            <a:r>
              <a:rPr lang="en-US" sz="850" b="1" spc="200" kern="0" dirty="0">
                <a:solidFill>
                  <a:srgbClr val="6B665D"/>
                </a:solidFill>
                <a:latin typeface="Arial" pitchFamily="34" charset="0"/>
                <a:ea typeface="Arial" pitchFamily="34" charset="-122"/>
                <a:cs typeface="Arial" pitchFamily="34" charset="-120"/>
              </a:rPr>
              <a:t>THREE QUESTIONS, EVERY TIME</a:t>
            </a:r>
            <a:endParaRPr lang="en-US" sz="850" dirty="0"/>
          </a:p>
        </p:txBody>
      </p:sp>
      <p:sp>
        <p:nvSpPr>
          <p:cNvPr id="13" name="Text 11"/>
          <p:cNvSpPr txBox="1"/>
          <p:nvPr/>
        </p:nvSpPr>
        <p:spPr>
          <a:xfrm>
            <a:off x="4937760" y="1609344"/>
            <a:ext cx="365760" cy="365760"/>
          </a:xfrm>
          <a:prstGeom prst="rect">
            <a:avLst/>
          </a:prstGeom>
          <a:noFill/>
          <a:ln/>
        </p:spPr>
        <p:txBody>
          <a:bodyPr wrap="square" lIns="0" tIns="0" rIns="0" bIns="0" rtlCol="0" anchor="t"/>
          <a:lstStyle/>
          <a:p>
            <a:pPr indent="0" marL="0">
              <a:buNone/>
            </a:pPr>
            <a:r>
              <a:rPr lang="en-US" sz="2200" dirty="0">
                <a:solidFill>
                  <a:srgbClr val="A3804C"/>
                </a:solidFill>
                <a:latin typeface="Georgia" pitchFamily="34" charset="0"/>
                <a:ea typeface="Georgia" pitchFamily="34" charset="-122"/>
                <a:cs typeface="Georgia" pitchFamily="34" charset="-120"/>
              </a:rPr>
              <a:t>1</a:t>
            </a:r>
            <a:endParaRPr lang="en-US" sz="2200" dirty="0"/>
          </a:p>
        </p:txBody>
      </p:sp>
      <p:sp>
        <p:nvSpPr>
          <p:cNvPr id="14" name="Text 12"/>
          <p:cNvSpPr txBox="1"/>
          <p:nvPr/>
        </p:nvSpPr>
        <p:spPr>
          <a:xfrm>
            <a:off x="5394960" y="1645920"/>
            <a:ext cx="3200400" cy="274320"/>
          </a:xfrm>
          <a:prstGeom prst="rect">
            <a:avLst/>
          </a:prstGeom>
          <a:noFill/>
          <a:ln/>
        </p:spPr>
        <p:txBody>
          <a:bodyPr wrap="square" lIns="0" tIns="0" rIns="0" bIns="0" rtlCol="0" anchor="t"/>
          <a:lstStyle/>
          <a:p>
            <a:pPr indent="0" marL="0">
              <a:buNone/>
            </a:pPr>
            <a:r>
              <a:rPr lang="en-US" sz="1500" dirty="0">
                <a:solidFill>
                  <a:srgbClr val="1D1B18"/>
                </a:solidFill>
                <a:latin typeface="Georgia" pitchFamily="34" charset="0"/>
                <a:ea typeface="Georgia" pitchFamily="34" charset="-122"/>
                <a:cs typeface="Georgia" pitchFamily="34" charset="-120"/>
              </a:rPr>
              <a:t>Can they make it?</a:t>
            </a:r>
            <a:endParaRPr lang="en-US" sz="1500" dirty="0"/>
          </a:p>
        </p:txBody>
      </p:sp>
      <p:sp>
        <p:nvSpPr>
          <p:cNvPr id="15" name="Text 13"/>
          <p:cNvSpPr txBox="1"/>
          <p:nvPr/>
        </p:nvSpPr>
        <p:spPr>
          <a:xfrm>
            <a:off x="5394960" y="1920240"/>
            <a:ext cx="3200400" cy="365760"/>
          </a:xfrm>
          <a:prstGeom prst="rect">
            <a:avLst/>
          </a:prstGeom>
          <a:noFill/>
          <a:ln/>
        </p:spPr>
        <p:txBody>
          <a:bodyPr wrap="square" lIns="0" tIns="0" rIns="0" bIns="0" rtlCol="0" anchor="t"/>
          <a:lstStyle/>
          <a:p>
            <a:pPr indent="0" marL="0">
              <a:buNone/>
            </a:pPr>
            <a:r>
              <a:rPr lang="en-US" sz="1050" dirty="0">
                <a:solidFill>
                  <a:srgbClr val="4A463F"/>
                </a:solidFill>
                <a:latin typeface="Arial" pitchFamily="34" charset="0"/>
                <a:ea typeface="Arial" pitchFamily="34" charset="-122"/>
                <a:cs typeface="Arial" pitchFamily="34" charset="-120"/>
              </a:rPr>
              <a:t>Four of the eight make tops only, so they cannot take a scarf order.</a:t>
            </a:r>
            <a:endParaRPr lang="en-US" sz="1050" dirty="0"/>
          </a:p>
        </p:txBody>
      </p:sp>
      <p:sp>
        <p:nvSpPr>
          <p:cNvPr id="16" name="Text 14"/>
          <p:cNvSpPr txBox="1"/>
          <p:nvPr/>
        </p:nvSpPr>
        <p:spPr>
          <a:xfrm>
            <a:off x="4937760" y="2322576"/>
            <a:ext cx="365760" cy="365760"/>
          </a:xfrm>
          <a:prstGeom prst="rect">
            <a:avLst/>
          </a:prstGeom>
          <a:noFill/>
          <a:ln/>
        </p:spPr>
        <p:txBody>
          <a:bodyPr wrap="square" lIns="0" tIns="0" rIns="0" bIns="0" rtlCol="0" anchor="t"/>
          <a:lstStyle/>
          <a:p>
            <a:pPr indent="0" marL="0">
              <a:buNone/>
            </a:pPr>
            <a:r>
              <a:rPr lang="en-US" sz="2200" dirty="0">
                <a:solidFill>
                  <a:srgbClr val="A3804C"/>
                </a:solidFill>
                <a:latin typeface="Georgia" pitchFamily="34" charset="0"/>
                <a:ea typeface="Georgia" pitchFamily="34" charset="-122"/>
                <a:cs typeface="Georgia" pitchFamily="34" charset="-120"/>
              </a:rPr>
              <a:t>2</a:t>
            </a:r>
            <a:endParaRPr lang="en-US" sz="2200" dirty="0"/>
          </a:p>
        </p:txBody>
      </p:sp>
      <p:sp>
        <p:nvSpPr>
          <p:cNvPr id="17" name="Text 15"/>
          <p:cNvSpPr txBox="1"/>
          <p:nvPr/>
        </p:nvSpPr>
        <p:spPr>
          <a:xfrm>
            <a:off x="5394960" y="2359152"/>
            <a:ext cx="3200400" cy="274320"/>
          </a:xfrm>
          <a:prstGeom prst="rect">
            <a:avLst/>
          </a:prstGeom>
          <a:noFill/>
          <a:ln/>
        </p:spPr>
        <p:txBody>
          <a:bodyPr wrap="square" lIns="0" tIns="0" rIns="0" bIns="0" rtlCol="0" anchor="t"/>
          <a:lstStyle/>
          <a:p>
            <a:pPr indent="0" marL="0">
              <a:buNone/>
            </a:pPr>
            <a:r>
              <a:rPr lang="en-US" sz="1500" dirty="0">
                <a:solidFill>
                  <a:srgbClr val="1D1B18"/>
                </a:solidFill>
                <a:latin typeface="Georgia" pitchFamily="34" charset="0"/>
                <a:ea typeface="Georgia" pitchFamily="34" charset="-122"/>
                <a:cs typeface="Georgia" pitchFamily="34" charset="-120"/>
              </a:rPr>
              <a:t>Can they take it now?</a:t>
            </a:r>
            <a:endParaRPr lang="en-US" sz="1500" dirty="0"/>
          </a:p>
        </p:txBody>
      </p:sp>
      <p:sp>
        <p:nvSpPr>
          <p:cNvPr id="18" name="Text 16"/>
          <p:cNvSpPr txBox="1"/>
          <p:nvPr/>
        </p:nvSpPr>
        <p:spPr>
          <a:xfrm>
            <a:off x="5394960" y="2633472"/>
            <a:ext cx="3200400" cy="365760"/>
          </a:xfrm>
          <a:prstGeom prst="rect">
            <a:avLst/>
          </a:prstGeom>
          <a:noFill/>
          <a:ln/>
        </p:spPr>
        <p:txBody>
          <a:bodyPr wrap="square" lIns="0" tIns="0" rIns="0" bIns="0" rtlCol="0" anchor="t"/>
          <a:lstStyle/>
          <a:p>
            <a:pPr indent="0" marL="0">
              <a:buNone/>
            </a:pPr>
            <a:r>
              <a:rPr lang="en-US" sz="1050" dirty="0">
                <a:solidFill>
                  <a:srgbClr val="4A463F"/>
                </a:solidFill>
                <a:latin typeface="Arial" pitchFamily="34" charset="0"/>
                <a:ea typeface="Arial" pitchFamily="34" charset="-122"/>
                <a:cs typeface="Arial" pitchFamily="34" charset="-120"/>
              </a:rPr>
              <a:t>QuickStitch, “fastest in the region”, already has four days of work queued.</a:t>
            </a:r>
            <a:endParaRPr lang="en-US" sz="1050" dirty="0"/>
          </a:p>
        </p:txBody>
      </p:sp>
      <p:sp>
        <p:nvSpPr>
          <p:cNvPr id="19" name="Text 17"/>
          <p:cNvSpPr txBox="1"/>
          <p:nvPr/>
        </p:nvSpPr>
        <p:spPr>
          <a:xfrm>
            <a:off x="4937760" y="3035808"/>
            <a:ext cx="365760" cy="365760"/>
          </a:xfrm>
          <a:prstGeom prst="rect">
            <a:avLst/>
          </a:prstGeom>
          <a:noFill/>
          <a:ln/>
        </p:spPr>
        <p:txBody>
          <a:bodyPr wrap="square" lIns="0" tIns="0" rIns="0" bIns="0" rtlCol="0" anchor="t"/>
          <a:lstStyle/>
          <a:p>
            <a:pPr indent="0" marL="0">
              <a:buNone/>
            </a:pPr>
            <a:r>
              <a:rPr lang="en-US" sz="2200" dirty="0">
                <a:solidFill>
                  <a:srgbClr val="A3804C"/>
                </a:solidFill>
                <a:latin typeface="Georgia" pitchFamily="34" charset="0"/>
                <a:ea typeface="Georgia" pitchFamily="34" charset="-122"/>
                <a:cs typeface="Georgia" pitchFamily="34" charset="-120"/>
              </a:rPr>
              <a:t>3</a:t>
            </a:r>
            <a:endParaRPr lang="en-US" sz="2200" dirty="0"/>
          </a:p>
        </p:txBody>
      </p:sp>
      <p:sp>
        <p:nvSpPr>
          <p:cNvPr id="20" name="Text 18"/>
          <p:cNvSpPr txBox="1"/>
          <p:nvPr/>
        </p:nvSpPr>
        <p:spPr>
          <a:xfrm>
            <a:off x="5394960" y="3072384"/>
            <a:ext cx="3200400" cy="274320"/>
          </a:xfrm>
          <a:prstGeom prst="rect">
            <a:avLst/>
          </a:prstGeom>
          <a:noFill/>
          <a:ln/>
        </p:spPr>
        <p:txBody>
          <a:bodyPr wrap="square" lIns="0" tIns="0" rIns="0" bIns="0" rtlCol="0" anchor="t"/>
          <a:lstStyle/>
          <a:p>
            <a:pPr indent="0" marL="0">
              <a:buNone/>
            </a:pPr>
            <a:r>
              <a:rPr lang="en-US" sz="1500" dirty="0">
                <a:solidFill>
                  <a:srgbClr val="1D1B18"/>
                </a:solidFill>
                <a:latin typeface="Georgia" pitchFamily="34" charset="0"/>
                <a:ea typeface="Georgia" pitchFamily="34" charset="-122"/>
                <a:cs typeface="Georgia" pitchFamily="34" charset="-120"/>
              </a:rPr>
              <a:t>Are they allowed to?</a:t>
            </a:r>
            <a:endParaRPr lang="en-US" sz="1500" dirty="0"/>
          </a:p>
        </p:txBody>
      </p:sp>
      <p:sp>
        <p:nvSpPr>
          <p:cNvPr id="21" name="Text 19"/>
          <p:cNvSpPr txBox="1"/>
          <p:nvPr/>
        </p:nvSpPr>
        <p:spPr>
          <a:xfrm>
            <a:off x="5394960" y="3346704"/>
            <a:ext cx="3200400" cy="365760"/>
          </a:xfrm>
          <a:prstGeom prst="rect">
            <a:avLst/>
          </a:prstGeom>
          <a:noFill/>
          <a:ln/>
        </p:spPr>
        <p:txBody>
          <a:bodyPr wrap="square" lIns="0" tIns="0" rIns="0" bIns="0" rtlCol="0" anchor="t"/>
          <a:lstStyle/>
          <a:p>
            <a:pPr indent="0" marL="0">
              <a:buNone/>
            </a:pPr>
            <a:r>
              <a:rPr lang="en-US" sz="1050" dirty="0">
                <a:solidFill>
                  <a:srgbClr val="4A463F"/>
                </a:solidFill>
                <a:latin typeface="Arial" pitchFamily="34" charset="0"/>
                <a:ea typeface="Arial" pitchFamily="34" charset="-122"/>
                <a:cs typeface="Arial" pitchFamily="34" charset="-120"/>
              </a:rPr>
              <a:t>OldMill is suspended after an audit. FreshStart is on trial, capped at 300 pieces.</a:t>
            </a:r>
            <a:endParaRPr lang="en-US" sz="1050" dirty="0"/>
          </a:p>
        </p:txBody>
      </p:sp>
      <p:sp>
        <p:nvSpPr>
          <p:cNvPr id="22" name="Text 20"/>
          <p:cNvSpPr txBox="1"/>
          <p:nvPr/>
        </p:nvSpPr>
        <p:spPr>
          <a:xfrm>
            <a:off x="548640" y="4114800"/>
            <a:ext cx="8046720" cy="365760"/>
          </a:xfrm>
          <a:prstGeom prst="rect">
            <a:avLst/>
          </a:prstGeom>
          <a:noFill/>
          <a:ln/>
        </p:spPr>
        <p:txBody>
          <a:bodyPr wrap="square" lIns="0" tIns="0" rIns="0" bIns="0" rtlCol="0" anchor="t"/>
          <a:lstStyle/>
          <a:p>
            <a:pPr indent="0" marL="0">
              <a:buNone/>
            </a:pPr>
            <a:r>
              <a:rPr lang="en-US" sz="1400" i="1" dirty="0">
                <a:solidFill>
                  <a:srgbClr val="8A2C35"/>
                </a:solidFill>
                <a:latin typeface="Georgia" pitchFamily="34" charset="0"/>
                <a:ea typeface="Georgia" pitchFamily="34" charset="-122"/>
                <a:cs typeface="Georgia" pitchFamily="34" charset="-120"/>
              </a:rPr>
              <a:t>Get one wrong and the batch bounces back a day later. In a ten-day cycle, that is the margin gone.</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8046720" cy="201168"/>
          </a:xfrm>
          <a:prstGeom prst="rect">
            <a:avLst/>
          </a:prstGeom>
          <a:noFill/>
          <a:ln/>
        </p:spPr>
        <p:txBody>
          <a:bodyPr wrap="square" lIns="0" tIns="0" rIns="0" bIns="0" rtlCol="0" anchor="t"/>
          <a:lstStyle/>
          <a:p>
            <a:pPr indent="0" marL="0">
              <a:buNone/>
            </a:pPr>
            <a:r>
              <a:rPr lang="en-US" sz="850" b="1" spc="300" kern="0" dirty="0">
                <a:solidFill>
                  <a:srgbClr val="7D5E30"/>
                </a:solidFill>
                <a:latin typeface="Arial" pitchFamily="34" charset="0"/>
                <a:ea typeface="Arial" pitchFamily="34" charset="-122"/>
                <a:cs typeface="Arial" pitchFamily="34" charset="-120"/>
              </a:rPr>
              <a:t>OUR SOLUTION AND ARCHITECTURE</a:t>
            </a:r>
            <a:endParaRPr lang="en-US" sz="850" dirty="0"/>
          </a:p>
        </p:txBody>
      </p:sp>
      <p:sp>
        <p:nvSpPr>
          <p:cNvPr id="3" name="Text 1"/>
          <p:cNvSpPr txBox="1"/>
          <p:nvPr/>
        </p:nvSpPr>
        <p:spPr>
          <a:xfrm>
            <a:off x="548640" y="566928"/>
            <a:ext cx="8046720" cy="566928"/>
          </a:xfrm>
          <a:prstGeom prst="rect">
            <a:avLst/>
          </a:prstGeom>
          <a:noFill/>
          <a:ln/>
        </p:spPr>
        <p:txBody>
          <a:bodyPr wrap="square" lIns="0" tIns="0" rIns="0" bIns="0" rtlCol="0" anchor="ctr"/>
          <a:lstStyle/>
          <a:p>
            <a:pPr indent="0" marL="0">
              <a:buNone/>
            </a:pPr>
            <a:r>
              <a:rPr lang="en-US" sz="2400" dirty="0">
                <a:solidFill>
                  <a:srgbClr val="1D1B18"/>
                </a:solidFill>
                <a:latin typeface="Georgia" pitchFamily="34" charset="0"/>
                <a:ea typeface="Georgia" pitchFamily="34" charset="-122"/>
                <a:cs typeface="Georgia" pitchFamily="34" charset="-120"/>
              </a:rPr>
              <a:t>The model reads. Python calculates. A person approves.</a:t>
            </a:r>
            <a:endParaRPr lang="en-US" sz="2400" dirty="0"/>
          </a:p>
        </p:txBody>
      </p:sp>
      <p:sp>
        <p:nvSpPr>
          <p:cNvPr id="4" name="Text 2"/>
          <p:cNvSpPr txBox="1"/>
          <p:nvPr/>
        </p:nvSpPr>
        <p:spPr>
          <a:xfrm>
            <a:off x="548640" y="1188720"/>
            <a:ext cx="1325880" cy="128016"/>
          </a:xfrm>
          <a:prstGeom prst="rect">
            <a:avLst/>
          </a:prstGeom>
          <a:noFill/>
          <a:ln/>
        </p:spPr>
        <p:txBody>
          <a:bodyPr wrap="square" lIns="0" tIns="0" rIns="0" bIns="0" rtlCol="0" anchor="t"/>
          <a:lstStyle/>
          <a:p>
            <a:pPr indent="0" marL="0">
              <a:buNone/>
            </a:pPr>
            <a:r>
              <a:rPr lang="en-US" sz="650" b="1" spc="150" kern="0" dirty="0">
                <a:solidFill>
                  <a:srgbClr val="6B665D"/>
                </a:solidFill>
                <a:latin typeface="Arial" pitchFamily="34" charset="0"/>
                <a:ea typeface="Arial" pitchFamily="34" charset="-122"/>
                <a:cs typeface="Arial" pitchFamily="34" charset="-120"/>
              </a:rPr>
              <a:t>OUTSIDE</a:t>
            </a:r>
            <a:endParaRPr lang="en-US" sz="650" dirty="0"/>
          </a:p>
        </p:txBody>
      </p:sp>
      <p:sp>
        <p:nvSpPr>
          <p:cNvPr id="5" name="Text 3"/>
          <p:cNvSpPr txBox="1"/>
          <p:nvPr/>
        </p:nvSpPr>
        <p:spPr>
          <a:xfrm>
            <a:off x="2240280" y="1188720"/>
            <a:ext cx="6355080" cy="128016"/>
          </a:xfrm>
          <a:prstGeom prst="rect">
            <a:avLst/>
          </a:prstGeom>
          <a:noFill/>
          <a:ln/>
        </p:spPr>
        <p:txBody>
          <a:bodyPr wrap="square" lIns="0" tIns="0" rIns="0" bIns="0" rtlCol="0" anchor="t"/>
          <a:lstStyle/>
          <a:p>
            <a:pPr indent="0" marL="0">
              <a:buNone/>
            </a:pPr>
            <a:r>
              <a:rPr lang="en-US" sz="650" b="1" spc="150" kern="0" dirty="0">
                <a:solidFill>
                  <a:srgbClr val="6B665D"/>
                </a:solidFill>
                <a:latin typeface="Arial" pitchFamily="34" charset="0"/>
                <a:ea typeface="Arial" pitchFamily="34" charset="-122"/>
                <a:cs typeface="Arial" pitchFamily="34" charset="-120"/>
              </a:rPr>
              <a:t>OUR MACHINE  /  ONE PYTHON PROCESS: LOCAL ON 127.0.0.1, OR ON EC2 BEHIND CADDY</a:t>
            </a:r>
            <a:endParaRPr lang="en-US" sz="650" dirty="0"/>
          </a:p>
        </p:txBody>
      </p:sp>
      <p:sp>
        <p:nvSpPr>
          <p:cNvPr id="6" name="Shape 4"/>
          <p:cNvSpPr/>
          <p:nvPr/>
        </p:nvSpPr>
        <p:spPr>
          <a:xfrm>
            <a:off x="2057400" y="1188720"/>
            <a:ext cx="0" cy="2999232"/>
          </a:xfrm>
          <a:prstGeom prst="line">
            <a:avLst/>
          </a:prstGeom>
          <a:noFill/>
          <a:ln w="15875">
            <a:solidFill>
              <a:srgbClr val="A3804C"/>
            </a:solidFill>
            <a:prstDash val="dash"/>
          </a:ln>
        </p:spPr>
      </p:sp>
      <p:sp>
        <p:nvSpPr>
          <p:cNvPr id="7" name="Shape 5"/>
          <p:cNvSpPr/>
          <p:nvPr/>
        </p:nvSpPr>
        <p:spPr>
          <a:xfrm>
            <a:off x="548640" y="1371600"/>
            <a:ext cx="1325880" cy="512064"/>
          </a:xfrm>
          <a:prstGeom prst="rect">
            <a:avLst/>
          </a:prstGeom>
          <a:solidFill>
            <a:srgbClr val="F3EFE7"/>
          </a:solidFill>
          <a:ln w="9525">
            <a:solidFill>
              <a:srgbClr val="6B665D"/>
            </a:solidFill>
            <a:prstDash val="dash"/>
          </a:ln>
        </p:spPr>
      </p:sp>
      <p:sp>
        <p:nvSpPr>
          <p:cNvPr id="8" name="Text 6"/>
          <p:cNvSpPr txBox="1"/>
          <p:nvPr/>
        </p:nvSpPr>
        <p:spPr>
          <a:xfrm>
            <a:off x="640080" y="1435608"/>
            <a:ext cx="1143000" cy="201168"/>
          </a:xfrm>
          <a:prstGeom prst="rect">
            <a:avLst/>
          </a:prstGeom>
          <a:noFill/>
          <a:ln/>
        </p:spPr>
        <p:txBody>
          <a:bodyPr wrap="square" lIns="0" tIns="0" rIns="0" bIns="0" rtlCol="0" anchor="t"/>
          <a:lstStyle/>
          <a:p>
            <a:pPr indent="0" marL="0">
              <a:buNone/>
            </a:pPr>
            <a:r>
              <a:rPr lang="en-US" sz="1100" dirty="0">
                <a:solidFill>
                  <a:srgbClr val="1D1B18"/>
                </a:solidFill>
                <a:latin typeface="Georgia" pitchFamily="34" charset="0"/>
                <a:ea typeface="Georgia" pitchFamily="34" charset="-122"/>
                <a:cs typeface="Georgia" pitchFamily="34" charset="-120"/>
              </a:rPr>
              <a:t>Group chat</a:t>
            </a:r>
            <a:endParaRPr lang="en-US" sz="1100" dirty="0"/>
          </a:p>
        </p:txBody>
      </p:sp>
      <p:sp>
        <p:nvSpPr>
          <p:cNvPr id="9" name="Text 7"/>
          <p:cNvSpPr txBox="1"/>
          <p:nvPr/>
        </p:nvSpPr>
        <p:spPr>
          <a:xfrm>
            <a:off x="640080" y="1645920"/>
            <a:ext cx="1143000" cy="164592"/>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the request as typed</a:t>
            </a:r>
            <a:endParaRPr lang="en-US" sz="750" dirty="0"/>
          </a:p>
        </p:txBody>
      </p:sp>
      <p:sp>
        <p:nvSpPr>
          <p:cNvPr id="10" name="Shape 8"/>
          <p:cNvSpPr/>
          <p:nvPr/>
        </p:nvSpPr>
        <p:spPr>
          <a:xfrm>
            <a:off x="548640" y="2139696"/>
            <a:ext cx="1325880" cy="1207008"/>
          </a:xfrm>
          <a:prstGeom prst="rect">
            <a:avLst/>
          </a:prstGeom>
          <a:solidFill>
            <a:srgbClr val="F3EFE7"/>
          </a:solidFill>
          <a:ln w="9525">
            <a:solidFill>
              <a:srgbClr val="6B665D"/>
            </a:solidFill>
            <a:prstDash val="dash"/>
          </a:ln>
        </p:spPr>
      </p:sp>
      <p:sp>
        <p:nvSpPr>
          <p:cNvPr id="11" name="Text 9"/>
          <p:cNvSpPr txBox="1"/>
          <p:nvPr/>
        </p:nvSpPr>
        <p:spPr>
          <a:xfrm>
            <a:off x="640080" y="2221992"/>
            <a:ext cx="1143000" cy="137160"/>
          </a:xfrm>
          <a:prstGeom prst="rect">
            <a:avLst/>
          </a:prstGeom>
          <a:noFill/>
          <a:ln/>
        </p:spPr>
        <p:txBody>
          <a:bodyPr wrap="square" lIns="0" tIns="0" rIns="0" bIns="0" rtlCol="0" anchor="t"/>
          <a:lstStyle/>
          <a:p>
            <a:pPr indent="0" marL="0">
              <a:buNone/>
            </a:pPr>
            <a:r>
              <a:rPr lang="en-US" sz="700" b="1" spc="150" kern="0" dirty="0">
                <a:solidFill>
                  <a:srgbClr val="7D5E30"/>
                </a:solidFill>
                <a:latin typeface="Arial" pitchFamily="34" charset="0"/>
                <a:ea typeface="Arial" pitchFamily="34" charset="-122"/>
                <a:cs typeface="Arial" pitchFamily="34" charset="-120"/>
              </a:rPr>
              <a:t>EXTERNAL</a:t>
            </a:r>
            <a:endParaRPr lang="en-US" sz="700" dirty="0"/>
          </a:p>
        </p:txBody>
      </p:sp>
      <p:sp>
        <p:nvSpPr>
          <p:cNvPr id="12" name="Text 10"/>
          <p:cNvSpPr txBox="1"/>
          <p:nvPr/>
        </p:nvSpPr>
        <p:spPr>
          <a:xfrm>
            <a:off x="640080" y="2377440"/>
            <a:ext cx="1143000" cy="182880"/>
          </a:xfrm>
          <a:prstGeom prst="rect">
            <a:avLst/>
          </a:prstGeom>
          <a:noFill/>
          <a:ln/>
        </p:spPr>
        <p:txBody>
          <a:bodyPr wrap="square" lIns="0" tIns="0" rIns="0" bIns="0" rtlCol="0" anchor="t"/>
          <a:lstStyle/>
          <a:p>
            <a:pPr indent="0" marL="0">
              <a:buNone/>
            </a:pPr>
            <a:r>
              <a:rPr lang="en-US" sz="1100" dirty="0">
                <a:solidFill>
                  <a:srgbClr val="1D1B18"/>
                </a:solidFill>
                <a:latin typeface="Georgia" pitchFamily="34" charset="0"/>
                <a:ea typeface="Georgia" pitchFamily="34" charset="-122"/>
                <a:cs typeface="Georgia" pitchFamily="34" charset="-120"/>
              </a:rPr>
              <a:t>LLM provider</a:t>
            </a:r>
            <a:endParaRPr lang="en-US" sz="1100" dirty="0"/>
          </a:p>
        </p:txBody>
      </p:sp>
      <p:sp>
        <p:nvSpPr>
          <p:cNvPr id="13" name="Text 11"/>
          <p:cNvSpPr txBox="1"/>
          <p:nvPr/>
        </p:nvSpPr>
        <p:spPr>
          <a:xfrm>
            <a:off x="640080" y="2596896"/>
            <a:ext cx="1161288" cy="60350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Called through LangChain, model set by LLM_MODEL. Sees the message, earlier turns, the draft and names. Never prices, queues or defect rates.</a:t>
            </a:r>
            <a:endParaRPr lang="en-US" sz="750" dirty="0"/>
          </a:p>
        </p:txBody>
      </p:sp>
      <p:sp>
        <p:nvSpPr>
          <p:cNvPr id="14" name="Text 12"/>
          <p:cNvSpPr txBox="1"/>
          <p:nvPr/>
        </p:nvSpPr>
        <p:spPr>
          <a:xfrm>
            <a:off x="548640" y="3657600"/>
            <a:ext cx="1325880" cy="137160"/>
          </a:xfrm>
          <a:prstGeom prst="rect">
            <a:avLst/>
          </a:prstGeom>
          <a:noFill/>
          <a:ln/>
        </p:spPr>
        <p:txBody>
          <a:bodyPr wrap="square" lIns="0" tIns="0" rIns="0" bIns="0" rtlCol="0" anchor="t"/>
          <a:lstStyle/>
          <a:p>
            <a:pPr indent="0" marL="0">
              <a:buNone/>
            </a:pPr>
            <a:r>
              <a:rPr lang="en-US" sz="700" b="1" spc="150" kern="0" dirty="0">
                <a:solidFill>
                  <a:srgbClr val="7D5E30"/>
                </a:solidFill>
                <a:latin typeface="Arial" pitchFamily="34" charset="0"/>
                <a:ea typeface="Arial" pitchFamily="34" charset="-122"/>
                <a:cs typeface="Arial" pitchFamily="34" charset="-120"/>
              </a:rPr>
              <a:t>TRUST BOUNDARY</a:t>
            </a:r>
            <a:endParaRPr lang="en-US" sz="700" dirty="0"/>
          </a:p>
        </p:txBody>
      </p:sp>
      <p:sp>
        <p:nvSpPr>
          <p:cNvPr id="15" name="Text 13"/>
          <p:cNvSpPr txBox="1"/>
          <p:nvPr/>
        </p:nvSpPr>
        <p:spPr>
          <a:xfrm>
            <a:off x="548640" y="3822192"/>
            <a:ext cx="1325880" cy="365760"/>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The model call is the app’s only outbound call. Streamlit telemetry is off.</a:t>
            </a:r>
            <a:endParaRPr lang="en-US" sz="750" dirty="0"/>
          </a:p>
        </p:txBody>
      </p:sp>
      <p:sp>
        <p:nvSpPr>
          <p:cNvPr id="16" name="Shape 14"/>
          <p:cNvSpPr/>
          <p:nvPr/>
        </p:nvSpPr>
        <p:spPr>
          <a:xfrm>
            <a:off x="2240280" y="1371600"/>
            <a:ext cx="6355080" cy="512064"/>
          </a:xfrm>
          <a:prstGeom prst="rect">
            <a:avLst/>
          </a:prstGeom>
          <a:solidFill>
            <a:srgbClr val="FFFFFF"/>
          </a:solidFill>
          <a:ln w="9525">
            <a:solidFill>
              <a:srgbClr val="E4DDD0"/>
            </a:solidFill>
            <a:prstDash val="solid"/>
          </a:ln>
        </p:spPr>
      </p:sp>
      <p:sp>
        <p:nvSpPr>
          <p:cNvPr id="17" name="Text 15"/>
          <p:cNvSpPr txBox="1"/>
          <p:nvPr/>
        </p:nvSpPr>
        <p:spPr>
          <a:xfrm>
            <a:off x="2350008" y="1444752"/>
            <a:ext cx="1097280" cy="137160"/>
          </a:xfrm>
          <a:prstGeom prst="rect">
            <a:avLst/>
          </a:prstGeom>
          <a:noFill/>
          <a:ln/>
        </p:spPr>
        <p:txBody>
          <a:bodyPr wrap="square" lIns="0" tIns="0" rIns="0" bIns="0" rtlCol="0" anchor="t"/>
          <a:lstStyle/>
          <a:p>
            <a:pPr indent="0" marL="0">
              <a:buNone/>
            </a:pPr>
            <a:r>
              <a:rPr lang="en-US" sz="700" b="1" spc="150" kern="0" dirty="0">
                <a:solidFill>
                  <a:srgbClr val="7D5E30"/>
                </a:solidFill>
                <a:latin typeface="Arial" pitchFamily="34" charset="0"/>
                <a:ea typeface="Arial" pitchFamily="34" charset="-122"/>
                <a:cs typeface="Arial" pitchFamily="34" charset="-120"/>
              </a:rPr>
              <a:t>STREAMLIT DESK</a:t>
            </a:r>
            <a:endParaRPr lang="en-US" sz="700" dirty="0"/>
          </a:p>
        </p:txBody>
      </p:sp>
      <p:sp>
        <p:nvSpPr>
          <p:cNvPr id="18" name="Text 16"/>
          <p:cNvSpPr txBox="1"/>
          <p:nvPr/>
        </p:nvSpPr>
        <p:spPr>
          <a:xfrm>
            <a:off x="3429000" y="1440180"/>
            <a:ext cx="2743200" cy="146304"/>
          </a:xfrm>
          <a:prstGeom prst="rect">
            <a:avLst/>
          </a:prstGeom>
          <a:noFill/>
          <a:ln/>
        </p:spPr>
        <p:txBody>
          <a:bodyPr wrap="square" lIns="0" tIns="0" rIns="0" bIns="0" rtlCol="0" anchor="t"/>
          <a:lstStyle/>
          <a:p>
            <a:pPr indent="0" marL="0">
              <a:buNone/>
            </a:pPr>
            <a:r>
              <a:rPr lang="en-US" sz="800" b="1" dirty="0">
                <a:solidFill>
                  <a:srgbClr val="1D1B18"/>
                </a:solidFill>
                <a:latin typeface="Courier New" pitchFamily="34" charset="0"/>
                <a:ea typeface="Courier New" pitchFamily="34" charset="-122"/>
                <a:cs typeface="Courier New" pitchFamily="34" charset="-120"/>
              </a:rPr>
              <a:t>web_app.py  chat_ui.py  replies.py</a:t>
            </a:r>
            <a:endParaRPr lang="en-US" sz="800" dirty="0"/>
          </a:p>
        </p:txBody>
      </p:sp>
      <p:sp>
        <p:nvSpPr>
          <p:cNvPr id="19" name="Text 17"/>
          <p:cNvSpPr txBox="1"/>
          <p:nvPr/>
        </p:nvSpPr>
        <p:spPr>
          <a:xfrm>
            <a:off x="2350008" y="1609344"/>
            <a:ext cx="6126480" cy="246888"/>
          </a:xfrm>
          <a:prstGeom prst="rect">
            <a:avLst/>
          </a:prstGeom>
          <a:noFill/>
          <a:ln/>
        </p:spPr>
        <p:txBody>
          <a:bodyPr wrap="square" lIns="0" tIns="0" rIns="0" bIns="0" rtlCol="0" anchor="t"/>
          <a:lstStyle/>
          <a:p>
            <a:pPr indent="0" marL="0">
              <a:buNone/>
            </a:pPr>
            <a:r>
              <a:rPr lang="en-US" sz="800" dirty="0">
                <a:solidFill>
                  <a:srgbClr val="4A463F"/>
                </a:solidFill>
                <a:latin typeface="Arial" pitchFamily="34" charset="0"/>
                <a:ea typeface="Arial" pitchFamily="34" charset="-122"/>
                <a:cs typeface="Arial" pitchFamily="34" charset="-120"/>
              </a:rPr>
              <a:t>The dispatcher’s screen: chat, ranked options, delivery chart and Confirm. Session state is the short-term memory: turns, draft and open questions go back to the model each turn. Replies are built from tool output.</a:t>
            </a:r>
            <a:endParaRPr lang="en-US" sz="800" dirty="0"/>
          </a:p>
        </p:txBody>
      </p:sp>
      <p:sp>
        <p:nvSpPr>
          <p:cNvPr id="20" name="Shape 18"/>
          <p:cNvSpPr/>
          <p:nvPr/>
        </p:nvSpPr>
        <p:spPr>
          <a:xfrm>
            <a:off x="2240280" y="2139696"/>
            <a:ext cx="1828800" cy="1207008"/>
          </a:xfrm>
          <a:prstGeom prst="rect">
            <a:avLst/>
          </a:prstGeom>
          <a:solidFill>
            <a:srgbClr val="FFFFFF"/>
          </a:solidFill>
          <a:ln w="9525">
            <a:solidFill>
              <a:srgbClr val="E4DDD0"/>
            </a:solidFill>
            <a:prstDash val="solid"/>
          </a:ln>
        </p:spPr>
      </p:sp>
      <p:sp>
        <p:nvSpPr>
          <p:cNvPr id="21" name="Text 19"/>
          <p:cNvSpPr txBox="1"/>
          <p:nvPr/>
        </p:nvSpPr>
        <p:spPr>
          <a:xfrm>
            <a:off x="2350008" y="2221992"/>
            <a:ext cx="1609344" cy="137160"/>
          </a:xfrm>
          <a:prstGeom prst="rect">
            <a:avLst/>
          </a:prstGeom>
          <a:noFill/>
          <a:ln/>
        </p:spPr>
        <p:txBody>
          <a:bodyPr wrap="square" lIns="0" tIns="0" rIns="0" bIns="0" rtlCol="0" anchor="t"/>
          <a:lstStyle/>
          <a:p>
            <a:pPr indent="0" marL="0">
              <a:buNone/>
            </a:pPr>
            <a:r>
              <a:rPr lang="en-US" sz="700" b="1" spc="150" kern="0" dirty="0">
                <a:solidFill>
                  <a:srgbClr val="7D5E30"/>
                </a:solidFill>
                <a:latin typeface="Arial" pitchFamily="34" charset="0"/>
                <a:ea typeface="Arial" pitchFamily="34" charset="-122"/>
                <a:cs typeface="Arial" pitchFamily="34" charset="-120"/>
              </a:rPr>
              <a:t>1  LLM, VIA LANGCHAIN</a:t>
            </a:r>
            <a:endParaRPr lang="en-US" sz="700" dirty="0"/>
          </a:p>
        </p:txBody>
      </p:sp>
      <p:sp>
        <p:nvSpPr>
          <p:cNvPr id="22" name="Text 20"/>
          <p:cNvSpPr txBox="1"/>
          <p:nvPr/>
        </p:nvSpPr>
        <p:spPr>
          <a:xfrm>
            <a:off x="2350008" y="2386584"/>
            <a:ext cx="1609344" cy="164592"/>
          </a:xfrm>
          <a:prstGeom prst="rect">
            <a:avLst/>
          </a:prstGeom>
          <a:noFill/>
          <a:ln/>
        </p:spPr>
        <p:txBody>
          <a:bodyPr wrap="square" lIns="0" tIns="0" rIns="0" bIns="0" rtlCol="0" anchor="t"/>
          <a:lstStyle/>
          <a:p>
            <a:pPr indent="0" marL="0">
              <a:buNone/>
            </a:pPr>
            <a:r>
              <a:rPr lang="en-US" sz="900" b="1" dirty="0">
                <a:solidFill>
                  <a:srgbClr val="1D1B18"/>
                </a:solidFill>
                <a:latin typeface="Courier New" pitchFamily="34" charset="0"/>
                <a:ea typeface="Courier New" pitchFamily="34" charset="-122"/>
                <a:cs typeface="Courier New" pitchFamily="34" charset="-120"/>
              </a:rPr>
              <a:t>intake.py</a:t>
            </a:r>
            <a:endParaRPr lang="en-US" sz="900" dirty="0"/>
          </a:p>
        </p:txBody>
      </p:sp>
      <p:sp>
        <p:nvSpPr>
          <p:cNvPr id="23" name="Text 21"/>
          <p:cNvSpPr txBox="1"/>
          <p:nvPr/>
        </p:nvSpPr>
        <p:spPr>
          <a:xfrm>
            <a:off x="2350008" y="2587752"/>
            <a:ext cx="1609344" cy="457200"/>
          </a:xfrm>
          <a:prstGeom prst="rect">
            <a:avLst/>
          </a:prstGeom>
          <a:noFill/>
          <a:ln/>
        </p:spPr>
        <p:txBody>
          <a:bodyPr wrap="square" lIns="0" tIns="0" rIns="0" bIns="0" rtlCol="0" anchor="t"/>
          <a:lstStyle/>
          <a:p>
            <a:pPr indent="0" marL="0">
              <a:buNone/>
            </a:pPr>
            <a:r>
              <a:rPr lang="en-US" sz="800" dirty="0">
                <a:solidFill>
                  <a:srgbClr val="4A463F"/>
                </a:solidFill>
                <a:latin typeface="Arial" pitchFamily="34" charset="0"/>
                <a:ea typeface="Arial" pitchFamily="34" charset="-122"/>
                <a:cs typeface="Arial" pitchFamily="34" charset="-120"/>
              </a:rPr>
              <a:t>Structured output fills a typed patch. A value is kept only if its exact quote is in the message; a gap gets a fixed Python question.</a:t>
            </a:r>
            <a:endParaRPr lang="en-US" sz="800" dirty="0"/>
          </a:p>
        </p:txBody>
      </p:sp>
      <p:sp>
        <p:nvSpPr>
          <p:cNvPr id="24" name="Text 22"/>
          <p:cNvSpPr txBox="1"/>
          <p:nvPr/>
        </p:nvSpPr>
        <p:spPr>
          <a:xfrm>
            <a:off x="2350008" y="3145536"/>
            <a:ext cx="1609344" cy="137160"/>
          </a:xfrm>
          <a:prstGeom prst="rect">
            <a:avLst/>
          </a:prstGeom>
          <a:noFill/>
          <a:ln/>
        </p:spPr>
        <p:txBody>
          <a:bodyPr wrap="square" lIns="0" tIns="0" rIns="0" bIns="0" rtlCol="0" anchor="t"/>
          <a:lstStyle/>
          <a:p>
            <a:pPr indent="0" marL="0">
              <a:buNone/>
            </a:pPr>
            <a:r>
              <a:rPr lang="en-US" sz="750" dirty="0">
                <a:solidFill>
                  <a:srgbClr val="7D5E30"/>
                </a:solidFill>
                <a:latin typeface="Courier New" pitchFamily="34" charset="0"/>
                <a:ea typeface="Courier New" pitchFamily="34" charset="-122"/>
                <a:cs typeface="Courier New" pitchFamily="34" charset="-120"/>
              </a:rPr>
              <a:t>out: DispatchInput</a:t>
            </a:r>
            <a:endParaRPr lang="en-US" sz="750" dirty="0"/>
          </a:p>
        </p:txBody>
      </p:sp>
      <p:sp>
        <p:nvSpPr>
          <p:cNvPr id="25" name="Shape 23"/>
          <p:cNvSpPr/>
          <p:nvPr/>
        </p:nvSpPr>
        <p:spPr>
          <a:xfrm>
            <a:off x="4297680" y="2139696"/>
            <a:ext cx="2103120" cy="1207008"/>
          </a:xfrm>
          <a:prstGeom prst="rect">
            <a:avLst/>
          </a:prstGeom>
          <a:solidFill>
            <a:srgbClr val="1D1B18"/>
          </a:solidFill>
          <a:ln w="9525">
            <a:solidFill>
              <a:srgbClr val="1D1B18"/>
            </a:solidFill>
            <a:prstDash val="solid"/>
          </a:ln>
        </p:spPr>
      </p:sp>
      <p:sp>
        <p:nvSpPr>
          <p:cNvPr id="26" name="Text 24"/>
          <p:cNvSpPr txBox="1"/>
          <p:nvPr/>
        </p:nvSpPr>
        <p:spPr>
          <a:xfrm>
            <a:off x="4407408" y="2221992"/>
            <a:ext cx="1883664" cy="137160"/>
          </a:xfrm>
          <a:prstGeom prst="rect">
            <a:avLst/>
          </a:prstGeom>
          <a:noFill/>
          <a:ln/>
        </p:spPr>
        <p:txBody>
          <a:bodyPr wrap="square" lIns="0" tIns="0" rIns="0" bIns="0" rtlCol="0" anchor="t"/>
          <a:lstStyle/>
          <a:p>
            <a:pPr indent="0" marL="0">
              <a:buNone/>
            </a:pPr>
            <a:r>
              <a:rPr lang="en-US" sz="700" b="1" spc="150" kern="0" dirty="0">
                <a:solidFill>
                  <a:srgbClr val="CDB78F"/>
                </a:solidFill>
                <a:latin typeface="Arial" pitchFamily="34" charset="0"/>
                <a:ea typeface="Arial" pitchFamily="34" charset="-122"/>
                <a:cs typeface="Arial" pitchFamily="34" charset="-120"/>
              </a:rPr>
              <a:t>2  DETERMINISTIC TOOLS</a:t>
            </a:r>
            <a:endParaRPr lang="en-US" sz="700" dirty="0"/>
          </a:p>
        </p:txBody>
      </p:sp>
      <p:sp>
        <p:nvSpPr>
          <p:cNvPr id="27" name="Text 25"/>
          <p:cNvSpPr txBox="1"/>
          <p:nvPr/>
        </p:nvSpPr>
        <p:spPr>
          <a:xfrm>
            <a:off x="4407408" y="2386584"/>
            <a:ext cx="1883664" cy="164592"/>
          </a:xfrm>
          <a:prstGeom prst="rect">
            <a:avLst/>
          </a:prstGeom>
          <a:noFill/>
          <a:ln/>
        </p:spPr>
        <p:txBody>
          <a:bodyPr wrap="square" lIns="0" tIns="0" rIns="0" bIns="0" rtlCol="0" anchor="t"/>
          <a:lstStyle/>
          <a:p>
            <a:pPr indent="0" marL="0">
              <a:buNone/>
            </a:pPr>
            <a:r>
              <a:rPr lang="en-US" sz="900" b="1" dirty="0">
                <a:solidFill>
                  <a:srgbClr val="F4EFE6"/>
                </a:solidFill>
                <a:latin typeface="Courier New" pitchFamily="34" charset="0"/>
                <a:ea typeface="Courier New" pitchFamily="34" charset="-122"/>
                <a:cs typeface="Courier New" pitchFamily="34" charset="-120"/>
              </a:rPr>
              <a:t>dispatch.py  allocator.py</a:t>
            </a:r>
            <a:endParaRPr lang="en-US" sz="900" dirty="0"/>
          </a:p>
        </p:txBody>
      </p:sp>
      <p:sp>
        <p:nvSpPr>
          <p:cNvPr id="28" name="Text 26"/>
          <p:cNvSpPr txBox="1"/>
          <p:nvPr/>
        </p:nvSpPr>
        <p:spPr>
          <a:xfrm>
            <a:off x="4407408" y="2587752"/>
            <a:ext cx="1883664" cy="457200"/>
          </a:xfrm>
          <a:prstGeom prst="rect">
            <a:avLst/>
          </a:prstGeom>
          <a:noFill/>
          <a:ln/>
        </p:spPr>
        <p:txBody>
          <a:bodyPr wrap="square" lIns="0" tIns="0" rIns="0" bIns="0" rtlCol="0" anchor="t"/>
          <a:lstStyle/>
          <a:p>
            <a:pPr indent="0" marL="0">
              <a:buNone/>
            </a:pPr>
            <a:r>
              <a:rPr lang="en-US" sz="800" dirty="0">
                <a:solidFill>
                  <a:srgbClr val="F4EFE6"/>
                </a:solidFill>
                <a:latin typeface="Arial" pitchFamily="34" charset="0"/>
                <a:ea typeface="Arial" pitchFamily="34" charset="-122"/>
                <a:cs typeface="Arial" pitchFamily="34" charset="-120"/>
              </a:rPr>
              <a:t>Order lookup, eligibility check, queue check, delivery estimator, overload probe and split planner, then a ranking by configured weights.</a:t>
            </a:r>
            <a:endParaRPr lang="en-US" sz="800" dirty="0"/>
          </a:p>
        </p:txBody>
      </p:sp>
      <p:sp>
        <p:nvSpPr>
          <p:cNvPr id="29" name="Text 27"/>
          <p:cNvSpPr txBox="1"/>
          <p:nvPr/>
        </p:nvSpPr>
        <p:spPr>
          <a:xfrm>
            <a:off x="4407408" y="3145536"/>
            <a:ext cx="1883664" cy="137160"/>
          </a:xfrm>
          <a:prstGeom prst="rect">
            <a:avLst/>
          </a:prstGeom>
          <a:noFill/>
          <a:ln/>
        </p:spPr>
        <p:txBody>
          <a:bodyPr wrap="square" lIns="0" tIns="0" rIns="0" bIns="0" rtlCol="0" anchor="t"/>
          <a:lstStyle/>
          <a:p>
            <a:pPr indent="0" marL="0">
              <a:buNone/>
            </a:pPr>
            <a:r>
              <a:rPr lang="en-US" sz="750" dirty="0">
                <a:solidFill>
                  <a:srgbClr val="CDB78F"/>
                </a:solidFill>
                <a:latin typeface="Courier New" pitchFamily="34" charset="0"/>
                <a:ea typeface="Courier New" pitchFamily="34" charset="-122"/>
                <a:cs typeface="Courier New" pitchFamily="34" charset="-120"/>
              </a:rPr>
              <a:t>out: preview, reasons, hashes</a:t>
            </a:r>
            <a:endParaRPr lang="en-US" sz="750" dirty="0"/>
          </a:p>
        </p:txBody>
      </p:sp>
      <p:sp>
        <p:nvSpPr>
          <p:cNvPr id="30" name="Shape 28"/>
          <p:cNvSpPr/>
          <p:nvPr/>
        </p:nvSpPr>
        <p:spPr>
          <a:xfrm>
            <a:off x="6629400" y="2139696"/>
            <a:ext cx="1965960" cy="1207008"/>
          </a:xfrm>
          <a:prstGeom prst="rect">
            <a:avLst/>
          </a:prstGeom>
          <a:solidFill>
            <a:srgbClr val="FFFFFF"/>
          </a:solidFill>
          <a:ln w="9525">
            <a:solidFill>
              <a:srgbClr val="E4DDD0"/>
            </a:solidFill>
            <a:prstDash val="solid"/>
          </a:ln>
        </p:spPr>
      </p:sp>
      <p:sp>
        <p:nvSpPr>
          <p:cNvPr id="31" name="Text 29"/>
          <p:cNvSpPr txBox="1"/>
          <p:nvPr/>
        </p:nvSpPr>
        <p:spPr>
          <a:xfrm>
            <a:off x="6739128" y="2221992"/>
            <a:ext cx="1746504" cy="137160"/>
          </a:xfrm>
          <a:prstGeom prst="rect">
            <a:avLst/>
          </a:prstGeom>
          <a:noFill/>
          <a:ln/>
        </p:spPr>
        <p:txBody>
          <a:bodyPr wrap="square" lIns="0" tIns="0" rIns="0" bIns="0" rtlCol="0" anchor="t"/>
          <a:lstStyle/>
          <a:p>
            <a:pPr indent="0" marL="0">
              <a:buNone/>
            </a:pPr>
            <a:r>
              <a:rPr lang="en-US" sz="700" b="1" spc="150" kern="0" dirty="0">
                <a:solidFill>
                  <a:srgbClr val="7D5E30"/>
                </a:solidFill>
                <a:latin typeface="Arial" pitchFamily="34" charset="0"/>
                <a:ea typeface="Arial" pitchFamily="34" charset="-122"/>
                <a:cs typeface="Arial" pitchFamily="34" charset="-120"/>
              </a:rPr>
              <a:t>3  HUMAN IN THE LOOP</a:t>
            </a:r>
            <a:endParaRPr lang="en-US" sz="700" dirty="0"/>
          </a:p>
        </p:txBody>
      </p:sp>
      <p:sp>
        <p:nvSpPr>
          <p:cNvPr id="32" name="Text 30"/>
          <p:cNvSpPr txBox="1"/>
          <p:nvPr/>
        </p:nvSpPr>
        <p:spPr>
          <a:xfrm>
            <a:off x="6739128" y="2386584"/>
            <a:ext cx="1746504" cy="164592"/>
          </a:xfrm>
          <a:prstGeom prst="rect">
            <a:avLst/>
          </a:prstGeom>
          <a:noFill/>
          <a:ln/>
        </p:spPr>
        <p:txBody>
          <a:bodyPr wrap="square" lIns="0" tIns="0" rIns="0" bIns="0" rtlCol="0" anchor="t"/>
          <a:lstStyle/>
          <a:p>
            <a:pPr indent="0" marL="0">
              <a:buNone/>
            </a:pPr>
            <a:r>
              <a:rPr lang="en-US" sz="900" b="1" dirty="0">
                <a:solidFill>
                  <a:srgbClr val="1D1B18"/>
                </a:solidFill>
                <a:latin typeface="Courier New" pitchFamily="34" charset="0"/>
                <a:ea typeface="Courier New" pitchFamily="34" charset="-122"/>
                <a:cs typeface="Courier New" pitchFamily="34" charset="-120"/>
              </a:rPr>
              <a:t>records.py</a:t>
            </a:r>
            <a:endParaRPr lang="en-US" sz="900" dirty="0"/>
          </a:p>
        </p:txBody>
      </p:sp>
      <p:sp>
        <p:nvSpPr>
          <p:cNvPr id="33" name="Text 31"/>
          <p:cNvSpPr txBox="1"/>
          <p:nvPr/>
        </p:nvSpPr>
        <p:spPr>
          <a:xfrm>
            <a:off x="6739128" y="2587752"/>
            <a:ext cx="1746504" cy="457200"/>
          </a:xfrm>
          <a:prstGeom prst="rect">
            <a:avLst/>
          </a:prstGeom>
          <a:noFill/>
          <a:ln/>
        </p:spPr>
        <p:txBody>
          <a:bodyPr wrap="square" lIns="0" tIns="0" rIns="0" bIns="0" rtlCol="0" anchor="t"/>
          <a:lstStyle/>
          <a:p>
            <a:pPr indent="0" marL="0">
              <a:buNone/>
            </a:pPr>
            <a:r>
              <a:rPr lang="en-US" sz="800" dirty="0">
                <a:solidFill>
                  <a:srgbClr val="4A463F"/>
                </a:solidFill>
                <a:latin typeface="Arial" pitchFamily="34" charset="0"/>
                <a:ea typeface="Arial" pitchFamily="34" charset="-122"/>
                <a:cs typeface="Arial" pitchFamily="34" charset="-120"/>
              </a:rPr>
              <a:t>Confirm opens one SQLite transaction: recompute the preview, reject it if anything changed, then save the record and queues.</a:t>
            </a:r>
            <a:endParaRPr lang="en-US" sz="800" dirty="0"/>
          </a:p>
        </p:txBody>
      </p:sp>
      <p:sp>
        <p:nvSpPr>
          <p:cNvPr id="34" name="Text 32"/>
          <p:cNvSpPr txBox="1"/>
          <p:nvPr/>
        </p:nvSpPr>
        <p:spPr>
          <a:xfrm>
            <a:off x="6739128" y="3145536"/>
            <a:ext cx="1746504" cy="137160"/>
          </a:xfrm>
          <a:prstGeom prst="rect">
            <a:avLst/>
          </a:prstGeom>
          <a:noFill/>
          <a:ln/>
        </p:spPr>
        <p:txBody>
          <a:bodyPr wrap="square" lIns="0" tIns="0" rIns="0" bIns="0" rtlCol="0" anchor="t"/>
          <a:lstStyle/>
          <a:p>
            <a:pPr indent="0" marL="0">
              <a:buNone/>
            </a:pPr>
            <a:r>
              <a:rPr lang="en-US" sz="750" dirty="0">
                <a:solidFill>
                  <a:srgbClr val="7D5E30"/>
                </a:solidFill>
                <a:latin typeface="Courier New" pitchFamily="34" charset="0"/>
                <a:ea typeface="Courier New" pitchFamily="34" charset="-122"/>
                <a:cs typeface="Courier New" pitchFamily="34" charset="-120"/>
              </a:rPr>
              <a:t>out: one audit record</a:t>
            </a:r>
            <a:endParaRPr lang="en-US" sz="750" dirty="0"/>
          </a:p>
        </p:txBody>
      </p:sp>
      <p:sp>
        <p:nvSpPr>
          <p:cNvPr id="35" name="Shape 33"/>
          <p:cNvSpPr/>
          <p:nvPr/>
        </p:nvSpPr>
        <p:spPr>
          <a:xfrm>
            <a:off x="2240280" y="3621024"/>
            <a:ext cx="1828800" cy="566928"/>
          </a:xfrm>
          <a:prstGeom prst="rect">
            <a:avLst/>
          </a:prstGeom>
          <a:solidFill>
            <a:srgbClr val="F3EFE7"/>
          </a:solidFill>
          <a:ln w="9525">
            <a:solidFill>
              <a:srgbClr val="E4DDD0"/>
            </a:solidFill>
            <a:prstDash val="solid"/>
          </a:ln>
        </p:spPr>
      </p:sp>
      <p:sp>
        <p:nvSpPr>
          <p:cNvPr id="36" name="Text 34"/>
          <p:cNvSpPr txBox="1"/>
          <p:nvPr/>
        </p:nvSpPr>
        <p:spPr>
          <a:xfrm>
            <a:off x="2331720" y="3685032"/>
            <a:ext cx="1645920" cy="146304"/>
          </a:xfrm>
          <a:prstGeom prst="rect">
            <a:avLst/>
          </a:prstGeom>
          <a:noFill/>
          <a:ln/>
        </p:spPr>
        <p:txBody>
          <a:bodyPr wrap="square" lIns="0" tIns="0" rIns="0" bIns="0" rtlCol="0" anchor="t"/>
          <a:lstStyle/>
          <a:p>
            <a:pPr indent="0" marL="0">
              <a:buNone/>
            </a:pPr>
            <a:r>
              <a:rPr lang="en-US" sz="800" b="1" dirty="0">
                <a:solidFill>
                  <a:srgbClr val="1D1B18"/>
                </a:solidFill>
                <a:latin typeface="Courier New" pitchFamily="34" charset="0"/>
                <a:ea typeface="Courier New" pitchFamily="34" charset="-122"/>
                <a:cs typeface="Courier New" pitchFamily="34" charset="-120"/>
              </a:rPr>
              <a:t>evaluate.py</a:t>
            </a:r>
            <a:endParaRPr lang="en-US" sz="800" dirty="0"/>
          </a:p>
        </p:txBody>
      </p:sp>
      <p:sp>
        <p:nvSpPr>
          <p:cNvPr id="37" name="Text 35"/>
          <p:cNvSpPr txBox="1"/>
          <p:nvPr/>
        </p:nvSpPr>
        <p:spPr>
          <a:xfrm>
            <a:off x="2331720" y="3849624"/>
            <a:ext cx="1645920"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Offline: 120 orders x 10 seeds, normal and closure runs. Same allocator, no model.</a:t>
            </a:r>
            <a:endParaRPr lang="en-US" sz="750" dirty="0"/>
          </a:p>
        </p:txBody>
      </p:sp>
      <p:sp>
        <p:nvSpPr>
          <p:cNvPr id="38" name="Shape 36"/>
          <p:cNvSpPr/>
          <p:nvPr/>
        </p:nvSpPr>
        <p:spPr>
          <a:xfrm>
            <a:off x="4297680" y="3621024"/>
            <a:ext cx="1005840" cy="566928"/>
          </a:xfrm>
          <a:prstGeom prst="rect">
            <a:avLst/>
          </a:prstGeom>
          <a:solidFill>
            <a:srgbClr val="F3EFE7"/>
          </a:solidFill>
          <a:ln w="9525">
            <a:solidFill>
              <a:srgbClr val="E4DDD0"/>
            </a:solidFill>
            <a:prstDash val="solid"/>
          </a:ln>
        </p:spPr>
      </p:sp>
      <p:sp>
        <p:nvSpPr>
          <p:cNvPr id="39" name="Text 37"/>
          <p:cNvSpPr txBox="1"/>
          <p:nvPr/>
        </p:nvSpPr>
        <p:spPr>
          <a:xfrm>
            <a:off x="4389120" y="3685032"/>
            <a:ext cx="822960" cy="146304"/>
          </a:xfrm>
          <a:prstGeom prst="rect">
            <a:avLst/>
          </a:prstGeom>
          <a:noFill/>
          <a:ln/>
        </p:spPr>
        <p:txBody>
          <a:bodyPr wrap="square" lIns="0" tIns="0" rIns="0" bIns="0" rtlCol="0" anchor="t"/>
          <a:lstStyle/>
          <a:p>
            <a:pPr indent="0" marL="0">
              <a:buNone/>
            </a:pPr>
            <a:r>
              <a:rPr lang="en-US" sz="800" b="1" dirty="0">
                <a:solidFill>
                  <a:srgbClr val="1D1B18"/>
                </a:solidFill>
                <a:latin typeface="Courier New" pitchFamily="34" charset="0"/>
                <a:ea typeface="Courier New" pitchFamily="34" charset="-122"/>
                <a:cs typeface="Courier New" pitchFamily="34" charset="-120"/>
              </a:rPr>
              <a:t>harness.py</a:t>
            </a:r>
            <a:endParaRPr lang="en-US" sz="800" dirty="0"/>
          </a:p>
        </p:txBody>
      </p:sp>
      <p:sp>
        <p:nvSpPr>
          <p:cNvPr id="40" name="Text 38"/>
          <p:cNvSpPr txBox="1"/>
          <p:nvPr/>
        </p:nvSpPr>
        <p:spPr>
          <a:xfrm>
            <a:off x="4389120" y="3849624"/>
            <a:ext cx="822960"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The course simulate.py, unmodified</a:t>
            </a:r>
            <a:endParaRPr lang="en-US" sz="750" dirty="0"/>
          </a:p>
        </p:txBody>
      </p:sp>
      <p:sp>
        <p:nvSpPr>
          <p:cNvPr id="41" name="Shape 39"/>
          <p:cNvSpPr/>
          <p:nvPr/>
        </p:nvSpPr>
        <p:spPr>
          <a:xfrm>
            <a:off x="5394960" y="3621024"/>
            <a:ext cx="1005840" cy="566928"/>
          </a:xfrm>
          <a:prstGeom prst="rect">
            <a:avLst/>
          </a:prstGeom>
          <a:solidFill>
            <a:srgbClr val="F3EFE7"/>
          </a:solidFill>
          <a:ln w="9525">
            <a:solidFill>
              <a:srgbClr val="E4DDD0"/>
            </a:solidFill>
            <a:prstDash val="solid"/>
          </a:ln>
        </p:spPr>
      </p:sp>
      <p:sp>
        <p:nvSpPr>
          <p:cNvPr id="42" name="Text 40"/>
          <p:cNvSpPr txBox="1"/>
          <p:nvPr/>
        </p:nvSpPr>
        <p:spPr>
          <a:xfrm>
            <a:off x="5486400" y="3685032"/>
            <a:ext cx="822960" cy="146304"/>
          </a:xfrm>
          <a:prstGeom prst="rect">
            <a:avLst/>
          </a:prstGeom>
          <a:noFill/>
          <a:ln/>
        </p:spPr>
        <p:txBody>
          <a:bodyPr wrap="square" lIns="0" tIns="0" rIns="0" bIns="0" rtlCol="0" anchor="t"/>
          <a:lstStyle/>
          <a:p>
            <a:pPr indent="0" marL="0">
              <a:buNone/>
            </a:pPr>
            <a:r>
              <a:rPr lang="en-US" sz="800" b="1" dirty="0">
                <a:solidFill>
                  <a:srgbClr val="1D1B18"/>
                </a:solidFill>
                <a:latin typeface="Courier New" pitchFamily="34" charset="0"/>
                <a:ea typeface="Courier New" pitchFamily="34" charset="-122"/>
                <a:cs typeface="Courier New" pitchFamily="34" charset="-120"/>
              </a:rPr>
              <a:t>track2/data</a:t>
            </a:r>
            <a:endParaRPr lang="en-US" sz="800" dirty="0"/>
          </a:p>
        </p:txBody>
      </p:sp>
      <p:sp>
        <p:nvSpPr>
          <p:cNvPr id="43" name="Text 41"/>
          <p:cNvSpPr txBox="1"/>
          <p:nvPr/>
        </p:nvSpPr>
        <p:spPr>
          <a:xfrm>
            <a:off x="5486400" y="3849624"/>
            <a:ext cx="822960"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orders.csv and workshops.csv, read-only</a:t>
            </a:r>
            <a:endParaRPr lang="en-US" sz="750" dirty="0"/>
          </a:p>
        </p:txBody>
      </p:sp>
      <p:sp>
        <p:nvSpPr>
          <p:cNvPr id="44" name="Shape 42"/>
          <p:cNvSpPr/>
          <p:nvPr/>
        </p:nvSpPr>
        <p:spPr>
          <a:xfrm>
            <a:off x="6629400" y="3621024"/>
            <a:ext cx="1965960" cy="566928"/>
          </a:xfrm>
          <a:prstGeom prst="rect">
            <a:avLst/>
          </a:prstGeom>
          <a:solidFill>
            <a:srgbClr val="F3EFE7"/>
          </a:solidFill>
          <a:ln w="9525">
            <a:solidFill>
              <a:srgbClr val="E4DDD0"/>
            </a:solidFill>
            <a:prstDash val="solid"/>
          </a:ln>
        </p:spPr>
      </p:sp>
      <p:sp>
        <p:nvSpPr>
          <p:cNvPr id="45" name="Text 43"/>
          <p:cNvSpPr txBox="1"/>
          <p:nvPr/>
        </p:nvSpPr>
        <p:spPr>
          <a:xfrm>
            <a:off x="6720840" y="3685032"/>
            <a:ext cx="1783080" cy="146304"/>
          </a:xfrm>
          <a:prstGeom prst="rect">
            <a:avLst/>
          </a:prstGeom>
          <a:noFill/>
          <a:ln/>
        </p:spPr>
        <p:txBody>
          <a:bodyPr wrap="square" lIns="0" tIns="0" rIns="0" bIns="0" rtlCol="0" anchor="t"/>
          <a:lstStyle/>
          <a:p>
            <a:pPr indent="0" marL="0">
              <a:buNone/>
            </a:pPr>
            <a:r>
              <a:rPr lang="en-US" sz="800" b="1" dirty="0">
                <a:solidFill>
                  <a:srgbClr val="1D1B18"/>
                </a:solidFill>
                <a:latin typeface="Courier New" pitchFamily="34" charset="0"/>
                <a:ea typeface="Courier New" pitchFamily="34" charset="-122"/>
                <a:cs typeface="Courier New" pitchFamily="34" charset="-120"/>
              </a:rPr>
              <a:t>runtime/ SQLite</a:t>
            </a:r>
            <a:endParaRPr lang="en-US" sz="800" dirty="0"/>
          </a:p>
        </p:txBody>
      </p:sp>
      <p:sp>
        <p:nvSpPr>
          <p:cNvPr id="46" name="Text 44"/>
          <p:cNvSpPr txBox="1"/>
          <p:nvPr/>
        </p:nvSpPr>
        <p:spPr>
          <a:xfrm>
            <a:off x="6720840" y="3849624"/>
            <a:ext cx="1783080"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Long-term memory: audit records and the planning queues later previews read.</a:t>
            </a:r>
            <a:endParaRPr lang="en-US" sz="750" dirty="0"/>
          </a:p>
        </p:txBody>
      </p:sp>
      <p:sp>
        <p:nvSpPr>
          <p:cNvPr id="47" name="Shape 45"/>
          <p:cNvSpPr/>
          <p:nvPr/>
        </p:nvSpPr>
        <p:spPr>
          <a:xfrm>
            <a:off x="1874520" y="1627632"/>
            <a:ext cx="365760" cy="0"/>
          </a:xfrm>
          <a:prstGeom prst="line">
            <a:avLst/>
          </a:prstGeom>
          <a:noFill/>
          <a:ln w="12700">
            <a:solidFill>
              <a:srgbClr val="1D1B18"/>
            </a:solidFill>
            <a:prstDash val="solid"/>
            <a:tailEnd type="triangle"/>
          </a:ln>
        </p:spPr>
      </p:sp>
      <p:sp>
        <p:nvSpPr>
          <p:cNvPr id="48" name="Shape 46"/>
          <p:cNvSpPr/>
          <p:nvPr/>
        </p:nvSpPr>
        <p:spPr>
          <a:xfrm>
            <a:off x="1874520" y="2578608"/>
            <a:ext cx="365760" cy="0"/>
          </a:xfrm>
          <a:prstGeom prst="line">
            <a:avLst/>
          </a:prstGeom>
          <a:noFill/>
          <a:ln w="12700">
            <a:solidFill>
              <a:srgbClr val="1D1B18"/>
            </a:solidFill>
            <a:prstDash val="solid"/>
            <a:headEnd type="triangle"/>
          </a:ln>
        </p:spPr>
      </p:sp>
      <p:sp>
        <p:nvSpPr>
          <p:cNvPr id="49" name="Shape 47"/>
          <p:cNvSpPr/>
          <p:nvPr/>
        </p:nvSpPr>
        <p:spPr>
          <a:xfrm>
            <a:off x="1874520" y="2816352"/>
            <a:ext cx="365760" cy="0"/>
          </a:xfrm>
          <a:prstGeom prst="line">
            <a:avLst/>
          </a:prstGeom>
          <a:noFill/>
          <a:ln w="12700">
            <a:solidFill>
              <a:srgbClr val="1D1B18"/>
            </a:solidFill>
            <a:prstDash val="solid"/>
            <a:tailEnd type="triangle"/>
          </a:ln>
        </p:spPr>
      </p:sp>
      <p:sp>
        <p:nvSpPr>
          <p:cNvPr id="50" name="Shape 48"/>
          <p:cNvSpPr/>
          <p:nvPr/>
        </p:nvSpPr>
        <p:spPr>
          <a:xfrm>
            <a:off x="2651760" y="1883664"/>
            <a:ext cx="0" cy="256032"/>
          </a:xfrm>
          <a:prstGeom prst="line">
            <a:avLst/>
          </a:prstGeom>
          <a:noFill/>
          <a:ln w="12700">
            <a:solidFill>
              <a:srgbClr val="1D1B18"/>
            </a:solidFill>
            <a:prstDash val="solid"/>
            <a:tailEnd type="triangle"/>
          </a:ln>
        </p:spPr>
      </p:sp>
      <p:sp>
        <p:nvSpPr>
          <p:cNvPr id="51" name="Text 49"/>
          <p:cNvSpPr txBox="1"/>
          <p:nvPr/>
        </p:nvSpPr>
        <p:spPr>
          <a:xfrm>
            <a:off x="2715768" y="1947672"/>
            <a:ext cx="1463040" cy="137160"/>
          </a:xfrm>
          <a:prstGeom prst="rect">
            <a:avLst/>
          </a:prstGeom>
          <a:noFill/>
          <a:ln/>
        </p:spPr>
        <p:txBody>
          <a:bodyPr wrap="square" lIns="0" tIns="0" rIns="0" bIns="0" rtlCol="0" anchor="t"/>
          <a:lstStyle/>
          <a:p>
            <a:pPr indent="0" marL="0">
              <a:buNone/>
            </a:pPr>
            <a:r>
              <a:rPr lang="en-US" sz="700" i="1" dirty="0">
                <a:solidFill>
                  <a:srgbClr val="6B665D"/>
                </a:solidFill>
                <a:latin typeface="Arial" pitchFamily="34" charset="0"/>
                <a:ea typeface="Arial" pitchFamily="34" charset="-122"/>
                <a:cs typeface="Arial" pitchFamily="34" charset="-120"/>
              </a:rPr>
              <a:t>message</a:t>
            </a:r>
            <a:endParaRPr lang="en-US" sz="700" dirty="0"/>
          </a:p>
        </p:txBody>
      </p:sp>
      <p:sp>
        <p:nvSpPr>
          <p:cNvPr id="52" name="Shape 50"/>
          <p:cNvSpPr/>
          <p:nvPr/>
        </p:nvSpPr>
        <p:spPr>
          <a:xfrm>
            <a:off x="4709160" y="1883664"/>
            <a:ext cx="0" cy="256032"/>
          </a:xfrm>
          <a:prstGeom prst="line">
            <a:avLst/>
          </a:prstGeom>
          <a:noFill/>
          <a:ln w="12700">
            <a:solidFill>
              <a:srgbClr val="1D1B18"/>
            </a:solidFill>
            <a:prstDash val="solid"/>
            <a:headEnd type="triangle"/>
          </a:ln>
        </p:spPr>
      </p:sp>
      <p:sp>
        <p:nvSpPr>
          <p:cNvPr id="53" name="Text 51"/>
          <p:cNvSpPr txBox="1"/>
          <p:nvPr/>
        </p:nvSpPr>
        <p:spPr>
          <a:xfrm>
            <a:off x="4773168" y="1947672"/>
            <a:ext cx="1463040" cy="137160"/>
          </a:xfrm>
          <a:prstGeom prst="rect">
            <a:avLst/>
          </a:prstGeom>
          <a:noFill/>
          <a:ln/>
        </p:spPr>
        <p:txBody>
          <a:bodyPr wrap="square" lIns="0" tIns="0" rIns="0" bIns="0" rtlCol="0" anchor="t"/>
          <a:lstStyle/>
          <a:p>
            <a:pPr indent="0" marL="0">
              <a:buNone/>
            </a:pPr>
            <a:r>
              <a:rPr lang="en-US" sz="700" i="1" dirty="0">
                <a:solidFill>
                  <a:srgbClr val="6B665D"/>
                </a:solidFill>
                <a:latin typeface="Arial" pitchFamily="34" charset="0"/>
                <a:ea typeface="Arial" pitchFamily="34" charset="-122"/>
                <a:cs typeface="Arial" pitchFamily="34" charset="-120"/>
              </a:rPr>
              <a:t>preview for review</a:t>
            </a:r>
            <a:endParaRPr lang="en-US" sz="700" dirty="0"/>
          </a:p>
        </p:txBody>
      </p:sp>
      <p:sp>
        <p:nvSpPr>
          <p:cNvPr id="54" name="Shape 52"/>
          <p:cNvSpPr/>
          <p:nvPr/>
        </p:nvSpPr>
        <p:spPr>
          <a:xfrm>
            <a:off x="7040880" y="1883664"/>
            <a:ext cx="0" cy="256032"/>
          </a:xfrm>
          <a:prstGeom prst="line">
            <a:avLst/>
          </a:prstGeom>
          <a:noFill/>
          <a:ln w="12700">
            <a:solidFill>
              <a:srgbClr val="1D1B18"/>
            </a:solidFill>
            <a:prstDash val="solid"/>
            <a:tailEnd type="triangle"/>
          </a:ln>
        </p:spPr>
      </p:sp>
      <p:sp>
        <p:nvSpPr>
          <p:cNvPr id="55" name="Text 53"/>
          <p:cNvSpPr txBox="1"/>
          <p:nvPr/>
        </p:nvSpPr>
        <p:spPr>
          <a:xfrm>
            <a:off x="7104888" y="1947672"/>
            <a:ext cx="1463040" cy="137160"/>
          </a:xfrm>
          <a:prstGeom prst="rect">
            <a:avLst/>
          </a:prstGeom>
          <a:noFill/>
          <a:ln/>
        </p:spPr>
        <p:txBody>
          <a:bodyPr wrap="square" lIns="0" tIns="0" rIns="0" bIns="0" rtlCol="0" anchor="t"/>
          <a:lstStyle/>
          <a:p>
            <a:pPr indent="0" marL="0">
              <a:buNone/>
            </a:pPr>
            <a:r>
              <a:rPr lang="en-US" sz="700" i="1" dirty="0">
                <a:solidFill>
                  <a:srgbClr val="6B665D"/>
                </a:solidFill>
                <a:latin typeface="Arial" pitchFamily="34" charset="0"/>
                <a:ea typeface="Arial" pitchFamily="34" charset="-122"/>
                <a:cs typeface="Arial" pitchFamily="34" charset="-120"/>
              </a:rPr>
              <a:t>Confirm, name, retry key</a:t>
            </a:r>
            <a:endParaRPr lang="en-US" sz="700" dirty="0"/>
          </a:p>
        </p:txBody>
      </p:sp>
      <p:sp>
        <p:nvSpPr>
          <p:cNvPr id="56" name="Shape 54"/>
          <p:cNvSpPr/>
          <p:nvPr/>
        </p:nvSpPr>
        <p:spPr>
          <a:xfrm>
            <a:off x="4069080" y="2688336"/>
            <a:ext cx="228600" cy="0"/>
          </a:xfrm>
          <a:prstGeom prst="line">
            <a:avLst/>
          </a:prstGeom>
          <a:noFill/>
          <a:ln w="12700">
            <a:solidFill>
              <a:srgbClr val="1D1B18"/>
            </a:solidFill>
            <a:prstDash val="solid"/>
            <a:tailEnd type="triangle"/>
          </a:ln>
        </p:spPr>
      </p:sp>
      <p:sp>
        <p:nvSpPr>
          <p:cNvPr id="57" name="Shape 55"/>
          <p:cNvSpPr/>
          <p:nvPr/>
        </p:nvSpPr>
        <p:spPr>
          <a:xfrm>
            <a:off x="6400800" y="2688336"/>
            <a:ext cx="228600" cy="0"/>
          </a:xfrm>
          <a:prstGeom prst="line">
            <a:avLst/>
          </a:prstGeom>
          <a:noFill/>
          <a:ln w="12700">
            <a:solidFill>
              <a:srgbClr val="1D1B18"/>
            </a:solidFill>
            <a:prstDash val="dash"/>
            <a:headEnd type="triangle"/>
          </a:ln>
        </p:spPr>
      </p:sp>
      <p:sp>
        <p:nvSpPr>
          <p:cNvPr id="58" name="Shape 56"/>
          <p:cNvSpPr/>
          <p:nvPr/>
        </p:nvSpPr>
        <p:spPr>
          <a:xfrm>
            <a:off x="4800600" y="3346704"/>
            <a:ext cx="0" cy="274320"/>
          </a:xfrm>
          <a:prstGeom prst="line">
            <a:avLst/>
          </a:prstGeom>
          <a:noFill/>
          <a:ln w="12700">
            <a:solidFill>
              <a:srgbClr val="1D1B18"/>
            </a:solidFill>
            <a:prstDash val="solid"/>
            <a:tailEnd type="triangle"/>
          </a:ln>
        </p:spPr>
      </p:sp>
      <p:sp>
        <p:nvSpPr>
          <p:cNvPr id="59" name="Shape 57"/>
          <p:cNvSpPr/>
          <p:nvPr/>
        </p:nvSpPr>
        <p:spPr>
          <a:xfrm>
            <a:off x="5897880" y="3346704"/>
            <a:ext cx="0" cy="274320"/>
          </a:xfrm>
          <a:prstGeom prst="line">
            <a:avLst/>
          </a:prstGeom>
          <a:noFill/>
          <a:ln w="12700">
            <a:solidFill>
              <a:srgbClr val="1D1B18"/>
            </a:solidFill>
            <a:prstDash val="solid"/>
            <a:tailEnd type="triangle"/>
          </a:ln>
        </p:spPr>
      </p:sp>
      <p:sp>
        <p:nvSpPr>
          <p:cNvPr id="60" name="Shape 58"/>
          <p:cNvSpPr/>
          <p:nvPr/>
        </p:nvSpPr>
        <p:spPr>
          <a:xfrm>
            <a:off x="7040880" y="3346704"/>
            <a:ext cx="0" cy="274320"/>
          </a:xfrm>
          <a:prstGeom prst="line">
            <a:avLst/>
          </a:prstGeom>
          <a:noFill/>
          <a:ln w="12700">
            <a:solidFill>
              <a:srgbClr val="1D1B18"/>
            </a:solidFill>
            <a:prstDash val="solid"/>
            <a:tailEnd type="triangle"/>
          </a:ln>
        </p:spPr>
      </p:sp>
      <p:sp>
        <p:nvSpPr>
          <p:cNvPr id="61" name="Text 59"/>
          <p:cNvSpPr txBox="1"/>
          <p:nvPr/>
        </p:nvSpPr>
        <p:spPr>
          <a:xfrm>
            <a:off x="7104888" y="3429000"/>
            <a:ext cx="1280160" cy="137160"/>
          </a:xfrm>
          <a:prstGeom prst="rect">
            <a:avLst/>
          </a:prstGeom>
          <a:noFill/>
          <a:ln/>
        </p:spPr>
        <p:txBody>
          <a:bodyPr wrap="square" lIns="0" tIns="0" rIns="0" bIns="0" rtlCol="0" anchor="t"/>
          <a:lstStyle/>
          <a:p>
            <a:pPr indent="0" marL="0">
              <a:buNone/>
            </a:pPr>
            <a:r>
              <a:rPr lang="en-US" sz="650" dirty="0">
                <a:solidFill>
                  <a:srgbClr val="6B665D"/>
                </a:solidFill>
                <a:latin typeface="Courier New" pitchFamily="34" charset="0"/>
                <a:ea typeface="Courier New" pitchFamily="34" charset="-122"/>
                <a:cs typeface="Courier New" pitchFamily="34" charset="-120"/>
              </a:rPr>
              <a:t>BEGIN IMMEDIATE</a:t>
            </a:r>
            <a:endParaRPr lang="en-US" sz="650" dirty="0"/>
          </a:p>
        </p:txBody>
      </p:sp>
      <p:sp>
        <p:nvSpPr>
          <p:cNvPr id="62" name="Shape 60"/>
          <p:cNvSpPr/>
          <p:nvPr/>
        </p:nvSpPr>
        <p:spPr>
          <a:xfrm>
            <a:off x="4069080" y="3904488"/>
            <a:ext cx="228600" cy="0"/>
          </a:xfrm>
          <a:prstGeom prst="line">
            <a:avLst/>
          </a:prstGeom>
          <a:noFill/>
          <a:ln w="12700">
            <a:solidFill>
              <a:srgbClr val="1D1B18"/>
            </a:solidFill>
            <a:prstDash val="solid"/>
            <a:tailEnd type="triangle"/>
          </a:ln>
        </p:spPr>
      </p:sp>
      <p:sp>
        <p:nvSpPr>
          <p:cNvPr id="63" name="Text 61"/>
          <p:cNvSpPr txBox="1"/>
          <p:nvPr/>
        </p:nvSpPr>
        <p:spPr>
          <a:xfrm>
            <a:off x="548640" y="4279392"/>
            <a:ext cx="8046720" cy="237744"/>
          </a:xfrm>
          <a:prstGeom prst="rect">
            <a:avLst/>
          </a:prstGeom>
          <a:noFill/>
          <a:ln/>
        </p:spPr>
        <p:txBody>
          <a:bodyPr wrap="square" lIns="0" tIns="0" rIns="0" bIns="0" rtlCol="0" anchor="t"/>
          <a:lstStyle/>
          <a:p>
            <a:pPr indent="0" marL="0">
              <a:buNone/>
            </a:pPr>
            <a:r>
              <a:rPr lang="en-US" sz="1100" i="1" dirty="0">
                <a:solidFill>
                  <a:srgbClr val="1D1B18"/>
                </a:solidFill>
                <a:latin typeface="Georgia" pitchFamily="34" charset="0"/>
                <a:ea typeface="Georgia" pitchFamily="34" charset="-122"/>
                <a:cs typeface="Georgia" pitchFamily="34" charset="-120"/>
              </a:rPr>
              <a:t>Agent pattern today: one well-tooled dispatcher, run as a workflow. The model never picks a tool or does arithmetic.</a:t>
            </a:r>
            <a:endParaRPr lang="en-US" sz="11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8046720" cy="201168"/>
          </a:xfrm>
          <a:prstGeom prst="rect">
            <a:avLst/>
          </a:prstGeom>
          <a:noFill/>
          <a:ln/>
        </p:spPr>
        <p:txBody>
          <a:bodyPr wrap="square" lIns="0" tIns="0" rIns="0" bIns="0" rtlCol="0" anchor="t"/>
          <a:lstStyle/>
          <a:p>
            <a:pPr indent="0" marL="0">
              <a:buNone/>
            </a:pPr>
            <a:r>
              <a:rPr lang="en-US" sz="850" b="1" spc="300" kern="0" dirty="0">
                <a:solidFill>
                  <a:srgbClr val="7D5E30"/>
                </a:solidFill>
                <a:latin typeface="Arial" pitchFamily="34" charset="0"/>
                <a:ea typeface="Arial" pitchFamily="34" charset="-122"/>
                <a:cs typeface="Arial" pitchFamily="34" charset="-120"/>
              </a:rPr>
              <a:t>PRIMARY OBJECTIVE</a:t>
            </a:r>
            <a:endParaRPr lang="en-US" sz="850" dirty="0"/>
          </a:p>
        </p:txBody>
      </p:sp>
      <p:sp>
        <p:nvSpPr>
          <p:cNvPr id="3" name="Text 1"/>
          <p:cNvSpPr txBox="1"/>
          <p:nvPr/>
        </p:nvSpPr>
        <p:spPr>
          <a:xfrm>
            <a:off x="548640" y="566928"/>
            <a:ext cx="8046720" cy="566928"/>
          </a:xfrm>
          <a:prstGeom prst="rect">
            <a:avLst/>
          </a:prstGeom>
          <a:noFill/>
          <a:ln/>
        </p:spPr>
        <p:txBody>
          <a:bodyPr wrap="square" lIns="0" tIns="0" rIns="0" bIns="0" rtlCol="0" anchor="ctr"/>
          <a:lstStyle/>
          <a:p>
            <a:pPr indent="0" marL="0">
              <a:buNone/>
            </a:pPr>
            <a:r>
              <a:rPr lang="en-US" sz="2400" dirty="0">
                <a:solidFill>
                  <a:srgbClr val="1D1B18"/>
                </a:solidFill>
                <a:latin typeface="Georgia" pitchFamily="34" charset="0"/>
                <a:ea typeface="Georgia" pitchFamily="34" charset="-122"/>
                <a:cs typeface="Georgia" pitchFamily="34" charset="-120"/>
              </a:rPr>
              <a:t>We declare: minimise lateness</a:t>
            </a:r>
            <a:endParaRPr lang="en-US" sz="2400" dirty="0"/>
          </a:p>
        </p:txBody>
      </p:sp>
      <p:sp>
        <p:nvSpPr>
          <p:cNvPr id="4" name="Text 2"/>
          <p:cNvSpPr txBox="1"/>
          <p:nvPr/>
        </p:nvSpPr>
        <p:spPr>
          <a:xfrm>
            <a:off x="548640" y="1325880"/>
            <a:ext cx="3017520" cy="182880"/>
          </a:xfrm>
          <a:prstGeom prst="rect">
            <a:avLst/>
          </a:prstGeom>
          <a:noFill/>
          <a:ln/>
        </p:spPr>
        <p:txBody>
          <a:bodyPr wrap="square" lIns="0" tIns="0" rIns="0" bIns="0" rtlCol="0" anchor="t"/>
          <a:lstStyle/>
          <a:p>
            <a:pPr indent="0" marL="0">
              <a:buNone/>
            </a:pPr>
            <a:r>
              <a:rPr lang="en-US" sz="800" b="1" spc="200" kern="0" dirty="0">
                <a:solidFill>
                  <a:srgbClr val="7D5E30"/>
                </a:solidFill>
                <a:latin typeface="Arial" pitchFamily="34" charset="0"/>
                <a:ea typeface="Arial" pitchFamily="34" charset="-122"/>
                <a:cs typeface="Arial" pitchFamily="34" charset="-120"/>
              </a:rPr>
              <a:t>WHY</a:t>
            </a:r>
            <a:endParaRPr lang="en-US" sz="800" dirty="0"/>
          </a:p>
        </p:txBody>
      </p:sp>
      <p:sp>
        <p:nvSpPr>
          <p:cNvPr id="5" name="Text 3"/>
          <p:cNvSpPr txBox="1"/>
          <p:nvPr/>
        </p:nvSpPr>
        <p:spPr>
          <a:xfrm>
            <a:off x="548640" y="1545336"/>
            <a:ext cx="3017520" cy="685800"/>
          </a:xfrm>
          <a:prstGeom prst="rect">
            <a:avLst/>
          </a:prstGeom>
          <a:noFill/>
          <a:ln/>
        </p:spPr>
        <p:txBody>
          <a:bodyPr wrap="square" lIns="0" tIns="0" rIns="0" bIns="0" rtlCol="0" anchor="t"/>
          <a:lstStyle/>
          <a:p>
            <a:pPr indent="0" marL="0">
              <a:buNone/>
            </a:pPr>
            <a:r>
              <a:rPr lang="en-US" sz="1150" dirty="0">
                <a:solidFill>
                  <a:srgbClr val="1D1B18"/>
                </a:solidFill>
                <a:latin typeface="Arial" pitchFamily="34" charset="0"/>
                <a:ea typeface="Arial" pitchFamily="34" charset="-122"/>
                <a:cs typeface="Arial" pitchFamily="34" charset="-120"/>
              </a:rPr>
              <a:t>Quick response sells speed. A defect can be reworked; a missed reorder date loses the sale.</a:t>
            </a:r>
            <a:endParaRPr lang="en-US" sz="1150" dirty="0"/>
          </a:p>
        </p:txBody>
      </p:sp>
      <p:sp>
        <p:nvSpPr>
          <p:cNvPr id="6" name="Text 4"/>
          <p:cNvSpPr txBox="1"/>
          <p:nvPr/>
        </p:nvSpPr>
        <p:spPr>
          <a:xfrm>
            <a:off x="548640" y="2313432"/>
            <a:ext cx="3017520" cy="182880"/>
          </a:xfrm>
          <a:prstGeom prst="rect">
            <a:avLst/>
          </a:prstGeom>
          <a:noFill/>
          <a:ln/>
        </p:spPr>
        <p:txBody>
          <a:bodyPr wrap="square" lIns="0" tIns="0" rIns="0" bIns="0" rtlCol="0" anchor="t"/>
          <a:lstStyle/>
          <a:p>
            <a:pPr indent="0" marL="0">
              <a:buNone/>
            </a:pPr>
            <a:r>
              <a:rPr lang="en-US" sz="800" b="1" spc="200" kern="0" dirty="0">
                <a:solidFill>
                  <a:srgbClr val="7D5E30"/>
                </a:solidFill>
                <a:latin typeface="Arial" pitchFamily="34" charset="0"/>
                <a:ea typeface="Arial" pitchFamily="34" charset="-122"/>
                <a:cs typeface="Arial" pitchFamily="34" charset="-120"/>
              </a:rPr>
              <a:t>MEASURED BY</a:t>
            </a:r>
            <a:endParaRPr lang="en-US" sz="800" dirty="0"/>
          </a:p>
        </p:txBody>
      </p:sp>
      <p:sp>
        <p:nvSpPr>
          <p:cNvPr id="7" name="Text 5"/>
          <p:cNvSpPr txBox="1"/>
          <p:nvPr/>
        </p:nvSpPr>
        <p:spPr>
          <a:xfrm>
            <a:off x="548640" y="2532888"/>
            <a:ext cx="3017520" cy="685800"/>
          </a:xfrm>
          <a:prstGeom prst="rect">
            <a:avLst/>
          </a:prstGeom>
          <a:noFill/>
          <a:ln/>
        </p:spPr>
        <p:txBody>
          <a:bodyPr wrap="square" lIns="0" tIns="0" rIns="0" bIns="0" rtlCol="0" anchor="t"/>
          <a:lstStyle/>
          <a:p>
            <a:pPr indent="0" marL="0">
              <a:buNone/>
            </a:pPr>
            <a:r>
              <a:rPr lang="en-US" sz="1150" dirty="0">
                <a:solidFill>
                  <a:srgbClr val="1D1B18"/>
                </a:solidFill>
                <a:latin typeface="Arial" pitchFamily="34" charset="0"/>
                <a:ea typeface="Arial" pitchFamily="34" charset="-122"/>
                <a:cs typeface="Arial" pitchFamily="34" charset="-120"/>
              </a:rPr>
              <a:t>The share of batches that arrive late, and the average days late, from the course simulator.</a:t>
            </a:r>
            <a:endParaRPr lang="en-US" sz="1150" dirty="0"/>
          </a:p>
        </p:txBody>
      </p:sp>
      <p:sp>
        <p:nvSpPr>
          <p:cNvPr id="8" name="Text 6"/>
          <p:cNvSpPr txBox="1"/>
          <p:nvPr/>
        </p:nvSpPr>
        <p:spPr>
          <a:xfrm>
            <a:off x="548640" y="3300984"/>
            <a:ext cx="3017520" cy="182880"/>
          </a:xfrm>
          <a:prstGeom prst="rect">
            <a:avLst/>
          </a:prstGeom>
          <a:noFill/>
          <a:ln/>
        </p:spPr>
        <p:txBody>
          <a:bodyPr wrap="square" lIns="0" tIns="0" rIns="0" bIns="0" rtlCol="0" anchor="t"/>
          <a:lstStyle/>
          <a:p>
            <a:pPr indent="0" marL="0">
              <a:buNone/>
            </a:pPr>
            <a:r>
              <a:rPr lang="en-US" sz="800" b="1" spc="200" kern="0" dirty="0">
                <a:solidFill>
                  <a:srgbClr val="7D5E30"/>
                </a:solidFill>
                <a:latin typeface="Arial" pitchFamily="34" charset="0"/>
                <a:ea typeface="Arial" pitchFamily="34" charset="-122"/>
                <a:cs typeface="Arial" pitchFamily="34" charset="-120"/>
              </a:rPr>
              <a:t>BAR TO CLEAR</a:t>
            </a:r>
            <a:endParaRPr lang="en-US" sz="800" dirty="0"/>
          </a:p>
        </p:txBody>
      </p:sp>
      <p:sp>
        <p:nvSpPr>
          <p:cNvPr id="9" name="Text 7"/>
          <p:cNvSpPr txBox="1"/>
          <p:nvPr/>
        </p:nvSpPr>
        <p:spPr>
          <a:xfrm>
            <a:off x="548640" y="3520440"/>
            <a:ext cx="3017520" cy="685800"/>
          </a:xfrm>
          <a:prstGeom prst="rect">
            <a:avLst/>
          </a:prstGeom>
          <a:noFill/>
          <a:ln/>
        </p:spPr>
        <p:txBody>
          <a:bodyPr wrap="square" lIns="0" tIns="0" rIns="0" bIns="0" rtlCol="0" anchor="t"/>
          <a:lstStyle/>
          <a:p>
            <a:pPr indent="0" marL="0">
              <a:buNone/>
            </a:pPr>
            <a:r>
              <a:rPr lang="en-US" sz="1150" dirty="0">
                <a:solidFill>
                  <a:srgbClr val="1D1B18"/>
                </a:solidFill>
                <a:latin typeface="Arial" pitchFamily="34" charset="0"/>
                <a:ea typeface="Arial" pitchFamily="34" charset="-122"/>
                <a:cs typeface="Arial" pitchFamily="34" charset="-120"/>
              </a:rPr>
              <a:t>Beat random, biggest-capacity and cheapest on both measures, in normal runs and in the closure test.</a:t>
            </a:r>
            <a:endParaRPr lang="en-US" sz="1150" dirty="0"/>
          </a:p>
        </p:txBody>
      </p:sp>
      <p:sp>
        <p:nvSpPr>
          <p:cNvPr id="10" name="Text 8"/>
          <p:cNvSpPr txBox="1"/>
          <p:nvPr/>
        </p:nvSpPr>
        <p:spPr>
          <a:xfrm>
            <a:off x="3931920" y="1325880"/>
            <a:ext cx="4663440" cy="182880"/>
          </a:xfrm>
          <a:prstGeom prst="rect">
            <a:avLst/>
          </a:prstGeom>
          <a:noFill/>
          <a:ln/>
        </p:spPr>
        <p:txBody>
          <a:bodyPr wrap="square" lIns="0" tIns="0" rIns="0" bIns="0" rtlCol="0" anchor="t"/>
          <a:lstStyle/>
          <a:p>
            <a:pPr indent="0" marL="0">
              <a:buNone/>
            </a:pPr>
            <a:r>
              <a:rPr lang="en-US" sz="800" b="1" spc="200" kern="0" dirty="0">
                <a:solidFill>
                  <a:srgbClr val="6B665D"/>
                </a:solidFill>
                <a:latin typeface="Arial" pitchFamily="34" charset="0"/>
                <a:ea typeface="Arial" pitchFamily="34" charset="-122"/>
                <a:cs typeface="Arial" pitchFamily="34" charset="-120"/>
              </a:rPr>
              <a:t>ALL FOUR COURSE OBJECTIVES: WINS AND LOSSES</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931920" y="1600200"/>
          <a:ext cx="4663440" cy="914400"/>
        </p:xfrm>
        <a:graphic>
          <a:graphicData uri="http://schemas.openxmlformats.org/drawingml/2006/table">
            <a:tbl>
              <a:tblPr/>
              <a:tblGrid>
                <a:gridCol w="1234440"/>
                <a:gridCol w="1783080"/>
                <a:gridCol w="1645920"/>
              </a:tblGrid>
              <a:tr h="274320">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OBJECTIVE</a:t>
                      </a:r>
                      <a:endParaRPr lang="en-US" sz="70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OUR BEST SETTING</a:t>
                      </a:r>
                      <a:endParaRPr lang="en-US" sz="70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VERDICT</a:t>
                      </a:r>
                      <a:endParaRPr lang="en-US" sz="70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r>
              <a:tr h="566928">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Minimise lateness</a:t>
                      </a:r>
                      <a:endParaRPr lang="en-US" sz="1100" dirty="0">
                        <a:latin typeface="Georgia" charset="0"/>
                        <a:ea typeface="Georgia" charset="0"/>
                        <a:cs typeface="Georgia"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1D1B18"/>
                          </a:solidFill>
                          <a:latin typeface="Arial" pitchFamily="34" charset="0"/>
                          <a:ea typeface="Arial" pitchFamily="34" charset="-122"/>
                          <a:cs typeface="Arial" pitchFamily="34" charset="-120"/>
                        </a:rPr>
                        <a:t>1.7% late, vs 34.2% for random</a:t>
                      </a:r>
                      <a:endParaRPr lang="en-US" sz="95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b="1" dirty="0">
                          <a:solidFill>
                            <a:srgbClr val="2F5D46"/>
                          </a:solidFill>
                          <a:latin typeface="Arial" pitchFamily="34" charset="0"/>
                          <a:ea typeface="Arial" pitchFamily="34" charset="-122"/>
                          <a:cs typeface="Arial" pitchFamily="34" charset="-120"/>
                        </a:rPr>
                        <a:t>Beats all three baselines</a:t>
                      </a:r>
                      <a:endParaRPr lang="en-US" sz="95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566928">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Minimise defects</a:t>
                      </a:r>
                      <a:endParaRPr lang="en-US" sz="1100" dirty="0">
                        <a:latin typeface="Georgia" charset="0"/>
                        <a:ea typeface="Georgia" charset="0"/>
                        <a:cs typeface="Georgia"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1D1B18"/>
                          </a:solidFill>
                          <a:latin typeface="Arial" pitchFamily="34" charset="0"/>
                          <a:ea typeface="Arial" pitchFamily="34" charset="-122"/>
                          <a:cs typeface="Arial" pitchFamily="34" charset="-120"/>
                        </a:rPr>
                        <a:t>5.5% defective pieces, 18.4% late</a:t>
                      </a:r>
                      <a:endParaRPr lang="en-US" sz="95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b="1" dirty="0">
                          <a:solidFill>
                            <a:srgbClr val="8A2C35"/>
                          </a:solidFill>
                          <a:latin typeface="Arial" pitchFamily="34" charset="0"/>
                          <a:ea typeface="Arial" pitchFamily="34" charset="-122"/>
                          <a:cs typeface="Arial" pitchFamily="34" charset="-120"/>
                        </a:rPr>
                        <a:t>Biggest-capacity still wins (5.3%)</a:t>
                      </a:r>
                      <a:endParaRPr lang="en-US" sz="95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566928">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Robust to failure</a:t>
                      </a:r>
                      <a:endParaRPr lang="en-US" sz="1100" dirty="0">
                        <a:latin typeface="Georgia" charset="0"/>
                        <a:ea typeface="Georgia" charset="0"/>
                        <a:cs typeface="Georgia"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1D1B18"/>
                          </a:solidFill>
                          <a:latin typeface="Arial" pitchFamily="34" charset="0"/>
                          <a:ea typeface="Arial" pitchFamily="34" charset="-122"/>
                          <a:cs typeface="Arial" pitchFamily="34" charset="-120"/>
                        </a:rPr>
                        <a:t>Closure adds 0.25 points late; random adds 4.0</a:t>
                      </a:r>
                      <a:endParaRPr lang="en-US" sz="95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b="1" dirty="0">
                          <a:solidFill>
                            <a:srgbClr val="7D5E30"/>
                          </a:solidFill>
                          <a:latin typeface="Arial" pitchFamily="34" charset="0"/>
                          <a:ea typeface="Arial" pitchFamily="34" charset="-122"/>
                          <a:cs typeface="Arial" pitchFamily="34" charset="-120"/>
                        </a:rPr>
                        <a:t>Steadier than random and biggest. Cheapest stays 92% late either way</a:t>
                      </a:r>
                      <a:endParaRPr lang="en-US" sz="95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566928">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Fair allocation</a:t>
                      </a:r>
                      <a:endParaRPr lang="en-US" sz="1100" dirty="0">
                        <a:latin typeface="Georgia" charset="0"/>
                        <a:ea typeface="Georgia" charset="0"/>
                        <a:cs typeface="Georgia"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1D1B18"/>
                          </a:solidFill>
                          <a:latin typeface="Arial" pitchFamily="34" charset="0"/>
                          <a:ea typeface="Arial" pitchFamily="34" charset="-122"/>
                          <a:cs typeface="Arial" pitchFamily="34" charset="-120"/>
                        </a:rPr>
                        <a:t>Not tuned yet: the busiest workshop takes 26.2% of pieces</a:t>
                      </a:r>
                      <a:endParaRPr lang="en-US" sz="95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b="1" dirty="0">
                          <a:solidFill>
                            <a:srgbClr val="8A2C35"/>
                          </a:solidFill>
                          <a:latin typeface="Arial" pitchFamily="34" charset="0"/>
                          <a:ea typeface="Arial" pitchFamily="34" charset="-122"/>
                          <a:cs typeface="Arial" pitchFamily="34" charset="-120"/>
                        </a:rPr>
                        <a:t>Random spreads work more evenly (22.6%)</a:t>
                      </a:r>
                      <a:endParaRPr lang="en-US" sz="950" dirty="0">
                        <a:latin typeface="Arial" charset="0"/>
                        <a:ea typeface="Arial" charset="0"/>
                        <a:cs typeface="Arial" charset="0"/>
                      </a:endParaRPr>
                    </a:p>
                  </a:txBody>
                  <a:tcPr marL="0" marR="50800" marT="38100" marB="381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bl>
          </a:graphicData>
        </a:graphic>
      </p:graphicFrame>
      <p:sp>
        <p:nvSpPr>
          <p:cNvPr id="12" name="Text 9"/>
          <p:cNvSpPr txBox="1"/>
          <p:nvPr/>
        </p:nvSpPr>
        <p:spPr>
          <a:xfrm>
            <a:off x="548640" y="4507992"/>
            <a:ext cx="8046720" cy="201168"/>
          </a:xfrm>
          <a:prstGeom prst="rect">
            <a:avLst/>
          </a:prstGeom>
          <a:noFill/>
          <a:ln/>
        </p:spPr>
        <p:txBody>
          <a:bodyPr wrap="square" lIns="0" tIns="0" rIns="0" bIns="0" rtlCol="0" anchor="t"/>
          <a:lstStyle/>
          <a:p>
            <a:pPr indent="0" marL="0">
              <a:buNone/>
            </a:pPr>
            <a:r>
              <a:rPr lang="en-US" sz="750" i="1" dirty="0">
                <a:solidFill>
                  <a:srgbClr val="6B665D"/>
                </a:solidFill>
                <a:latin typeface="Arial" pitchFamily="34" charset="0"/>
                <a:ea typeface="Arial" pitchFamily="34" charset="-122"/>
                <a:cs typeface="Arial" pitchFamily="34" charset="-120"/>
              </a:rPr>
              <a:t>Course simulator, mean of 10 runs (seeds 5105-5114). The defects setting was chosen on separate development seeds before this run.</a:t>
            </a:r>
            <a:endParaRPr lang="en-US" sz="75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8046720" cy="201168"/>
          </a:xfrm>
          <a:prstGeom prst="rect">
            <a:avLst/>
          </a:prstGeom>
          <a:noFill/>
          <a:ln/>
        </p:spPr>
        <p:txBody>
          <a:bodyPr wrap="square" lIns="0" tIns="0" rIns="0" bIns="0" rtlCol="0" anchor="t"/>
          <a:lstStyle/>
          <a:p>
            <a:pPr indent="0" marL="0">
              <a:buNone/>
            </a:pPr>
            <a:r>
              <a:rPr lang="en-US" sz="850" b="1" spc="300" kern="0" dirty="0">
                <a:solidFill>
                  <a:srgbClr val="7D5E30"/>
                </a:solidFill>
                <a:latin typeface="Arial" pitchFamily="34" charset="0"/>
                <a:ea typeface="Arial" pitchFamily="34" charset="-122"/>
                <a:cs typeface="Arial" pitchFamily="34" charset="-120"/>
              </a:rPr>
              <a:t>BUSINESS VALUE</a:t>
            </a:r>
            <a:endParaRPr lang="en-US" sz="850" dirty="0"/>
          </a:p>
        </p:txBody>
      </p:sp>
      <p:sp>
        <p:nvSpPr>
          <p:cNvPr id="3" name="Text 1"/>
          <p:cNvSpPr txBox="1"/>
          <p:nvPr/>
        </p:nvSpPr>
        <p:spPr>
          <a:xfrm>
            <a:off x="548640" y="566928"/>
            <a:ext cx="8046720" cy="566928"/>
          </a:xfrm>
          <a:prstGeom prst="rect">
            <a:avLst/>
          </a:prstGeom>
          <a:noFill/>
          <a:ln/>
        </p:spPr>
        <p:txBody>
          <a:bodyPr wrap="square" lIns="0" tIns="0" rIns="0" bIns="0" rtlCol="0" anchor="ctr"/>
          <a:lstStyle/>
          <a:p>
            <a:pPr indent="0" marL="0">
              <a:buNone/>
            </a:pPr>
            <a:r>
              <a:rPr lang="en-US" sz="2400" dirty="0">
                <a:solidFill>
                  <a:srgbClr val="1D1B18"/>
                </a:solidFill>
                <a:latin typeface="Georgia" pitchFamily="34" charset="0"/>
                <a:ea typeface="Georgia" pitchFamily="34" charset="-122"/>
                <a:cs typeface="Georgia" pitchFamily="34" charset="-120"/>
              </a:rPr>
              <a:t>95% fewer late batches than random allocation</a:t>
            </a:r>
            <a:endParaRPr lang="en-US" sz="2400" dirty="0"/>
          </a:p>
        </p:txBody>
      </p:sp>
      <p:sp>
        <p:nvSpPr>
          <p:cNvPr id="4" name="Shape 2"/>
          <p:cNvSpPr/>
          <p:nvPr/>
        </p:nvSpPr>
        <p:spPr>
          <a:xfrm>
            <a:off x="548640" y="1325880"/>
            <a:ext cx="3108960" cy="3017520"/>
          </a:xfrm>
          <a:prstGeom prst="rect">
            <a:avLst/>
          </a:prstGeom>
          <a:solidFill>
            <a:srgbClr val="1D1B18"/>
          </a:solidFill>
          <a:ln w="9525">
            <a:solidFill>
              <a:srgbClr val="1D1B18"/>
            </a:solidFill>
            <a:prstDash val="solid"/>
          </a:ln>
        </p:spPr>
      </p:sp>
      <p:sp>
        <p:nvSpPr>
          <p:cNvPr id="5" name="Text 3"/>
          <p:cNvSpPr txBox="1"/>
          <p:nvPr/>
        </p:nvSpPr>
        <p:spPr>
          <a:xfrm>
            <a:off x="777240" y="1463040"/>
            <a:ext cx="2743200" cy="868680"/>
          </a:xfrm>
          <a:prstGeom prst="rect">
            <a:avLst/>
          </a:prstGeom>
          <a:noFill/>
          <a:ln/>
        </p:spPr>
        <p:txBody>
          <a:bodyPr wrap="square" lIns="0" tIns="0" rIns="0" bIns="0" rtlCol="0" anchor="ctr"/>
          <a:lstStyle/>
          <a:p>
            <a:pPr indent="0" marL="0">
              <a:buNone/>
            </a:pPr>
            <a:r>
              <a:rPr lang="en-US" sz="5800" dirty="0">
                <a:solidFill>
                  <a:srgbClr val="F4EFE6"/>
                </a:solidFill>
                <a:latin typeface="Georgia" pitchFamily="34" charset="0"/>
                <a:ea typeface="Georgia" pitchFamily="34" charset="-122"/>
                <a:cs typeface="Georgia" pitchFamily="34" charset="-120"/>
              </a:rPr>
              <a:t>1.7%</a:t>
            </a:r>
            <a:endParaRPr lang="en-US" sz="5800" dirty="0"/>
          </a:p>
        </p:txBody>
      </p:sp>
      <p:sp>
        <p:nvSpPr>
          <p:cNvPr id="6" name="Text 4"/>
          <p:cNvSpPr txBox="1"/>
          <p:nvPr/>
        </p:nvSpPr>
        <p:spPr>
          <a:xfrm>
            <a:off x="777240" y="2377440"/>
            <a:ext cx="2697480" cy="566928"/>
          </a:xfrm>
          <a:prstGeom prst="rect">
            <a:avLst/>
          </a:prstGeom>
          <a:noFill/>
          <a:ln/>
        </p:spPr>
        <p:txBody>
          <a:bodyPr wrap="square" lIns="0" tIns="0" rIns="0" bIns="0" rtlCol="0" anchor="t"/>
          <a:lstStyle/>
          <a:p>
            <a:pPr indent="0" marL="0">
              <a:buNone/>
            </a:pPr>
            <a:r>
              <a:rPr lang="en-US" sz="1100" dirty="0">
                <a:solidFill>
                  <a:srgbClr val="F4EFE6"/>
                </a:solidFill>
                <a:latin typeface="Arial" pitchFamily="34" charset="0"/>
                <a:ea typeface="Arial" pitchFamily="34" charset="-122"/>
                <a:cs typeface="Arial" pitchFamily="34" charset="-120"/>
              </a:rPr>
              <a:t>of batches late, 2 in 120, when queue, processing and transport are checked before choosing</a:t>
            </a:r>
            <a:endParaRPr lang="en-US" sz="1100" dirty="0"/>
          </a:p>
        </p:txBody>
      </p:sp>
      <p:sp>
        <p:nvSpPr>
          <p:cNvPr id="7" name="Text 5"/>
          <p:cNvSpPr txBox="1"/>
          <p:nvPr/>
        </p:nvSpPr>
        <p:spPr>
          <a:xfrm>
            <a:off x="777240" y="3017520"/>
            <a:ext cx="2743200" cy="411480"/>
          </a:xfrm>
          <a:prstGeom prst="rect">
            <a:avLst/>
          </a:prstGeom>
          <a:noFill/>
          <a:ln/>
        </p:spPr>
        <p:txBody>
          <a:bodyPr wrap="square" lIns="0" tIns="0" rIns="0" bIns="0" rtlCol="0" anchor="t"/>
          <a:lstStyle/>
          <a:p>
            <a:pPr indent="0" marL="0">
              <a:buNone/>
            </a:pPr>
            <a:r>
              <a:rPr lang="en-US" sz="2400" dirty="0">
                <a:solidFill>
                  <a:srgbClr val="CDB78F"/>
                </a:solidFill>
                <a:latin typeface="Georgia" pitchFamily="34" charset="0"/>
                <a:ea typeface="Georgia" pitchFamily="34" charset="-122"/>
                <a:cs typeface="Georgia" pitchFamily="34" charset="-120"/>
              </a:rPr>
              <a:t>34.2%</a:t>
            </a:r>
            <a:endParaRPr lang="en-US" sz="2400" dirty="0"/>
          </a:p>
        </p:txBody>
      </p:sp>
      <p:sp>
        <p:nvSpPr>
          <p:cNvPr id="8" name="Text 6"/>
          <p:cNvSpPr txBox="1"/>
          <p:nvPr/>
        </p:nvSpPr>
        <p:spPr>
          <a:xfrm>
            <a:off x="777240" y="3429000"/>
            <a:ext cx="2697480" cy="228600"/>
          </a:xfrm>
          <a:prstGeom prst="rect">
            <a:avLst/>
          </a:prstGeom>
          <a:noFill/>
          <a:ln/>
        </p:spPr>
        <p:txBody>
          <a:bodyPr wrap="square" lIns="0" tIns="0" rIns="0" bIns="0" rtlCol="0" anchor="t"/>
          <a:lstStyle/>
          <a:p>
            <a:pPr indent="0" marL="0">
              <a:buNone/>
            </a:pPr>
            <a:r>
              <a:rPr lang="en-US" sz="1000" dirty="0">
                <a:solidFill>
                  <a:srgbClr val="B9AF9F"/>
                </a:solidFill>
                <a:latin typeface="Arial" pitchFamily="34" charset="0"/>
                <a:ea typeface="Arial" pitchFamily="34" charset="-122"/>
                <a:cs typeface="Arial" pitchFamily="34" charset="-120"/>
              </a:rPr>
              <a:t>41 in 120 for a random eligible workshop</a:t>
            </a:r>
            <a:endParaRPr lang="en-US" sz="1000" dirty="0"/>
          </a:p>
        </p:txBody>
      </p:sp>
      <p:sp>
        <p:nvSpPr>
          <p:cNvPr id="9" name="Text 7"/>
          <p:cNvSpPr txBox="1"/>
          <p:nvPr/>
        </p:nvSpPr>
        <p:spPr>
          <a:xfrm>
            <a:off x="777240" y="3977640"/>
            <a:ext cx="2697480" cy="201168"/>
          </a:xfrm>
          <a:prstGeom prst="rect">
            <a:avLst/>
          </a:prstGeom>
          <a:noFill/>
          <a:ln/>
        </p:spPr>
        <p:txBody>
          <a:bodyPr wrap="square" lIns="0" tIns="0" rIns="0" bIns="0" rtlCol="0" anchor="t"/>
          <a:lstStyle/>
          <a:p>
            <a:pPr indent="0" marL="0">
              <a:buNone/>
            </a:pPr>
            <a:r>
              <a:rPr lang="en-US" sz="800" i="1" dirty="0">
                <a:solidFill>
                  <a:srgbClr val="B9AF9F"/>
                </a:solidFill>
                <a:latin typeface="Arial" pitchFamily="34" charset="0"/>
                <a:ea typeface="Arial" pitchFamily="34" charset="-122"/>
                <a:cs typeface="Arial" pitchFamily="34" charset="-120"/>
              </a:rPr>
              <a:t>Course simulator, 10 runs. Not a factory result.</a:t>
            </a:r>
            <a:endParaRPr lang="en-US" sz="800" dirty="0"/>
          </a:p>
        </p:txBody>
      </p:sp>
      <p:sp>
        <p:nvSpPr>
          <p:cNvPr id="10" name="Text 8"/>
          <p:cNvSpPr txBox="1"/>
          <p:nvPr/>
        </p:nvSpPr>
        <p:spPr>
          <a:xfrm>
            <a:off x="4023360" y="1289304"/>
            <a:ext cx="365760" cy="365760"/>
          </a:xfrm>
          <a:prstGeom prst="rect">
            <a:avLst/>
          </a:prstGeom>
          <a:noFill/>
          <a:ln/>
        </p:spPr>
        <p:txBody>
          <a:bodyPr wrap="square" lIns="0" tIns="0" rIns="0" bIns="0" rtlCol="0" anchor="t"/>
          <a:lstStyle/>
          <a:p>
            <a:pPr indent="0" marL="0">
              <a:buNone/>
            </a:pPr>
            <a:r>
              <a:rPr lang="en-US" sz="2000" dirty="0">
                <a:solidFill>
                  <a:srgbClr val="A3804C"/>
                </a:solidFill>
                <a:latin typeface="Georgia" pitchFamily="34" charset="0"/>
                <a:ea typeface="Georgia" pitchFamily="34" charset="-122"/>
                <a:cs typeface="Georgia" pitchFamily="34" charset="-120"/>
              </a:rPr>
              <a:t>1</a:t>
            </a:r>
            <a:endParaRPr lang="en-US" sz="2000" dirty="0"/>
          </a:p>
        </p:txBody>
      </p:sp>
      <p:sp>
        <p:nvSpPr>
          <p:cNvPr id="11" name="Text 9"/>
          <p:cNvSpPr txBox="1"/>
          <p:nvPr/>
        </p:nvSpPr>
        <p:spPr>
          <a:xfrm>
            <a:off x="4434840" y="1325880"/>
            <a:ext cx="4160520" cy="256032"/>
          </a:xfrm>
          <a:prstGeom prst="rect">
            <a:avLst/>
          </a:prstGeom>
          <a:noFill/>
          <a:ln/>
        </p:spPr>
        <p:txBody>
          <a:bodyPr wrap="square" lIns="0" tIns="0" rIns="0" bIns="0" rtlCol="0" anchor="t"/>
          <a:lstStyle/>
          <a:p>
            <a:pPr indent="0" marL="0">
              <a:buNone/>
            </a:pPr>
            <a:r>
              <a:rPr lang="en-US" sz="1400" dirty="0">
                <a:solidFill>
                  <a:srgbClr val="1D1B18"/>
                </a:solidFill>
                <a:latin typeface="Georgia" pitchFamily="34" charset="0"/>
                <a:ea typeface="Georgia" pitchFamily="34" charset="-122"/>
                <a:cs typeface="Georgia" pitchFamily="34" charset="-120"/>
              </a:rPr>
              <a:t>Operational efficiency &amp; risk reduction</a:t>
            </a:r>
            <a:endParaRPr lang="en-US" sz="1400" dirty="0"/>
          </a:p>
        </p:txBody>
      </p:sp>
      <p:sp>
        <p:nvSpPr>
          <p:cNvPr id="12" name="Text 10"/>
          <p:cNvSpPr txBox="1"/>
          <p:nvPr/>
        </p:nvSpPr>
        <p:spPr>
          <a:xfrm>
            <a:off x="4434840" y="1591056"/>
            <a:ext cx="4160520" cy="438912"/>
          </a:xfrm>
          <a:prstGeom prst="rect">
            <a:avLst/>
          </a:prstGeom>
          <a:noFill/>
          <a:ln/>
        </p:spPr>
        <p:txBody>
          <a:bodyPr wrap="square" lIns="0" tIns="0" rIns="0" bIns="0" rtlCol="0" anchor="t"/>
          <a:lstStyle/>
          <a:p>
            <a:pPr indent="0" marL="0">
              <a:buNone/>
            </a:pPr>
            <a:r>
              <a:rPr lang="en-US" sz="1050" dirty="0">
                <a:solidFill>
                  <a:srgbClr val="4A463F"/>
                </a:solidFill>
                <a:latin typeface="Arial" pitchFamily="34" charset="0"/>
                <a:ea typeface="Arial" pitchFamily="34" charset="-122"/>
                <a:cs typeface="Arial" pitchFamily="34" charset="-120"/>
              </a:rPr>
              <a:t>No bounced batches: the course’s own eligibility rule runs before anything is recommended.</a:t>
            </a:r>
            <a:endParaRPr lang="en-US" sz="1050" dirty="0"/>
          </a:p>
        </p:txBody>
      </p:sp>
      <p:sp>
        <p:nvSpPr>
          <p:cNvPr id="13" name="Text 11"/>
          <p:cNvSpPr txBox="1"/>
          <p:nvPr/>
        </p:nvSpPr>
        <p:spPr>
          <a:xfrm>
            <a:off x="4023360" y="2048256"/>
            <a:ext cx="365760" cy="365760"/>
          </a:xfrm>
          <a:prstGeom prst="rect">
            <a:avLst/>
          </a:prstGeom>
          <a:noFill/>
          <a:ln/>
        </p:spPr>
        <p:txBody>
          <a:bodyPr wrap="square" lIns="0" tIns="0" rIns="0" bIns="0" rtlCol="0" anchor="t"/>
          <a:lstStyle/>
          <a:p>
            <a:pPr indent="0" marL="0">
              <a:buNone/>
            </a:pPr>
            <a:r>
              <a:rPr lang="en-US" sz="2000" dirty="0">
                <a:solidFill>
                  <a:srgbClr val="A3804C"/>
                </a:solidFill>
                <a:latin typeface="Georgia" pitchFamily="34" charset="0"/>
                <a:ea typeface="Georgia" pitchFamily="34" charset="-122"/>
                <a:cs typeface="Georgia" pitchFamily="34" charset="-120"/>
              </a:rPr>
              <a:t>2</a:t>
            </a:r>
            <a:endParaRPr lang="en-US" sz="2000" dirty="0"/>
          </a:p>
        </p:txBody>
      </p:sp>
      <p:sp>
        <p:nvSpPr>
          <p:cNvPr id="14" name="Text 12"/>
          <p:cNvSpPr txBox="1"/>
          <p:nvPr/>
        </p:nvSpPr>
        <p:spPr>
          <a:xfrm>
            <a:off x="4434840" y="2084832"/>
            <a:ext cx="4160520" cy="256032"/>
          </a:xfrm>
          <a:prstGeom prst="rect">
            <a:avLst/>
          </a:prstGeom>
          <a:noFill/>
          <a:ln/>
        </p:spPr>
        <p:txBody>
          <a:bodyPr wrap="square" lIns="0" tIns="0" rIns="0" bIns="0" rtlCol="0" anchor="t"/>
          <a:lstStyle/>
          <a:p>
            <a:pPr indent="0" marL="0">
              <a:buNone/>
            </a:pPr>
            <a:r>
              <a:rPr lang="en-US" sz="1400" dirty="0">
                <a:solidFill>
                  <a:srgbClr val="1D1B18"/>
                </a:solidFill>
                <a:latin typeface="Georgia" pitchFamily="34" charset="0"/>
                <a:ea typeface="Georgia" pitchFamily="34" charset="-122"/>
                <a:cs typeface="Georgia" pitchFamily="34" charset="-120"/>
              </a:rPr>
              <a:t>Transparency &amp; auditability</a:t>
            </a:r>
            <a:endParaRPr lang="en-US" sz="1400" dirty="0"/>
          </a:p>
        </p:txBody>
      </p:sp>
      <p:sp>
        <p:nvSpPr>
          <p:cNvPr id="15" name="Text 13"/>
          <p:cNvSpPr txBox="1"/>
          <p:nvPr/>
        </p:nvSpPr>
        <p:spPr>
          <a:xfrm>
            <a:off x="4434840" y="2350008"/>
            <a:ext cx="4160520" cy="438912"/>
          </a:xfrm>
          <a:prstGeom prst="rect">
            <a:avLst/>
          </a:prstGeom>
          <a:noFill/>
          <a:ln/>
        </p:spPr>
        <p:txBody>
          <a:bodyPr wrap="square" lIns="0" tIns="0" rIns="0" bIns="0" rtlCol="0" anchor="t"/>
          <a:lstStyle/>
          <a:p>
            <a:pPr indent="0" marL="0">
              <a:buNone/>
            </a:pPr>
            <a:r>
              <a:rPr lang="en-US" sz="1050" dirty="0">
                <a:solidFill>
                  <a:srgbClr val="4A463F"/>
                </a:solidFill>
                <a:latin typeface="Arial" pitchFamily="34" charset="0"/>
                <a:ea typeface="Arial" pitchFamily="34" charset="-122"/>
                <a:cs typeface="Arial" pitchFamily="34" charset="-120"/>
              </a:rPr>
              <a:t>A full record of the request, every option, the estimates, who set each constraint and who approved.</a:t>
            </a:r>
            <a:endParaRPr lang="en-US" sz="1050" dirty="0"/>
          </a:p>
        </p:txBody>
      </p:sp>
      <p:sp>
        <p:nvSpPr>
          <p:cNvPr id="16" name="Text 14"/>
          <p:cNvSpPr txBox="1"/>
          <p:nvPr/>
        </p:nvSpPr>
        <p:spPr>
          <a:xfrm>
            <a:off x="4023360" y="2807208"/>
            <a:ext cx="365760" cy="365760"/>
          </a:xfrm>
          <a:prstGeom prst="rect">
            <a:avLst/>
          </a:prstGeom>
          <a:noFill/>
          <a:ln/>
        </p:spPr>
        <p:txBody>
          <a:bodyPr wrap="square" lIns="0" tIns="0" rIns="0" bIns="0" rtlCol="0" anchor="t"/>
          <a:lstStyle/>
          <a:p>
            <a:pPr indent="0" marL="0">
              <a:buNone/>
            </a:pPr>
            <a:r>
              <a:rPr lang="en-US" sz="2000" dirty="0">
                <a:solidFill>
                  <a:srgbClr val="A3804C"/>
                </a:solidFill>
                <a:latin typeface="Georgia" pitchFamily="34" charset="0"/>
                <a:ea typeface="Georgia" pitchFamily="34" charset="-122"/>
                <a:cs typeface="Georgia" pitchFamily="34" charset="-120"/>
              </a:rPr>
              <a:t>3</a:t>
            </a:r>
            <a:endParaRPr lang="en-US" sz="2000" dirty="0"/>
          </a:p>
        </p:txBody>
      </p:sp>
      <p:sp>
        <p:nvSpPr>
          <p:cNvPr id="17" name="Text 15"/>
          <p:cNvSpPr txBox="1"/>
          <p:nvPr/>
        </p:nvSpPr>
        <p:spPr>
          <a:xfrm>
            <a:off x="4434840" y="2843784"/>
            <a:ext cx="4160520" cy="256032"/>
          </a:xfrm>
          <a:prstGeom prst="rect">
            <a:avLst/>
          </a:prstGeom>
          <a:noFill/>
          <a:ln/>
        </p:spPr>
        <p:txBody>
          <a:bodyPr wrap="square" lIns="0" tIns="0" rIns="0" bIns="0" rtlCol="0" anchor="t"/>
          <a:lstStyle/>
          <a:p>
            <a:pPr indent="0" marL="0">
              <a:buNone/>
            </a:pPr>
            <a:r>
              <a:rPr lang="en-US" sz="1400" dirty="0">
                <a:solidFill>
                  <a:srgbClr val="1D1B18"/>
                </a:solidFill>
                <a:latin typeface="Georgia" pitchFamily="34" charset="0"/>
                <a:ea typeface="Georgia" pitchFamily="34" charset="-122"/>
                <a:cs typeface="Georgia" pitchFamily="34" charset="-120"/>
              </a:rPr>
              <a:t>Proactive exception management</a:t>
            </a:r>
            <a:endParaRPr lang="en-US" sz="1400" dirty="0"/>
          </a:p>
        </p:txBody>
      </p:sp>
      <p:sp>
        <p:nvSpPr>
          <p:cNvPr id="18" name="Text 16"/>
          <p:cNvSpPr txBox="1"/>
          <p:nvPr/>
        </p:nvSpPr>
        <p:spPr>
          <a:xfrm>
            <a:off x="4434840" y="3108960"/>
            <a:ext cx="4160520" cy="438912"/>
          </a:xfrm>
          <a:prstGeom prst="rect">
            <a:avLst/>
          </a:prstGeom>
          <a:noFill/>
          <a:ln/>
        </p:spPr>
        <p:txBody>
          <a:bodyPr wrap="square" lIns="0" tIns="0" rIns="0" bIns="0" rtlCol="0" anchor="t"/>
          <a:lstStyle/>
          <a:p>
            <a:pPr indent="0" marL="0">
              <a:buNone/>
            </a:pPr>
            <a:r>
              <a:rPr lang="en-US" sz="1050" dirty="0">
                <a:solidFill>
                  <a:srgbClr val="4A463F"/>
                </a:solidFill>
                <a:latin typeface="Arial" pitchFamily="34" charset="0"/>
                <a:ea typeface="Arial" pitchFamily="34" charset="-122"/>
                <a:cs typeface="Arial" pitchFamily="34" charset="-120"/>
              </a:rPr>
              <a:t>An impossible date gets the earliest achievable date and the options: split, accept late, escalate.</a:t>
            </a:r>
            <a:endParaRPr lang="en-US" sz="1050" dirty="0"/>
          </a:p>
        </p:txBody>
      </p:sp>
      <p:sp>
        <p:nvSpPr>
          <p:cNvPr id="19" name="Text 17"/>
          <p:cNvSpPr txBox="1"/>
          <p:nvPr/>
        </p:nvSpPr>
        <p:spPr>
          <a:xfrm>
            <a:off x="4023360" y="3566160"/>
            <a:ext cx="365760" cy="365760"/>
          </a:xfrm>
          <a:prstGeom prst="rect">
            <a:avLst/>
          </a:prstGeom>
          <a:noFill/>
          <a:ln/>
        </p:spPr>
        <p:txBody>
          <a:bodyPr wrap="square" lIns="0" tIns="0" rIns="0" bIns="0" rtlCol="0" anchor="t"/>
          <a:lstStyle/>
          <a:p>
            <a:pPr indent="0" marL="0">
              <a:buNone/>
            </a:pPr>
            <a:r>
              <a:rPr lang="en-US" sz="2000" dirty="0">
                <a:solidFill>
                  <a:srgbClr val="8A2C35"/>
                </a:solidFill>
                <a:latin typeface="Georgia" pitchFamily="34" charset="0"/>
                <a:ea typeface="Georgia" pitchFamily="34" charset="-122"/>
                <a:cs typeface="Georgia" pitchFamily="34" charset="-120"/>
              </a:rPr>
              <a:t>4</a:t>
            </a:r>
            <a:endParaRPr lang="en-US" sz="2000" dirty="0"/>
          </a:p>
        </p:txBody>
      </p:sp>
      <p:sp>
        <p:nvSpPr>
          <p:cNvPr id="20" name="Text 18"/>
          <p:cNvSpPr txBox="1"/>
          <p:nvPr/>
        </p:nvSpPr>
        <p:spPr>
          <a:xfrm>
            <a:off x="4434840" y="3602736"/>
            <a:ext cx="4160520" cy="256032"/>
          </a:xfrm>
          <a:prstGeom prst="rect">
            <a:avLst/>
          </a:prstGeom>
          <a:noFill/>
          <a:ln/>
        </p:spPr>
        <p:txBody>
          <a:bodyPr wrap="square" lIns="0" tIns="0" rIns="0" bIns="0" rtlCol="0" anchor="t"/>
          <a:lstStyle/>
          <a:p>
            <a:pPr indent="0" marL="0">
              <a:buNone/>
            </a:pPr>
            <a:r>
              <a:rPr lang="en-US" sz="1400" dirty="0">
                <a:solidFill>
                  <a:srgbClr val="1D1B18"/>
                </a:solidFill>
                <a:latin typeface="Georgia" pitchFamily="34" charset="0"/>
                <a:ea typeface="Georgia" pitchFamily="34" charset="-122"/>
                <a:cs typeface="Georgia" pitchFamily="34" charset="-120"/>
              </a:rPr>
              <a:t>Transparent cost-speed trade-offs</a:t>
            </a:r>
            <a:endParaRPr lang="en-US" sz="1400" dirty="0"/>
          </a:p>
        </p:txBody>
      </p:sp>
      <p:sp>
        <p:nvSpPr>
          <p:cNvPr id="21" name="Text 19"/>
          <p:cNvSpPr txBox="1"/>
          <p:nvPr/>
        </p:nvSpPr>
        <p:spPr>
          <a:xfrm>
            <a:off x="4434840" y="3867912"/>
            <a:ext cx="4160520" cy="438912"/>
          </a:xfrm>
          <a:prstGeom prst="rect">
            <a:avLst/>
          </a:prstGeom>
          <a:noFill/>
          <a:ln/>
        </p:spPr>
        <p:txBody>
          <a:bodyPr wrap="square" lIns="0" tIns="0" rIns="0" bIns="0" rtlCol="0" anchor="t"/>
          <a:lstStyle/>
          <a:p>
            <a:pPr indent="0" marL="0">
              <a:buNone/>
            </a:pPr>
            <a:r>
              <a:rPr lang="en-US" sz="1050" dirty="0">
                <a:solidFill>
                  <a:srgbClr val="4A463F"/>
                </a:solidFill>
                <a:latin typeface="Arial" pitchFamily="34" charset="0"/>
                <a:ea typeface="Arial" pitchFamily="34" charset="-122"/>
                <a:cs typeface="Arial" pitchFamily="34" charset="-120"/>
              </a:rPr>
              <a:t>115.6k cost units per run, against 86.0k for always-cheapest (late on 92% of batches) and 111.8k for random.</a:t>
            </a:r>
            <a:endParaRPr lang="en-US" sz="105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8046720" cy="201168"/>
          </a:xfrm>
          <a:prstGeom prst="rect">
            <a:avLst/>
          </a:prstGeom>
          <a:noFill/>
          <a:ln/>
        </p:spPr>
        <p:txBody>
          <a:bodyPr wrap="square" lIns="0" tIns="0" rIns="0" bIns="0" rtlCol="0" anchor="t"/>
          <a:lstStyle/>
          <a:p>
            <a:pPr indent="0" marL="0">
              <a:buNone/>
            </a:pPr>
            <a:r>
              <a:rPr lang="en-US" sz="850" b="1" spc="300" kern="0" dirty="0">
                <a:solidFill>
                  <a:srgbClr val="7D5E30"/>
                </a:solidFill>
                <a:latin typeface="Arial" pitchFamily="34" charset="0"/>
                <a:ea typeface="Arial" pitchFamily="34" charset="-122"/>
                <a:cs typeface="Arial" pitchFamily="34" charset="-120"/>
              </a:rPr>
              <a:t>SPRINT 1 PROGRESS</a:t>
            </a:r>
            <a:endParaRPr lang="en-US" sz="850" dirty="0"/>
          </a:p>
        </p:txBody>
      </p:sp>
      <p:sp>
        <p:nvSpPr>
          <p:cNvPr id="3" name="Text 1"/>
          <p:cNvSpPr txBox="1"/>
          <p:nvPr/>
        </p:nvSpPr>
        <p:spPr>
          <a:xfrm>
            <a:off x="548640" y="566928"/>
            <a:ext cx="8046720" cy="566928"/>
          </a:xfrm>
          <a:prstGeom prst="rect">
            <a:avLst/>
          </a:prstGeom>
          <a:noFill/>
          <a:ln/>
        </p:spPr>
        <p:txBody>
          <a:bodyPr wrap="square" lIns="0" tIns="0" rIns="0" bIns="0" rtlCol="0" anchor="ctr"/>
          <a:lstStyle/>
          <a:p>
            <a:pPr indent="0" marL="0">
              <a:buNone/>
            </a:pPr>
            <a:r>
              <a:rPr lang="en-US" sz="2400" dirty="0">
                <a:solidFill>
                  <a:srgbClr val="1D1B18"/>
                </a:solidFill>
                <a:latin typeface="Georgia" pitchFamily="34" charset="0"/>
                <a:ea typeface="Georgia" pitchFamily="34" charset="-122"/>
                <a:cs typeface="Georgia" pitchFamily="34" charset="-120"/>
              </a:rPr>
              <a:t>Working allocator, working deployment pipeline</a:t>
            </a:r>
            <a:endParaRPr lang="en-US" sz="2400" dirty="0"/>
          </a:p>
        </p:txBody>
      </p:sp>
      <p:sp>
        <p:nvSpPr>
          <p:cNvPr id="4" name="Text 2"/>
          <p:cNvSpPr txBox="1"/>
          <p:nvPr/>
        </p:nvSpPr>
        <p:spPr>
          <a:xfrm>
            <a:off x="548640" y="1298448"/>
            <a:ext cx="4389120" cy="164592"/>
          </a:xfrm>
          <a:prstGeom prst="rect">
            <a:avLst/>
          </a:prstGeom>
          <a:noFill/>
          <a:ln/>
        </p:spPr>
        <p:txBody>
          <a:bodyPr wrap="square" lIns="0" tIns="0" rIns="0" bIns="0" rtlCol="0" anchor="t"/>
          <a:lstStyle/>
          <a:p>
            <a:pPr indent="0" marL="0">
              <a:buNone/>
            </a:pPr>
            <a:r>
              <a:rPr lang="en-US" sz="750" b="1" spc="150" kern="0" dirty="0">
                <a:solidFill>
                  <a:srgbClr val="6B665D"/>
                </a:solidFill>
                <a:latin typeface="Arial" pitchFamily="34" charset="0"/>
                <a:ea typeface="Arial" pitchFamily="34" charset="-122"/>
                <a:cs typeface="Arial" pitchFamily="34" charset="-120"/>
              </a:rPr>
              <a:t>% OF BATCHES LATE, MEAN OF 10 RUNS. LOWER IS BETTER</a:t>
            </a:r>
            <a:endParaRPr lang="en-US" sz="750" dirty="0"/>
          </a:p>
        </p:txBody>
      </p:sp>
      <p:sp>
        <p:nvSpPr>
          <p:cNvPr id="5" name="Shape 3"/>
          <p:cNvSpPr/>
          <p:nvPr/>
        </p:nvSpPr>
        <p:spPr>
          <a:xfrm>
            <a:off x="548640" y="1536192"/>
            <a:ext cx="109728" cy="109728"/>
          </a:xfrm>
          <a:prstGeom prst="rect">
            <a:avLst/>
          </a:prstGeom>
          <a:solidFill>
            <a:srgbClr val="CDB78F"/>
          </a:solidFill>
          <a:ln w="12700">
            <a:solidFill>
              <a:srgbClr val="CDB78F"/>
            </a:solidFill>
            <a:prstDash val="solid"/>
          </a:ln>
        </p:spPr>
      </p:sp>
      <p:sp>
        <p:nvSpPr>
          <p:cNvPr id="6" name="Text 4"/>
          <p:cNvSpPr txBox="1"/>
          <p:nvPr/>
        </p:nvSpPr>
        <p:spPr>
          <a:xfrm>
            <a:off x="704088" y="1508760"/>
            <a:ext cx="1463040" cy="164592"/>
          </a:xfrm>
          <a:prstGeom prst="rect">
            <a:avLst/>
          </a:prstGeom>
          <a:noFill/>
          <a:ln/>
        </p:spPr>
        <p:txBody>
          <a:bodyPr wrap="square" lIns="0" tIns="0" rIns="0" bIns="0" rtlCol="0" anchor="ctr"/>
          <a:lstStyle/>
          <a:p>
            <a:pPr indent="0" marL="0">
              <a:buNone/>
            </a:pPr>
            <a:r>
              <a:rPr lang="en-US" sz="750" dirty="0">
                <a:solidFill>
                  <a:srgbClr val="4A463F"/>
                </a:solidFill>
                <a:latin typeface="Arial" pitchFamily="34" charset="0"/>
                <a:ea typeface="Arial" pitchFamily="34" charset="-122"/>
                <a:cs typeface="Arial" pitchFamily="34" charset="-120"/>
              </a:rPr>
              <a:t>Normal run</a:t>
            </a:r>
            <a:endParaRPr lang="en-US" sz="750" dirty="0"/>
          </a:p>
        </p:txBody>
      </p:sp>
      <p:sp>
        <p:nvSpPr>
          <p:cNvPr id="7" name="Shape 5"/>
          <p:cNvSpPr/>
          <p:nvPr/>
        </p:nvSpPr>
        <p:spPr>
          <a:xfrm>
            <a:off x="1645920" y="1536192"/>
            <a:ext cx="109728" cy="109728"/>
          </a:xfrm>
          <a:prstGeom prst="rect">
            <a:avLst/>
          </a:prstGeom>
          <a:solidFill>
            <a:srgbClr val="1D1B18"/>
          </a:solidFill>
          <a:ln w="12700">
            <a:solidFill>
              <a:srgbClr val="1D1B18"/>
            </a:solidFill>
            <a:prstDash val="solid"/>
          </a:ln>
        </p:spPr>
      </p:sp>
      <p:sp>
        <p:nvSpPr>
          <p:cNvPr id="8" name="Text 6"/>
          <p:cNvSpPr txBox="1"/>
          <p:nvPr/>
        </p:nvSpPr>
        <p:spPr>
          <a:xfrm>
            <a:off x="1801368" y="1508760"/>
            <a:ext cx="1463040" cy="164592"/>
          </a:xfrm>
          <a:prstGeom prst="rect">
            <a:avLst/>
          </a:prstGeom>
          <a:noFill/>
          <a:ln/>
        </p:spPr>
        <p:txBody>
          <a:bodyPr wrap="square" lIns="0" tIns="0" rIns="0" bIns="0" rtlCol="0" anchor="ctr"/>
          <a:lstStyle/>
          <a:p>
            <a:pPr indent="0" marL="0">
              <a:buNone/>
            </a:pPr>
            <a:r>
              <a:rPr lang="en-US" sz="750" dirty="0">
                <a:solidFill>
                  <a:srgbClr val="4A463F"/>
                </a:solidFill>
                <a:latin typeface="Arial" pitchFamily="34" charset="0"/>
                <a:ea typeface="Arial" pitchFamily="34" charset="-122"/>
                <a:cs typeface="Arial" pitchFamily="34" charset="-120"/>
              </a:rPr>
              <a:t>Added by the closure test</a:t>
            </a:r>
            <a:endParaRPr lang="en-US" sz="750" dirty="0"/>
          </a:p>
        </p:txBody>
      </p:sp>
      <p:sp>
        <p:nvSpPr>
          <p:cNvPr id="9" name="Text 7"/>
          <p:cNvSpPr txBox="1"/>
          <p:nvPr/>
        </p:nvSpPr>
        <p:spPr>
          <a:xfrm>
            <a:off x="548640" y="1773936"/>
            <a:ext cx="1005840" cy="146304"/>
          </a:xfrm>
          <a:prstGeom prst="rect">
            <a:avLst/>
          </a:prstGeom>
          <a:noFill/>
          <a:ln/>
        </p:spPr>
        <p:txBody>
          <a:bodyPr wrap="square" lIns="0" tIns="0" rIns="0" bIns="0" rtlCol="0" anchor="ctr"/>
          <a:lstStyle/>
          <a:p>
            <a:pPr indent="0" marL="0">
              <a:buNone/>
            </a:pPr>
            <a:r>
              <a:rPr lang="en-US" sz="850" dirty="0">
                <a:solidFill>
                  <a:srgbClr val="1D1B18"/>
                </a:solidFill>
                <a:latin typeface="Arial" pitchFamily="34" charset="0"/>
                <a:ea typeface="Arial" pitchFamily="34" charset="-122"/>
                <a:cs typeface="Arial" pitchFamily="34" charset="-120"/>
              </a:rPr>
              <a:t>Random</a:t>
            </a:r>
            <a:endParaRPr lang="en-US" sz="850" dirty="0"/>
          </a:p>
        </p:txBody>
      </p:sp>
      <p:sp>
        <p:nvSpPr>
          <p:cNvPr id="10" name="Shape 8"/>
          <p:cNvSpPr/>
          <p:nvPr/>
        </p:nvSpPr>
        <p:spPr>
          <a:xfrm>
            <a:off x="1600200" y="1783080"/>
            <a:ext cx="959739" cy="128016"/>
          </a:xfrm>
          <a:prstGeom prst="rect">
            <a:avLst/>
          </a:prstGeom>
          <a:solidFill>
            <a:srgbClr val="1D1B18"/>
          </a:solidFill>
          <a:ln w="12700">
            <a:solidFill>
              <a:srgbClr val="1D1B18"/>
            </a:solidFill>
            <a:prstDash val="solid"/>
          </a:ln>
        </p:spPr>
      </p:sp>
      <p:sp>
        <p:nvSpPr>
          <p:cNvPr id="11" name="Shape 9"/>
          <p:cNvSpPr/>
          <p:nvPr/>
        </p:nvSpPr>
        <p:spPr>
          <a:xfrm>
            <a:off x="1600200" y="1783080"/>
            <a:ext cx="859155" cy="128016"/>
          </a:xfrm>
          <a:prstGeom prst="rect">
            <a:avLst/>
          </a:prstGeom>
          <a:solidFill>
            <a:srgbClr val="CDB78F"/>
          </a:solidFill>
          <a:ln w="12700">
            <a:solidFill>
              <a:srgbClr val="CDB78F"/>
            </a:solidFill>
            <a:prstDash val="solid"/>
          </a:ln>
        </p:spPr>
      </p:sp>
      <p:sp>
        <p:nvSpPr>
          <p:cNvPr id="12" name="Text 10"/>
          <p:cNvSpPr txBox="1"/>
          <p:nvPr/>
        </p:nvSpPr>
        <p:spPr>
          <a:xfrm>
            <a:off x="2623947" y="1773936"/>
            <a:ext cx="822960" cy="146304"/>
          </a:xfrm>
          <a:prstGeom prst="rect">
            <a:avLst/>
          </a:prstGeom>
          <a:noFill/>
          <a:ln/>
        </p:spPr>
        <p:txBody>
          <a:bodyPr wrap="square" lIns="0" tIns="0" rIns="0" bIns="0" rtlCol="0" anchor="ctr"/>
          <a:lstStyle/>
          <a:p>
            <a:pPr indent="0" marL="0">
              <a:buNone/>
            </a:pPr>
            <a:r>
              <a:rPr lang="en-US" sz="800" dirty="0">
                <a:solidFill>
                  <a:srgbClr val="1D1B18"/>
                </a:solidFill>
                <a:latin typeface="Arial" pitchFamily="34" charset="0"/>
                <a:ea typeface="Arial" pitchFamily="34" charset="-122"/>
                <a:cs typeface="Arial" pitchFamily="34" charset="-120"/>
              </a:rPr>
              <a:t>34.2 / 38.2</a:t>
            </a:r>
            <a:endParaRPr lang="en-US" sz="800" dirty="0"/>
          </a:p>
        </p:txBody>
      </p:sp>
      <p:sp>
        <p:nvSpPr>
          <p:cNvPr id="13" name="Text 11"/>
          <p:cNvSpPr txBox="1"/>
          <p:nvPr/>
        </p:nvSpPr>
        <p:spPr>
          <a:xfrm>
            <a:off x="548640" y="1965960"/>
            <a:ext cx="1005840" cy="146304"/>
          </a:xfrm>
          <a:prstGeom prst="rect">
            <a:avLst/>
          </a:prstGeom>
          <a:noFill/>
          <a:ln/>
        </p:spPr>
        <p:txBody>
          <a:bodyPr wrap="square" lIns="0" tIns="0" rIns="0" bIns="0" rtlCol="0" anchor="ctr"/>
          <a:lstStyle/>
          <a:p>
            <a:pPr indent="0" marL="0">
              <a:buNone/>
            </a:pPr>
            <a:r>
              <a:rPr lang="en-US" sz="850" dirty="0">
                <a:solidFill>
                  <a:srgbClr val="1D1B18"/>
                </a:solidFill>
                <a:latin typeface="Arial" pitchFamily="34" charset="0"/>
                <a:ea typeface="Arial" pitchFamily="34" charset="-122"/>
                <a:cs typeface="Arial" pitchFamily="34" charset="-120"/>
              </a:rPr>
              <a:t>Biggest capacity</a:t>
            </a:r>
            <a:endParaRPr lang="en-US" sz="850" dirty="0"/>
          </a:p>
        </p:txBody>
      </p:sp>
      <p:sp>
        <p:nvSpPr>
          <p:cNvPr id="14" name="Shape 12"/>
          <p:cNvSpPr/>
          <p:nvPr/>
        </p:nvSpPr>
        <p:spPr>
          <a:xfrm>
            <a:off x="1600200" y="1975104"/>
            <a:ext cx="2135315" cy="128016"/>
          </a:xfrm>
          <a:prstGeom prst="rect">
            <a:avLst/>
          </a:prstGeom>
          <a:solidFill>
            <a:srgbClr val="1D1B18"/>
          </a:solidFill>
          <a:ln w="12700">
            <a:solidFill>
              <a:srgbClr val="1D1B18"/>
            </a:solidFill>
            <a:prstDash val="solid"/>
          </a:ln>
        </p:spPr>
      </p:sp>
      <p:sp>
        <p:nvSpPr>
          <p:cNvPr id="15" name="Shape 13"/>
          <p:cNvSpPr/>
          <p:nvPr/>
        </p:nvSpPr>
        <p:spPr>
          <a:xfrm>
            <a:off x="1600200" y="1975104"/>
            <a:ext cx="2118551" cy="128016"/>
          </a:xfrm>
          <a:prstGeom prst="rect">
            <a:avLst/>
          </a:prstGeom>
          <a:solidFill>
            <a:srgbClr val="CDB78F"/>
          </a:solidFill>
          <a:ln w="12700">
            <a:solidFill>
              <a:srgbClr val="CDB78F"/>
            </a:solidFill>
            <a:prstDash val="solid"/>
          </a:ln>
        </p:spPr>
      </p:sp>
      <p:sp>
        <p:nvSpPr>
          <p:cNvPr id="16" name="Text 14"/>
          <p:cNvSpPr txBox="1"/>
          <p:nvPr/>
        </p:nvSpPr>
        <p:spPr>
          <a:xfrm>
            <a:off x="3799523" y="1965960"/>
            <a:ext cx="822960" cy="146304"/>
          </a:xfrm>
          <a:prstGeom prst="rect">
            <a:avLst/>
          </a:prstGeom>
          <a:noFill/>
          <a:ln/>
        </p:spPr>
        <p:txBody>
          <a:bodyPr wrap="square" lIns="0" tIns="0" rIns="0" bIns="0" rtlCol="0" anchor="ctr"/>
          <a:lstStyle/>
          <a:p>
            <a:pPr indent="0" marL="0">
              <a:buNone/>
            </a:pPr>
            <a:r>
              <a:rPr lang="en-US" sz="800" dirty="0">
                <a:solidFill>
                  <a:srgbClr val="1D1B18"/>
                </a:solidFill>
                <a:latin typeface="Arial" pitchFamily="34" charset="0"/>
                <a:ea typeface="Arial" pitchFamily="34" charset="-122"/>
                <a:cs typeface="Arial" pitchFamily="34" charset="-120"/>
              </a:rPr>
              <a:t>84.3 / 84.9</a:t>
            </a:r>
            <a:endParaRPr lang="en-US" sz="800" dirty="0"/>
          </a:p>
        </p:txBody>
      </p:sp>
      <p:sp>
        <p:nvSpPr>
          <p:cNvPr id="17" name="Text 15"/>
          <p:cNvSpPr txBox="1"/>
          <p:nvPr/>
        </p:nvSpPr>
        <p:spPr>
          <a:xfrm>
            <a:off x="548640" y="2157984"/>
            <a:ext cx="1005840" cy="146304"/>
          </a:xfrm>
          <a:prstGeom prst="rect">
            <a:avLst/>
          </a:prstGeom>
          <a:noFill/>
          <a:ln/>
        </p:spPr>
        <p:txBody>
          <a:bodyPr wrap="square" lIns="0" tIns="0" rIns="0" bIns="0" rtlCol="0" anchor="ctr"/>
          <a:lstStyle/>
          <a:p>
            <a:pPr indent="0" marL="0">
              <a:buNone/>
            </a:pPr>
            <a:r>
              <a:rPr lang="en-US" sz="850" dirty="0">
                <a:solidFill>
                  <a:srgbClr val="1D1B18"/>
                </a:solidFill>
                <a:latin typeface="Arial" pitchFamily="34" charset="0"/>
                <a:ea typeface="Arial" pitchFamily="34" charset="-122"/>
                <a:cs typeface="Arial" pitchFamily="34" charset="-120"/>
              </a:rPr>
              <a:t>Cheapest</a:t>
            </a:r>
            <a:endParaRPr lang="en-US" sz="850" dirty="0"/>
          </a:p>
        </p:txBody>
      </p:sp>
      <p:sp>
        <p:nvSpPr>
          <p:cNvPr id="18" name="Shape 16"/>
          <p:cNvSpPr/>
          <p:nvPr/>
        </p:nvSpPr>
        <p:spPr>
          <a:xfrm>
            <a:off x="1600200" y="2167128"/>
            <a:ext cx="2309241" cy="128016"/>
          </a:xfrm>
          <a:prstGeom prst="rect">
            <a:avLst/>
          </a:prstGeom>
          <a:solidFill>
            <a:srgbClr val="1D1B18"/>
          </a:solidFill>
          <a:ln w="12700">
            <a:solidFill>
              <a:srgbClr val="1D1B18"/>
            </a:solidFill>
            <a:prstDash val="solid"/>
          </a:ln>
        </p:spPr>
      </p:sp>
      <p:sp>
        <p:nvSpPr>
          <p:cNvPr id="19" name="Shape 17"/>
          <p:cNvSpPr/>
          <p:nvPr/>
        </p:nvSpPr>
        <p:spPr>
          <a:xfrm>
            <a:off x="1600200" y="2167128"/>
            <a:ext cx="2309241" cy="128016"/>
          </a:xfrm>
          <a:prstGeom prst="rect">
            <a:avLst/>
          </a:prstGeom>
          <a:solidFill>
            <a:srgbClr val="CDB78F"/>
          </a:solidFill>
          <a:ln w="12700">
            <a:solidFill>
              <a:srgbClr val="CDB78F"/>
            </a:solidFill>
            <a:prstDash val="solid"/>
          </a:ln>
        </p:spPr>
      </p:sp>
      <p:sp>
        <p:nvSpPr>
          <p:cNvPr id="20" name="Text 18"/>
          <p:cNvSpPr txBox="1"/>
          <p:nvPr/>
        </p:nvSpPr>
        <p:spPr>
          <a:xfrm>
            <a:off x="3973449" y="2157984"/>
            <a:ext cx="822960" cy="146304"/>
          </a:xfrm>
          <a:prstGeom prst="rect">
            <a:avLst/>
          </a:prstGeom>
          <a:noFill/>
          <a:ln/>
        </p:spPr>
        <p:txBody>
          <a:bodyPr wrap="square" lIns="0" tIns="0" rIns="0" bIns="0" rtlCol="0" anchor="ctr"/>
          <a:lstStyle/>
          <a:p>
            <a:pPr indent="0" marL="0">
              <a:buNone/>
            </a:pPr>
            <a:r>
              <a:rPr lang="en-US" sz="800" dirty="0">
                <a:solidFill>
                  <a:srgbClr val="1D1B18"/>
                </a:solidFill>
                <a:latin typeface="Arial" pitchFamily="34" charset="0"/>
                <a:ea typeface="Arial" pitchFamily="34" charset="-122"/>
                <a:cs typeface="Arial" pitchFamily="34" charset="-120"/>
              </a:rPr>
              <a:t>91.8 / 91.8</a:t>
            </a:r>
            <a:endParaRPr lang="en-US" sz="800" dirty="0"/>
          </a:p>
        </p:txBody>
      </p:sp>
      <p:sp>
        <p:nvSpPr>
          <p:cNvPr id="21" name="Text 19"/>
          <p:cNvSpPr txBox="1"/>
          <p:nvPr/>
        </p:nvSpPr>
        <p:spPr>
          <a:xfrm>
            <a:off x="548640" y="2350008"/>
            <a:ext cx="1005840" cy="146304"/>
          </a:xfrm>
          <a:prstGeom prst="rect">
            <a:avLst/>
          </a:prstGeom>
          <a:noFill/>
          <a:ln/>
        </p:spPr>
        <p:txBody>
          <a:bodyPr wrap="square" lIns="0" tIns="0" rIns="0" bIns="0" rtlCol="0" anchor="ctr"/>
          <a:lstStyle/>
          <a:p>
            <a:pPr indent="0" marL="0">
              <a:buNone/>
            </a:pPr>
            <a:r>
              <a:rPr lang="en-US" sz="850" dirty="0">
                <a:solidFill>
                  <a:srgbClr val="1D1B18"/>
                </a:solidFill>
                <a:latin typeface="Arial" pitchFamily="34" charset="0"/>
                <a:ea typeface="Arial" pitchFamily="34" charset="-122"/>
                <a:cs typeface="Arial" pitchFamily="34" charset="-120"/>
              </a:rPr>
              <a:t>Earliest finish</a:t>
            </a:r>
            <a:endParaRPr lang="en-US" sz="850" dirty="0"/>
          </a:p>
        </p:txBody>
      </p:sp>
      <p:sp>
        <p:nvSpPr>
          <p:cNvPr id="22" name="Shape 20"/>
          <p:cNvSpPr/>
          <p:nvPr/>
        </p:nvSpPr>
        <p:spPr>
          <a:xfrm>
            <a:off x="1600200" y="2359152"/>
            <a:ext cx="48197" cy="128016"/>
          </a:xfrm>
          <a:prstGeom prst="rect">
            <a:avLst/>
          </a:prstGeom>
          <a:solidFill>
            <a:srgbClr val="1D1B18"/>
          </a:solidFill>
          <a:ln w="12700">
            <a:solidFill>
              <a:srgbClr val="1D1B18"/>
            </a:solidFill>
            <a:prstDash val="solid"/>
          </a:ln>
        </p:spPr>
      </p:sp>
      <p:sp>
        <p:nvSpPr>
          <p:cNvPr id="23" name="Shape 21"/>
          <p:cNvSpPr/>
          <p:nvPr/>
        </p:nvSpPr>
        <p:spPr>
          <a:xfrm>
            <a:off x="1600200" y="2359152"/>
            <a:ext cx="41910" cy="128016"/>
          </a:xfrm>
          <a:prstGeom prst="rect">
            <a:avLst/>
          </a:prstGeom>
          <a:solidFill>
            <a:srgbClr val="CDB78F"/>
          </a:solidFill>
          <a:ln w="12700">
            <a:solidFill>
              <a:srgbClr val="CDB78F"/>
            </a:solidFill>
            <a:prstDash val="solid"/>
          </a:ln>
        </p:spPr>
      </p:sp>
      <p:sp>
        <p:nvSpPr>
          <p:cNvPr id="24" name="Text 22"/>
          <p:cNvSpPr txBox="1"/>
          <p:nvPr/>
        </p:nvSpPr>
        <p:spPr>
          <a:xfrm>
            <a:off x="1712405" y="2350008"/>
            <a:ext cx="822960" cy="146304"/>
          </a:xfrm>
          <a:prstGeom prst="rect">
            <a:avLst/>
          </a:prstGeom>
          <a:noFill/>
          <a:ln/>
        </p:spPr>
        <p:txBody>
          <a:bodyPr wrap="square" lIns="0" tIns="0" rIns="0" bIns="0" rtlCol="0" anchor="ctr"/>
          <a:lstStyle/>
          <a:p>
            <a:pPr indent="0" marL="0">
              <a:buNone/>
            </a:pPr>
            <a:r>
              <a:rPr lang="en-US" sz="800" dirty="0">
                <a:solidFill>
                  <a:srgbClr val="1D1B18"/>
                </a:solidFill>
                <a:latin typeface="Arial" pitchFamily="34" charset="0"/>
                <a:ea typeface="Arial" pitchFamily="34" charset="-122"/>
                <a:cs typeface="Arial" pitchFamily="34" charset="-120"/>
              </a:rPr>
              <a:t>1.7 / 1.9</a:t>
            </a:r>
            <a:endParaRPr lang="en-US" sz="800" dirty="0"/>
          </a:p>
        </p:txBody>
      </p:sp>
      <p:sp>
        <p:nvSpPr>
          <p:cNvPr id="25" name="Text 23"/>
          <p:cNvSpPr txBox="1"/>
          <p:nvPr/>
        </p:nvSpPr>
        <p:spPr>
          <a:xfrm>
            <a:off x="548640" y="2542032"/>
            <a:ext cx="1005840" cy="146304"/>
          </a:xfrm>
          <a:prstGeom prst="rect">
            <a:avLst/>
          </a:prstGeom>
          <a:noFill/>
          <a:ln/>
        </p:spPr>
        <p:txBody>
          <a:bodyPr wrap="square" lIns="0" tIns="0" rIns="0" bIns="0" rtlCol="0" anchor="ctr"/>
          <a:lstStyle/>
          <a:p>
            <a:pPr indent="0" marL="0">
              <a:buNone/>
            </a:pPr>
            <a:r>
              <a:rPr lang="en-US" sz="850" b="1" dirty="0">
                <a:solidFill>
                  <a:srgbClr val="2F5D46"/>
                </a:solidFill>
                <a:latin typeface="Arial" pitchFamily="34" charset="0"/>
                <a:ea typeface="Arial" pitchFamily="34" charset="-122"/>
                <a:cs typeface="Arial" pitchFamily="34" charset="-120"/>
              </a:rPr>
              <a:t>Our desk</a:t>
            </a:r>
            <a:endParaRPr lang="en-US" sz="850" dirty="0"/>
          </a:p>
        </p:txBody>
      </p:sp>
      <p:sp>
        <p:nvSpPr>
          <p:cNvPr id="26" name="Shape 24"/>
          <p:cNvSpPr/>
          <p:nvPr/>
        </p:nvSpPr>
        <p:spPr>
          <a:xfrm>
            <a:off x="1600200" y="2551176"/>
            <a:ext cx="48197" cy="128016"/>
          </a:xfrm>
          <a:prstGeom prst="rect">
            <a:avLst/>
          </a:prstGeom>
          <a:solidFill>
            <a:srgbClr val="1D1B18"/>
          </a:solidFill>
          <a:ln w="12700">
            <a:solidFill>
              <a:srgbClr val="1D1B18"/>
            </a:solidFill>
            <a:prstDash val="solid"/>
          </a:ln>
        </p:spPr>
      </p:sp>
      <p:sp>
        <p:nvSpPr>
          <p:cNvPr id="27" name="Shape 25"/>
          <p:cNvSpPr/>
          <p:nvPr/>
        </p:nvSpPr>
        <p:spPr>
          <a:xfrm>
            <a:off x="1600200" y="2551176"/>
            <a:ext cx="41910" cy="128016"/>
          </a:xfrm>
          <a:prstGeom prst="rect">
            <a:avLst/>
          </a:prstGeom>
          <a:solidFill>
            <a:srgbClr val="CDB78F"/>
          </a:solidFill>
          <a:ln w="12700">
            <a:solidFill>
              <a:srgbClr val="CDB78F"/>
            </a:solidFill>
            <a:prstDash val="solid"/>
          </a:ln>
        </p:spPr>
      </p:sp>
      <p:sp>
        <p:nvSpPr>
          <p:cNvPr id="28" name="Text 26"/>
          <p:cNvSpPr txBox="1"/>
          <p:nvPr/>
        </p:nvSpPr>
        <p:spPr>
          <a:xfrm>
            <a:off x="1712405" y="2542032"/>
            <a:ext cx="822960" cy="146304"/>
          </a:xfrm>
          <a:prstGeom prst="rect">
            <a:avLst/>
          </a:prstGeom>
          <a:noFill/>
          <a:ln/>
        </p:spPr>
        <p:txBody>
          <a:bodyPr wrap="square" lIns="0" tIns="0" rIns="0" bIns="0" rtlCol="0" anchor="ctr"/>
          <a:lstStyle/>
          <a:p>
            <a:pPr indent="0" marL="0">
              <a:buNone/>
            </a:pPr>
            <a:r>
              <a:rPr lang="en-US" sz="800" b="1" dirty="0">
                <a:solidFill>
                  <a:srgbClr val="1D1B18"/>
                </a:solidFill>
                <a:latin typeface="Arial" pitchFamily="34" charset="0"/>
                <a:ea typeface="Arial" pitchFamily="34" charset="-122"/>
                <a:cs typeface="Arial" pitchFamily="34" charset="-120"/>
              </a:rPr>
              <a:t>1.7 / 1.9</a:t>
            </a:r>
            <a:endParaRPr lang="en-US" sz="800" dirty="0"/>
          </a:p>
        </p:txBody>
      </p:sp>
      <p:sp>
        <p:nvSpPr>
          <p:cNvPr id="29" name="Shape 27"/>
          <p:cNvSpPr/>
          <p:nvPr/>
        </p:nvSpPr>
        <p:spPr>
          <a:xfrm>
            <a:off x="5166360" y="1298448"/>
            <a:ext cx="3429000" cy="658368"/>
          </a:xfrm>
          <a:prstGeom prst="rect">
            <a:avLst/>
          </a:prstGeom>
          <a:solidFill>
            <a:srgbClr val="FFFFFF"/>
          </a:solidFill>
          <a:ln w="9525">
            <a:solidFill>
              <a:srgbClr val="E4DDD0"/>
            </a:solidFill>
            <a:prstDash val="solid"/>
          </a:ln>
        </p:spPr>
      </p:sp>
      <p:sp>
        <p:nvSpPr>
          <p:cNvPr id="30" name="Text 28"/>
          <p:cNvSpPr txBox="1"/>
          <p:nvPr/>
        </p:nvSpPr>
        <p:spPr>
          <a:xfrm>
            <a:off x="5321808" y="1371600"/>
            <a:ext cx="3108960" cy="146304"/>
          </a:xfrm>
          <a:prstGeom prst="rect">
            <a:avLst/>
          </a:prstGeom>
          <a:noFill/>
          <a:ln/>
        </p:spPr>
        <p:txBody>
          <a:bodyPr wrap="square" lIns="0" tIns="0" rIns="0" bIns="0" rtlCol="0" anchor="t"/>
          <a:lstStyle/>
          <a:p>
            <a:pPr indent="0" marL="0">
              <a:buNone/>
            </a:pPr>
            <a:r>
              <a:rPr lang="en-US" sz="750" b="1" spc="200" kern="0" dirty="0">
                <a:solidFill>
                  <a:srgbClr val="8A2C35"/>
                </a:solidFill>
                <a:latin typeface="Arial" pitchFamily="34" charset="0"/>
                <a:ea typeface="Arial" pitchFamily="34" charset="-122"/>
                <a:cs typeface="Arial" pitchFamily="34" charset="-120"/>
              </a:rPr>
              <a:t>HONEST FINDING</a:t>
            </a:r>
            <a:endParaRPr lang="en-US" sz="750" dirty="0"/>
          </a:p>
        </p:txBody>
      </p:sp>
      <p:sp>
        <p:nvSpPr>
          <p:cNvPr id="31" name="Text 29"/>
          <p:cNvSpPr txBox="1"/>
          <p:nvPr/>
        </p:nvSpPr>
        <p:spPr>
          <a:xfrm>
            <a:off x="5321808" y="1554480"/>
            <a:ext cx="3154680" cy="365760"/>
          </a:xfrm>
          <a:prstGeom prst="rect">
            <a:avLst/>
          </a:prstGeom>
          <a:noFill/>
          <a:ln/>
        </p:spPr>
        <p:txBody>
          <a:bodyPr wrap="square" lIns="0" tIns="0" rIns="0" bIns="0" rtlCol="0" anchor="t"/>
          <a:lstStyle/>
          <a:p>
            <a:pPr indent="0" marL="0">
              <a:buNone/>
            </a:pPr>
            <a:r>
              <a:rPr lang="en-US" sz="900" dirty="0">
                <a:solidFill>
                  <a:srgbClr val="1D1B18"/>
                </a:solidFill>
                <a:latin typeface="Arial" pitchFamily="34" charset="0"/>
                <a:ea typeface="Arial" pitchFamily="34" charset="-122"/>
                <a:cs typeface="Arial" pitchFamily="34" charset="-120"/>
              </a:rPr>
              <a:t>Earliest finish ties us. Lateness is near its floor: two batches of 2,000 accessories cannot be made in their window.</a:t>
            </a:r>
            <a:endParaRPr lang="en-US" sz="900" dirty="0"/>
          </a:p>
        </p:txBody>
      </p:sp>
      <p:sp>
        <p:nvSpPr>
          <p:cNvPr id="32" name="Shape 30"/>
          <p:cNvSpPr/>
          <p:nvPr/>
        </p:nvSpPr>
        <p:spPr>
          <a:xfrm>
            <a:off x="5166360" y="2029968"/>
            <a:ext cx="3429000" cy="731520"/>
          </a:xfrm>
          <a:prstGeom prst="rect">
            <a:avLst/>
          </a:prstGeom>
          <a:solidFill>
            <a:srgbClr val="FFFFFF"/>
          </a:solidFill>
          <a:ln w="9525">
            <a:solidFill>
              <a:srgbClr val="E4DDD0"/>
            </a:solidFill>
            <a:prstDash val="solid"/>
          </a:ln>
        </p:spPr>
      </p:sp>
      <p:sp>
        <p:nvSpPr>
          <p:cNvPr id="33" name="Text 31"/>
          <p:cNvSpPr txBox="1"/>
          <p:nvPr/>
        </p:nvSpPr>
        <p:spPr>
          <a:xfrm>
            <a:off x="5321808" y="2103120"/>
            <a:ext cx="3108960" cy="146304"/>
          </a:xfrm>
          <a:prstGeom prst="rect">
            <a:avLst/>
          </a:prstGeom>
          <a:noFill/>
          <a:ln/>
        </p:spPr>
        <p:txBody>
          <a:bodyPr wrap="square" lIns="0" tIns="0" rIns="0" bIns="0" rtlCol="0" anchor="t"/>
          <a:lstStyle/>
          <a:p>
            <a:pPr indent="0" marL="0">
              <a:buNone/>
            </a:pPr>
            <a:r>
              <a:rPr lang="en-US" sz="750" b="1" spc="200" kern="0" dirty="0">
                <a:solidFill>
                  <a:srgbClr val="2F5D46"/>
                </a:solidFill>
                <a:latin typeface="Arial" pitchFamily="34" charset="0"/>
                <a:ea typeface="Arial" pitchFamily="34" charset="-122"/>
                <a:cs typeface="Arial" pitchFamily="34" charset="-120"/>
              </a:rPr>
              <a:t>WHAT OUR ALLOCATOR ADDS</a:t>
            </a:r>
            <a:endParaRPr lang="en-US" sz="750" dirty="0"/>
          </a:p>
        </p:txBody>
      </p:sp>
      <p:sp>
        <p:nvSpPr>
          <p:cNvPr id="34" name="Text 32"/>
          <p:cNvSpPr txBox="1"/>
          <p:nvPr/>
        </p:nvSpPr>
        <p:spPr>
          <a:xfrm>
            <a:off x="5321808" y="2286000"/>
            <a:ext cx="3154680" cy="457200"/>
          </a:xfrm>
          <a:prstGeom prst="rect">
            <a:avLst/>
          </a:prstGeom>
          <a:noFill/>
          <a:ln/>
        </p:spPr>
        <p:txBody>
          <a:bodyPr wrap="square" lIns="0" tIns="0" rIns="0" bIns="0" rtlCol="0" anchor="t"/>
          <a:lstStyle/>
          <a:p>
            <a:pPr indent="0" marL="0">
              <a:buNone/>
            </a:pPr>
            <a:r>
              <a:rPr lang="en-US" sz="900" dirty="0">
                <a:solidFill>
                  <a:srgbClr val="1D1B18"/>
                </a:solidFill>
                <a:latin typeface="Arial" pitchFamily="34" charset="0"/>
                <a:ea typeface="Arial" pitchFamily="34" charset="-122"/>
                <a:cs typeface="Arial" pitchFamily="34" charset="-120"/>
              </a:rPr>
              <a:t>The same code, re-weighted: a 10-day buffer cuts cost 7.7%, below random’s, and late days 23%, for about one more late batch per ten runs.</a:t>
            </a:r>
            <a:endParaRPr lang="en-US" sz="900" dirty="0"/>
          </a:p>
        </p:txBody>
      </p:sp>
      <p:pic>
        <p:nvPicPr>
          <p:cNvPr id="35" name="Image 0" descr="Deployment pipeline: on merge, GitHub Actions runs CI, builds an image and pushes it to ECR. On demand, the Deploy workflow sends a script over SSM to EC2, which reads secrets from Parameter Store, pulls the image and starts Caddy in front of Streamlit. GitHub reaches AWS through OIDC. All AWS resources are provisioned with OpenTofu.">    </p:cNvPr>
          <p:cNvPicPr>
            <a:picLocks noChangeAspect="1"/>
          </p:cNvPicPr>
          <p:nvPr/>
        </p:nvPicPr>
        <p:blipFill>
          <a:blip r:embed="rId1"/>
          <a:stretch>
            <a:fillRect/>
          </a:stretch>
        </p:blipFill>
        <p:spPr>
          <a:xfrm>
            <a:off x="899387" y="2834640"/>
            <a:ext cx="7345225" cy="1645920"/>
          </a:xfrm>
          <a:prstGeom prst="rect">
            <a:avLst/>
          </a:prstGeom>
        </p:spPr>
      </p:pic>
      <p:sp>
        <p:nvSpPr>
          <p:cNvPr id="36" name="Text 33"/>
          <p:cNvSpPr txBox="1"/>
          <p:nvPr/>
        </p:nvSpPr>
        <p:spPr>
          <a:xfrm>
            <a:off x="548640" y="4507992"/>
            <a:ext cx="8046720" cy="201168"/>
          </a:xfrm>
          <a:prstGeom prst="rect">
            <a:avLst/>
          </a:prstGeom>
          <a:noFill/>
          <a:ln/>
        </p:spPr>
        <p:txBody>
          <a:bodyPr wrap="square" lIns="0" tIns="0" rIns="0" bIns="0" rtlCol="0" anchor="t"/>
          <a:lstStyle/>
          <a:p>
            <a:pPr indent="0" marL="0">
              <a:buNone/>
            </a:pPr>
            <a:r>
              <a:rPr lang="en-US" sz="750" i="1" dirty="0">
                <a:solidFill>
                  <a:srgbClr val="6B665D"/>
                </a:solidFill>
                <a:latin typeface="Arial" pitchFamily="34" charset="0"/>
                <a:ea typeface="Arial" pitchFamily="34" charset="-122"/>
                <a:cs typeface="Arial" pitchFamily="34" charset="-120"/>
              </a:rPr>
              <a:t>Course simulator, seeds 5105-5114; buffer chosen on seeds 6000-6009 first. Sources: docs/V3_EVALUATION.md, docs/MARGIN_STUDY.md, docs/DEPLOYMENT.md (main).</a:t>
            </a:r>
            <a:endParaRPr lang="en-US" sz="75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8046720" cy="201168"/>
          </a:xfrm>
          <a:prstGeom prst="rect">
            <a:avLst/>
          </a:prstGeom>
          <a:noFill/>
          <a:ln/>
        </p:spPr>
        <p:txBody>
          <a:bodyPr wrap="square" lIns="0" tIns="0" rIns="0" bIns="0" rtlCol="0" anchor="t"/>
          <a:lstStyle/>
          <a:p>
            <a:pPr indent="0" marL="0">
              <a:buNone/>
            </a:pPr>
            <a:r>
              <a:rPr lang="en-US" sz="850" b="1" spc="300" kern="0" dirty="0">
                <a:solidFill>
                  <a:srgbClr val="7D5E30"/>
                </a:solidFill>
                <a:latin typeface="Arial" pitchFamily="34" charset="0"/>
                <a:ea typeface="Arial" pitchFamily="34" charset="-122"/>
                <a:cs typeface="Arial" pitchFamily="34" charset="-120"/>
              </a:rPr>
              <a:t>SPRINT 1 PROGRESS  /  THE DESK TODAY</a:t>
            </a:r>
            <a:endParaRPr lang="en-US" sz="850" dirty="0"/>
          </a:p>
        </p:txBody>
      </p:sp>
      <p:sp>
        <p:nvSpPr>
          <p:cNvPr id="3" name="Text 1"/>
          <p:cNvSpPr txBox="1"/>
          <p:nvPr/>
        </p:nvSpPr>
        <p:spPr>
          <a:xfrm>
            <a:off x="548640" y="566928"/>
            <a:ext cx="8046720" cy="566928"/>
          </a:xfrm>
          <a:prstGeom prst="rect">
            <a:avLst/>
          </a:prstGeom>
          <a:noFill/>
          <a:ln/>
        </p:spPr>
        <p:txBody>
          <a:bodyPr wrap="square" lIns="0" tIns="0" rIns="0" bIns="0" rtlCol="0" anchor="ctr"/>
          <a:lstStyle/>
          <a:p>
            <a:pPr indent="0" marL="0">
              <a:buNone/>
            </a:pPr>
            <a:r>
              <a:rPr lang="en-US" sz="2400" dirty="0">
                <a:solidFill>
                  <a:srgbClr val="1D1B18"/>
                </a:solidFill>
                <a:latin typeface="Georgia" pitchFamily="34" charset="0"/>
                <a:ea typeface="Georgia" pitchFamily="34" charset="-122"/>
                <a:cs typeface="Georgia" pitchFamily="34" charset="-120"/>
              </a:rPr>
              <a:t>Candidates, estimates and the choice, at a glance</a:t>
            </a:r>
            <a:endParaRPr lang="en-US" sz="2400" dirty="0"/>
          </a:p>
        </p:txBody>
      </p:sp>
      <p:sp>
        <p:nvSpPr>
          <p:cNvPr id="4" name="Shape 2"/>
          <p:cNvSpPr/>
          <p:nvPr/>
        </p:nvSpPr>
        <p:spPr>
          <a:xfrm>
            <a:off x="548640" y="1280160"/>
            <a:ext cx="4206240" cy="2916591"/>
          </a:xfrm>
          <a:prstGeom prst="rect">
            <a:avLst/>
          </a:prstGeom>
          <a:solidFill>
            <a:srgbClr val="FFFFFF"/>
          </a:solidFill>
          <a:ln w="9525">
            <a:solidFill>
              <a:srgbClr val="E4DDD0"/>
            </a:solidFill>
            <a:prstDash val="solid"/>
          </a:ln>
          <a:effectLst>
            <a:outerShdw sx="100000" sy="100000" kx="0" ky="0" algn="bl" rotWithShape="0" blurRad="101600" dist="38100" dir="5400000">
              <a:srgbClr val="000000">
                <a:alpha val="12000"/>
              </a:srgbClr>
            </a:outerShdw>
          </a:effectLst>
        </p:spPr>
      </p:sp>
      <p:pic>
        <p:nvPicPr>
          <p:cNvPr id="5" name="Image 0" descr="Dispatch desk showing request R25 and the recommended workshop with the reasons for it">    </p:cNvPr>
          <p:cNvPicPr>
            <a:picLocks noChangeAspect="1"/>
          </p:cNvPicPr>
          <p:nvPr/>
        </p:nvPicPr>
        <p:blipFill>
          <a:blip r:embed="rId1"/>
          <a:stretch>
            <a:fillRect/>
          </a:stretch>
        </p:blipFill>
        <p:spPr>
          <a:xfrm>
            <a:off x="548640" y="1280160"/>
            <a:ext cx="4206240" cy="2916591"/>
          </a:xfrm>
          <a:prstGeom prst="rect">
            <a:avLst/>
          </a:prstGeom>
        </p:spPr>
      </p:pic>
      <p:sp>
        <p:nvSpPr>
          <p:cNvPr id="6" name="Text 3"/>
          <p:cNvSpPr txBox="1"/>
          <p:nvPr/>
        </p:nvSpPr>
        <p:spPr>
          <a:xfrm>
            <a:off x="5074920" y="1243584"/>
            <a:ext cx="365760" cy="365760"/>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1</a:t>
            </a:r>
            <a:endParaRPr lang="en-US" sz="1800" dirty="0"/>
          </a:p>
        </p:txBody>
      </p:sp>
      <p:sp>
        <p:nvSpPr>
          <p:cNvPr id="7" name="Text 4"/>
          <p:cNvSpPr txBox="1"/>
          <p:nvPr/>
        </p:nvSpPr>
        <p:spPr>
          <a:xfrm>
            <a:off x="5422392" y="1280160"/>
            <a:ext cx="3172968" cy="246888"/>
          </a:xfrm>
          <a:prstGeom prst="rect">
            <a:avLst/>
          </a:prstGeom>
          <a:noFill/>
          <a:ln/>
        </p:spPr>
        <p:txBody>
          <a:bodyPr wrap="square" lIns="0" tIns="0" rIns="0" bIns="0" rtlCol="0" anchor="t"/>
          <a:lstStyle/>
          <a:p>
            <a:pPr indent="0" marL="0">
              <a:buNone/>
            </a:pPr>
            <a:r>
              <a:rPr lang="en-US" sz="1300" dirty="0">
                <a:solidFill>
                  <a:srgbClr val="1D1B18"/>
                </a:solidFill>
                <a:latin typeface="Georgia" pitchFamily="34" charset="0"/>
                <a:ea typeface="Georgia" pitchFamily="34" charset="-122"/>
                <a:cs typeface="Georgia" pitchFamily="34" charset="-120"/>
              </a:rPr>
              <a:t>The message stays in view</a:t>
            </a:r>
            <a:endParaRPr lang="en-US" sz="1300" dirty="0"/>
          </a:p>
        </p:txBody>
      </p:sp>
      <p:sp>
        <p:nvSpPr>
          <p:cNvPr id="8" name="Text 5"/>
          <p:cNvSpPr txBox="1"/>
          <p:nvPr/>
        </p:nvSpPr>
        <p:spPr>
          <a:xfrm>
            <a:off x="5422392" y="1536192"/>
            <a:ext cx="3172968" cy="420624"/>
          </a:xfrm>
          <a:prstGeom prst="rect">
            <a:avLst/>
          </a:prstGeom>
          <a:noFill/>
          <a:ln/>
        </p:spPr>
        <p:txBody>
          <a:bodyPr wrap="square" lIns="0" tIns="0" rIns="0" bIns="0" rtlCol="0" anchor="t"/>
          <a:lstStyle/>
          <a:p>
            <a:pPr indent="0" marL="0">
              <a:buNone/>
            </a:pPr>
            <a:r>
              <a:rPr lang="en-US" sz="950" dirty="0">
                <a:solidFill>
                  <a:srgbClr val="4A463F"/>
                </a:solidFill>
                <a:latin typeface="Arial" pitchFamily="34" charset="0"/>
                <a:ea typeface="Arial" pitchFamily="34" charset="-122"/>
                <a:cs typeface="Arial" pitchFamily="34" charset="-120"/>
              </a:rPr>
              <a:t>Request R25: "keep it away from BudgetWorks". The exclusion is applied and recorded against Mei, who asked.</a:t>
            </a:r>
            <a:endParaRPr lang="en-US" sz="950" dirty="0"/>
          </a:p>
        </p:txBody>
      </p:sp>
      <p:sp>
        <p:nvSpPr>
          <p:cNvPr id="9" name="Text 6"/>
          <p:cNvSpPr txBox="1"/>
          <p:nvPr/>
        </p:nvSpPr>
        <p:spPr>
          <a:xfrm>
            <a:off x="5074920" y="1956816"/>
            <a:ext cx="365760" cy="365760"/>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2</a:t>
            </a:r>
            <a:endParaRPr lang="en-US" sz="1800" dirty="0"/>
          </a:p>
        </p:txBody>
      </p:sp>
      <p:sp>
        <p:nvSpPr>
          <p:cNvPr id="10" name="Text 7"/>
          <p:cNvSpPr txBox="1"/>
          <p:nvPr/>
        </p:nvSpPr>
        <p:spPr>
          <a:xfrm>
            <a:off x="5422392" y="1993392"/>
            <a:ext cx="3172968" cy="246888"/>
          </a:xfrm>
          <a:prstGeom prst="rect">
            <a:avLst/>
          </a:prstGeom>
          <a:noFill/>
          <a:ln/>
        </p:spPr>
        <p:txBody>
          <a:bodyPr wrap="square" lIns="0" tIns="0" rIns="0" bIns="0" rtlCol="0" anchor="t"/>
          <a:lstStyle/>
          <a:p>
            <a:pPr indent="0" marL="0">
              <a:buNone/>
            </a:pPr>
            <a:r>
              <a:rPr lang="en-US" sz="1300" dirty="0">
                <a:solidFill>
                  <a:srgbClr val="1D1B18"/>
                </a:solidFill>
                <a:latin typeface="Georgia" pitchFamily="34" charset="0"/>
                <a:ea typeface="Georgia" pitchFamily="34" charset="-122"/>
                <a:cs typeface="Georgia" pitchFamily="34" charset="-120"/>
              </a:rPr>
              <a:t>It says why, in Python’s words</a:t>
            </a:r>
            <a:endParaRPr lang="en-US" sz="1300" dirty="0"/>
          </a:p>
        </p:txBody>
      </p:sp>
      <p:sp>
        <p:nvSpPr>
          <p:cNvPr id="11" name="Text 8"/>
          <p:cNvSpPr txBox="1"/>
          <p:nvPr/>
        </p:nvSpPr>
        <p:spPr>
          <a:xfrm>
            <a:off x="5422392" y="2249424"/>
            <a:ext cx="3172968" cy="420624"/>
          </a:xfrm>
          <a:prstGeom prst="rect">
            <a:avLst/>
          </a:prstGeom>
          <a:noFill/>
          <a:ln/>
        </p:spPr>
        <p:txBody>
          <a:bodyPr wrap="square" lIns="0" tIns="0" rIns="0" bIns="0" rtlCol="0" anchor="t"/>
          <a:lstStyle/>
          <a:p>
            <a:pPr indent="0" marL="0">
              <a:buNone/>
            </a:pPr>
            <a:r>
              <a:rPr lang="en-US" sz="950" dirty="0">
                <a:solidFill>
                  <a:srgbClr val="4A463F"/>
                </a:solidFill>
                <a:latin typeface="Arial" pitchFamily="34" charset="0"/>
                <a:ea typeface="Arial" pitchFamily="34" charset="-122"/>
                <a:cs typeface="Arial" pitchFamily="34" charset="-120"/>
              </a:rPr>
              <a:t>Earliest of the permitted workshops, days to spare, and how the next option compares. No model writes these lines.</a:t>
            </a:r>
            <a:endParaRPr lang="en-US" sz="950" dirty="0"/>
          </a:p>
        </p:txBody>
      </p:sp>
      <p:sp>
        <p:nvSpPr>
          <p:cNvPr id="12" name="Text 9"/>
          <p:cNvSpPr txBox="1"/>
          <p:nvPr/>
        </p:nvSpPr>
        <p:spPr>
          <a:xfrm>
            <a:off x="5074920" y="2670048"/>
            <a:ext cx="365760" cy="365760"/>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3</a:t>
            </a:r>
            <a:endParaRPr lang="en-US" sz="1800" dirty="0"/>
          </a:p>
        </p:txBody>
      </p:sp>
      <p:sp>
        <p:nvSpPr>
          <p:cNvPr id="13" name="Text 10"/>
          <p:cNvSpPr txBox="1"/>
          <p:nvPr/>
        </p:nvSpPr>
        <p:spPr>
          <a:xfrm>
            <a:off x="5422392" y="2706624"/>
            <a:ext cx="3172968" cy="246888"/>
          </a:xfrm>
          <a:prstGeom prst="rect">
            <a:avLst/>
          </a:prstGeom>
          <a:noFill/>
          <a:ln/>
        </p:spPr>
        <p:txBody>
          <a:bodyPr wrap="square" lIns="0" tIns="0" rIns="0" bIns="0" rtlCol="0" anchor="t"/>
          <a:lstStyle/>
          <a:p>
            <a:pPr indent="0" marL="0">
              <a:buNone/>
            </a:pPr>
            <a:r>
              <a:rPr lang="en-US" sz="1300" dirty="0">
                <a:solidFill>
                  <a:srgbClr val="1D1B18"/>
                </a:solidFill>
                <a:latin typeface="Georgia" pitchFamily="34" charset="0"/>
                <a:ea typeface="Georgia" pitchFamily="34" charset="-122"/>
                <a:cs typeface="Georgia" pitchFamily="34" charset="-120"/>
              </a:rPr>
              <a:t>Where the days go</a:t>
            </a:r>
            <a:endParaRPr lang="en-US" sz="1300" dirty="0"/>
          </a:p>
        </p:txBody>
      </p:sp>
      <p:sp>
        <p:nvSpPr>
          <p:cNvPr id="14" name="Text 11"/>
          <p:cNvSpPr txBox="1"/>
          <p:nvPr/>
        </p:nvSpPr>
        <p:spPr>
          <a:xfrm>
            <a:off x="5422392" y="2962656"/>
            <a:ext cx="3172968" cy="420624"/>
          </a:xfrm>
          <a:prstGeom prst="rect">
            <a:avLst/>
          </a:prstGeom>
          <a:noFill/>
          <a:ln/>
        </p:spPr>
        <p:txBody>
          <a:bodyPr wrap="square" lIns="0" tIns="0" rIns="0" bIns="0" rtlCol="0" anchor="t"/>
          <a:lstStyle/>
          <a:p>
            <a:pPr indent="0" marL="0">
              <a:buNone/>
            </a:pPr>
            <a:r>
              <a:rPr lang="en-US" sz="950" dirty="0">
                <a:solidFill>
                  <a:srgbClr val="4A463F"/>
                </a:solidFill>
                <a:latin typeface="Arial" pitchFamily="34" charset="0"/>
                <a:ea typeface="Arial" pitchFamily="34" charset="-122"/>
                <a:cs typeface="Arial" pitchFamily="34" charset="-120"/>
              </a:rPr>
              <a:t>A chart splits each option into queue, processing, transport and rework, so a busy “fast” workshop shows up.</a:t>
            </a:r>
            <a:endParaRPr lang="en-US" sz="950" dirty="0"/>
          </a:p>
        </p:txBody>
      </p:sp>
      <p:sp>
        <p:nvSpPr>
          <p:cNvPr id="15" name="Text 12"/>
          <p:cNvSpPr txBox="1"/>
          <p:nvPr/>
        </p:nvSpPr>
        <p:spPr>
          <a:xfrm>
            <a:off x="5074920" y="3383280"/>
            <a:ext cx="365760" cy="365760"/>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4</a:t>
            </a:r>
            <a:endParaRPr lang="en-US" sz="1800" dirty="0"/>
          </a:p>
        </p:txBody>
      </p:sp>
      <p:sp>
        <p:nvSpPr>
          <p:cNvPr id="16" name="Text 13"/>
          <p:cNvSpPr txBox="1"/>
          <p:nvPr/>
        </p:nvSpPr>
        <p:spPr>
          <a:xfrm>
            <a:off x="5422392" y="3419856"/>
            <a:ext cx="3172968" cy="246888"/>
          </a:xfrm>
          <a:prstGeom prst="rect">
            <a:avLst/>
          </a:prstGeom>
          <a:noFill/>
          <a:ln/>
        </p:spPr>
        <p:txBody>
          <a:bodyPr wrap="square" lIns="0" tIns="0" rIns="0" bIns="0" rtlCol="0" anchor="t"/>
          <a:lstStyle/>
          <a:p>
            <a:pPr indent="0" marL="0">
              <a:buNone/>
            </a:pPr>
            <a:r>
              <a:rPr lang="en-US" sz="1300" dirty="0">
                <a:solidFill>
                  <a:srgbClr val="1D1B18"/>
                </a:solidFill>
                <a:latin typeface="Georgia" pitchFamily="34" charset="0"/>
                <a:ea typeface="Georgia" pitchFamily="34" charset="-122"/>
                <a:cs typeface="Georgia" pitchFamily="34" charset="-120"/>
              </a:rPr>
              <a:t>Review before anything is saved</a:t>
            </a:r>
            <a:endParaRPr lang="en-US" sz="1300" dirty="0"/>
          </a:p>
        </p:txBody>
      </p:sp>
      <p:sp>
        <p:nvSpPr>
          <p:cNvPr id="17" name="Text 14"/>
          <p:cNvSpPr txBox="1"/>
          <p:nvPr/>
        </p:nvSpPr>
        <p:spPr>
          <a:xfrm>
            <a:off x="5422392" y="3675888"/>
            <a:ext cx="3172968" cy="420624"/>
          </a:xfrm>
          <a:prstGeom prst="rect">
            <a:avLst/>
          </a:prstGeom>
          <a:noFill/>
          <a:ln/>
        </p:spPr>
        <p:txBody>
          <a:bodyPr wrap="square" lIns="0" tIns="0" rIns="0" bIns="0" rtlCol="0" anchor="t"/>
          <a:lstStyle/>
          <a:p>
            <a:pPr indent="0" marL="0">
              <a:buNone/>
            </a:pPr>
            <a:r>
              <a:rPr lang="en-US" sz="950" dirty="0">
                <a:solidFill>
                  <a:srgbClr val="4A463F"/>
                </a:solidFill>
                <a:latin typeface="Arial" pitchFamily="34" charset="0"/>
                <a:ea typeface="Arial" pitchFamily="34" charset="-122"/>
                <a:cs typeface="Arial" pitchFamily="34" charset="-120"/>
              </a:rPr>
              <a:t>Confirming rechecks the queues first, then writes one audit record.</a:t>
            </a:r>
            <a:endParaRPr lang="en-US" sz="950" dirty="0"/>
          </a:p>
        </p:txBody>
      </p:sp>
      <p:sp>
        <p:nvSpPr>
          <p:cNvPr id="18" name="Text 15"/>
          <p:cNvSpPr txBox="1"/>
          <p:nvPr/>
        </p:nvSpPr>
        <p:spPr>
          <a:xfrm>
            <a:off x="548640" y="4389120"/>
            <a:ext cx="1280160" cy="182880"/>
          </a:xfrm>
          <a:prstGeom prst="rect">
            <a:avLst/>
          </a:prstGeom>
          <a:noFill/>
          <a:ln/>
        </p:spPr>
        <p:txBody>
          <a:bodyPr wrap="square" lIns="0" tIns="0" rIns="0" bIns="0" rtlCol="0" anchor="t"/>
          <a:lstStyle/>
          <a:p>
            <a:pPr indent="0" marL="0">
              <a:buNone/>
            </a:pPr>
            <a:r>
              <a:rPr lang="en-US" sz="800" b="1" spc="200" kern="0" dirty="0">
                <a:solidFill>
                  <a:srgbClr val="6B665D"/>
                </a:solidFill>
                <a:latin typeface="Arial" pitchFamily="34" charset="0"/>
                <a:ea typeface="Arial" pitchFamily="34" charset="-122"/>
                <a:cs typeface="Arial" pitchFamily="34" charset="-120"/>
              </a:rPr>
              <a:t>ALSO WORKING</a:t>
            </a:r>
            <a:endParaRPr lang="en-US" sz="800" dirty="0"/>
          </a:p>
        </p:txBody>
      </p:sp>
      <p:sp>
        <p:nvSpPr>
          <p:cNvPr id="19" name="Text 16"/>
          <p:cNvSpPr txBox="1"/>
          <p:nvPr/>
        </p:nvSpPr>
        <p:spPr>
          <a:xfrm>
            <a:off x="1874520" y="4389120"/>
            <a:ext cx="6720840" cy="182880"/>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All 30 inbox requests reach the right outcome from hand-checked inputs  /  live chat that asks when unsure  /  stale-safe saved plan  /  300 offline tests</a:t>
            </a:r>
            <a:endParaRPr lang="en-US" sz="75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8046720" cy="201168"/>
          </a:xfrm>
          <a:prstGeom prst="rect">
            <a:avLst/>
          </a:prstGeom>
          <a:noFill/>
          <a:ln/>
        </p:spPr>
        <p:txBody>
          <a:bodyPr wrap="square" lIns="0" tIns="0" rIns="0" bIns="0" rtlCol="0" anchor="t"/>
          <a:lstStyle/>
          <a:p>
            <a:pPr indent="0" marL="0">
              <a:buNone/>
            </a:pPr>
            <a:r>
              <a:rPr lang="en-US" sz="850" b="1" spc="300" kern="0" dirty="0">
                <a:solidFill>
                  <a:srgbClr val="7D5E30"/>
                </a:solidFill>
                <a:latin typeface="Arial" pitchFamily="34" charset="0"/>
                <a:ea typeface="Arial" pitchFamily="34" charset="-122"/>
                <a:cs typeface="Arial" pitchFamily="34" charset="-120"/>
              </a:rPr>
              <a:t>RISKS AND KEY ASSUMPTIONS</a:t>
            </a:r>
            <a:endParaRPr lang="en-US" sz="850" dirty="0"/>
          </a:p>
        </p:txBody>
      </p:sp>
      <p:sp>
        <p:nvSpPr>
          <p:cNvPr id="3" name="Text 1"/>
          <p:cNvSpPr txBox="1"/>
          <p:nvPr/>
        </p:nvSpPr>
        <p:spPr>
          <a:xfrm>
            <a:off x="548640" y="566928"/>
            <a:ext cx="8046720" cy="566928"/>
          </a:xfrm>
          <a:prstGeom prst="rect">
            <a:avLst/>
          </a:prstGeom>
          <a:noFill/>
          <a:ln/>
        </p:spPr>
        <p:txBody>
          <a:bodyPr wrap="square" lIns="0" tIns="0" rIns="0" bIns="0" rtlCol="0" anchor="ctr"/>
          <a:lstStyle/>
          <a:p>
            <a:pPr indent="0" marL="0">
              <a:buNone/>
            </a:pPr>
            <a:r>
              <a:rPr lang="en-US" sz="2400" dirty="0">
                <a:solidFill>
                  <a:srgbClr val="1D1B18"/>
                </a:solidFill>
                <a:latin typeface="Georgia" pitchFamily="34" charset="0"/>
                <a:ea typeface="Georgia" pitchFamily="34" charset="-122"/>
                <a:cs typeface="Georgia" pitchFamily="34" charset="-120"/>
              </a:rPr>
              <a:t>What could go wrong, and what we assume</a:t>
            </a:r>
            <a:endParaRPr lang="en-US" sz="2400" dirty="0"/>
          </a:p>
        </p:txBody>
      </p:sp>
      <p:sp>
        <p:nvSpPr>
          <p:cNvPr id="4" name="Text 2"/>
          <p:cNvSpPr txBox="1"/>
          <p:nvPr/>
        </p:nvSpPr>
        <p:spPr>
          <a:xfrm>
            <a:off x="548640" y="1298448"/>
            <a:ext cx="1691640" cy="182880"/>
          </a:xfrm>
          <a:prstGeom prst="rect">
            <a:avLst/>
          </a:prstGeom>
          <a:noFill/>
          <a:ln/>
        </p:spPr>
        <p:txBody>
          <a:bodyPr wrap="square" lIns="0" tIns="0" rIns="0" bIns="0" rtlCol="0" anchor="t"/>
          <a:lstStyle/>
          <a:p>
            <a:pPr indent="0" marL="0">
              <a:buNone/>
            </a:pPr>
            <a:r>
              <a:rPr lang="en-US" sz="700" b="1" spc="150" kern="0" dirty="0">
                <a:solidFill>
                  <a:srgbClr val="6B665D"/>
                </a:solidFill>
                <a:latin typeface="Arial" pitchFamily="34" charset="0"/>
                <a:ea typeface="Arial" pitchFamily="34" charset="-122"/>
                <a:cs typeface="Arial" pitchFamily="34" charset="-120"/>
              </a:rPr>
              <a:t>RISK</a:t>
            </a:r>
            <a:endParaRPr lang="en-US" sz="700" dirty="0"/>
          </a:p>
        </p:txBody>
      </p:sp>
      <p:sp>
        <p:nvSpPr>
          <p:cNvPr id="5" name="Text 3"/>
          <p:cNvSpPr txBox="1"/>
          <p:nvPr/>
        </p:nvSpPr>
        <p:spPr>
          <a:xfrm>
            <a:off x="2286000" y="1298448"/>
            <a:ext cx="1188720" cy="182880"/>
          </a:xfrm>
          <a:prstGeom prst="rect">
            <a:avLst/>
          </a:prstGeom>
          <a:noFill/>
          <a:ln/>
        </p:spPr>
        <p:txBody>
          <a:bodyPr wrap="square" lIns="0" tIns="0" rIns="0" bIns="0" rtlCol="0" anchor="t"/>
          <a:lstStyle/>
          <a:p>
            <a:pPr indent="0" marL="0">
              <a:buNone/>
            </a:pPr>
            <a:r>
              <a:rPr lang="en-US" sz="700" b="1" spc="150" kern="0" dirty="0">
                <a:solidFill>
                  <a:srgbClr val="6B665D"/>
                </a:solidFill>
                <a:latin typeface="Arial" pitchFamily="34" charset="0"/>
                <a:ea typeface="Arial" pitchFamily="34" charset="-122"/>
                <a:cs typeface="Arial" pitchFamily="34" charset="-120"/>
              </a:rPr>
              <a:t>CHANCE / IMPACT</a:t>
            </a:r>
            <a:endParaRPr lang="en-US" sz="700" dirty="0"/>
          </a:p>
        </p:txBody>
      </p:sp>
      <p:sp>
        <p:nvSpPr>
          <p:cNvPr id="6" name="Text 4"/>
          <p:cNvSpPr txBox="1"/>
          <p:nvPr/>
        </p:nvSpPr>
        <p:spPr>
          <a:xfrm>
            <a:off x="3566160" y="1298448"/>
            <a:ext cx="2240280" cy="182880"/>
          </a:xfrm>
          <a:prstGeom prst="rect">
            <a:avLst/>
          </a:prstGeom>
          <a:noFill/>
          <a:ln/>
        </p:spPr>
        <p:txBody>
          <a:bodyPr wrap="square" lIns="0" tIns="0" rIns="0" bIns="0" rtlCol="0" anchor="t"/>
          <a:lstStyle/>
          <a:p>
            <a:pPr indent="0" marL="0">
              <a:buNone/>
            </a:pPr>
            <a:r>
              <a:rPr lang="en-US" sz="700" b="1" spc="150" kern="0" dirty="0">
                <a:solidFill>
                  <a:srgbClr val="6B665D"/>
                </a:solidFill>
                <a:latin typeface="Arial" pitchFamily="34" charset="0"/>
                <a:ea typeface="Arial" pitchFamily="34" charset="-122"/>
                <a:cs typeface="Arial" pitchFamily="34" charset="-120"/>
              </a:rPr>
              <a:t>WHAT WE DO ABOUT IT</a:t>
            </a:r>
            <a:endParaRPr lang="en-US" sz="700" dirty="0"/>
          </a:p>
        </p:txBody>
      </p:sp>
      <p:sp>
        <p:nvSpPr>
          <p:cNvPr id="7" name="Shape 5"/>
          <p:cNvSpPr/>
          <p:nvPr/>
        </p:nvSpPr>
        <p:spPr>
          <a:xfrm>
            <a:off x="548640" y="1517904"/>
            <a:ext cx="5257800" cy="0"/>
          </a:xfrm>
          <a:prstGeom prst="line">
            <a:avLst/>
          </a:prstGeom>
          <a:noFill/>
          <a:ln w="12700">
            <a:solidFill>
              <a:srgbClr val="1D1B18"/>
            </a:solidFill>
            <a:prstDash val="solid"/>
          </a:ln>
        </p:spPr>
      </p:sp>
      <p:sp>
        <p:nvSpPr>
          <p:cNvPr id="8" name="Text 6"/>
          <p:cNvSpPr txBox="1"/>
          <p:nvPr/>
        </p:nvSpPr>
        <p:spPr>
          <a:xfrm>
            <a:off x="548640" y="1591056"/>
            <a:ext cx="1572768" cy="457200"/>
          </a:xfrm>
          <a:prstGeom prst="rect">
            <a:avLst/>
          </a:prstGeom>
          <a:noFill/>
          <a:ln/>
        </p:spPr>
        <p:txBody>
          <a:bodyPr wrap="square" lIns="0" tIns="0" rIns="0" bIns="0" rtlCol="0" anchor="t"/>
          <a:lstStyle/>
          <a:p>
            <a:pPr indent="0" marL="0">
              <a:buNone/>
            </a:pPr>
            <a:r>
              <a:rPr lang="en-US" sz="1100" dirty="0">
                <a:solidFill>
                  <a:srgbClr val="1D1B18"/>
                </a:solidFill>
                <a:latin typeface="Georgia" pitchFamily="34" charset="0"/>
                <a:ea typeface="Georgia" pitchFamily="34" charset="-122"/>
                <a:cs typeface="Georgia" pitchFamily="34" charset="-120"/>
              </a:rPr>
              <a:t>The model misreads a request</a:t>
            </a:r>
            <a:endParaRPr lang="en-US" sz="1100" dirty="0"/>
          </a:p>
        </p:txBody>
      </p:sp>
      <p:sp>
        <p:nvSpPr>
          <p:cNvPr id="9" name="Text 7"/>
          <p:cNvSpPr txBox="1"/>
          <p:nvPr/>
        </p:nvSpPr>
        <p:spPr>
          <a:xfrm>
            <a:off x="2286000" y="1609344"/>
            <a:ext cx="1188720" cy="274320"/>
          </a:xfrm>
          <a:prstGeom prst="rect">
            <a:avLst/>
          </a:prstGeom>
          <a:noFill/>
          <a:ln/>
        </p:spPr>
        <p:txBody>
          <a:bodyPr wrap="square" lIns="0" tIns="0" rIns="0" bIns="0" rtlCol="0" anchor="t"/>
          <a:lstStyle/>
          <a:p>
            <a:pPr indent="0" marL="0">
              <a:buNone/>
            </a:pPr>
            <a:r>
              <a:rPr lang="en-US" sz="850" b="1" dirty="0">
                <a:solidFill>
                  <a:srgbClr val="8A2C35"/>
                </a:solidFill>
                <a:latin typeface="Arial" pitchFamily="34" charset="0"/>
                <a:ea typeface="Arial" pitchFamily="34" charset="-122"/>
                <a:cs typeface="Arial" pitchFamily="34" charset="-120"/>
              </a:rPr>
              <a:t>High</a:t>
            </a:r>
            <a:r>
              <a:rPr lang="en-US" sz="850" dirty="0">
                <a:solidFill>
                  <a:srgbClr val="6B665D"/>
                </a:solidFill>
                <a:latin typeface="Arial" pitchFamily="34" charset="0"/>
                <a:ea typeface="Arial" pitchFamily="34" charset="-122"/>
                <a:cs typeface="Arial" pitchFamily="34" charset="-120"/>
              </a:rPr>
              <a:t> / </a:t>
            </a:r>
            <a:r>
              <a:rPr lang="en-US" sz="850" b="1" dirty="0">
                <a:solidFill>
                  <a:srgbClr val="8A2C35"/>
                </a:solidFill>
                <a:latin typeface="Arial" pitchFamily="34" charset="0"/>
                <a:ea typeface="Arial" pitchFamily="34" charset="-122"/>
                <a:cs typeface="Arial" pitchFamily="34" charset="-120"/>
              </a:rPr>
              <a:t>High</a:t>
            </a:r>
            <a:endParaRPr lang="en-US" sz="850" dirty="0"/>
          </a:p>
        </p:txBody>
      </p:sp>
      <p:sp>
        <p:nvSpPr>
          <p:cNvPr id="10" name="Text 8"/>
          <p:cNvSpPr txBox="1"/>
          <p:nvPr/>
        </p:nvSpPr>
        <p:spPr>
          <a:xfrm>
            <a:off x="3566160" y="1600200"/>
            <a:ext cx="2240280" cy="502920"/>
          </a:xfrm>
          <a:prstGeom prst="rect">
            <a:avLst/>
          </a:prstGeom>
          <a:noFill/>
          <a:ln/>
        </p:spPr>
        <p:txBody>
          <a:bodyPr wrap="square" lIns="0" tIns="0" rIns="0" bIns="0" rtlCol="0" anchor="t"/>
          <a:lstStyle/>
          <a:p>
            <a:pPr indent="0" marL="0">
              <a:buNone/>
            </a:pPr>
            <a:r>
              <a:rPr lang="en-US" sz="850" dirty="0">
                <a:solidFill>
                  <a:srgbClr val="4A463F"/>
                </a:solidFill>
                <a:latin typeface="Arial" pitchFamily="34" charset="0"/>
                <a:ea typeface="Arial" pitchFamily="34" charset="-122"/>
                <a:cs typeface="Arial" pitchFamily="34" charset="-120"/>
              </a:rPr>
              <a:t>Every field must quote the message; Python checks it and asks when unsure. First live run: one needless question blocked a refusal.</a:t>
            </a:r>
            <a:endParaRPr lang="en-US" sz="850" dirty="0"/>
          </a:p>
        </p:txBody>
      </p:sp>
      <p:sp>
        <p:nvSpPr>
          <p:cNvPr id="11" name="Shape 9"/>
          <p:cNvSpPr/>
          <p:nvPr/>
        </p:nvSpPr>
        <p:spPr>
          <a:xfrm>
            <a:off x="548640" y="2121408"/>
            <a:ext cx="5257800" cy="0"/>
          </a:xfrm>
          <a:prstGeom prst="line">
            <a:avLst/>
          </a:prstGeom>
          <a:noFill/>
          <a:ln w="9525">
            <a:solidFill>
              <a:srgbClr val="E4DDD0"/>
            </a:solidFill>
            <a:prstDash val="solid"/>
          </a:ln>
        </p:spPr>
      </p:sp>
      <p:sp>
        <p:nvSpPr>
          <p:cNvPr id="12" name="Text 10"/>
          <p:cNvSpPr txBox="1"/>
          <p:nvPr/>
        </p:nvSpPr>
        <p:spPr>
          <a:xfrm>
            <a:off x="548640" y="2176272"/>
            <a:ext cx="1572768" cy="457200"/>
          </a:xfrm>
          <a:prstGeom prst="rect">
            <a:avLst/>
          </a:prstGeom>
          <a:noFill/>
          <a:ln/>
        </p:spPr>
        <p:txBody>
          <a:bodyPr wrap="square" lIns="0" tIns="0" rIns="0" bIns="0" rtlCol="0" anchor="t"/>
          <a:lstStyle/>
          <a:p>
            <a:pPr indent="0" marL="0">
              <a:buNone/>
            </a:pPr>
            <a:r>
              <a:rPr lang="en-US" sz="1100" dirty="0">
                <a:solidFill>
                  <a:srgbClr val="1D1B18"/>
                </a:solidFill>
                <a:latin typeface="Georgia" pitchFamily="34" charset="0"/>
                <a:ea typeface="Georgia" pitchFamily="34" charset="-122"/>
                <a:cs typeface="Georgia" pitchFamily="34" charset="-120"/>
              </a:rPr>
              <a:t>A message tries to bend the rules</a:t>
            </a:r>
            <a:endParaRPr lang="en-US" sz="1100" dirty="0"/>
          </a:p>
        </p:txBody>
      </p:sp>
      <p:sp>
        <p:nvSpPr>
          <p:cNvPr id="13" name="Text 11"/>
          <p:cNvSpPr txBox="1"/>
          <p:nvPr/>
        </p:nvSpPr>
        <p:spPr>
          <a:xfrm>
            <a:off x="2286000" y="2194560"/>
            <a:ext cx="1188720" cy="274320"/>
          </a:xfrm>
          <a:prstGeom prst="rect">
            <a:avLst/>
          </a:prstGeom>
          <a:noFill/>
          <a:ln/>
        </p:spPr>
        <p:txBody>
          <a:bodyPr wrap="square" lIns="0" tIns="0" rIns="0" bIns="0" rtlCol="0" anchor="t"/>
          <a:lstStyle/>
          <a:p>
            <a:pPr indent="0" marL="0">
              <a:buNone/>
            </a:pPr>
            <a:r>
              <a:rPr lang="en-US" sz="850" b="1" dirty="0">
                <a:solidFill>
                  <a:srgbClr val="7D5E30"/>
                </a:solidFill>
                <a:latin typeface="Arial" pitchFamily="34" charset="0"/>
                <a:ea typeface="Arial" pitchFamily="34" charset="-122"/>
                <a:cs typeface="Arial" pitchFamily="34" charset="-120"/>
              </a:rPr>
              <a:t>Medium</a:t>
            </a:r>
            <a:r>
              <a:rPr lang="en-US" sz="850" dirty="0">
                <a:solidFill>
                  <a:srgbClr val="6B665D"/>
                </a:solidFill>
                <a:latin typeface="Arial" pitchFamily="34" charset="0"/>
                <a:ea typeface="Arial" pitchFamily="34" charset="-122"/>
                <a:cs typeface="Arial" pitchFamily="34" charset="-120"/>
              </a:rPr>
              <a:t> / </a:t>
            </a:r>
            <a:r>
              <a:rPr lang="en-US" sz="850" b="1" dirty="0">
                <a:solidFill>
                  <a:srgbClr val="8A2C35"/>
                </a:solidFill>
                <a:latin typeface="Arial" pitchFamily="34" charset="0"/>
                <a:ea typeface="Arial" pitchFamily="34" charset="-122"/>
                <a:cs typeface="Arial" pitchFamily="34" charset="-120"/>
              </a:rPr>
              <a:t>High</a:t>
            </a:r>
            <a:endParaRPr lang="en-US" sz="850" dirty="0"/>
          </a:p>
        </p:txBody>
      </p:sp>
      <p:sp>
        <p:nvSpPr>
          <p:cNvPr id="14" name="Text 12"/>
          <p:cNvSpPr txBox="1"/>
          <p:nvPr/>
        </p:nvSpPr>
        <p:spPr>
          <a:xfrm>
            <a:off x="3566160" y="2185416"/>
            <a:ext cx="2240280" cy="502920"/>
          </a:xfrm>
          <a:prstGeom prst="rect">
            <a:avLst/>
          </a:prstGeom>
          <a:noFill/>
          <a:ln/>
        </p:spPr>
        <p:txBody>
          <a:bodyPr wrap="square" lIns="0" tIns="0" rIns="0" bIns="0" rtlCol="0" anchor="t"/>
          <a:lstStyle/>
          <a:p>
            <a:pPr indent="0" marL="0">
              <a:buNone/>
            </a:pPr>
            <a:r>
              <a:rPr lang="en-US" sz="850" dirty="0">
                <a:solidFill>
                  <a:srgbClr val="4A463F"/>
                </a:solidFill>
                <a:latin typeface="Arial" pitchFamily="34" charset="0"/>
                <a:ea typeface="Arial" pitchFamily="34" charset="-122"/>
                <a:cs typeface="Arial" pitchFamily="34" charset="-120"/>
              </a:rPr>
              <a:t>Eligibility is a Python check the model cannot switch off. A suspended workshop is refused; exclusions cannot be relaxed mid-chat.</a:t>
            </a:r>
            <a:endParaRPr lang="en-US" sz="850" dirty="0"/>
          </a:p>
        </p:txBody>
      </p:sp>
      <p:sp>
        <p:nvSpPr>
          <p:cNvPr id="15" name="Shape 13"/>
          <p:cNvSpPr/>
          <p:nvPr/>
        </p:nvSpPr>
        <p:spPr>
          <a:xfrm>
            <a:off x="548640" y="2706624"/>
            <a:ext cx="5257800" cy="0"/>
          </a:xfrm>
          <a:prstGeom prst="line">
            <a:avLst/>
          </a:prstGeom>
          <a:noFill/>
          <a:ln w="9525">
            <a:solidFill>
              <a:srgbClr val="E4DDD0"/>
            </a:solidFill>
            <a:prstDash val="solid"/>
          </a:ln>
        </p:spPr>
      </p:sp>
      <p:sp>
        <p:nvSpPr>
          <p:cNvPr id="16" name="Text 14"/>
          <p:cNvSpPr txBox="1"/>
          <p:nvPr/>
        </p:nvSpPr>
        <p:spPr>
          <a:xfrm>
            <a:off x="548640" y="2761488"/>
            <a:ext cx="1572768" cy="457200"/>
          </a:xfrm>
          <a:prstGeom prst="rect">
            <a:avLst/>
          </a:prstGeom>
          <a:noFill/>
          <a:ln/>
        </p:spPr>
        <p:txBody>
          <a:bodyPr wrap="square" lIns="0" tIns="0" rIns="0" bIns="0" rtlCol="0" anchor="t"/>
          <a:lstStyle/>
          <a:p>
            <a:pPr indent="0" marL="0">
              <a:buNone/>
            </a:pPr>
            <a:r>
              <a:rPr lang="en-US" sz="1100" dirty="0">
                <a:solidFill>
                  <a:srgbClr val="1D1B18"/>
                </a:solidFill>
                <a:latin typeface="Georgia" pitchFamily="34" charset="0"/>
                <a:ea typeface="Georgia" pitchFamily="34" charset="-122"/>
                <a:cs typeface="Georgia" pitchFamily="34" charset="-120"/>
              </a:rPr>
              <a:t>A number no tool produced</a:t>
            </a:r>
            <a:endParaRPr lang="en-US" sz="1100" dirty="0"/>
          </a:p>
        </p:txBody>
      </p:sp>
      <p:sp>
        <p:nvSpPr>
          <p:cNvPr id="17" name="Text 15"/>
          <p:cNvSpPr txBox="1"/>
          <p:nvPr/>
        </p:nvSpPr>
        <p:spPr>
          <a:xfrm>
            <a:off x="2286000" y="2779776"/>
            <a:ext cx="1188720" cy="274320"/>
          </a:xfrm>
          <a:prstGeom prst="rect">
            <a:avLst/>
          </a:prstGeom>
          <a:noFill/>
          <a:ln/>
        </p:spPr>
        <p:txBody>
          <a:bodyPr wrap="square" lIns="0" tIns="0" rIns="0" bIns="0" rtlCol="0" anchor="t"/>
          <a:lstStyle/>
          <a:p>
            <a:pPr indent="0" marL="0">
              <a:buNone/>
            </a:pPr>
            <a:r>
              <a:rPr lang="en-US" sz="850" b="1" dirty="0">
                <a:solidFill>
                  <a:srgbClr val="7D5E30"/>
                </a:solidFill>
                <a:latin typeface="Arial" pitchFamily="34" charset="0"/>
                <a:ea typeface="Arial" pitchFamily="34" charset="-122"/>
                <a:cs typeface="Arial" pitchFamily="34" charset="-120"/>
              </a:rPr>
              <a:t>Medium</a:t>
            </a:r>
            <a:r>
              <a:rPr lang="en-US" sz="850" dirty="0">
                <a:solidFill>
                  <a:srgbClr val="6B665D"/>
                </a:solidFill>
                <a:latin typeface="Arial" pitchFamily="34" charset="0"/>
                <a:ea typeface="Arial" pitchFamily="34" charset="-122"/>
                <a:cs typeface="Arial" pitchFamily="34" charset="-120"/>
              </a:rPr>
              <a:t> / </a:t>
            </a:r>
            <a:r>
              <a:rPr lang="en-US" sz="850" b="1" dirty="0">
                <a:solidFill>
                  <a:srgbClr val="8A2C35"/>
                </a:solidFill>
                <a:latin typeface="Arial" pitchFamily="34" charset="0"/>
                <a:ea typeface="Arial" pitchFamily="34" charset="-122"/>
                <a:cs typeface="Arial" pitchFamily="34" charset="-120"/>
              </a:rPr>
              <a:t>High</a:t>
            </a:r>
            <a:endParaRPr lang="en-US" sz="850" dirty="0"/>
          </a:p>
        </p:txBody>
      </p:sp>
      <p:sp>
        <p:nvSpPr>
          <p:cNvPr id="18" name="Text 16"/>
          <p:cNvSpPr txBox="1"/>
          <p:nvPr/>
        </p:nvSpPr>
        <p:spPr>
          <a:xfrm>
            <a:off x="3566160" y="2770632"/>
            <a:ext cx="2240280" cy="502920"/>
          </a:xfrm>
          <a:prstGeom prst="rect">
            <a:avLst/>
          </a:prstGeom>
          <a:noFill/>
          <a:ln/>
        </p:spPr>
        <p:txBody>
          <a:bodyPr wrap="square" lIns="0" tIns="0" rIns="0" bIns="0" rtlCol="0" anchor="t"/>
          <a:lstStyle/>
          <a:p>
            <a:pPr indent="0" marL="0">
              <a:buNone/>
            </a:pPr>
            <a:r>
              <a:rPr lang="en-US" sz="850" dirty="0">
                <a:solidFill>
                  <a:srgbClr val="4A463F"/>
                </a:solidFill>
                <a:latin typeface="Arial" pitchFamily="34" charset="0"/>
                <a:ea typeface="Arial" pitchFamily="34" charset="-122"/>
                <a:cs typeface="Arial" pitchFamily="34" charset="-120"/>
              </a:rPr>
              <a:t>Tools format every number, and an automatic check compares each figure on screen with tool output.</a:t>
            </a:r>
            <a:endParaRPr lang="en-US" sz="850" dirty="0"/>
          </a:p>
        </p:txBody>
      </p:sp>
      <p:sp>
        <p:nvSpPr>
          <p:cNvPr id="19" name="Shape 17"/>
          <p:cNvSpPr/>
          <p:nvPr/>
        </p:nvSpPr>
        <p:spPr>
          <a:xfrm>
            <a:off x="548640" y="3291840"/>
            <a:ext cx="5257800" cy="0"/>
          </a:xfrm>
          <a:prstGeom prst="line">
            <a:avLst/>
          </a:prstGeom>
          <a:noFill/>
          <a:ln w="9525">
            <a:solidFill>
              <a:srgbClr val="E4DDD0"/>
            </a:solidFill>
            <a:prstDash val="solid"/>
          </a:ln>
        </p:spPr>
      </p:sp>
      <p:sp>
        <p:nvSpPr>
          <p:cNvPr id="20" name="Text 18"/>
          <p:cNvSpPr txBox="1"/>
          <p:nvPr/>
        </p:nvSpPr>
        <p:spPr>
          <a:xfrm>
            <a:off x="548640" y="3346704"/>
            <a:ext cx="1572768" cy="457200"/>
          </a:xfrm>
          <a:prstGeom prst="rect">
            <a:avLst/>
          </a:prstGeom>
          <a:noFill/>
          <a:ln/>
        </p:spPr>
        <p:txBody>
          <a:bodyPr wrap="square" lIns="0" tIns="0" rIns="0" bIns="0" rtlCol="0" anchor="t"/>
          <a:lstStyle/>
          <a:p>
            <a:pPr indent="0" marL="0">
              <a:buNone/>
            </a:pPr>
            <a:r>
              <a:rPr lang="en-US" sz="1100" dirty="0">
                <a:solidFill>
                  <a:srgbClr val="1D1B18"/>
                </a:solidFill>
                <a:latin typeface="Georgia" pitchFamily="34" charset="0"/>
                <a:ea typeface="Georgia" pitchFamily="34" charset="-122"/>
                <a:cs typeface="Georgia" pitchFamily="34" charset="-120"/>
              </a:rPr>
              <a:t>Tuning to the 120 supplied orders</a:t>
            </a:r>
            <a:endParaRPr lang="en-US" sz="1100" dirty="0"/>
          </a:p>
        </p:txBody>
      </p:sp>
      <p:sp>
        <p:nvSpPr>
          <p:cNvPr id="21" name="Text 19"/>
          <p:cNvSpPr txBox="1"/>
          <p:nvPr/>
        </p:nvSpPr>
        <p:spPr>
          <a:xfrm>
            <a:off x="2286000" y="3364992"/>
            <a:ext cx="1188720" cy="274320"/>
          </a:xfrm>
          <a:prstGeom prst="rect">
            <a:avLst/>
          </a:prstGeom>
          <a:noFill/>
          <a:ln/>
        </p:spPr>
        <p:txBody>
          <a:bodyPr wrap="square" lIns="0" tIns="0" rIns="0" bIns="0" rtlCol="0" anchor="t"/>
          <a:lstStyle/>
          <a:p>
            <a:pPr indent="0" marL="0">
              <a:buNone/>
            </a:pPr>
            <a:r>
              <a:rPr lang="en-US" sz="850" b="1" dirty="0">
                <a:solidFill>
                  <a:srgbClr val="7D5E30"/>
                </a:solidFill>
                <a:latin typeface="Arial" pitchFamily="34" charset="0"/>
                <a:ea typeface="Arial" pitchFamily="34" charset="-122"/>
                <a:cs typeface="Arial" pitchFamily="34" charset="-120"/>
              </a:rPr>
              <a:t>Medium</a:t>
            </a:r>
            <a:r>
              <a:rPr lang="en-US" sz="850" dirty="0">
                <a:solidFill>
                  <a:srgbClr val="6B665D"/>
                </a:solidFill>
                <a:latin typeface="Arial" pitchFamily="34" charset="0"/>
                <a:ea typeface="Arial" pitchFamily="34" charset="-122"/>
                <a:cs typeface="Arial" pitchFamily="34" charset="-120"/>
              </a:rPr>
              <a:t> / </a:t>
            </a:r>
            <a:r>
              <a:rPr lang="en-US" sz="850" b="1" dirty="0">
                <a:solidFill>
                  <a:srgbClr val="7D5E30"/>
                </a:solidFill>
                <a:latin typeface="Arial" pitchFamily="34" charset="0"/>
                <a:ea typeface="Arial" pitchFamily="34" charset="-122"/>
                <a:cs typeface="Arial" pitchFamily="34" charset="-120"/>
              </a:rPr>
              <a:t>Medium</a:t>
            </a:r>
            <a:endParaRPr lang="en-US" sz="850" dirty="0"/>
          </a:p>
        </p:txBody>
      </p:sp>
      <p:sp>
        <p:nvSpPr>
          <p:cNvPr id="22" name="Text 20"/>
          <p:cNvSpPr txBox="1"/>
          <p:nvPr/>
        </p:nvSpPr>
        <p:spPr>
          <a:xfrm>
            <a:off x="3566160" y="3355848"/>
            <a:ext cx="2240280" cy="502920"/>
          </a:xfrm>
          <a:prstGeom prst="rect">
            <a:avLst/>
          </a:prstGeom>
          <a:noFill/>
          <a:ln/>
        </p:spPr>
        <p:txBody>
          <a:bodyPr wrap="square" lIns="0" tIns="0" rIns="0" bIns="0" rtlCol="0" anchor="t"/>
          <a:lstStyle/>
          <a:p>
            <a:pPr indent="0" marL="0">
              <a:buNone/>
            </a:pPr>
            <a:r>
              <a:rPr lang="en-US" sz="850" dirty="0">
                <a:solidFill>
                  <a:srgbClr val="4A463F"/>
                </a:solidFill>
                <a:latin typeface="Arial" pitchFamily="34" charset="0"/>
                <a:ea typeface="Arial" pitchFamily="34" charset="-122"/>
                <a:cs typeface="Arial" pitchFamily="34" charset="-120"/>
              </a:rPr>
              <a:t>Choose settings on separate development seeds, then run the course seeds once.</a:t>
            </a:r>
            <a:endParaRPr lang="en-US" sz="850" dirty="0"/>
          </a:p>
        </p:txBody>
      </p:sp>
      <p:sp>
        <p:nvSpPr>
          <p:cNvPr id="23" name="Shape 21"/>
          <p:cNvSpPr/>
          <p:nvPr/>
        </p:nvSpPr>
        <p:spPr>
          <a:xfrm>
            <a:off x="548640" y="3877056"/>
            <a:ext cx="5257800" cy="0"/>
          </a:xfrm>
          <a:prstGeom prst="line">
            <a:avLst/>
          </a:prstGeom>
          <a:noFill/>
          <a:ln w="9525">
            <a:solidFill>
              <a:srgbClr val="E4DDD0"/>
            </a:solidFill>
            <a:prstDash val="solid"/>
          </a:ln>
        </p:spPr>
      </p:sp>
      <p:sp>
        <p:nvSpPr>
          <p:cNvPr id="24" name="Text 22"/>
          <p:cNvSpPr txBox="1"/>
          <p:nvPr/>
        </p:nvSpPr>
        <p:spPr>
          <a:xfrm>
            <a:off x="548640" y="3931920"/>
            <a:ext cx="1572768" cy="457200"/>
          </a:xfrm>
          <a:prstGeom prst="rect">
            <a:avLst/>
          </a:prstGeom>
          <a:noFill/>
          <a:ln/>
        </p:spPr>
        <p:txBody>
          <a:bodyPr wrap="square" lIns="0" tIns="0" rIns="0" bIns="0" rtlCol="0" anchor="t"/>
          <a:lstStyle/>
          <a:p>
            <a:pPr indent="0" marL="0">
              <a:buNone/>
            </a:pPr>
            <a:r>
              <a:rPr lang="en-US" sz="1100" dirty="0">
                <a:solidFill>
                  <a:srgbClr val="1D1B18"/>
                </a:solidFill>
                <a:latin typeface="Georgia" pitchFamily="34" charset="0"/>
                <a:ea typeface="Georgia" pitchFamily="34" charset="-122"/>
                <a:cs typeface="Georgia" pitchFamily="34" charset="-120"/>
              </a:rPr>
              <a:t>The simulator is simpler than a factory</a:t>
            </a:r>
            <a:endParaRPr lang="en-US" sz="1100" dirty="0"/>
          </a:p>
        </p:txBody>
      </p:sp>
      <p:sp>
        <p:nvSpPr>
          <p:cNvPr id="25" name="Text 23"/>
          <p:cNvSpPr txBox="1"/>
          <p:nvPr/>
        </p:nvSpPr>
        <p:spPr>
          <a:xfrm>
            <a:off x="2286000" y="3950208"/>
            <a:ext cx="1188720" cy="274320"/>
          </a:xfrm>
          <a:prstGeom prst="rect">
            <a:avLst/>
          </a:prstGeom>
          <a:noFill/>
          <a:ln/>
        </p:spPr>
        <p:txBody>
          <a:bodyPr wrap="square" lIns="0" tIns="0" rIns="0" bIns="0" rtlCol="0" anchor="t"/>
          <a:lstStyle/>
          <a:p>
            <a:pPr indent="0" marL="0">
              <a:buNone/>
            </a:pPr>
            <a:r>
              <a:rPr lang="en-US" sz="850" b="1" dirty="0">
                <a:solidFill>
                  <a:srgbClr val="1D1B18"/>
                </a:solidFill>
                <a:latin typeface="Arial" pitchFamily="34" charset="0"/>
                <a:ea typeface="Arial" pitchFamily="34" charset="-122"/>
                <a:cs typeface="Arial" pitchFamily="34" charset="-120"/>
              </a:rPr>
              <a:t>Certain</a:t>
            </a:r>
            <a:r>
              <a:rPr lang="en-US" sz="850" dirty="0">
                <a:solidFill>
                  <a:srgbClr val="6B665D"/>
                </a:solidFill>
                <a:latin typeface="Arial" pitchFamily="34" charset="0"/>
                <a:ea typeface="Arial" pitchFamily="34" charset="-122"/>
                <a:cs typeface="Arial" pitchFamily="34" charset="-120"/>
              </a:rPr>
              <a:t> / </a:t>
            </a:r>
            <a:r>
              <a:rPr lang="en-US" sz="850" b="1" dirty="0">
                <a:solidFill>
                  <a:srgbClr val="7D5E30"/>
                </a:solidFill>
                <a:latin typeface="Arial" pitchFamily="34" charset="0"/>
                <a:ea typeface="Arial" pitchFamily="34" charset="-122"/>
                <a:cs typeface="Arial" pitchFamily="34" charset="-120"/>
              </a:rPr>
              <a:t>Medium</a:t>
            </a:r>
            <a:endParaRPr lang="en-US" sz="850" dirty="0"/>
          </a:p>
        </p:txBody>
      </p:sp>
      <p:sp>
        <p:nvSpPr>
          <p:cNvPr id="26" name="Text 24"/>
          <p:cNvSpPr txBox="1"/>
          <p:nvPr/>
        </p:nvSpPr>
        <p:spPr>
          <a:xfrm>
            <a:off x="3566160" y="3941064"/>
            <a:ext cx="2240280" cy="502920"/>
          </a:xfrm>
          <a:prstGeom prst="rect">
            <a:avLst/>
          </a:prstGeom>
          <a:noFill/>
          <a:ln/>
        </p:spPr>
        <p:txBody>
          <a:bodyPr wrap="square" lIns="0" tIns="0" rIns="0" bIns="0" rtlCol="0" anchor="t"/>
          <a:lstStyle/>
          <a:p>
            <a:pPr indent="0" marL="0">
              <a:buNone/>
            </a:pPr>
            <a:r>
              <a:rPr lang="en-US" sz="850" dirty="0">
                <a:solidFill>
                  <a:srgbClr val="4A463F"/>
                </a:solidFill>
                <a:latin typeface="Arial" pitchFamily="34" charset="0"/>
                <a:ea typeface="Arial" pitchFamily="34" charset="-122"/>
                <a:cs typeface="Arial" pitchFamily="34" charset="-120"/>
              </a:rPr>
              <a:t>Say so, keep its default run as the yardstick, and test the desk with dispatchers.</a:t>
            </a:r>
            <a:endParaRPr lang="en-US" sz="850" dirty="0"/>
          </a:p>
        </p:txBody>
      </p:sp>
      <p:sp>
        <p:nvSpPr>
          <p:cNvPr id="27" name="Text 25"/>
          <p:cNvSpPr txBox="1"/>
          <p:nvPr/>
        </p:nvSpPr>
        <p:spPr>
          <a:xfrm>
            <a:off x="6172200" y="1298448"/>
            <a:ext cx="2423160" cy="182880"/>
          </a:xfrm>
          <a:prstGeom prst="rect">
            <a:avLst/>
          </a:prstGeom>
          <a:noFill/>
          <a:ln/>
        </p:spPr>
        <p:txBody>
          <a:bodyPr wrap="square" lIns="0" tIns="0" rIns="0" bIns="0" rtlCol="0" anchor="t"/>
          <a:lstStyle/>
          <a:p>
            <a:pPr indent="0" marL="0">
              <a:buNone/>
            </a:pPr>
            <a:r>
              <a:rPr lang="en-US" sz="800" b="1" spc="200" kern="0" dirty="0">
                <a:solidFill>
                  <a:srgbClr val="7D5E30"/>
                </a:solidFill>
                <a:latin typeface="Arial" pitchFamily="34" charset="0"/>
                <a:ea typeface="Arial" pitchFamily="34" charset="-122"/>
                <a:cs typeface="Arial" pitchFamily="34" charset="-120"/>
              </a:rPr>
              <a:t>KEY ASSUMPTIONS</a:t>
            </a:r>
            <a:endParaRPr lang="en-US" sz="800" dirty="0"/>
          </a:p>
        </p:txBody>
      </p:sp>
      <p:sp>
        <p:nvSpPr>
          <p:cNvPr id="28" name="Shape 26"/>
          <p:cNvSpPr/>
          <p:nvPr/>
        </p:nvSpPr>
        <p:spPr>
          <a:xfrm>
            <a:off x="6172200" y="1572768"/>
            <a:ext cx="2423160" cy="603504"/>
          </a:xfrm>
          <a:prstGeom prst="rect">
            <a:avLst/>
          </a:prstGeom>
          <a:solidFill>
            <a:srgbClr val="F3EFE7"/>
          </a:solidFill>
          <a:ln w="9525">
            <a:solidFill>
              <a:srgbClr val="F3EFE7"/>
            </a:solidFill>
            <a:prstDash val="solid"/>
          </a:ln>
        </p:spPr>
      </p:sp>
      <p:sp>
        <p:nvSpPr>
          <p:cNvPr id="29" name="Text 27"/>
          <p:cNvSpPr txBox="1"/>
          <p:nvPr/>
        </p:nvSpPr>
        <p:spPr>
          <a:xfrm>
            <a:off x="6309360" y="1645920"/>
            <a:ext cx="2194560" cy="475488"/>
          </a:xfrm>
          <a:prstGeom prst="rect">
            <a:avLst/>
          </a:prstGeom>
          <a:noFill/>
          <a:ln/>
        </p:spPr>
        <p:txBody>
          <a:bodyPr wrap="square" lIns="0" tIns="0" rIns="0" bIns="0" rtlCol="0" anchor="ctr"/>
          <a:lstStyle/>
          <a:p>
            <a:pPr indent="0" marL="0">
              <a:buNone/>
            </a:pPr>
            <a:r>
              <a:rPr lang="en-US" sz="900" dirty="0">
                <a:solidFill>
                  <a:srgbClr val="1D1B18"/>
                </a:solidFill>
                <a:latin typeface="Arial" pitchFamily="34" charset="0"/>
                <a:ea typeface="Arial" pitchFamily="34" charset="-122"/>
                <a:cs typeface="Arial" pitchFamily="34" charset="-120"/>
              </a:rPr>
              <a:t>Each inbox request is judged on the 1 April queues, on its own.</a:t>
            </a:r>
            <a:endParaRPr lang="en-US" sz="900" dirty="0"/>
          </a:p>
        </p:txBody>
      </p:sp>
      <p:sp>
        <p:nvSpPr>
          <p:cNvPr id="30" name="Shape 28"/>
          <p:cNvSpPr/>
          <p:nvPr/>
        </p:nvSpPr>
        <p:spPr>
          <a:xfrm>
            <a:off x="6172200" y="2276856"/>
            <a:ext cx="2423160" cy="603504"/>
          </a:xfrm>
          <a:prstGeom prst="rect">
            <a:avLst/>
          </a:prstGeom>
          <a:solidFill>
            <a:srgbClr val="F3EFE7"/>
          </a:solidFill>
          <a:ln w="9525">
            <a:solidFill>
              <a:srgbClr val="F3EFE7"/>
            </a:solidFill>
            <a:prstDash val="solid"/>
          </a:ln>
        </p:spPr>
      </p:sp>
      <p:sp>
        <p:nvSpPr>
          <p:cNvPr id="31" name="Text 29"/>
          <p:cNvSpPr txBox="1"/>
          <p:nvPr/>
        </p:nvSpPr>
        <p:spPr>
          <a:xfrm>
            <a:off x="6309360" y="2350008"/>
            <a:ext cx="2194560" cy="475488"/>
          </a:xfrm>
          <a:prstGeom prst="rect">
            <a:avLst/>
          </a:prstGeom>
          <a:noFill/>
          <a:ln/>
        </p:spPr>
        <p:txBody>
          <a:bodyPr wrap="square" lIns="0" tIns="0" rIns="0" bIns="0" rtlCol="0" anchor="ctr"/>
          <a:lstStyle/>
          <a:p>
            <a:pPr indent="0" marL="0">
              <a:buNone/>
            </a:pPr>
            <a:r>
              <a:rPr lang="en-US" sz="900" dirty="0">
                <a:solidFill>
                  <a:srgbClr val="1D1B18"/>
                </a:solidFill>
                <a:latin typeface="Arial" pitchFamily="34" charset="0"/>
                <a:ea typeface="Arial" pitchFamily="34" charset="-122"/>
                <a:cs typeface="Arial" pitchFamily="34" charset="-120"/>
              </a:rPr>
              <a:t>A defect means half the batch is redone, as in the simulator.</a:t>
            </a:r>
            <a:endParaRPr lang="en-US" sz="900" dirty="0"/>
          </a:p>
        </p:txBody>
      </p:sp>
      <p:sp>
        <p:nvSpPr>
          <p:cNvPr id="32" name="Shape 30"/>
          <p:cNvSpPr/>
          <p:nvPr/>
        </p:nvSpPr>
        <p:spPr>
          <a:xfrm>
            <a:off x="6172200" y="2980944"/>
            <a:ext cx="2423160" cy="603504"/>
          </a:xfrm>
          <a:prstGeom prst="rect">
            <a:avLst/>
          </a:prstGeom>
          <a:solidFill>
            <a:srgbClr val="F3EFE7"/>
          </a:solidFill>
          <a:ln w="9525">
            <a:solidFill>
              <a:srgbClr val="F3EFE7"/>
            </a:solidFill>
            <a:prstDash val="solid"/>
          </a:ln>
        </p:spPr>
      </p:sp>
      <p:sp>
        <p:nvSpPr>
          <p:cNvPr id="33" name="Text 31"/>
          <p:cNvSpPr txBox="1"/>
          <p:nvPr/>
        </p:nvSpPr>
        <p:spPr>
          <a:xfrm>
            <a:off x="6309360" y="3054096"/>
            <a:ext cx="2194560" cy="475488"/>
          </a:xfrm>
          <a:prstGeom prst="rect">
            <a:avLst/>
          </a:prstGeom>
          <a:noFill/>
          <a:ln/>
        </p:spPr>
        <p:txBody>
          <a:bodyPr wrap="square" lIns="0" tIns="0" rIns="0" bIns="0" rtlCol="0" anchor="ctr"/>
          <a:lstStyle/>
          <a:p>
            <a:pPr indent="0" marL="0">
              <a:buNone/>
            </a:pPr>
            <a:r>
              <a:rPr lang="en-US" sz="900" dirty="0">
                <a:solidFill>
                  <a:srgbClr val="1D1B18"/>
                </a:solidFill>
                <a:latin typeface="Arial" pitchFamily="34" charset="0"/>
                <a:ea typeface="Arial" pitchFamily="34" charset="-122"/>
                <a:cs typeface="Arial" pitchFamily="34" charset="-120"/>
              </a:rPr>
              <a:t>Workshop prices are our subcontract cost, not the customer’s price, so price questions are declined.</a:t>
            </a:r>
            <a:endParaRPr lang="en-US" sz="900" dirty="0"/>
          </a:p>
        </p:txBody>
      </p:sp>
      <p:sp>
        <p:nvSpPr>
          <p:cNvPr id="34" name="Shape 32"/>
          <p:cNvSpPr/>
          <p:nvPr/>
        </p:nvSpPr>
        <p:spPr>
          <a:xfrm>
            <a:off x="6172200" y="3685032"/>
            <a:ext cx="2423160" cy="603504"/>
          </a:xfrm>
          <a:prstGeom prst="rect">
            <a:avLst/>
          </a:prstGeom>
          <a:solidFill>
            <a:srgbClr val="F3EFE7"/>
          </a:solidFill>
          <a:ln w="9525">
            <a:solidFill>
              <a:srgbClr val="F3EFE7"/>
            </a:solidFill>
            <a:prstDash val="solid"/>
          </a:ln>
        </p:spPr>
      </p:sp>
      <p:sp>
        <p:nvSpPr>
          <p:cNvPr id="35" name="Text 33"/>
          <p:cNvSpPr txBox="1"/>
          <p:nvPr/>
        </p:nvSpPr>
        <p:spPr>
          <a:xfrm>
            <a:off x="6309360" y="3758184"/>
            <a:ext cx="2194560" cy="475488"/>
          </a:xfrm>
          <a:prstGeom prst="rect">
            <a:avLst/>
          </a:prstGeom>
          <a:noFill/>
          <a:ln/>
        </p:spPr>
        <p:txBody>
          <a:bodyPr wrap="square" lIns="0" tIns="0" rIns="0" bIns="0" rtlCol="0" anchor="ctr"/>
          <a:lstStyle/>
          <a:p>
            <a:pPr indent="0" marL="0">
              <a:buNone/>
            </a:pPr>
            <a:r>
              <a:rPr lang="en-US" sz="900" dirty="0">
                <a:solidFill>
                  <a:srgbClr val="1D1B18"/>
                </a:solidFill>
                <a:latin typeface="Arial" pitchFamily="34" charset="0"/>
                <a:ea typeface="Arial" pitchFamily="34" charset="-122"/>
                <a:cs typeface="Arial" pitchFamily="34" charset="-120"/>
              </a:rPr>
              <a:t>A person confirms every allocation. No workshop is contacted automatically.</a:t>
            </a:r>
            <a:endParaRPr lang="en-US" sz="9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8046720" cy="201168"/>
          </a:xfrm>
          <a:prstGeom prst="rect">
            <a:avLst/>
          </a:prstGeom>
          <a:noFill/>
          <a:ln/>
        </p:spPr>
        <p:txBody>
          <a:bodyPr wrap="square" lIns="0" tIns="0" rIns="0" bIns="0" rtlCol="0" anchor="t"/>
          <a:lstStyle/>
          <a:p>
            <a:pPr indent="0" marL="0">
              <a:buNone/>
            </a:pPr>
            <a:r>
              <a:rPr lang="en-US" sz="850" b="1" spc="300" kern="0" dirty="0">
                <a:solidFill>
                  <a:srgbClr val="7D5E30"/>
                </a:solidFill>
                <a:latin typeface="Arial" pitchFamily="34" charset="0"/>
                <a:ea typeface="Arial" pitchFamily="34" charset="-122"/>
                <a:cs typeface="Arial" pitchFamily="34" charset="-120"/>
              </a:rPr>
              <a:t>SPRINT 2 ROADMAP  /  DUE 30 OCTOBER</a:t>
            </a:r>
            <a:endParaRPr lang="en-US" sz="850" dirty="0"/>
          </a:p>
        </p:txBody>
      </p:sp>
      <p:sp>
        <p:nvSpPr>
          <p:cNvPr id="3" name="Text 1"/>
          <p:cNvSpPr txBox="1"/>
          <p:nvPr/>
        </p:nvSpPr>
        <p:spPr>
          <a:xfrm>
            <a:off x="548640" y="566928"/>
            <a:ext cx="8046720" cy="566928"/>
          </a:xfrm>
          <a:prstGeom prst="rect">
            <a:avLst/>
          </a:prstGeom>
          <a:noFill/>
          <a:ln/>
        </p:spPr>
        <p:txBody>
          <a:bodyPr wrap="square" lIns="0" tIns="0" rIns="0" bIns="0" rtlCol="0" anchor="ctr"/>
          <a:lstStyle/>
          <a:p>
            <a:pPr indent="0" marL="0">
              <a:buNone/>
            </a:pPr>
            <a:r>
              <a:rPr lang="en-US" sz="2400" dirty="0">
                <a:solidFill>
                  <a:srgbClr val="1D1B18"/>
                </a:solidFill>
                <a:latin typeface="Georgia" pitchFamily="34" charset="0"/>
                <a:ea typeface="Georgia" pitchFamily="34" charset="-122"/>
                <a:cs typeface="Georgia" pitchFamily="34" charset="-120"/>
              </a:rPr>
              <a:t>From working tools to an AI-native desk</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8046720" cy="914400"/>
        </p:xfrm>
        <a:graphic>
          <a:graphicData uri="http://schemas.openxmlformats.org/drawingml/2006/table">
            <a:tbl>
              <a:tblPr/>
              <a:tblGrid>
                <a:gridCol w="320040"/>
                <a:gridCol w="2743200"/>
                <a:gridCol w="4983480"/>
              </a:tblGrid>
              <a:tr h="256032">
                <a:tc>
                  <a:txBody>
                    <a:bodyPr/>
                    <a:lstStyle/>
                    <a:p>
                      <a:pPr indent="0" marL="0">
                        <a:buNone/>
                      </a:pP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WORK</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SUCCESS CRITERION</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r>
              <a:tr h="329184">
                <a:tc>
                  <a:txBody>
                    <a:bodyPr/>
                    <a:lstStyle/>
                    <a:p>
                      <a:pPr indent="0" marL="0">
                        <a:buNone/>
                      </a:pPr>
                      <a:r>
                        <a:rPr lang="en-US" sz="1300" dirty="0">
                          <a:solidFill>
                            <a:srgbClr val="A3804C"/>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Evaluation set first</a:t>
                      </a:r>
                      <a:endParaRPr lang="en-US" sz="11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4A463F"/>
                          </a:solidFill>
                          <a:latin typeface="Arial" pitchFamily="34" charset="0"/>
                          <a:ea typeface="Arial" pitchFamily="34" charset="-122"/>
                          <a:cs typeface="Arial" pitchFamily="34" charset="-120"/>
                        </a:rPr>
                        <a:t>30+ questions checked against the data, 10 held out, 5+ injection and bait items</a:t>
                      </a:r>
                      <a:endParaRPr lang="en-US" sz="9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29184">
                <a:tc>
                  <a:txBody>
                    <a:bodyPr/>
                    <a:lstStyle/>
                    <a:p>
                      <a:pPr indent="0" marL="0">
                        <a:buNone/>
                      </a:pPr>
                      <a:r>
                        <a:rPr lang="en-US" sz="1300" dirty="0">
                          <a:solidFill>
                            <a:srgbClr val="A3804C"/>
                          </a:solidFill>
                          <a:latin typeface="Georgia" pitchFamily="34" charset="0"/>
                          <a:ea typeface="Georgia" pitchFamily="34" charset="-122"/>
                          <a:cs typeface="Georgia" pitchFamily="34" charset="-120"/>
                        </a:rPr>
                        <a:t>2</a:t>
                      </a:r>
                      <a:endParaRPr lang="en-US" sz="13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Live chat on all 30 inbox requests</a:t>
                      </a:r>
                      <a:endParaRPr lang="en-US" sz="11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4A463F"/>
                          </a:solidFill>
                          <a:latin typeface="Arial" pitchFamily="34" charset="0"/>
                          <a:ea typeface="Arial" pitchFamily="34" charset="-122"/>
                          <a:cs typeface="Arial" pitchFamily="34" charset="-120"/>
                        </a:rPr>
                        <a:t>Labels two teammates write independently; decision and explanation scored apart</a:t>
                      </a:r>
                      <a:endParaRPr lang="en-US" sz="9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29184">
                <a:tc>
                  <a:txBody>
                    <a:bodyPr/>
                    <a:lstStyle/>
                    <a:p>
                      <a:pPr indent="0" marL="0">
                        <a:buNone/>
                      </a:pPr>
                      <a:r>
                        <a:rPr lang="en-US" sz="1300" dirty="0">
                          <a:solidFill>
                            <a:srgbClr val="A3804C"/>
                          </a:solidFill>
                          <a:latin typeface="Georgia" pitchFamily="34" charset="0"/>
                          <a:ea typeface="Georgia" pitchFamily="34" charset="-122"/>
                          <a:cs typeface="Georgia" pitchFamily="34" charset="-120"/>
                        </a:rPr>
                        <a:t>3</a:t>
                      </a:r>
                      <a:endParaRPr lang="en-US" sz="13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Tool calling for questions</a:t>
                      </a:r>
                      <a:endParaRPr lang="en-US" sz="11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4A463F"/>
                          </a:solidFill>
                          <a:latin typeface="Arial" pitchFamily="34" charset="0"/>
                          <a:ea typeface="Arial" pitchFamily="34" charset="-122"/>
                          <a:cs typeface="Arial" pitchFamily="34" charset="-120"/>
                        </a:rPr>
                        <a:t>"Who can take 1,500 crewnecks?": the model picks a read-only tool, Python answers</a:t>
                      </a:r>
                      <a:endParaRPr lang="en-US" sz="9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29184">
                <a:tc>
                  <a:txBody>
                    <a:bodyPr/>
                    <a:lstStyle/>
                    <a:p>
                      <a:pPr indent="0" marL="0">
                        <a:buNone/>
                      </a:pPr>
                      <a:r>
                        <a:rPr lang="en-US" sz="1300" dirty="0">
                          <a:solidFill>
                            <a:srgbClr val="A3804C"/>
                          </a:solidFill>
                          <a:latin typeface="Georgia" pitchFamily="34" charset="0"/>
                          <a:ea typeface="Georgia" pitchFamily="34" charset="-122"/>
                          <a:cs typeface="Georgia" pitchFamily="34" charset="-120"/>
                        </a:rPr>
                        <a:t>4</a:t>
                      </a:r>
                      <a:endParaRPr lang="en-US" sz="13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Grounded explanations and replies</a:t>
                      </a:r>
                      <a:endParaRPr lang="en-US" sz="11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4A463F"/>
                          </a:solidFill>
                          <a:latin typeface="Arial" pitchFamily="34" charset="0"/>
                          <a:ea typeface="Arial" pitchFamily="34" charset="-122"/>
                          <a:cs typeface="Arial" pitchFamily="34" charset="-120"/>
                        </a:rPr>
                        <a:t>The model writes with placeholders; Python fills every number, nothing auto-sends</a:t>
                      </a:r>
                      <a:endParaRPr lang="en-US" sz="9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29184">
                <a:tc>
                  <a:txBody>
                    <a:bodyPr/>
                    <a:lstStyle/>
                    <a:p>
                      <a:pPr indent="0" marL="0">
                        <a:buNone/>
                      </a:pPr>
                      <a:r>
                        <a:rPr lang="en-US" sz="1300" dirty="0">
                          <a:solidFill>
                            <a:srgbClr val="A3804C"/>
                          </a:solidFill>
                          <a:latin typeface="Georgia" pitchFamily="34" charset="0"/>
                          <a:ea typeface="Georgia" pitchFamily="34" charset="-122"/>
                          <a:cs typeface="Georgia" pitchFamily="34" charset="-120"/>
                        </a:rPr>
                        <a:t>5</a:t>
                      </a:r>
                      <a:endParaRPr lang="en-US" sz="13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LLM judge, checked against people</a:t>
                      </a:r>
                      <a:endParaRPr lang="en-US" sz="11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4A463F"/>
                          </a:solidFill>
                          <a:latin typeface="Arial" pitchFamily="34" charset="0"/>
                          <a:ea typeface="Arial" pitchFamily="34" charset="-122"/>
                          <a:cs typeface="Arial" pitchFamily="34" charset="-120"/>
                        </a:rPr>
                        <a:t>Agreement with both human labellers reported; people stay the ground truth</a:t>
                      </a:r>
                      <a:endParaRPr lang="en-US" sz="9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29184">
                <a:tc>
                  <a:txBody>
                    <a:bodyPr/>
                    <a:lstStyle/>
                    <a:p>
                      <a:pPr indent="0" marL="0">
                        <a:buNone/>
                      </a:pPr>
                      <a:r>
                        <a:rPr lang="en-US" sz="1300" dirty="0">
                          <a:solidFill>
                            <a:srgbClr val="A3804C"/>
                          </a:solidFill>
                          <a:latin typeface="Georgia" pitchFamily="34" charset="0"/>
                          <a:ea typeface="Georgia" pitchFamily="34" charset="-122"/>
                          <a:cs typeface="Georgia" pitchFamily="34" charset="-120"/>
                        </a:rPr>
                        <a:t>6</a:t>
                      </a:r>
                      <a:endParaRPr lang="en-US" sz="13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Freeze the second objective and hybrid</a:t>
                      </a:r>
                      <a:endParaRPr lang="en-US" sz="11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4A463F"/>
                          </a:solidFill>
                          <a:latin typeface="Arial" pitchFamily="34" charset="0"/>
                          <a:ea typeface="Arial" pitchFamily="34" charset="-122"/>
                          <a:cs typeface="Arial" pitchFamily="34" charset="-120"/>
                        </a:rPr>
                        <a:t>Weights fixed on development seeds, metrics on a common scale, one course run</a:t>
                      </a:r>
                      <a:endParaRPr lang="en-US" sz="9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29184">
                <a:tc>
                  <a:txBody>
                    <a:bodyPr/>
                    <a:lstStyle/>
                    <a:p>
                      <a:pPr indent="0" marL="0">
                        <a:buNone/>
                      </a:pPr>
                      <a:r>
                        <a:rPr lang="en-US" sz="1300" dirty="0">
                          <a:solidFill>
                            <a:srgbClr val="A3804C"/>
                          </a:solidFill>
                          <a:latin typeface="Georgia" pitchFamily="34" charset="0"/>
                          <a:ea typeface="Georgia" pitchFamily="34" charset="-122"/>
                          <a:cs typeface="Georgia" pitchFamily="34" charset="-120"/>
                        </a:rPr>
                        <a:t>7</a:t>
                      </a:r>
                      <a:endParaRPr lang="en-US" sz="13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1100" dirty="0">
                          <a:solidFill>
                            <a:srgbClr val="1D1B18"/>
                          </a:solidFill>
                          <a:latin typeface="Georgia" pitchFamily="34" charset="0"/>
                          <a:ea typeface="Georgia" pitchFamily="34" charset="-122"/>
                          <a:cs typeface="Georgia" pitchFamily="34" charset="-120"/>
                        </a:rPr>
                        <a:t>Demo video</a:t>
                      </a:r>
                      <a:endParaRPr lang="en-US" sz="110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50" dirty="0">
                          <a:solidFill>
                            <a:srgbClr val="4A463F"/>
                          </a:solidFill>
                          <a:latin typeface="Arial" pitchFamily="34" charset="0"/>
                          <a:ea typeface="Arial" pitchFamily="34" charset="-122"/>
                          <a:cs typeface="Arial" pitchFamily="34" charset="-120"/>
                        </a:rPr>
                        <a:t>Request, clarify, refuse, impossible date, confirm</a:t>
                      </a:r>
                      <a:endParaRPr lang="en-US" sz="9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bl>
          </a:graphicData>
        </a:graphic>
      </p:graphicFrame>
      <p:sp>
        <p:nvSpPr>
          <p:cNvPr id="5" name="Shape 2"/>
          <p:cNvSpPr/>
          <p:nvPr/>
        </p:nvSpPr>
        <p:spPr>
          <a:xfrm>
            <a:off x="548640" y="3931920"/>
            <a:ext cx="8046720" cy="502920"/>
          </a:xfrm>
          <a:prstGeom prst="rect">
            <a:avLst/>
          </a:prstGeom>
          <a:solidFill>
            <a:srgbClr val="1D1B18"/>
          </a:solidFill>
          <a:ln w="9525">
            <a:solidFill>
              <a:srgbClr val="1D1B18"/>
            </a:solidFill>
            <a:prstDash val="solid"/>
          </a:ln>
        </p:spPr>
      </p:sp>
      <p:sp>
        <p:nvSpPr>
          <p:cNvPr id="6" name="Text 3"/>
          <p:cNvSpPr txBox="1"/>
          <p:nvPr/>
        </p:nvSpPr>
        <p:spPr>
          <a:xfrm>
            <a:off x="731520" y="3931920"/>
            <a:ext cx="7680960" cy="502920"/>
          </a:xfrm>
          <a:prstGeom prst="rect">
            <a:avLst/>
          </a:prstGeom>
          <a:noFill/>
          <a:ln/>
        </p:spPr>
        <p:txBody>
          <a:bodyPr wrap="square" lIns="0" tIns="0" rIns="0" bIns="0" rtlCol="0" anchor="ctr"/>
          <a:lstStyle/>
          <a:p>
            <a:pPr indent="0" marL="0">
              <a:buNone/>
            </a:pPr>
            <a:r>
              <a:rPr lang="en-US" sz="800" b="1" spc="150" kern="0" dirty="0">
                <a:solidFill>
                  <a:srgbClr val="CDB78F"/>
                </a:solidFill>
                <a:latin typeface="Arial" pitchFamily="34" charset="0"/>
                <a:ea typeface="Arial" pitchFamily="34" charset="-122"/>
                <a:cs typeface="Arial" pitchFamily="34" charset="-120"/>
              </a:rPr>
              <a:t>OUR SUCCESS CRITERION   </a:t>
            </a:r>
            <a:r>
              <a:rPr lang="en-US" sz="1000" dirty="0">
                <a:solidFill>
                  <a:srgbClr val="F4EFE6"/>
                </a:solidFill>
                <a:latin typeface="Arial" pitchFamily="34" charset="0"/>
                <a:ea typeface="Arial" pitchFamily="34" charset="-122"/>
                <a:cs typeface="Arial" pitchFamily="34" charset="-120"/>
              </a:rPr>
              <a:t>Live chat gets the right behaviour on at least 27 of 30 inbox requests against independent labels, with no number on screen that lacks a tool source, while the desk still beats all three baselines.</a:t>
            </a:r>
            <a:endParaRPr lang="en-US" sz="10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3657600" cy="274320"/>
          </a:xfrm>
          <a:prstGeom prst="rect">
            <a:avLst/>
          </a:prstGeom>
          <a:noFill/>
          <a:ln/>
        </p:spPr>
        <p:txBody>
          <a:bodyPr wrap="square" lIns="0" tIns="0" rIns="0" bIns="0" rtlCol="0" anchor="t"/>
          <a:lstStyle/>
          <a:p>
            <a:pPr indent="0" marL="0">
              <a:buNone/>
            </a:pPr>
            <a:r>
              <a:rPr lang="en-US" sz="1300" spc="900" kern="0" dirty="0">
                <a:solidFill>
                  <a:srgbClr val="F4EFE6"/>
                </a:solidFill>
                <a:latin typeface="Georgia" pitchFamily="34" charset="0"/>
                <a:ea typeface="Georgia" pitchFamily="34" charset="-122"/>
                <a:cs typeface="Georgia" pitchFamily="34" charset="-120"/>
              </a:rPr>
              <a:t>SWEATERCO</a:t>
            </a:r>
            <a:endParaRPr lang="en-US" sz="1300" dirty="0"/>
          </a:p>
        </p:txBody>
      </p:sp>
      <p:sp>
        <p:nvSpPr>
          <p:cNvPr id="3" name="Text 1"/>
          <p:cNvSpPr txBox="1"/>
          <p:nvPr/>
        </p:nvSpPr>
        <p:spPr>
          <a:xfrm>
            <a:off x="548640" y="1554480"/>
            <a:ext cx="8046720" cy="822960"/>
          </a:xfrm>
          <a:prstGeom prst="rect">
            <a:avLst/>
          </a:prstGeom>
          <a:noFill/>
          <a:ln/>
        </p:spPr>
        <p:txBody>
          <a:bodyPr wrap="square" lIns="0" tIns="0" rIns="0" bIns="0" rtlCol="0" anchor="t"/>
          <a:lstStyle/>
          <a:p>
            <a:pPr indent="0" marL="0">
              <a:buNone/>
            </a:pPr>
            <a:r>
              <a:rPr lang="en-US" sz="4000" dirty="0">
                <a:solidFill>
                  <a:srgbClr val="F4EFE6"/>
                </a:solidFill>
                <a:latin typeface="Georgia" pitchFamily="34" charset="0"/>
                <a:ea typeface="Georgia" pitchFamily="34" charset="-122"/>
                <a:cs typeface="Georgia" pitchFamily="34" charset="-120"/>
              </a:rPr>
              <a:t>Thank you.</a:t>
            </a:r>
            <a:endParaRPr lang="en-US" sz="4000" dirty="0"/>
          </a:p>
        </p:txBody>
      </p:sp>
      <p:sp>
        <p:nvSpPr>
          <p:cNvPr id="4" name="Text 2"/>
          <p:cNvSpPr txBox="1"/>
          <p:nvPr/>
        </p:nvSpPr>
        <p:spPr>
          <a:xfrm>
            <a:off x="548640" y="2377440"/>
            <a:ext cx="8046720" cy="457200"/>
          </a:xfrm>
          <a:prstGeom prst="rect">
            <a:avLst/>
          </a:prstGeom>
          <a:noFill/>
          <a:ln/>
        </p:spPr>
        <p:txBody>
          <a:bodyPr wrap="square" lIns="0" tIns="0" rIns="0" bIns="0" rtlCol="0" anchor="t"/>
          <a:lstStyle/>
          <a:p>
            <a:pPr indent="0" marL="0">
              <a:buNone/>
            </a:pPr>
            <a:r>
              <a:rPr lang="en-US" sz="1800" i="1" dirty="0">
                <a:solidFill>
                  <a:srgbClr val="B9AF9F"/>
                </a:solidFill>
                <a:latin typeface="Georgia" pitchFamily="34" charset="0"/>
                <a:ea typeface="Georgia" pitchFamily="34" charset="-122"/>
                <a:cs typeface="Georgia" pitchFamily="34" charset="-120"/>
              </a:rPr>
              <a:t>Questions are welcome.</a:t>
            </a:r>
            <a:endParaRPr lang="en-US" sz="1800" dirty="0"/>
          </a:p>
        </p:txBody>
      </p:sp>
      <p:sp>
        <p:nvSpPr>
          <p:cNvPr id="5" name="Text 3"/>
          <p:cNvSpPr txBox="1"/>
          <p:nvPr/>
        </p:nvSpPr>
        <p:spPr>
          <a:xfrm>
            <a:off x="548640" y="3840480"/>
            <a:ext cx="8046720" cy="201168"/>
          </a:xfrm>
          <a:prstGeom prst="rect">
            <a:avLst/>
          </a:prstGeom>
          <a:noFill/>
          <a:ln/>
        </p:spPr>
        <p:txBody>
          <a:bodyPr wrap="square" lIns="0" tIns="0" rIns="0" bIns="0" rtlCol="0" anchor="t"/>
          <a:lstStyle/>
          <a:p>
            <a:pPr indent="0" marL="0">
              <a:buNone/>
            </a:pPr>
            <a:r>
              <a:rPr lang="en-US" sz="850" b="1" spc="300" kern="0" dirty="0">
                <a:solidFill>
                  <a:srgbClr val="A3804C"/>
                </a:solidFill>
                <a:latin typeface="Arial" pitchFamily="34" charset="0"/>
                <a:ea typeface="Arial" pitchFamily="34" charset="-122"/>
                <a:cs typeface="Arial" pitchFamily="34" charset="-120"/>
              </a:rPr>
              <a:t>THE MODEL READS  /  PYTHON CALCULATES  /  A PERSON APPROVES</a:t>
            </a:r>
            <a:endParaRPr lang="en-US" sz="850" dirty="0"/>
          </a:p>
        </p:txBody>
      </p:sp>
      <p:sp>
        <p:nvSpPr>
          <p:cNvPr id="6" name="Text 4"/>
          <p:cNvSpPr txBox="1"/>
          <p:nvPr/>
        </p:nvSpPr>
        <p:spPr>
          <a:xfrm>
            <a:off x="548640" y="4718304"/>
            <a:ext cx="8046720" cy="182880"/>
          </a:xfrm>
          <a:prstGeom prst="rect">
            <a:avLst/>
          </a:prstGeom>
          <a:noFill/>
          <a:ln/>
        </p:spPr>
        <p:txBody>
          <a:bodyPr wrap="square" lIns="0" tIns="0" rIns="0" bIns="0" rtlCol="0" anchor="t"/>
          <a:lstStyle/>
          <a:p>
            <a:pPr indent="0" marL="0">
              <a:buNone/>
            </a:pPr>
            <a:r>
              <a:rPr lang="en-US" sz="750" spc="200" kern="0" dirty="0">
                <a:solidFill>
                  <a:srgbClr val="B9AF9F"/>
                </a:solidFill>
                <a:latin typeface="Arial" pitchFamily="34" charset="0"/>
                <a:ea typeface="Arial" pitchFamily="34" charset="-122"/>
                <a:cs typeface="Arial" pitchFamily="34" charset="-120"/>
              </a:rPr>
              <a:t>GROUP 11  /  DSS5105 CAPSTONE  /  16 OCTOBER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Quick-Response Subcontracting Desk - Sprint 1</dc:title>
  <dc:subject>PptxGenJS Presentation</dc:subject>
  <dc:creator>Group 11</dc:creator>
  <cp:lastModifiedBy>Group 11</cp:lastModifiedBy>
  <cp:revision>1</cp:revision>
  <dcterms:created xsi:type="dcterms:W3CDTF">2026-10-15T14:07:55Z</dcterms:created>
  <dcterms:modified xsi:type="dcterms:W3CDTF">2026-10-15T14:07:55Z</dcterms:modified>
</cp:coreProperties>
</file>